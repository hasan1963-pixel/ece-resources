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96" r:id="rId2"/>
    <p:sldId id="297" r:id="rId3"/>
    <p:sldId id="260" r:id="rId4"/>
    <p:sldId id="262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301" r:id="rId15"/>
    <p:sldId id="302" r:id="rId16"/>
    <p:sldId id="281" r:id="rId17"/>
    <p:sldId id="282" r:id="rId18"/>
    <p:sldId id="275" r:id="rId19"/>
    <p:sldId id="274" r:id="rId20"/>
    <p:sldId id="277" r:id="rId21"/>
    <p:sldId id="278" r:id="rId22"/>
    <p:sldId id="279" r:id="rId23"/>
    <p:sldId id="280" r:id="rId24"/>
    <p:sldId id="295" r:id="rId25"/>
    <p:sldId id="293" r:id="rId26"/>
    <p:sldId id="294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9" r:id="rId35"/>
    <p:sldId id="300" r:id="rId36"/>
    <p:sldId id="291" r:id="rId37"/>
    <p:sldId id="292" r:id="rId38"/>
    <p:sldId id="298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208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39D99-E364-493C-BB9A-61555BB1124D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647EE-836E-4269-B923-EDC759CAF1D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2647EE-836E-4269-B923-EDC759CAF1D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C3332-14BC-4FE6-B765-49350ADE517B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23DD-DAE5-40A2-90E0-E00F000D4CDA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5EF54-B549-427C-BC65-B716DD3F25BC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614D-D5D9-4F7B-B0CD-BA682BDEF061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519A6-37E4-4737-84B0-06B50E5CE662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F08FB-979D-4875-BE0F-A95BC6C1CA9F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FD570-2A90-46E7-BEC3-70DBF3C01FCA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C16D8-3B53-4363-B1F5-2F41FEA21B81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3449-B823-4074-B621-24B2F1C6E967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24F0-5B6E-4928-8A3B-2CF9A032EB37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1F4B-3502-4E71-968C-B7BBEF260C2E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8AEE5-698A-4C62-A130-CA8300CC9F02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4609-C126-441D-A6BA-56B1B36B2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2.wmf"/><Relationship Id="rId7" Type="http://schemas.openxmlformats.org/officeDocument/2006/relationships/oleObject" Target="../embeddings/oleObject5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5.jpeg"/><Relationship Id="rId5" Type="http://schemas.openxmlformats.org/officeDocument/2006/relationships/image" Target="../media/image13.wmf"/><Relationship Id="rId10" Type="http://schemas.openxmlformats.org/officeDocument/2006/relationships/image" Target="../media/image14.wm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0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4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9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4282" y="214290"/>
            <a:ext cx="8758738" cy="6429420"/>
          </a:xfrm>
        </p:spPr>
        <p:txBody>
          <a:bodyPr/>
          <a:lstStyle/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SYED HASAN SAEED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Email: 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hasansaeedcontrol@gmail.com</a:t>
            </a:r>
            <a:endParaRPr lang="en-GB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 Page:</a:t>
            </a:r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 hasansaeed872726549.wordpress.com</a:t>
            </a:r>
          </a:p>
          <a:p>
            <a:r>
              <a:rPr lang="en-GB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Shasansaeed.yolasite.com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2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EFB9-B73F-4695-82FD-59518BB02EE1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282" y="857233"/>
            <a:ext cx="8715436" cy="42862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BOOKS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146" y="785794"/>
            <a:ext cx="8786874" cy="5857916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KUO &amp; GOLANARAGHI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ANAND KUMAR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  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S. HASAN SAEED</a:t>
            </a:r>
          </a:p>
          <a:p>
            <a:pPr marL="514350" indent="-514350" algn="l"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ELECTRICAL MACINE &amp; AUTOMATIC CONTROL: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J.B.GUPTA  &amp;  S. HASAN SAEED</a:t>
            </a:r>
          </a:p>
          <a:p>
            <a:pPr marL="514350" indent="-514350" algn="l">
              <a:buAutoNum type="arabicPeriod" startAt="4"/>
            </a:pPr>
            <a:endParaRPr lang="en-GB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R. A . BARAPATE</a:t>
            </a:r>
            <a:endParaRPr lang="en-US" sz="24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193E-9B99-4BBB-9399-CE081512B698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40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>
              <a:buNone/>
            </a:pPr>
            <a:endParaRPr lang="en-US" sz="40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>
              <a:buNone/>
            </a:pPr>
            <a:r>
              <a:rPr lang="en-US" sz="4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SIGNAL FLOW GRAPH </a:t>
            </a:r>
          </a:p>
          <a:p>
            <a:pPr algn="ctr">
              <a:buNone/>
            </a:pPr>
            <a:r>
              <a:rPr lang="en-US" sz="4000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(SFG)</a:t>
            </a:r>
          </a:p>
          <a:p>
            <a:pPr algn="ctr">
              <a:buNone/>
            </a:pPr>
            <a:endParaRPr lang="en-US" sz="40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FA714-2962-4D3D-95F9-009FE7533567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0960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u="sng" dirty="0">
                <a:solidFill>
                  <a:srgbClr val="FF0000"/>
                </a:solidFill>
              </a:rPr>
              <a:t>OUTLINE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Introduction to signal flow graph.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i="1" dirty="0"/>
              <a:t>Definitions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i="1" dirty="0"/>
              <a:t>Terminologies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i="1" dirty="0"/>
              <a:t>Properties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i="1" dirty="0"/>
              <a:t>Examples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Mason’s Gain Formula.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Construction of Signal Flow Graph.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Signal Flow Graph from Block Diagram.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Block Diagram from Signal Flow Graph.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solidFill>
                  <a:srgbClr val="00B050"/>
                </a:solidFill>
              </a:rPr>
              <a:t>Effect of Feedback. </a:t>
            </a:r>
          </a:p>
          <a:p>
            <a:pPr algn="just"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8AFA-1A09-4706-889D-EBB1A0C660A8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096000"/>
          </a:xfrm>
        </p:spPr>
        <p:txBody>
          <a:bodyPr/>
          <a:lstStyle/>
          <a:p>
            <a:pPr algn="ctr">
              <a:buNone/>
            </a:pPr>
            <a:r>
              <a:rPr lang="en-US" sz="4400" u="sng" dirty="0">
                <a:solidFill>
                  <a:srgbClr val="FF0000"/>
                </a:solidFill>
              </a:rPr>
              <a:t>INTRODUCTION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SFG is a simple method, developed by </a:t>
            </a:r>
            <a:r>
              <a:rPr lang="en-US" dirty="0" err="1"/>
              <a:t>S.J.Mason</a:t>
            </a:r>
            <a:endParaRPr lang="en-US" dirty="0"/>
          </a:p>
          <a:p>
            <a:r>
              <a:rPr lang="en-US" dirty="0"/>
              <a:t>Signal Flow Graph (SFG) is applicable to the linear systems.</a:t>
            </a:r>
          </a:p>
          <a:p>
            <a:r>
              <a:rPr lang="en-US" dirty="0"/>
              <a:t>It is a graphical representation.</a:t>
            </a:r>
          </a:p>
          <a:p>
            <a:r>
              <a:rPr lang="en-US" dirty="0"/>
              <a:t>A signal can be transmitted through a branch only in the direction of the arrow.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B4237-EE2A-4530-BBAD-B5610177C3D2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763000" cy="60960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Consider a simple equation</a:t>
            </a:r>
          </a:p>
          <a:p>
            <a:pPr>
              <a:buNone/>
            </a:pPr>
            <a:r>
              <a:rPr lang="en-US" sz="2800" dirty="0"/>
              <a:t>                    y= a x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 The signal Flow Graph of above equation is shown below</a:t>
            </a:r>
          </a:p>
          <a:p>
            <a:pPr indent="-365760">
              <a:buNone/>
            </a:pPr>
            <a:r>
              <a:rPr lang="en-US" dirty="0"/>
              <a:t>                          a</a:t>
            </a:r>
          </a:p>
          <a:p>
            <a:pPr indent="-365760">
              <a:buNone/>
            </a:pPr>
            <a:r>
              <a:rPr lang="en-US" dirty="0"/>
              <a:t>            x                                y</a:t>
            </a:r>
          </a:p>
          <a:p>
            <a:pPr indent="-365760">
              <a:buNone/>
            </a:pPr>
            <a:endParaRPr lang="en-US" sz="3000" dirty="0"/>
          </a:p>
          <a:p>
            <a:pPr indent="-365760">
              <a:buFont typeface="Wingdings" pitchFamily="2" charset="2"/>
              <a:buChar char="§"/>
            </a:pPr>
            <a:r>
              <a:rPr lang="en-US" sz="3000" dirty="0"/>
              <a:t>Each variable in SFG is designed by a </a:t>
            </a:r>
            <a:r>
              <a:rPr lang="en-US" sz="3000" i="1" dirty="0">
                <a:solidFill>
                  <a:srgbClr val="FF0000"/>
                </a:solidFill>
              </a:rPr>
              <a:t>Node.</a:t>
            </a:r>
          </a:p>
          <a:p>
            <a:pPr indent="-365760">
              <a:buFont typeface="Wingdings" pitchFamily="2" charset="2"/>
              <a:buChar char="§"/>
            </a:pPr>
            <a:r>
              <a:rPr lang="en-US" sz="3000" dirty="0"/>
              <a:t>Every transmission function in SFG is designed by a </a:t>
            </a:r>
            <a:r>
              <a:rPr lang="en-US" sz="3000" i="1" dirty="0">
                <a:solidFill>
                  <a:srgbClr val="FF0000"/>
                </a:solidFill>
              </a:rPr>
              <a:t>branch.</a:t>
            </a:r>
          </a:p>
          <a:p>
            <a:pPr indent="-365760">
              <a:buFont typeface="Wingdings" pitchFamily="2" charset="2"/>
              <a:buChar char="§"/>
            </a:pPr>
            <a:r>
              <a:rPr lang="en-US" sz="3000" dirty="0"/>
              <a:t>Branches are </a:t>
            </a:r>
            <a:r>
              <a:rPr lang="en-US" sz="3000" i="1" dirty="0">
                <a:solidFill>
                  <a:srgbClr val="FF0000"/>
                </a:solidFill>
              </a:rPr>
              <a:t>unidirectional.</a:t>
            </a:r>
          </a:p>
          <a:p>
            <a:pPr indent="-365760">
              <a:buFont typeface="Wingdings" pitchFamily="2" charset="2"/>
              <a:buChar char="§"/>
            </a:pPr>
            <a:r>
              <a:rPr lang="en-US" sz="3000" dirty="0"/>
              <a:t>The arrow in the branch denotes the </a:t>
            </a:r>
            <a:r>
              <a:rPr lang="en-US" sz="3000" i="1" dirty="0">
                <a:solidFill>
                  <a:srgbClr val="FF0000"/>
                </a:solidFill>
              </a:rPr>
              <a:t>direction</a:t>
            </a:r>
            <a:r>
              <a:rPr lang="en-US" sz="3000" dirty="0"/>
              <a:t> of the signal flow.</a:t>
            </a:r>
          </a:p>
          <a:p>
            <a:pPr indent="-36576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5400000" flipH="1" flipV="1">
            <a:off x="2824980" y="957027"/>
            <a:ext cx="0" cy="2601959"/>
          </a:xfrm>
          <a:prstGeom prst="line">
            <a:avLst/>
          </a:prstGeom>
          <a:ln w="1905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438400" y="2105607"/>
            <a:ext cx="228600" cy="152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10800000" flipV="1">
            <a:off x="2429069" y="2268123"/>
            <a:ext cx="228600" cy="152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906F4-283F-420E-BCB5-E67C9029C24C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44004"/>
            <a:ext cx="8229600" cy="75172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sz="3600" u="sng" dirty="0">
                <a:solidFill>
                  <a:srgbClr val="00B050"/>
                </a:solidFill>
              </a:rPr>
              <a:t>TERMINOLOGIES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F373-701B-41D4-8ABD-13FE7582DDCF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39959" y="811763"/>
            <a:ext cx="8854751" cy="558903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Signal Flow Graph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2800" dirty="0">
              <a:solidFill>
                <a:srgbClr val="FF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427584" y="3433665"/>
            <a:ext cx="1315616" cy="1588"/>
          </a:xfrm>
          <a:prstGeom prst="line">
            <a:avLst/>
          </a:prstGeom>
          <a:ln w="2222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2755625" y="3436775"/>
            <a:ext cx="1315616" cy="1588"/>
          </a:xfrm>
          <a:prstGeom prst="line">
            <a:avLst/>
          </a:prstGeom>
          <a:ln w="2222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076684" y="3433697"/>
            <a:ext cx="1315616" cy="1588"/>
          </a:xfrm>
          <a:prstGeom prst="line">
            <a:avLst/>
          </a:prstGeom>
          <a:ln w="2222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5391962" y="3432041"/>
            <a:ext cx="1315616" cy="1588"/>
          </a:xfrm>
          <a:prstGeom prst="line">
            <a:avLst/>
          </a:prstGeom>
          <a:ln w="2222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6707241" y="3430386"/>
            <a:ext cx="1315616" cy="1588"/>
          </a:xfrm>
          <a:prstGeom prst="line">
            <a:avLst/>
          </a:prstGeom>
          <a:ln w="2222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 rot="5400000">
            <a:off x="2823530" y="2788743"/>
            <a:ext cx="1169515" cy="1333509"/>
            <a:chOff x="3561502" y="2214770"/>
            <a:chExt cx="1124798" cy="1184412"/>
          </a:xfrm>
        </p:grpSpPr>
        <p:sp>
          <p:nvSpPr>
            <p:cNvPr id="21" name="Arc 20"/>
            <p:cNvSpPr/>
            <p:nvPr/>
          </p:nvSpPr>
          <p:spPr>
            <a:xfrm>
              <a:off x="3563178" y="2226365"/>
              <a:ext cx="1123122" cy="1172817"/>
            </a:xfrm>
            <a:prstGeom prst="arc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/>
            <p:cNvSpPr/>
            <p:nvPr/>
          </p:nvSpPr>
          <p:spPr>
            <a:xfrm flipV="1">
              <a:off x="3561502" y="2214770"/>
              <a:ext cx="1123122" cy="1172817"/>
            </a:xfrm>
            <a:prstGeom prst="arc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 rot="5400000">
            <a:off x="4143777" y="2767208"/>
            <a:ext cx="1169515" cy="1333509"/>
            <a:chOff x="3561502" y="2214770"/>
            <a:chExt cx="1124798" cy="1184412"/>
          </a:xfrm>
        </p:grpSpPr>
        <p:sp>
          <p:nvSpPr>
            <p:cNvPr id="25" name="Arc 24"/>
            <p:cNvSpPr/>
            <p:nvPr/>
          </p:nvSpPr>
          <p:spPr>
            <a:xfrm>
              <a:off x="3563178" y="2226365"/>
              <a:ext cx="1123122" cy="1172817"/>
            </a:xfrm>
            <a:prstGeom prst="arc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Arc 25"/>
            <p:cNvSpPr/>
            <p:nvPr/>
          </p:nvSpPr>
          <p:spPr>
            <a:xfrm flipV="1">
              <a:off x="3561502" y="2214770"/>
              <a:ext cx="1123122" cy="1172817"/>
            </a:xfrm>
            <a:prstGeom prst="arc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 rot="5400000">
            <a:off x="4118106" y="2110389"/>
            <a:ext cx="2544417" cy="2686890"/>
            <a:chOff x="3561502" y="2214770"/>
            <a:chExt cx="1124798" cy="1184412"/>
          </a:xfrm>
        </p:grpSpPr>
        <p:sp>
          <p:nvSpPr>
            <p:cNvPr id="28" name="Arc 27"/>
            <p:cNvSpPr/>
            <p:nvPr/>
          </p:nvSpPr>
          <p:spPr>
            <a:xfrm>
              <a:off x="3563178" y="2226365"/>
              <a:ext cx="1123122" cy="1172817"/>
            </a:xfrm>
            <a:prstGeom prst="arc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Arc 28"/>
            <p:cNvSpPr/>
            <p:nvPr/>
          </p:nvSpPr>
          <p:spPr>
            <a:xfrm flipV="1">
              <a:off x="3561502" y="2214770"/>
              <a:ext cx="1123122" cy="1172817"/>
            </a:xfrm>
            <a:prstGeom prst="arc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Freeform 29"/>
          <p:cNvSpPr/>
          <p:nvPr/>
        </p:nvSpPr>
        <p:spPr>
          <a:xfrm>
            <a:off x="5010150" y="2733261"/>
            <a:ext cx="631134" cy="700709"/>
          </a:xfrm>
          <a:custGeom>
            <a:avLst/>
            <a:gdLst>
              <a:gd name="connsiteX0" fmla="*/ 381828 w 631134"/>
              <a:gd name="connsiteY0" fmla="*/ 685800 h 700709"/>
              <a:gd name="connsiteX1" fmla="*/ 19050 w 631134"/>
              <a:gd name="connsiteY1" fmla="*/ 323022 h 700709"/>
              <a:gd name="connsiteX2" fmla="*/ 267528 w 631134"/>
              <a:gd name="connsiteY2" fmla="*/ 14909 h 700709"/>
              <a:gd name="connsiteX3" fmla="*/ 610428 w 631134"/>
              <a:gd name="connsiteY3" fmla="*/ 233569 h 700709"/>
              <a:gd name="connsiteX4" fmla="*/ 381828 w 631134"/>
              <a:gd name="connsiteY4" fmla="*/ 685800 h 700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1134" h="700709">
                <a:moveTo>
                  <a:pt x="381828" y="685800"/>
                </a:moveTo>
                <a:cubicBezTo>
                  <a:pt x="283265" y="700709"/>
                  <a:pt x="38100" y="434837"/>
                  <a:pt x="19050" y="323022"/>
                </a:cubicBezTo>
                <a:cubicBezTo>
                  <a:pt x="0" y="211207"/>
                  <a:pt x="168965" y="29818"/>
                  <a:pt x="267528" y="14909"/>
                </a:cubicBezTo>
                <a:cubicBezTo>
                  <a:pt x="366091" y="0"/>
                  <a:pt x="589722" y="122582"/>
                  <a:pt x="610428" y="233569"/>
                </a:cubicBezTo>
                <a:cubicBezTo>
                  <a:pt x="631134" y="344556"/>
                  <a:pt x="480391" y="670891"/>
                  <a:pt x="381828" y="685800"/>
                </a:cubicBezTo>
                <a:close/>
              </a:path>
            </a:pathLst>
          </a:cu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1297049" y="3404140"/>
            <a:ext cx="37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08576" y="3352782"/>
            <a:ext cx="37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91601" y="3341193"/>
            <a:ext cx="37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62152" y="3369350"/>
            <a:ext cx="37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49439" y="3365698"/>
            <a:ext cx="37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3808" y="3346148"/>
            <a:ext cx="37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6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2034861" y="3378558"/>
            <a:ext cx="115911" cy="115909"/>
            <a:chOff x="1824507" y="4348766"/>
            <a:chExt cx="931572" cy="1823434"/>
          </a:xfrm>
        </p:grpSpPr>
        <p:cxnSp>
          <p:nvCxnSpPr>
            <p:cNvPr id="56" name="Straight Connector 55"/>
            <p:cNvCxnSpPr/>
            <p:nvPr/>
          </p:nvCxnSpPr>
          <p:spPr>
            <a:xfrm rot="5400000">
              <a:off x="1834502" y="5257800"/>
              <a:ext cx="914400" cy="914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10800000">
              <a:off x="1824507" y="4348766"/>
              <a:ext cx="931572" cy="9058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3304190" y="3377623"/>
            <a:ext cx="115911" cy="115909"/>
            <a:chOff x="1824507" y="4348766"/>
            <a:chExt cx="931572" cy="1823434"/>
          </a:xfrm>
        </p:grpSpPr>
        <p:cxnSp>
          <p:nvCxnSpPr>
            <p:cNvPr id="61" name="Straight Connector 60"/>
            <p:cNvCxnSpPr/>
            <p:nvPr/>
          </p:nvCxnSpPr>
          <p:spPr>
            <a:xfrm rot="5400000">
              <a:off x="1834502" y="5257800"/>
              <a:ext cx="914400" cy="914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10800000">
              <a:off x="1824507" y="4348766"/>
              <a:ext cx="931572" cy="9058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 rot="10800000">
            <a:off x="3357092" y="3979572"/>
            <a:ext cx="115911" cy="115909"/>
            <a:chOff x="1824507" y="4348766"/>
            <a:chExt cx="931572" cy="1823434"/>
          </a:xfrm>
        </p:grpSpPr>
        <p:cxnSp>
          <p:nvCxnSpPr>
            <p:cNvPr id="64" name="Straight Connector 63"/>
            <p:cNvCxnSpPr/>
            <p:nvPr/>
          </p:nvCxnSpPr>
          <p:spPr>
            <a:xfrm rot="5400000">
              <a:off x="1834502" y="5257800"/>
              <a:ext cx="914400" cy="914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10800000">
              <a:off x="1824507" y="4348766"/>
              <a:ext cx="931572" cy="9058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5389355" y="4664299"/>
            <a:ext cx="115911" cy="115909"/>
            <a:chOff x="1824507" y="4348766"/>
            <a:chExt cx="931572" cy="1823434"/>
          </a:xfrm>
        </p:grpSpPr>
        <p:cxnSp>
          <p:nvCxnSpPr>
            <p:cNvPr id="67" name="Straight Connector 66"/>
            <p:cNvCxnSpPr/>
            <p:nvPr/>
          </p:nvCxnSpPr>
          <p:spPr>
            <a:xfrm rot="5400000">
              <a:off x="1834502" y="5257800"/>
              <a:ext cx="914400" cy="914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10800000">
              <a:off x="1824507" y="4348766"/>
              <a:ext cx="931572" cy="9058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7388180" y="3379730"/>
            <a:ext cx="115911" cy="115909"/>
            <a:chOff x="1824507" y="4348766"/>
            <a:chExt cx="931572" cy="1823434"/>
          </a:xfrm>
        </p:grpSpPr>
        <p:cxnSp>
          <p:nvCxnSpPr>
            <p:cNvPr id="70" name="Straight Connector 69"/>
            <p:cNvCxnSpPr/>
            <p:nvPr/>
          </p:nvCxnSpPr>
          <p:spPr>
            <a:xfrm rot="5400000">
              <a:off x="1834502" y="5257800"/>
              <a:ext cx="914400" cy="914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10800000">
              <a:off x="1824507" y="4348766"/>
              <a:ext cx="931572" cy="9058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5939306" y="3377583"/>
            <a:ext cx="115911" cy="115909"/>
            <a:chOff x="1824507" y="4348766"/>
            <a:chExt cx="931572" cy="1823434"/>
          </a:xfrm>
        </p:grpSpPr>
        <p:cxnSp>
          <p:nvCxnSpPr>
            <p:cNvPr id="73" name="Straight Connector 72"/>
            <p:cNvCxnSpPr/>
            <p:nvPr/>
          </p:nvCxnSpPr>
          <p:spPr>
            <a:xfrm rot="5400000">
              <a:off x="1834502" y="5257800"/>
              <a:ext cx="914400" cy="914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10800000">
              <a:off x="1824507" y="4348766"/>
              <a:ext cx="931572" cy="9058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4686040" y="3378558"/>
            <a:ext cx="115911" cy="115909"/>
            <a:chOff x="1824507" y="4348766"/>
            <a:chExt cx="931572" cy="1823434"/>
          </a:xfrm>
        </p:grpSpPr>
        <p:cxnSp>
          <p:nvCxnSpPr>
            <p:cNvPr id="76" name="Straight Connector 75"/>
            <p:cNvCxnSpPr/>
            <p:nvPr/>
          </p:nvCxnSpPr>
          <p:spPr>
            <a:xfrm rot="5400000">
              <a:off x="1834502" y="5257800"/>
              <a:ext cx="914400" cy="914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10800000">
              <a:off x="1824507" y="4348766"/>
              <a:ext cx="931572" cy="9058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/>
          <p:cNvGrpSpPr/>
          <p:nvPr/>
        </p:nvGrpSpPr>
        <p:grpSpPr>
          <a:xfrm rot="10379746">
            <a:off x="4754450" y="3959042"/>
            <a:ext cx="115911" cy="115909"/>
            <a:chOff x="1824507" y="4348766"/>
            <a:chExt cx="931572" cy="1823434"/>
          </a:xfrm>
        </p:grpSpPr>
        <p:cxnSp>
          <p:nvCxnSpPr>
            <p:cNvPr id="79" name="Straight Connector 78"/>
            <p:cNvCxnSpPr/>
            <p:nvPr/>
          </p:nvCxnSpPr>
          <p:spPr>
            <a:xfrm rot="5400000">
              <a:off x="1834502" y="5257800"/>
              <a:ext cx="914400" cy="914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10800000">
              <a:off x="1824507" y="4348766"/>
              <a:ext cx="931572" cy="9058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/>
          <p:cNvGrpSpPr/>
          <p:nvPr/>
        </p:nvGrpSpPr>
        <p:grpSpPr>
          <a:xfrm rot="1603598">
            <a:off x="5353316" y="2721737"/>
            <a:ext cx="115911" cy="115909"/>
            <a:chOff x="1824507" y="4348766"/>
            <a:chExt cx="931572" cy="1823434"/>
          </a:xfrm>
        </p:grpSpPr>
        <p:cxnSp>
          <p:nvCxnSpPr>
            <p:cNvPr id="82" name="Straight Connector 81"/>
            <p:cNvCxnSpPr/>
            <p:nvPr/>
          </p:nvCxnSpPr>
          <p:spPr>
            <a:xfrm rot="5400000">
              <a:off x="1834502" y="5257800"/>
              <a:ext cx="914400" cy="914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10800000">
              <a:off x="1824507" y="4348766"/>
              <a:ext cx="931572" cy="9058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/>
          <p:cNvSpPr txBox="1"/>
          <p:nvPr/>
        </p:nvSpPr>
        <p:spPr>
          <a:xfrm>
            <a:off x="1828800" y="2905568"/>
            <a:ext cx="538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r>
              <a:rPr lang="en-US" sz="2400" baseline="-25000" dirty="0"/>
              <a:t>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50934" y="2921235"/>
            <a:ext cx="538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r>
              <a:rPr lang="en-US" sz="2400" baseline="-25000" dirty="0"/>
              <a:t>34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33458" y="2902720"/>
            <a:ext cx="538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r>
              <a:rPr lang="en-US" sz="2400" baseline="-25000" dirty="0"/>
              <a:t>23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18347" y="2911266"/>
            <a:ext cx="538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r>
              <a:rPr lang="en-US" sz="2400" baseline="-25000" dirty="0"/>
              <a:t>56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32504" y="2918388"/>
            <a:ext cx="538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r>
              <a:rPr lang="en-US" sz="2400" baseline="-25000" dirty="0"/>
              <a:t>45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72214" y="4037886"/>
            <a:ext cx="538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r>
              <a:rPr lang="en-US" sz="2400" baseline="-25000" dirty="0"/>
              <a:t>32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20423" y="3979490"/>
            <a:ext cx="538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r>
              <a:rPr lang="en-US" sz="2400" baseline="-25000" dirty="0"/>
              <a:t>43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18631" y="4697338"/>
            <a:ext cx="538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r>
              <a:rPr lang="en-US" sz="2400" baseline="-25000" dirty="0"/>
              <a:t>35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249965" y="2284574"/>
            <a:ext cx="538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r>
              <a:rPr lang="en-US" sz="2400" baseline="-25000" dirty="0"/>
              <a:t>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1722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000" dirty="0">
                <a:solidFill>
                  <a:srgbClr val="00B050"/>
                </a:solidFill>
              </a:rPr>
              <a:t>Input Node or source node: </a:t>
            </a:r>
            <a:r>
              <a:rPr lang="en-US" sz="3000" dirty="0"/>
              <a:t>input node is a node which has only outgoing branches. X</a:t>
            </a:r>
            <a:r>
              <a:rPr lang="en-US" sz="3000" baseline="-25000" dirty="0"/>
              <a:t>1</a:t>
            </a:r>
            <a:r>
              <a:rPr lang="en-US" sz="3000" dirty="0"/>
              <a:t> is the input node.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000" dirty="0">
                <a:solidFill>
                  <a:srgbClr val="00B050"/>
                </a:solidFill>
              </a:rPr>
              <a:t>Output node or sink node: </a:t>
            </a:r>
            <a:r>
              <a:rPr lang="en-US" sz="3000" dirty="0"/>
              <a:t>an output node is a node that has only one or more incoming branches. X</a:t>
            </a:r>
            <a:r>
              <a:rPr lang="en-US" sz="3000" baseline="-25000" dirty="0"/>
              <a:t>6</a:t>
            </a:r>
            <a:r>
              <a:rPr lang="en-US" sz="3000" dirty="0"/>
              <a:t> is the output node.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000" dirty="0">
                <a:solidFill>
                  <a:srgbClr val="00B050"/>
                </a:solidFill>
              </a:rPr>
              <a:t>Mixed nodes: </a:t>
            </a:r>
            <a:r>
              <a:rPr lang="en-US" sz="3000" dirty="0"/>
              <a:t>a node having incoming and outgoing branches is known as mixed nodes. x</a:t>
            </a:r>
            <a:r>
              <a:rPr lang="en-US" sz="3000" baseline="-25000" dirty="0"/>
              <a:t>2</a:t>
            </a:r>
            <a:r>
              <a:rPr lang="en-US" sz="3000" dirty="0"/>
              <a:t>, x</a:t>
            </a:r>
            <a:r>
              <a:rPr lang="en-US" sz="3000" baseline="-25000" dirty="0"/>
              <a:t>3</a:t>
            </a:r>
            <a:r>
              <a:rPr lang="en-US" sz="3000" dirty="0"/>
              <a:t>, x</a:t>
            </a:r>
            <a:r>
              <a:rPr lang="en-US" sz="3000" baseline="-25000" dirty="0"/>
              <a:t>4</a:t>
            </a:r>
            <a:r>
              <a:rPr lang="en-US" sz="3000" dirty="0"/>
              <a:t> and x</a:t>
            </a:r>
            <a:r>
              <a:rPr lang="en-US" sz="3000" baseline="-25000" dirty="0"/>
              <a:t>5</a:t>
            </a:r>
            <a:r>
              <a:rPr lang="en-US" sz="3000" dirty="0"/>
              <a:t> are the mixed nodes.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000" dirty="0">
                <a:solidFill>
                  <a:srgbClr val="00B050"/>
                </a:solidFill>
              </a:rPr>
              <a:t>Transmittance: </a:t>
            </a:r>
            <a:r>
              <a:rPr lang="en-US" sz="3000" dirty="0"/>
              <a:t>Transmittance also known as transfer function, which is normally written on the branch near arrow.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DC81-4223-4049-A186-BDE8721DA44E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0960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000" dirty="0">
                <a:solidFill>
                  <a:srgbClr val="00B050"/>
                </a:solidFill>
              </a:rPr>
              <a:t>Forward path: </a:t>
            </a:r>
            <a:r>
              <a:rPr lang="en-US" sz="3000" dirty="0"/>
              <a:t>Forward path is a path which originates from the input node and terminates at the output node and along which no node is traversed more than once. X</a:t>
            </a:r>
            <a:r>
              <a:rPr lang="en-US" sz="3000" baseline="-25000" dirty="0"/>
              <a:t>1</a:t>
            </a:r>
            <a:r>
              <a:rPr lang="en-US" sz="3000" dirty="0"/>
              <a:t>-x</a:t>
            </a:r>
            <a:r>
              <a:rPr lang="en-US" sz="3000" baseline="-25000" dirty="0"/>
              <a:t>2</a:t>
            </a:r>
            <a:r>
              <a:rPr lang="en-US" sz="3000" dirty="0"/>
              <a:t>-x</a:t>
            </a:r>
            <a:r>
              <a:rPr lang="en-US" sz="3000" baseline="-25000" dirty="0"/>
              <a:t>3</a:t>
            </a:r>
            <a:r>
              <a:rPr lang="en-US" sz="3000" dirty="0"/>
              <a:t>-x</a:t>
            </a:r>
            <a:r>
              <a:rPr lang="en-US" sz="3000" baseline="-25000" dirty="0"/>
              <a:t>4</a:t>
            </a:r>
            <a:r>
              <a:rPr lang="en-US" sz="3000" dirty="0"/>
              <a:t>-x</a:t>
            </a:r>
            <a:r>
              <a:rPr lang="en-US" sz="3000" baseline="-25000" dirty="0"/>
              <a:t>5</a:t>
            </a:r>
            <a:r>
              <a:rPr lang="en-US" sz="3000" dirty="0"/>
              <a:t>-x</a:t>
            </a:r>
            <a:r>
              <a:rPr lang="en-US" sz="3000" baseline="-25000" dirty="0"/>
              <a:t>6</a:t>
            </a:r>
            <a:r>
              <a:rPr lang="en-US" sz="3000" dirty="0"/>
              <a:t> and x</a:t>
            </a:r>
            <a:r>
              <a:rPr lang="en-US" sz="3000" baseline="-25000" dirty="0"/>
              <a:t>1</a:t>
            </a:r>
            <a:r>
              <a:rPr lang="en-US" sz="3000" dirty="0"/>
              <a:t>-x</a:t>
            </a:r>
            <a:r>
              <a:rPr lang="en-US" sz="3000" baseline="-25000" dirty="0"/>
              <a:t>2</a:t>
            </a:r>
            <a:r>
              <a:rPr lang="en-US" sz="3000" dirty="0"/>
              <a:t>-x</a:t>
            </a:r>
            <a:r>
              <a:rPr lang="en-US" sz="3000" baseline="-25000" dirty="0"/>
              <a:t>3</a:t>
            </a:r>
            <a:r>
              <a:rPr lang="en-US" sz="3000" dirty="0"/>
              <a:t>-x</a:t>
            </a:r>
            <a:r>
              <a:rPr lang="en-US" sz="3000" baseline="-25000" dirty="0"/>
              <a:t>5</a:t>
            </a:r>
            <a:r>
              <a:rPr lang="en-US" sz="3000" dirty="0"/>
              <a:t>-x</a:t>
            </a:r>
            <a:r>
              <a:rPr lang="en-US" sz="3000" baseline="-25000" dirty="0"/>
              <a:t>6</a:t>
            </a:r>
            <a:r>
              <a:rPr lang="en-US" sz="3000" dirty="0"/>
              <a:t> are forward paths.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000" dirty="0">
                <a:solidFill>
                  <a:srgbClr val="00B050"/>
                </a:solidFill>
              </a:rPr>
              <a:t>Loop: </a:t>
            </a:r>
            <a:r>
              <a:rPr lang="en-US" sz="3000" dirty="0"/>
              <a:t>loop is a path that originates and terminates on the same node and along which no other node is traversed more than once. </a:t>
            </a:r>
            <a:r>
              <a:rPr lang="en-US" sz="3000" dirty="0" err="1"/>
              <a:t>e.g</a:t>
            </a:r>
            <a:r>
              <a:rPr lang="en-US" sz="3000" dirty="0"/>
              <a:t> x</a:t>
            </a:r>
            <a:r>
              <a:rPr lang="en-US" sz="3000" baseline="-25000" dirty="0"/>
              <a:t>2</a:t>
            </a:r>
            <a:r>
              <a:rPr lang="en-US" sz="3000" dirty="0"/>
              <a:t> to x</a:t>
            </a:r>
            <a:r>
              <a:rPr lang="en-US" sz="3000" baseline="-25000" dirty="0"/>
              <a:t>3</a:t>
            </a:r>
            <a:r>
              <a:rPr lang="en-US" sz="3000" dirty="0"/>
              <a:t> to x</a:t>
            </a:r>
            <a:r>
              <a:rPr lang="en-US" sz="3000" baseline="-25000" dirty="0"/>
              <a:t>2</a:t>
            </a:r>
            <a:r>
              <a:rPr lang="en-US" sz="3000" dirty="0"/>
              <a:t> and x</a:t>
            </a:r>
            <a:r>
              <a:rPr lang="en-US" sz="3000" baseline="-25000" dirty="0"/>
              <a:t>3</a:t>
            </a:r>
            <a:r>
              <a:rPr lang="en-US" sz="3000" dirty="0"/>
              <a:t> to x</a:t>
            </a:r>
            <a:r>
              <a:rPr lang="en-US" sz="3000" baseline="-25000" dirty="0"/>
              <a:t>4</a:t>
            </a:r>
            <a:r>
              <a:rPr lang="en-US" sz="3000" dirty="0"/>
              <a:t> to x</a:t>
            </a:r>
            <a:r>
              <a:rPr lang="en-US" sz="3000" baseline="-25000" dirty="0"/>
              <a:t>3 . </a:t>
            </a:r>
            <a:r>
              <a:rPr lang="en-US" sz="3000" baseline="30000" dirty="0"/>
              <a:t> </a:t>
            </a:r>
            <a:r>
              <a:rPr lang="en-US" sz="3000" dirty="0"/>
              <a:t>                              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000" dirty="0">
                <a:solidFill>
                  <a:srgbClr val="00B050"/>
                </a:solidFill>
              </a:rPr>
              <a:t>Self loop: </a:t>
            </a:r>
            <a:r>
              <a:rPr lang="en-US" sz="3000" dirty="0"/>
              <a:t>it is a path which originates and terminates on the same node. For example x</a:t>
            </a:r>
            <a:r>
              <a:rPr lang="en-US" sz="3000" baseline="-25000" dirty="0"/>
              <a:t>4 </a:t>
            </a:r>
          </a:p>
          <a:p>
            <a:pPr algn="just">
              <a:buNone/>
            </a:pPr>
            <a:r>
              <a:rPr lang="en-US" sz="3000" baseline="-25000" dirty="0"/>
              <a:t>  </a:t>
            </a:r>
          </a:p>
          <a:p>
            <a:pPr algn="just">
              <a:buFont typeface="Wingdings" pitchFamily="2" charset="2"/>
              <a:buChar char="Ø"/>
            </a:pPr>
            <a:endParaRPr lang="en-US" sz="3000" baseline="-25000" dirty="0"/>
          </a:p>
          <a:p>
            <a:pPr algn="just">
              <a:buNone/>
            </a:pPr>
            <a:r>
              <a:rPr lang="en-US" sz="3000" baseline="-25000" dirty="0"/>
              <a:t>     </a:t>
            </a:r>
          </a:p>
          <a:p>
            <a:pPr algn="just">
              <a:buFont typeface="Wingdings" pitchFamily="2" charset="2"/>
              <a:buChar char="Ø"/>
            </a:pPr>
            <a:endParaRPr lang="en-US" sz="3000" baseline="-25000" dirty="0"/>
          </a:p>
          <a:p>
            <a:pPr algn="just">
              <a:buFont typeface="Wingdings" pitchFamily="2" charset="2"/>
              <a:buChar char="Ø"/>
            </a:pPr>
            <a:endParaRPr lang="en-US" sz="3000" baseline="-25000" dirty="0">
              <a:solidFill>
                <a:srgbClr val="00B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D8AB1-6CFD-4728-9D6E-0D1E7A0EA29C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172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00B050"/>
                </a:solidFill>
              </a:rPr>
              <a:t>Path gain: </a:t>
            </a:r>
            <a:r>
              <a:rPr lang="en-US" dirty="0"/>
              <a:t>The product of the branch gains along the path is called path gain. For example the gain of the path  x</a:t>
            </a:r>
            <a:r>
              <a:rPr lang="en-US" baseline="-25000" dirty="0"/>
              <a:t>1</a:t>
            </a:r>
            <a:r>
              <a:rPr lang="en-US" dirty="0"/>
              <a:t>-x</a:t>
            </a:r>
            <a:r>
              <a:rPr lang="en-US" baseline="-25000" dirty="0"/>
              <a:t>2</a:t>
            </a:r>
            <a:r>
              <a:rPr lang="en-US" dirty="0"/>
              <a:t>-x</a:t>
            </a:r>
            <a:r>
              <a:rPr lang="en-US" baseline="-25000" dirty="0"/>
              <a:t>3</a:t>
            </a:r>
            <a:r>
              <a:rPr lang="en-US" dirty="0"/>
              <a:t>-x</a:t>
            </a:r>
            <a:r>
              <a:rPr lang="en-US" baseline="-25000" dirty="0"/>
              <a:t>4</a:t>
            </a:r>
            <a:r>
              <a:rPr lang="en-US" dirty="0"/>
              <a:t>-x</a:t>
            </a:r>
            <a:r>
              <a:rPr lang="en-US" baseline="-25000" dirty="0"/>
              <a:t>5</a:t>
            </a:r>
            <a:r>
              <a:rPr lang="en-US" dirty="0"/>
              <a:t>-x</a:t>
            </a:r>
            <a:r>
              <a:rPr lang="en-US" baseline="-25000" dirty="0"/>
              <a:t>6</a:t>
            </a:r>
            <a:r>
              <a:rPr lang="en-US" dirty="0"/>
              <a:t> is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12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23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34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45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56  </a:t>
            </a:r>
          </a:p>
          <a:p>
            <a:pPr>
              <a:buFont typeface="Wingdings" pitchFamily="2" charset="2"/>
              <a:buChar char="Ø"/>
            </a:pPr>
            <a:r>
              <a:rPr lang="en-US" baseline="-25000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Loop Gain: </a:t>
            </a:r>
            <a:r>
              <a:rPr lang="en-US" dirty="0"/>
              <a:t>The gain of the loop is known as loop gain.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00B050"/>
                </a:solidFill>
              </a:rPr>
              <a:t>Non-touching loop: </a:t>
            </a:r>
            <a:r>
              <a:rPr lang="en-US" dirty="0"/>
              <a:t>Non-touching loops having no common nodes branch and paths. For example x</a:t>
            </a:r>
            <a:r>
              <a:rPr lang="en-US" baseline="-25000" dirty="0"/>
              <a:t>2 </a:t>
            </a:r>
            <a:r>
              <a:rPr lang="en-US" dirty="0"/>
              <a:t>to x</a:t>
            </a:r>
            <a:r>
              <a:rPr lang="en-US" baseline="-25000" dirty="0"/>
              <a:t>3</a:t>
            </a:r>
            <a:r>
              <a:rPr lang="en-US" dirty="0"/>
              <a:t> to x</a:t>
            </a:r>
            <a:r>
              <a:rPr lang="en-US" baseline="-25000" dirty="0"/>
              <a:t>2</a:t>
            </a:r>
            <a:r>
              <a:rPr lang="en-US" dirty="0"/>
              <a:t> and x</a:t>
            </a:r>
            <a:r>
              <a:rPr lang="en-US" baseline="-25000" dirty="0"/>
              <a:t>4</a:t>
            </a:r>
            <a:r>
              <a:rPr lang="en-US" dirty="0"/>
              <a:t> to x</a:t>
            </a:r>
            <a:r>
              <a:rPr lang="en-US" baseline="-25000" dirty="0"/>
              <a:t>4</a:t>
            </a:r>
            <a:r>
              <a:rPr lang="en-US" dirty="0"/>
              <a:t> are non-touching loops.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       </a:t>
            </a:r>
            <a:endParaRPr lang="en-US" baseline="-25000" dirty="0">
              <a:solidFill>
                <a:srgbClr val="00B050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E3177-9911-48D8-99D5-5B562A254DE6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019800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PROPERTIES OF SIGNAL FLOW GRAPH: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Signal flow graph is applicable only for linear time-invariant systems.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The signal flow graph along the direction of the arrow.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The gain of the SFG is given by Mason’s formula.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The signal gets multiplied by branch gain when it travels along it.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The SFG is not be the unique property of the system.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000" dirty="0"/>
              <a:t>Signal travel along the branches only in the direction described by the arrows of the branches. </a:t>
            </a:r>
          </a:p>
          <a:p>
            <a:pPr marL="514350" indent="-514350">
              <a:buFont typeface="+mj-lt"/>
              <a:buAutoNum type="arabicPeriod"/>
            </a:pPr>
            <a:endParaRPr lang="en-US" sz="3000" dirty="0"/>
          </a:p>
          <a:p>
            <a:pPr marL="514350" indent="-514350">
              <a:buFont typeface="+mj-lt"/>
              <a:buAutoNum type="arabicPeriod"/>
            </a:pPr>
            <a:endParaRPr lang="en-US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D2994-2495-4E71-90D3-95AD3095F19D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10668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COMPARISON OF BLOCK DIAGRAM AND SIGNAL FLOW GRAPH METHOD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52400" y="1219200"/>
          <a:ext cx="8839200" cy="5029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4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S.NO.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BLOCK DIAGRAM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SFG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9838">
                <a:tc>
                  <a:txBody>
                    <a:bodyPr/>
                    <a:lstStyle/>
                    <a:p>
                      <a:r>
                        <a:rPr lang="en-US" sz="2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Applicable to LTI systems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Applicable to LTI systems only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9838">
                <a:tc>
                  <a:txBody>
                    <a:bodyPr/>
                    <a:lstStyle/>
                    <a:p>
                      <a:r>
                        <a:rPr lang="en-US" sz="2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Each element is represented by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Each variable is represented by</a:t>
                      </a:r>
                      <a:r>
                        <a:rPr lang="en-US" sz="2400" baseline="0" dirty="0"/>
                        <a:t> node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9838">
                <a:tc>
                  <a:txBody>
                    <a:bodyPr/>
                    <a:lstStyle/>
                    <a:p>
                      <a:r>
                        <a:rPr lang="en-US" sz="2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Summing point and take off points</a:t>
                      </a:r>
                      <a:r>
                        <a:rPr lang="en-US" sz="2400" baseline="0" dirty="0"/>
                        <a:t> are separate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Summing point and take off points are not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421">
                <a:tc>
                  <a:txBody>
                    <a:bodyPr/>
                    <a:lstStyle/>
                    <a:p>
                      <a:r>
                        <a:rPr lang="en-US" sz="2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Self loop do not exists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Self loop can exits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421">
                <a:tc>
                  <a:txBody>
                    <a:bodyPr/>
                    <a:lstStyle/>
                    <a:p>
                      <a:r>
                        <a:rPr lang="en-US" sz="2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It is time consuming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Requires less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7421">
                <a:tc>
                  <a:txBody>
                    <a:bodyPr/>
                    <a:lstStyle/>
                    <a:p>
                      <a:r>
                        <a:rPr lang="en-US" sz="24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Feedback path is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Feedback loops are present.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936B1-3BB8-4DE7-BD16-F8C32676D463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762000"/>
          </a:xfrm>
        </p:spPr>
        <p:txBody>
          <a:bodyPr>
            <a:normAutofit/>
          </a:bodyPr>
          <a:lstStyle/>
          <a:p>
            <a:r>
              <a:rPr lang="en-US" sz="3200" u="sng" dirty="0">
                <a:solidFill>
                  <a:srgbClr val="FF0000"/>
                </a:solidFill>
              </a:rPr>
              <a:t>CONSTRUCTION OF SFG FROM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Consider the following equations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Where y</a:t>
            </a:r>
            <a:r>
              <a:rPr lang="en-US" sz="2800" baseline="-25000" dirty="0"/>
              <a:t>1</a:t>
            </a:r>
            <a:r>
              <a:rPr lang="en-US" sz="2800" dirty="0"/>
              <a:t> is the input and y</a:t>
            </a:r>
            <a:r>
              <a:rPr lang="en-US" sz="2800" baseline="-25000" dirty="0"/>
              <a:t>6</a:t>
            </a:r>
            <a:r>
              <a:rPr lang="en-US" sz="2800" dirty="0"/>
              <a:t> is the output</a:t>
            </a:r>
          </a:p>
          <a:p>
            <a:pPr algn="just">
              <a:buNone/>
            </a:pPr>
            <a:r>
              <a:rPr lang="en-US" sz="2800" dirty="0"/>
              <a:t>First draw all nodes. In given example there are six nodes. From the first equation it is clear that y</a:t>
            </a:r>
            <a:r>
              <a:rPr lang="en-US" sz="2800" baseline="-25000" dirty="0"/>
              <a:t>2 </a:t>
            </a:r>
            <a:r>
              <a:rPr lang="en-US" sz="2800" dirty="0"/>
              <a:t>is the sum of two signals and so 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592263" y="1447800"/>
          <a:ext cx="4579937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4960" imgH="1143000" progId="Equation.3">
                  <p:embed/>
                </p:oleObj>
              </mc:Choice>
              <mc:Fallback>
                <p:oleObj name="Equation" r:id="rId2" imgW="1434960" imgH="11430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3" y="1447800"/>
                        <a:ext cx="4579937" cy="297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5F99-D18C-494A-8927-F46E0BB8E5F3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1560E-55CA-4C20-3160-10D264E5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C6C09-488C-FAE4-DC91-888509C87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28600"/>
            <a:ext cx="8839200" cy="762000"/>
          </a:xfrm>
        </p:spPr>
        <p:txBody>
          <a:bodyPr>
            <a:normAutofit/>
          </a:bodyPr>
          <a:lstStyle/>
          <a:p>
            <a:r>
              <a:rPr lang="en-US" sz="3200" u="sng" dirty="0">
                <a:solidFill>
                  <a:srgbClr val="FF0000"/>
                </a:solidFill>
              </a:rPr>
              <a:t>CONSTRUCTION OF SFG FROM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631F9-6B48-FF05-82D3-226BE2CBC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Consider the following equations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Where y</a:t>
            </a:r>
            <a:r>
              <a:rPr lang="en-US" sz="2800" baseline="-25000" dirty="0"/>
              <a:t>1</a:t>
            </a:r>
            <a:r>
              <a:rPr lang="en-US" sz="2800" dirty="0"/>
              <a:t> is the input and y</a:t>
            </a:r>
            <a:r>
              <a:rPr lang="en-US" sz="2800" baseline="-25000" dirty="0"/>
              <a:t>6</a:t>
            </a:r>
            <a:r>
              <a:rPr lang="en-US" sz="2800" dirty="0"/>
              <a:t> is the output</a:t>
            </a:r>
          </a:p>
          <a:p>
            <a:pPr algn="just">
              <a:buNone/>
            </a:pPr>
            <a:r>
              <a:rPr lang="en-US" sz="2800" dirty="0"/>
              <a:t>First draw all nodes. In given example there are six nodes. From the first equation it is clear that y</a:t>
            </a:r>
            <a:r>
              <a:rPr lang="en-US" sz="2800" baseline="-25000" dirty="0"/>
              <a:t>2 </a:t>
            </a:r>
            <a:r>
              <a:rPr lang="en-US" sz="2800" dirty="0"/>
              <a:t>is the sum of two signals and so 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011C7-1930-E5A2-0A93-A54EB1248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617A4-AFB9-A3E9-C32E-813D9E2D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86319F-C6C8-3734-4154-8B389D64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5F99-D18C-494A-8927-F46E0BB8E5F3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8F2DBA-1201-90EF-C070-9C69C404609F}"/>
              </a:ext>
            </a:extLst>
          </p:cNvPr>
          <p:cNvSpPr txBox="1"/>
          <p:nvPr/>
        </p:nvSpPr>
        <p:spPr>
          <a:xfrm>
            <a:off x="1387366" y="1327922"/>
            <a:ext cx="6726621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t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t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t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t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t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58918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36AD50-576C-D0B8-03C0-8DC85CB23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FE645-9849-C437-C097-5B5311FD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00B01-FC68-32AC-0D2C-799ED3EA5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5BAE7-ADD6-994F-CEA6-4FE23B3DB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5F99-D18C-494A-8927-F46E0BB8E5F3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8EE42C-C978-63EE-16AA-7B0E85F288D2}"/>
              </a:ext>
            </a:extLst>
          </p:cNvPr>
          <p:cNvSpPr/>
          <p:nvPr/>
        </p:nvSpPr>
        <p:spPr>
          <a:xfrm>
            <a:off x="1103586" y="740988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AFF666-0990-C7DA-24E9-EBBA477182D9}"/>
              </a:ext>
            </a:extLst>
          </p:cNvPr>
          <p:cNvSpPr/>
          <p:nvPr/>
        </p:nvSpPr>
        <p:spPr>
          <a:xfrm>
            <a:off x="2469929" y="740987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6236681-DF56-E658-E0A9-A66869DA4833}"/>
              </a:ext>
            </a:extLst>
          </p:cNvPr>
          <p:cNvSpPr/>
          <p:nvPr/>
        </p:nvSpPr>
        <p:spPr>
          <a:xfrm>
            <a:off x="5213137" y="740986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61E846C-D6FC-59D5-B122-11E8AD05F926}"/>
              </a:ext>
            </a:extLst>
          </p:cNvPr>
          <p:cNvSpPr/>
          <p:nvPr/>
        </p:nvSpPr>
        <p:spPr>
          <a:xfrm>
            <a:off x="6590002" y="740985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F573A9C-9B74-C69C-8524-56D4B60FDEA9}"/>
              </a:ext>
            </a:extLst>
          </p:cNvPr>
          <p:cNvSpPr/>
          <p:nvPr/>
        </p:nvSpPr>
        <p:spPr>
          <a:xfrm>
            <a:off x="3836272" y="740987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ED4441D-3C4A-408E-28CB-B8835DB5CFA9}"/>
              </a:ext>
            </a:extLst>
          </p:cNvPr>
          <p:cNvSpPr/>
          <p:nvPr/>
        </p:nvSpPr>
        <p:spPr>
          <a:xfrm>
            <a:off x="7956345" y="740984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C1B8E1-6B6A-E513-4591-05063578638F}"/>
              </a:ext>
            </a:extLst>
          </p:cNvPr>
          <p:cNvSpPr/>
          <p:nvPr/>
        </p:nvSpPr>
        <p:spPr>
          <a:xfrm>
            <a:off x="1103586" y="1313810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80017E2-07D0-8E5B-B962-F53D42EA36FC}"/>
              </a:ext>
            </a:extLst>
          </p:cNvPr>
          <p:cNvSpPr/>
          <p:nvPr/>
        </p:nvSpPr>
        <p:spPr>
          <a:xfrm>
            <a:off x="2469929" y="1313809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5E9918B-3818-E077-6378-C93EB8EC790B}"/>
              </a:ext>
            </a:extLst>
          </p:cNvPr>
          <p:cNvSpPr/>
          <p:nvPr/>
        </p:nvSpPr>
        <p:spPr>
          <a:xfrm>
            <a:off x="5213137" y="1313808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C07A7E-7EBD-1C4D-936B-43207867BF00}"/>
              </a:ext>
            </a:extLst>
          </p:cNvPr>
          <p:cNvSpPr/>
          <p:nvPr/>
        </p:nvSpPr>
        <p:spPr>
          <a:xfrm>
            <a:off x="6590002" y="1313807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661BB91-01A1-1D95-0603-AEAD3A2FD65F}"/>
              </a:ext>
            </a:extLst>
          </p:cNvPr>
          <p:cNvSpPr/>
          <p:nvPr/>
        </p:nvSpPr>
        <p:spPr>
          <a:xfrm>
            <a:off x="3836272" y="1313809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6E1BA96-2724-CB1B-EA2B-AC90857CBA21}"/>
              </a:ext>
            </a:extLst>
          </p:cNvPr>
          <p:cNvSpPr/>
          <p:nvPr/>
        </p:nvSpPr>
        <p:spPr>
          <a:xfrm>
            <a:off x="7956345" y="1313806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CC2E8B-BD72-27E9-BE3F-282BB4753D83}"/>
              </a:ext>
            </a:extLst>
          </p:cNvPr>
          <p:cNvCxnSpPr>
            <a:cxnSpLocks/>
          </p:cNvCxnSpPr>
          <p:nvPr/>
        </p:nvCxnSpPr>
        <p:spPr>
          <a:xfrm flipV="1">
            <a:off x="1182415" y="1371616"/>
            <a:ext cx="6903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B3FB240-7D81-2EFC-389C-786B2438C584}"/>
              </a:ext>
            </a:extLst>
          </p:cNvPr>
          <p:cNvCxnSpPr>
            <a:cxnSpLocks/>
          </p:cNvCxnSpPr>
          <p:nvPr/>
        </p:nvCxnSpPr>
        <p:spPr>
          <a:xfrm>
            <a:off x="1883268" y="1371608"/>
            <a:ext cx="6234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DC9585D-59A3-9656-00BE-5E1664F23EAC}"/>
              </a:ext>
            </a:extLst>
          </p:cNvPr>
          <p:cNvGrpSpPr/>
          <p:nvPr/>
        </p:nvGrpSpPr>
        <p:grpSpPr>
          <a:xfrm>
            <a:off x="2617075" y="3917730"/>
            <a:ext cx="1313790" cy="0"/>
            <a:chOff x="1156139" y="2065287"/>
            <a:chExt cx="1313790" cy="0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510F629-FC03-AAD2-A0CF-21068648EE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139" y="2065287"/>
              <a:ext cx="6903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11199F2-C9DC-5754-5C8D-5F0CC731182E}"/>
                </a:ext>
              </a:extLst>
            </p:cNvPr>
            <p:cNvCxnSpPr/>
            <p:nvPr/>
          </p:nvCxnSpPr>
          <p:spPr>
            <a:xfrm>
              <a:off x="1846479" y="2065287"/>
              <a:ext cx="6234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79F0C3E-7BA9-2CA0-19E0-A43663E42C99}"/>
              </a:ext>
            </a:extLst>
          </p:cNvPr>
          <p:cNvSpPr/>
          <p:nvPr/>
        </p:nvSpPr>
        <p:spPr>
          <a:xfrm>
            <a:off x="2554025" y="1361102"/>
            <a:ext cx="1271749" cy="743607"/>
          </a:xfrm>
          <a:custGeom>
            <a:avLst/>
            <a:gdLst>
              <a:gd name="connsiteX0" fmla="*/ 0 w 1912884"/>
              <a:gd name="connsiteY0" fmla="*/ 0 h 956441"/>
              <a:gd name="connsiteX1" fmla="*/ 1912884 w 1912884"/>
              <a:gd name="connsiteY1" fmla="*/ 0 h 956441"/>
              <a:gd name="connsiteX2" fmla="*/ 1907946 w 1912884"/>
              <a:gd name="connsiteY2" fmla="*/ 97790 h 956441"/>
              <a:gd name="connsiteX3" fmla="*/ 956442 w 1912884"/>
              <a:gd name="connsiteY3" fmla="*/ 956441 h 956441"/>
              <a:gd name="connsiteX4" fmla="*/ 4938 w 1912884"/>
              <a:gd name="connsiteY4" fmla="*/ 97790 h 956441"/>
              <a:gd name="connsiteX5" fmla="*/ 0 w 1912884"/>
              <a:gd name="connsiteY5" fmla="*/ 0 h 956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12884" h="956441">
                <a:moveTo>
                  <a:pt x="0" y="0"/>
                </a:moveTo>
                <a:lnTo>
                  <a:pt x="1912884" y="0"/>
                </a:lnTo>
                <a:lnTo>
                  <a:pt x="1907946" y="97790"/>
                </a:lnTo>
                <a:cubicBezTo>
                  <a:pt x="1858967" y="580081"/>
                  <a:pt x="1451656" y="956441"/>
                  <a:pt x="956442" y="956441"/>
                </a:cubicBezTo>
                <a:cubicBezTo>
                  <a:pt x="461228" y="956441"/>
                  <a:pt x="53918" y="580081"/>
                  <a:pt x="4938" y="97790"/>
                </a:cubicBezTo>
                <a:lnTo>
                  <a:pt x="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FB1C24-0959-AA8F-E80A-07C595907DAF}"/>
              </a:ext>
            </a:extLst>
          </p:cNvPr>
          <p:cNvSpPr txBox="1"/>
          <p:nvPr/>
        </p:nvSpPr>
        <p:spPr>
          <a:xfrm rot="235240">
            <a:off x="3003331" y="1856948"/>
            <a:ext cx="370490" cy="419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&lt;</a:t>
            </a:r>
            <a:endParaRPr lang="en-IN" sz="240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D70850A-34CD-E79B-F006-84A93E7D8004}"/>
              </a:ext>
            </a:extLst>
          </p:cNvPr>
          <p:cNvSpPr/>
          <p:nvPr/>
        </p:nvSpPr>
        <p:spPr>
          <a:xfrm>
            <a:off x="1182415" y="3875694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B774079-88DE-AB77-157D-33923B086897}"/>
              </a:ext>
            </a:extLst>
          </p:cNvPr>
          <p:cNvSpPr/>
          <p:nvPr/>
        </p:nvSpPr>
        <p:spPr>
          <a:xfrm>
            <a:off x="2548758" y="3875693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14F90BD-8E39-3878-BBBB-03633C9E1183}"/>
              </a:ext>
            </a:extLst>
          </p:cNvPr>
          <p:cNvSpPr/>
          <p:nvPr/>
        </p:nvSpPr>
        <p:spPr>
          <a:xfrm>
            <a:off x="5291966" y="3875692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B3E6B6B-D27D-AAED-E572-405B109B8CA6}"/>
              </a:ext>
            </a:extLst>
          </p:cNvPr>
          <p:cNvSpPr/>
          <p:nvPr/>
        </p:nvSpPr>
        <p:spPr>
          <a:xfrm>
            <a:off x="6668831" y="3875691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BA7F06D-7964-A15C-F37C-B9C6AA5C7DA2}"/>
              </a:ext>
            </a:extLst>
          </p:cNvPr>
          <p:cNvSpPr/>
          <p:nvPr/>
        </p:nvSpPr>
        <p:spPr>
          <a:xfrm>
            <a:off x="3915101" y="3875693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04A53B9-0594-4A87-5AFA-48634CC48821}"/>
              </a:ext>
            </a:extLst>
          </p:cNvPr>
          <p:cNvSpPr/>
          <p:nvPr/>
        </p:nvSpPr>
        <p:spPr>
          <a:xfrm>
            <a:off x="8035174" y="3875690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FAC9742-8268-F039-F17C-E00E306D81F7}"/>
              </a:ext>
            </a:extLst>
          </p:cNvPr>
          <p:cNvCxnSpPr>
            <a:cxnSpLocks/>
          </p:cNvCxnSpPr>
          <p:nvPr/>
        </p:nvCxnSpPr>
        <p:spPr>
          <a:xfrm>
            <a:off x="1240221" y="5496881"/>
            <a:ext cx="6234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8668A9E2-3B15-9536-8F1A-4BC8813A8F8D}"/>
              </a:ext>
            </a:extLst>
          </p:cNvPr>
          <p:cNvSpPr/>
          <p:nvPr/>
        </p:nvSpPr>
        <p:spPr>
          <a:xfrm>
            <a:off x="1240221" y="2722164"/>
            <a:ext cx="2701158" cy="1177174"/>
          </a:xfrm>
          <a:custGeom>
            <a:avLst/>
            <a:gdLst>
              <a:gd name="connsiteX0" fmla="*/ 0 w 2701158"/>
              <a:gd name="connsiteY0" fmla="*/ 1156153 h 1177174"/>
              <a:gd name="connsiteX1" fmla="*/ 1387365 w 2701158"/>
              <a:gd name="connsiteY1" fmla="*/ 15 h 1177174"/>
              <a:gd name="connsiteX2" fmla="*/ 2701158 w 2701158"/>
              <a:gd name="connsiteY2" fmla="*/ 1177174 h 1177174"/>
              <a:gd name="connsiteX3" fmla="*/ 2701158 w 2701158"/>
              <a:gd name="connsiteY3" fmla="*/ 1177174 h 1177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158" h="1177174">
                <a:moveTo>
                  <a:pt x="0" y="1156153"/>
                </a:moveTo>
                <a:cubicBezTo>
                  <a:pt x="468586" y="576332"/>
                  <a:pt x="937172" y="-3489"/>
                  <a:pt x="1387365" y="15"/>
                </a:cubicBezTo>
                <a:cubicBezTo>
                  <a:pt x="1837558" y="3519"/>
                  <a:pt x="2701158" y="1177174"/>
                  <a:pt x="2701158" y="1177174"/>
                </a:cubicBezTo>
                <a:lnTo>
                  <a:pt x="2701158" y="1177174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880EE785-354B-9FFB-39E6-54E55B51DE06}"/>
              </a:ext>
            </a:extLst>
          </p:cNvPr>
          <p:cNvSpPr/>
          <p:nvPr/>
        </p:nvSpPr>
        <p:spPr>
          <a:xfrm>
            <a:off x="3947282" y="3021892"/>
            <a:ext cx="611389" cy="914861"/>
          </a:xfrm>
          <a:custGeom>
            <a:avLst/>
            <a:gdLst>
              <a:gd name="connsiteX0" fmla="*/ 4607 w 611389"/>
              <a:gd name="connsiteY0" fmla="*/ 908976 h 914861"/>
              <a:gd name="connsiteX1" fmla="*/ 340938 w 611389"/>
              <a:gd name="connsiteY1" fmla="*/ 15597 h 914861"/>
              <a:gd name="connsiteX2" fmla="*/ 603697 w 611389"/>
              <a:gd name="connsiteY2" fmla="*/ 383459 h 914861"/>
              <a:gd name="connsiteX3" fmla="*/ 4607 w 611389"/>
              <a:gd name="connsiteY3" fmla="*/ 908976 h 91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389" h="914861">
                <a:moveTo>
                  <a:pt x="4607" y="908976"/>
                </a:moveTo>
                <a:cubicBezTo>
                  <a:pt x="-39186" y="847666"/>
                  <a:pt x="241090" y="103183"/>
                  <a:pt x="340938" y="15597"/>
                </a:cubicBezTo>
                <a:cubicBezTo>
                  <a:pt x="440786" y="-71989"/>
                  <a:pt x="654497" y="231059"/>
                  <a:pt x="603697" y="383459"/>
                </a:cubicBezTo>
                <a:cubicBezTo>
                  <a:pt x="552897" y="535859"/>
                  <a:pt x="48400" y="970286"/>
                  <a:pt x="4607" y="908976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D80FBB-D42E-95FB-256D-BAEDD1F7F72B}"/>
              </a:ext>
            </a:extLst>
          </p:cNvPr>
          <p:cNvSpPr txBox="1"/>
          <p:nvPr/>
        </p:nvSpPr>
        <p:spPr>
          <a:xfrm>
            <a:off x="2443656" y="2491323"/>
            <a:ext cx="46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D17B0B-5DD3-F955-FA87-F835F68261B8}"/>
              </a:ext>
            </a:extLst>
          </p:cNvPr>
          <p:cNvSpPr txBox="1"/>
          <p:nvPr/>
        </p:nvSpPr>
        <p:spPr>
          <a:xfrm rot="3141782">
            <a:off x="4306427" y="2972642"/>
            <a:ext cx="462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86E21BB-6495-2268-EC68-BA148108894F}"/>
              </a:ext>
            </a:extLst>
          </p:cNvPr>
          <p:cNvSpPr/>
          <p:nvPr/>
        </p:nvSpPr>
        <p:spPr>
          <a:xfrm>
            <a:off x="1135118" y="5444349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6B43AD2-8948-BF7E-82FC-34A743147C7F}"/>
              </a:ext>
            </a:extLst>
          </p:cNvPr>
          <p:cNvSpPr/>
          <p:nvPr/>
        </p:nvSpPr>
        <p:spPr>
          <a:xfrm>
            <a:off x="2501461" y="5444348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EFC1FB7-FE56-178D-EF47-75DE5C6318FD}"/>
              </a:ext>
            </a:extLst>
          </p:cNvPr>
          <p:cNvSpPr/>
          <p:nvPr/>
        </p:nvSpPr>
        <p:spPr>
          <a:xfrm>
            <a:off x="5244669" y="5444347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8881E13-8A11-AF36-4027-4C5576348BAF}"/>
              </a:ext>
            </a:extLst>
          </p:cNvPr>
          <p:cNvSpPr/>
          <p:nvPr/>
        </p:nvSpPr>
        <p:spPr>
          <a:xfrm>
            <a:off x="6621534" y="5444346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171DF1B-9DDA-0BCD-0F5C-ACF86FC59A79}"/>
              </a:ext>
            </a:extLst>
          </p:cNvPr>
          <p:cNvSpPr/>
          <p:nvPr/>
        </p:nvSpPr>
        <p:spPr>
          <a:xfrm>
            <a:off x="3867804" y="5444348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7AD7BA1-2205-CDEB-C6C2-1D8C3B9615D5}"/>
              </a:ext>
            </a:extLst>
          </p:cNvPr>
          <p:cNvSpPr/>
          <p:nvPr/>
        </p:nvSpPr>
        <p:spPr>
          <a:xfrm>
            <a:off x="7987877" y="5444345"/>
            <a:ext cx="94593" cy="9459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972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1746" name="Picture 2" descr="E:\Automatic Control Systems\jpg\page_57_1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58850" y="685800"/>
            <a:ext cx="7054850" cy="838200"/>
          </a:xfrm>
          <a:prstGeom prst="rect">
            <a:avLst/>
          </a:prstGeom>
          <a:noFill/>
        </p:spPr>
      </p:pic>
      <p:pic>
        <p:nvPicPr>
          <p:cNvPr id="31747" name="Picture 3" descr="E:\Automatic Control Systems\jpg\page_57_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600200"/>
            <a:ext cx="7010400" cy="1874068"/>
          </a:xfrm>
          <a:prstGeom prst="rect">
            <a:avLst/>
          </a:prstGeom>
          <a:noFill/>
        </p:spPr>
      </p:pic>
      <p:pic>
        <p:nvPicPr>
          <p:cNvPr id="31748" name="Picture 4" descr="E:\Automatic Control Systems\jpg\page_57_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6800" y="3581400"/>
            <a:ext cx="7010400" cy="2179471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3AC40-4566-48EC-97DA-1A2B967FC896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2770" name="Picture 2" descr="E:\Automatic Control Systems\jpg\page_57_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609602"/>
            <a:ext cx="7620000" cy="1904998"/>
          </a:xfrm>
          <a:prstGeom prst="rect">
            <a:avLst/>
          </a:prstGeom>
          <a:noFill/>
        </p:spPr>
      </p:pic>
      <p:pic>
        <p:nvPicPr>
          <p:cNvPr id="32771" name="Picture 3" descr="E:\Automatic Control Systems\jpg\page_57_5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2806120"/>
            <a:ext cx="7543800" cy="1284687"/>
          </a:xfrm>
          <a:prstGeom prst="rect">
            <a:avLst/>
          </a:prstGeom>
          <a:noFill/>
        </p:spPr>
      </p:pic>
      <p:pic>
        <p:nvPicPr>
          <p:cNvPr id="32772" name="Picture 4" descr="E:\Automatic Control Systems\jpg\page_57_6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00" y="4412961"/>
            <a:ext cx="7620000" cy="194649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40203-95F7-4908-BC98-29F29BA14968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Complete Signal Flow Graph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3074" name="Picture 2" descr="E:\Automatic Control Systems\jpg\fig_1-107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13031" y="1828800"/>
            <a:ext cx="8526169" cy="4072694"/>
          </a:xfrm>
          <a:prstGeom prst="rect">
            <a:avLst/>
          </a:prstGeom>
          <a:noFill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2080-BC6B-4B50-90C5-A6B160575751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05800" cy="563562"/>
          </a:xfrm>
        </p:spPr>
        <p:txBody>
          <a:bodyPr>
            <a:normAutofit fontScale="90000"/>
          </a:bodyPr>
          <a:lstStyle/>
          <a:p>
            <a:r>
              <a:rPr lang="en-US" sz="3200" u="sng" dirty="0">
                <a:solidFill>
                  <a:srgbClr val="FF0000"/>
                </a:solidFill>
              </a:rPr>
              <a:t>CONSTRUCTION OF SFG FROM 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3340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All variables, summing points and take off points are represented by nodes.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If a summing point is placed before a take off point in the direction of signal flow, in such case represent the summing point and take off point by a single node.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If a summing point is placed after a take off point in the direction of signal flow, in such case represent the summing point and take off point by separate nodes by a branch having transmittance unity. </a:t>
            </a:r>
          </a:p>
          <a:p>
            <a:pPr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8BB2E-D084-4F13-8F10-E2E1DA37DA52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26209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122" name="Picture 2" descr="E:\Automatic Control Systems\jpg\fig_1-109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3181112"/>
            <a:ext cx="6677090" cy="3067288"/>
          </a:xfrm>
          <a:prstGeom prst="rect">
            <a:avLst/>
          </a:prstGeom>
          <a:noFill/>
        </p:spPr>
      </p:pic>
      <p:pic>
        <p:nvPicPr>
          <p:cNvPr id="5123" name="Picture 3" descr="E:\Automatic Control Systems\jpg\fig_1-109-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414000"/>
            <a:ext cx="6553200" cy="2329200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D102F-AE30-485E-B7E9-C3B769931D01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Draw the SFG for the network shown in fig, take V</a:t>
            </a:r>
            <a:r>
              <a:rPr lang="en-US" sz="3200" baseline="-25000" dirty="0">
                <a:solidFill>
                  <a:srgbClr val="00B050"/>
                </a:solidFill>
              </a:rPr>
              <a:t>3</a:t>
            </a:r>
            <a:r>
              <a:rPr lang="en-US" sz="3200" dirty="0">
                <a:solidFill>
                  <a:srgbClr val="00B050"/>
                </a:solidFill>
              </a:rPr>
              <a:t> as output node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146" name="Picture 2" descr="E:\Automatic Control Systems\jpg\Fig_1-117-b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3987" y="2362994"/>
            <a:ext cx="6296025" cy="3000375"/>
          </a:xfrm>
          <a:prstGeom prst="rect">
            <a:avLst/>
          </a:prstGeom>
          <a:noFill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704C-E8FD-4662-8874-B1E60ACDB208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</p:nvPr>
        </p:nvGraphicFramePr>
        <p:xfrm>
          <a:off x="3495675" y="1830388"/>
          <a:ext cx="2151063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675" y="1830388"/>
                        <a:ext cx="2151063" cy="406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20" imgH="215640" progId="Equation.3">
                  <p:embed/>
                </p:oleObj>
              </mc:Choice>
              <mc:Fallback>
                <p:oleObj name="Equation" r:id="rId6" imgW="11412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120" imgH="215640" progId="Equation.3">
                  <p:embed/>
                </p:oleObj>
              </mc:Choice>
              <mc:Fallback>
                <p:oleObj name="Equation" r:id="rId7" imgW="11412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120" imgH="215640" progId="Equation.3">
                  <p:embed/>
                </p:oleObj>
              </mc:Choice>
              <mc:Fallback>
                <p:oleObj name="Equation" r:id="rId8" imgW="114120" imgH="215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1371600" y="383857"/>
          <a:ext cx="6705600" cy="2740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1840" imgH="1346040" progId="Equation.3">
                  <p:embed/>
                </p:oleObj>
              </mc:Choice>
              <mc:Fallback>
                <p:oleObj name="Equation" r:id="rId9" imgW="2031840" imgH="13460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83857"/>
                        <a:ext cx="6705600" cy="27403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35" name="Picture 11" descr="E:\Automatic Control Systems\jpg\Fig_1-117-c.jpg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337038" y="3352800"/>
            <a:ext cx="8578362" cy="2514600"/>
          </a:xfrm>
          <a:prstGeom prst="rect">
            <a:avLst/>
          </a:prstGeom>
          <a:noFill/>
        </p:spPr>
      </p:pic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096E4-3C88-47DE-AF15-4C6705130EBD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077200" cy="762000"/>
          </a:xfrm>
        </p:spPr>
        <p:txBody>
          <a:bodyPr>
            <a:normAutofit/>
          </a:bodyPr>
          <a:lstStyle/>
          <a:p>
            <a:r>
              <a:rPr lang="en-US" sz="3200" u="sng" dirty="0">
                <a:solidFill>
                  <a:srgbClr val="FF0000"/>
                </a:solidFill>
              </a:rPr>
              <a:t>MASON’S GAIN FORMULA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562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3000" dirty="0"/>
              <a:t>By using Mason’s Gain formula we can determine the overall transfer function of the system in one step.</a:t>
            </a:r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r>
              <a:rPr lang="en-US" sz="3000" dirty="0"/>
              <a:t>Where  </a:t>
            </a:r>
            <a:r>
              <a:rPr lang="el-GR" sz="3000" dirty="0"/>
              <a:t>Δ</a:t>
            </a:r>
            <a:r>
              <a:rPr lang="en-US" sz="3000" dirty="0"/>
              <a:t>=1- [sum of all individual loop gain]+[sum of all possible gain products of two non-touching loops]-[sum of all possible gain products of three non-touching loops]+…………</a:t>
            </a:r>
          </a:p>
          <a:p>
            <a:pPr algn="just">
              <a:buNone/>
            </a:pPr>
            <a:r>
              <a:rPr lang="en-US" sz="3000" dirty="0" err="1"/>
              <a:t>g</a:t>
            </a:r>
            <a:r>
              <a:rPr lang="en-US" sz="3000" baseline="-25000" dirty="0" err="1"/>
              <a:t>k</a:t>
            </a:r>
            <a:r>
              <a:rPr lang="en-US" sz="3000" baseline="-25000" dirty="0"/>
              <a:t> </a:t>
            </a:r>
            <a:r>
              <a:rPr lang="en-US" sz="3000" dirty="0"/>
              <a:t> = gain of </a:t>
            </a:r>
            <a:r>
              <a:rPr lang="en-US" sz="3000" dirty="0" err="1"/>
              <a:t>k</a:t>
            </a:r>
            <a:r>
              <a:rPr lang="en-US" sz="3000" baseline="30000" dirty="0" err="1"/>
              <a:t>th</a:t>
            </a:r>
            <a:r>
              <a:rPr lang="en-US" sz="3000" baseline="30000" dirty="0"/>
              <a:t> </a:t>
            </a:r>
            <a:r>
              <a:rPr lang="en-US" sz="3000" dirty="0"/>
              <a:t>forward path</a:t>
            </a:r>
          </a:p>
          <a:p>
            <a:pPr algn="just">
              <a:buNone/>
            </a:pPr>
            <a:r>
              <a:rPr lang="el-GR" sz="3000" dirty="0"/>
              <a:t>Δ</a:t>
            </a:r>
            <a:r>
              <a:rPr lang="en-US" sz="3000" baseline="-25000" dirty="0"/>
              <a:t>k  </a:t>
            </a:r>
            <a:r>
              <a:rPr lang="en-US" sz="3000" dirty="0"/>
              <a:t> =the part of </a:t>
            </a:r>
            <a:r>
              <a:rPr lang="el-GR" sz="3000" dirty="0"/>
              <a:t>Δ</a:t>
            </a:r>
            <a:r>
              <a:rPr lang="en-US" sz="3000" dirty="0"/>
              <a:t> not touching the </a:t>
            </a:r>
            <a:r>
              <a:rPr lang="en-US" sz="3000" dirty="0" err="1"/>
              <a:t>k</a:t>
            </a:r>
            <a:r>
              <a:rPr lang="en-US" sz="3000" baseline="30000" dirty="0" err="1"/>
              <a:t>th</a:t>
            </a:r>
            <a:r>
              <a:rPr lang="en-US" sz="3000" dirty="0"/>
              <a:t> forward path</a:t>
            </a:r>
            <a:endParaRPr lang="en-US" sz="3000" baseline="-250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baseline="-25000" dirty="0"/>
          </a:p>
          <a:p>
            <a:pPr algn="just">
              <a:buNone/>
            </a:pPr>
            <a:endParaRPr lang="en-US" sz="280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590800" y="1866900"/>
          <a:ext cx="2209800" cy="1173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431640" progId="Equation.3">
                  <p:embed/>
                </p:oleObj>
              </mc:Choice>
              <mc:Fallback>
                <p:oleObj name="Equation" r:id="rId2" imgW="81252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866900"/>
                        <a:ext cx="2209800" cy="11739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00E-4C0C-4506-9274-D01077809E6E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868362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 the given Signal Flow Graph find the ratio C/R by using Mason’s Gain Formula.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SFG:</a:t>
            </a: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916337" y="3387840"/>
            <a:ext cx="76200" cy="76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511660" y="3387360"/>
            <a:ext cx="76200" cy="76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995209" y="3428391"/>
            <a:ext cx="512064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123965" y="3392760"/>
            <a:ext cx="76200" cy="76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2583386" y="3431220"/>
            <a:ext cx="54864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16200000" flipH="1">
            <a:off x="1727431" y="3227103"/>
            <a:ext cx="6239" cy="392394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593155" y="3391500"/>
            <a:ext cx="76200" cy="76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4199815" y="3391020"/>
            <a:ext cx="76200" cy="76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/>
          <p:nvPr/>
        </p:nvCxnSpPr>
        <p:spPr>
          <a:xfrm>
            <a:off x="3674352" y="3429480"/>
            <a:ext cx="521208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815899" y="3396420"/>
            <a:ext cx="76200" cy="76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>
            <a:off x="4279099" y="3431101"/>
            <a:ext cx="548640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416085" y="3396660"/>
            <a:ext cx="76200" cy="76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/>
          <p:nvPr/>
        </p:nvCxnSpPr>
        <p:spPr>
          <a:xfrm>
            <a:off x="4898180" y="3431341"/>
            <a:ext cx="512064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rot="16200000" flipH="1">
            <a:off x="5688058" y="3241563"/>
            <a:ext cx="6239" cy="392394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2553252" y="3463235"/>
            <a:ext cx="614018" cy="406400"/>
          </a:xfrm>
          <a:custGeom>
            <a:avLst/>
            <a:gdLst>
              <a:gd name="connsiteX0" fmla="*/ 0 w 614018"/>
              <a:gd name="connsiteY0" fmla="*/ 0 h 406400"/>
              <a:gd name="connsiteX1" fmla="*/ 304800 w 614018"/>
              <a:gd name="connsiteY1" fmla="*/ 406400 h 406400"/>
              <a:gd name="connsiteX2" fmla="*/ 614018 w 614018"/>
              <a:gd name="connsiteY2" fmla="*/ 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4018" h="406400">
                <a:moveTo>
                  <a:pt x="0" y="0"/>
                </a:moveTo>
                <a:cubicBezTo>
                  <a:pt x="101232" y="203200"/>
                  <a:pt x="202464" y="406400"/>
                  <a:pt x="304800" y="406400"/>
                </a:cubicBezTo>
                <a:cubicBezTo>
                  <a:pt x="407136" y="406400"/>
                  <a:pt x="614018" y="0"/>
                  <a:pt x="614018" y="0"/>
                </a:cubicBezTo>
              </a:path>
            </a:pathLst>
          </a:cu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>
            <a:off x="3629987" y="3469864"/>
            <a:ext cx="614018" cy="406400"/>
          </a:xfrm>
          <a:custGeom>
            <a:avLst/>
            <a:gdLst>
              <a:gd name="connsiteX0" fmla="*/ 0 w 614018"/>
              <a:gd name="connsiteY0" fmla="*/ 0 h 406400"/>
              <a:gd name="connsiteX1" fmla="*/ 304800 w 614018"/>
              <a:gd name="connsiteY1" fmla="*/ 406400 h 406400"/>
              <a:gd name="connsiteX2" fmla="*/ 614018 w 614018"/>
              <a:gd name="connsiteY2" fmla="*/ 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4018" h="406400">
                <a:moveTo>
                  <a:pt x="0" y="0"/>
                </a:moveTo>
                <a:cubicBezTo>
                  <a:pt x="101232" y="203200"/>
                  <a:pt x="202464" y="406400"/>
                  <a:pt x="304800" y="406400"/>
                </a:cubicBezTo>
                <a:cubicBezTo>
                  <a:pt x="407136" y="406400"/>
                  <a:pt x="614018" y="0"/>
                  <a:pt x="614018" y="0"/>
                </a:cubicBezTo>
              </a:path>
            </a:pathLst>
          </a:cu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 60"/>
          <p:cNvSpPr/>
          <p:nvPr/>
        </p:nvSpPr>
        <p:spPr>
          <a:xfrm>
            <a:off x="2553252" y="3445565"/>
            <a:ext cx="1705113" cy="1283989"/>
          </a:xfrm>
          <a:custGeom>
            <a:avLst/>
            <a:gdLst>
              <a:gd name="connsiteX0" fmla="*/ 0 w 1705113"/>
              <a:gd name="connsiteY0" fmla="*/ 17670 h 1283989"/>
              <a:gd name="connsiteX1" fmla="*/ 830470 w 1705113"/>
              <a:gd name="connsiteY1" fmla="*/ 1281044 h 1283989"/>
              <a:gd name="connsiteX2" fmla="*/ 1705113 w 1705113"/>
              <a:gd name="connsiteY2" fmla="*/ 0 h 1283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05113" h="1283989">
                <a:moveTo>
                  <a:pt x="0" y="17670"/>
                </a:moveTo>
                <a:cubicBezTo>
                  <a:pt x="273142" y="650829"/>
                  <a:pt x="546285" y="1283989"/>
                  <a:pt x="830470" y="1281044"/>
                </a:cubicBezTo>
                <a:cubicBezTo>
                  <a:pt x="1114655" y="1278099"/>
                  <a:pt x="1409884" y="639049"/>
                  <a:pt x="1705113" y="0"/>
                </a:cubicBezTo>
              </a:path>
            </a:pathLst>
          </a:cu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 61"/>
          <p:cNvSpPr/>
          <p:nvPr/>
        </p:nvSpPr>
        <p:spPr>
          <a:xfrm>
            <a:off x="3162852" y="2504660"/>
            <a:ext cx="1678609" cy="909983"/>
          </a:xfrm>
          <a:custGeom>
            <a:avLst/>
            <a:gdLst>
              <a:gd name="connsiteX0" fmla="*/ 0 w 1678609"/>
              <a:gd name="connsiteY0" fmla="*/ 883478 h 909983"/>
              <a:gd name="connsiteX1" fmla="*/ 848139 w 1678609"/>
              <a:gd name="connsiteY1" fmla="*/ 4417 h 909983"/>
              <a:gd name="connsiteX2" fmla="*/ 1678609 w 1678609"/>
              <a:gd name="connsiteY2" fmla="*/ 909983 h 909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8609" h="909983">
                <a:moveTo>
                  <a:pt x="0" y="883478"/>
                </a:moveTo>
                <a:cubicBezTo>
                  <a:pt x="284185" y="441739"/>
                  <a:pt x="568371" y="0"/>
                  <a:pt x="848139" y="4417"/>
                </a:cubicBezTo>
                <a:cubicBezTo>
                  <a:pt x="1127907" y="8834"/>
                  <a:pt x="1403258" y="459408"/>
                  <a:pt x="1678609" y="909983"/>
                </a:cubicBezTo>
              </a:path>
            </a:pathLst>
          </a:cu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 62"/>
          <p:cNvSpPr/>
          <p:nvPr/>
        </p:nvSpPr>
        <p:spPr>
          <a:xfrm>
            <a:off x="4811276" y="2779278"/>
            <a:ext cx="405663" cy="633895"/>
          </a:xfrm>
          <a:custGeom>
            <a:avLst/>
            <a:gdLst>
              <a:gd name="connsiteX0" fmla="*/ 30185 w 405663"/>
              <a:gd name="connsiteY0" fmla="*/ 604446 h 633895"/>
              <a:gd name="connsiteX1" fmla="*/ 198046 w 405663"/>
              <a:gd name="connsiteY1" fmla="*/ 61107 h 633895"/>
              <a:gd name="connsiteX2" fmla="*/ 379159 w 405663"/>
              <a:gd name="connsiteY2" fmla="*/ 237803 h 633895"/>
              <a:gd name="connsiteX3" fmla="*/ 30185 w 405663"/>
              <a:gd name="connsiteY3" fmla="*/ 604446 h 633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663" h="633895">
                <a:moveTo>
                  <a:pt x="30185" y="604446"/>
                </a:moveTo>
                <a:cubicBezTo>
                  <a:pt x="0" y="574997"/>
                  <a:pt x="139884" y="122214"/>
                  <a:pt x="198046" y="61107"/>
                </a:cubicBezTo>
                <a:cubicBezTo>
                  <a:pt x="256208" y="0"/>
                  <a:pt x="405663" y="150191"/>
                  <a:pt x="379159" y="237803"/>
                </a:cubicBezTo>
                <a:cubicBezTo>
                  <a:pt x="352655" y="325415"/>
                  <a:pt x="60370" y="633895"/>
                  <a:pt x="30185" y="604446"/>
                </a:cubicBezTo>
                <a:close/>
              </a:path>
            </a:pathLst>
          </a:cu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Isosceles Triangle 97"/>
          <p:cNvSpPr>
            <a:spLocks noChangeAspect="1"/>
          </p:cNvSpPr>
          <p:nvPr/>
        </p:nvSpPr>
        <p:spPr>
          <a:xfrm rot="5400000">
            <a:off x="3955981" y="2460982"/>
            <a:ext cx="113376" cy="9349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Isosceles Triangle 99"/>
          <p:cNvSpPr>
            <a:spLocks noChangeAspect="1"/>
          </p:cNvSpPr>
          <p:nvPr/>
        </p:nvSpPr>
        <p:spPr>
          <a:xfrm rot="7620000">
            <a:off x="5076562" y="2825914"/>
            <a:ext cx="113376" cy="9349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Isosceles Triangle 100"/>
          <p:cNvSpPr>
            <a:spLocks noChangeAspect="1"/>
          </p:cNvSpPr>
          <p:nvPr/>
        </p:nvSpPr>
        <p:spPr>
          <a:xfrm rot="16200000">
            <a:off x="3288844" y="4673764"/>
            <a:ext cx="113376" cy="9349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Isosceles Triangle 101"/>
          <p:cNvSpPr>
            <a:spLocks noChangeAspect="1"/>
          </p:cNvSpPr>
          <p:nvPr/>
        </p:nvSpPr>
        <p:spPr>
          <a:xfrm rot="16200000">
            <a:off x="2787583" y="3807183"/>
            <a:ext cx="113376" cy="9349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Isosceles Triangle 102"/>
          <p:cNvSpPr>
            <a:spLocks noChangeAspect="1"/>
          </p:cNvSpPr>
          <p:nvPr/>
        </p:nvSpPr>
        <p:spPr>
          <a:xfrm rot="16200000">
            <a:off x="3854384" y="3807185"/>
            <a:ext cx="113376" cy="9349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/>
          <p:cNvCxnSpPr>
            <a:stCxn id="21" idx="6"/>
            <a:endCxn id="38" idx="2"/>
          </p:cNvCxnSpPr>
          <p:nvPr/>
        </p:nvCxnSpPr>
        <p:spPr>
          <a:xfrm flipV="1">
            <a:off x="3200165" y="3429600"/>
            <a:ext cx="392990" cy="12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Isosceles Triangle 105"/>
          <p:cNvSpPr>
            <a:spLocks noChangeAspect="1"/>
          </p:cNvSpPr>
          <p:nvPr/>
        </p:nvSpPr>
        <p:spPr>
          <a:xfrm rot="5400000">
            <a:off x="2186363" y="3377380"/>
            <a:ext cx="113376" cy="9349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Isosceles Triangle 106"/>
          <p:cNvSpPr>
            <a:spLocks noChangeAspect="1"/>
          </p:cNvSpPr>
          <p:nvPr/>
        </p:nvSpPr>
        <p:spPr>
          <a:xfrm rot="5400000">
            <a:off x="2780906" y="3384172"/>
            <a:ext cx="113376" cy="9349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Isosceles Triangle 107"/>
          <p:cNvSpPr>
            <a:spLocks noChangeAspect="1"/>
          </p:cNvSpPr>
          <p:nvPr/>
        </p:nvSpPr>
        <p:spPr>
          <a:xfrm rot="5400000">
            <a:off x="3367835" y="3389211"/>
            <a:ext cx="113376" cy="9349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Isosceles Triangle 108"/>
          <p:cNvSpPr>
            <a:spLocks noChangeAspect="1"/>
          </p:cNvSpPr>
          <p:nvPr/>
        </p:nvSpPr>
        <p:spPr>
          <a:xfrm rot="5400000">
            <a:off x="3913199" y="3386693"/>
            <a:ext cx="113376" cy="9349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Isosceles Triangle 109"/>
          <p:cNvSpPr>
            <a:spLocks noChangeAspect="1"/>
          </p:cNvSpPr>
          <p:nvPr/>
        </p:nvSpPr>
        <p:spPr>
          <a:xfrm rot="5400000">
            <a:off x="4496349" y="3384176"/>
            <a:ext cx="113376" cy="9349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Isosceles Triangle 110"/>
          <p:cNvSpPr>
            <a:spLocks noChangeAspect="1"/>
          </p:cNvSpPr>
          <p:nvPr/>
        </p:nvSpPr>
        <p:spPr>
          <a:xfrm rot="5400000">
            <a:off x="5121064" y="3389216"/>
            <a:ext cx="113376" cy="9349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/>
          <p:cNvSpPr txBox="1"/>
          <p:nvPr/>
        </p:nvSpPr>
        <p:spPr>
          <a:xfrm>
            <a:off x="5851833" y="3238646"/>
            <a:ext cx="185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89637" y="3232427"/>
            <a:ext cx="185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09176" y="3077228"/>
            <a:ext cx="25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810012" y="3120366"/>
            <a:ext cx="25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933185" y="3145416"/>
            <a:ext cx="25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82245" y="3128854"/>
            <a:ext cx="25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116056" y="3126765"/>
            <a:ext cx="25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01446" y="3419879"/>
            <a:ext cx="25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13136" y="3096015"/>
            <a:ext cx="25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056360" y="4726495"/>
            <a:ext cx="626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- H</a:t>
            </a:r>
            <a:r>
              <a:rPr lang="en-US" sz="1400" baseline="-25000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749717" y="3811721"/>
            <a:ext cx="626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- H</a:t>
            </a:r>
            <a:r>
              <a:rPr lang="en-US" sz="1400" baseline="-250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558851" y="3802492"/>
            <a:ext cx="626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- H</a:t>
            </a:r>
            <a:r>
              <a:rPr lang="en-US" sz="1400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878902" y="2486406"/>
            <a:ext cx="519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1400" baseline="-250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03616" y="2127022"/>
            <a:ext cx="564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1400" baseline="-25000" dirty="0"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580629" y="3115684"/>
            <a:ext cx="626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1400" baseline="-250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240902" y="3120593"/>
            <a:ext cx="626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1400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745215" y="3093673"/>
            <a:ext cx="626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1400" baseline="-25000" dirty="0"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45195" y="3101348"/>
            <a:ext cx="626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1400" baseline="-250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087770" y="3132660"/>
            <a:ext cx="25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7542" y="3108084"/>
            <a:ext cx="25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7" name="Date Placeholder 5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918CC-198D-4B11-A393-4BDE2491F32B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248400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The gain of the forward path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Individual loops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Two non-touching loops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101168" y="304800"/>
          <a:ext cx="2036234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457200" progId="Equation.3">
                  <p:embed/>
                </p:oleObj>
              </mc:Choice>
              <mc:Fallback>
                <p:oleObj name="Equation" r:id="rId2" imgW="93960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1168" y="304800"/>
                        <a:ext cx="2036234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124199" y="1646304"/>
          <a:ext cx="3102165" cy="2163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680" imgH="914400" progId="Equation.3">
                  <p:embed/>
                </p:oleObj>
              </mc:Choice>
              <mc:Fallback>
                <p:oleObj name="Equation" r:id="rId4" imgW="1066680" imgH="914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199" y="1646304"/>
                        <a:ext cx="3102165" cy="21636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286000" y="4178300"/>
          <a:ext cx="3657600" cy="2235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914400" progId="Equation.3">
                  <p:embed/>
                </p:oleObj>
              </mc:Choice>
              <mc:Fallback>
                <p:oleObj name="Equation" r:id="rId6" imgW="1282680" imgH="914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178300"/>
                        <a:ext cx="3657600" cy="22351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CE08-B981-47B6-A7DB-46118A56BE05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172200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Three non-touching loops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942459"/>
              </p:ext>
            </p:extLst>
          </p:nvPr>
        </p:nvGraphicFramePr>
        <p:xfrm>
          <a:off x="233362" y="798512"/>
          <a:ext cx="8677275" cy="555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49560" imgH="2463480" progId="Equation.3">
                  <p:embed/>
                </p:oleObj>
              </mc:Choice>
              <mc:Fallback>
                <p:oleObj name="Equation" r:id="rId2" imgW="3949560" imgH="246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" y="798512"/>
                        <a:ext cx="8677275" cy="555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1807F-9F74-4FE6-8F1B-2F5FFE7E8A53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534400" cy="639762"/>
          </a:xfrm>
        </p:spPr>
        <p:txBody>
          <a:bodyPr>
            <a:normAutofit/>
          </a:bodyPr>
          <a:lstStyle/>
          <a:p>
            <a:r>
              <a:rPr lang="en-US" sz="3200" u="sng" dirty="0">
                <a:solidFill>
                  <a:srgbClr val="FF0000"/>
                </a:solidFill>
              </a:rPr>
              <a:t>BLOCK DIAGRAM FROM SFG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334000"/>
          </a:xfrm>
        </p:spPr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For given SFG, write the system equations.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At each node consider the incoming branches only.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Add all incoming signals algebraically at a node.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 for + or – sign in system equations use a summing point.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For the gain of each branch of signal flow graph draw the block having the same transfer function as the gain of the branch.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15777-8233-4A30-9356-7DFF3FF33224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00B050"/>
                </a:solidFill>
              </a:rPr>
              <a:t>Draw the block diagram from the given signal flow graph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34818" name="Picture 2" descr="E:\Automatic Control Systems\jpg\fig_1-120_a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796" y="2057400"/>
            <a:ext cx="8381404" cy="3678716"/>
          </a:xfrm>
          <a:prstGeom prst="rect">
            <a:avLst/>
          </a:prstGeom>
          <a:noFill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051F-62C9-40E2-AA16-FC055B45E842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019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3000" dirty="0"/>
              <a:t>Solution: </a:t>
            </a:r>
          </a:p>
          <a:p>
            <a:r>
              <a:rPr lang="en-US" sz="3000" dirty="0"/>
              <a:t>At node x</a:t>
            </a:r>
            <a:r>
              <a:rPr lang="en-US" sz="3000" baseline="-25000" dirty="0"/>
              <a:t>1 </a:t>
            </a:r>
            <a:r>
              <a:rPr lang="en-US" sz="3000" dirty="0"/>
              <a:t>the incoming branches are from R(s) and x</a:t>
            </a:r>
            <a:r>
              <a:rPr lang="en-US" sz="3000" baseline="-25000" dirty="0"/>
              <a:t>5</a:t>
            </a:r>
            <a:endParaRPr lang="en-US" sz="3000" dirty="0"/>
          </a:p>
          <a:p>
            <a:pPr>
              <a:buNone/>
            </a:pPr>
            <a:r>
              <a:rPr lang="en-US" sz="3000" dirty="0"/>
              <a:t>           x</a:t>
            </a:r>
            <a:r>
              <a:rPr lang="en-US" sz="3000" baseline="-25000" dirty="0"/>
              <a:t>1</a:t>
            </a:r>
            <a:r>
              <a:rPr lang="en-US" sz="3000" dirty="0"/>
              <a:t>=1.R(s)-1 x</a:t>
            </a:r>
            <a:r>
              <a:rPr lang="en-US" sz="3000" baseline="-25000" dirty="0"/>
              <a:t>5</a:t>
            </a:r>
            <a:endParaRPr lang="en-US" sz="3000" dirty="0"/>
          </a:p>
          <a:p>
            <a:r>
              <a:rPr lang="en-US" sz="3000" dirty="0"/>
              <a:t>At node x</a:t>
            </a:r>
            <a:r>
              <a:rPr lang="en-US" sz="3000" baseline="-25000" dirty="0"/>
              <a:t>2, </a:t>
            </a:r>
            <a:r>
              <a:rPr lang="en-US" sz="3000" dirty="0"/>
              <a:t>there are two incoming branches</a:t>
            </a:r>
          </a:p>
          <a:p>
            <a:pPr>
              <a:buNone/>
            </a:pPr>
            <a:r>
              <a:rPr lang="en-US" sz="3000" dirty="0"/>
              <a:t>            x</a:t>
            </a:r>
            <a:r>
              <a:rPr lang="en-US" sz="3000" baseline="-25000" dirty="0"/>
              <a:t>2 </a:t>
            </a:r>
            <a:r>
              <a:rPr lang="en-US" sz="3000" dirty="0"/>
              <a:t>=1 x</a:t>
            </a:r>
            <a:r>
              <a:rPr lang="en-US" sz="3000" baseline="-25000" dirty="0"/>
              <a:t>1</a:t>
            </a:r>
            <a:r>
              <a:rPr lang="en-US" sz="3000" dirty="0"/>
              <a:t>-H</a:t>
            </a:r>
            <a:r>
              <a:rPr lang="en-US" sz="3000" baseline="-25000" dirty="0"/>
              <a:t>1 </a:t>
            </a:r>
            <a:r>
              <a:rPr lang="en-US" sz="3000" dirty="0"/>
              <a:t>x</a:t>
            </a:r>
            <a:r>
              <a:rPr lang="en-US" sz="3000" baseline="-25000" dirty="0"/>
              <a:t>4 </a:t>
            </a:r>
            <a:endParaRPr lang="en-US" sz="3000" dirty="0"/>
          </a:p>
          <a:p>
            <a:r>
              <a:rPr lang="en-US" sz="3000" dirty="0"/>
              <a:t>At node x</a:t>
            </a:r>
            <a:r>
              <a:rPr lang="en-US" sz="3000" baseline="-25000" dirty="0"/>
              <a:t>3 </a:t>
            </a:r>
            <a:r>
              <a:rPr lang="en-US" sz="3000" dirty="0"/>
              <a:t>there are two incoming branches</a:t>
            </a:r>
          </a:p>
          <a:p>
            <a:pPr>
              <a:buNone/>
            </a:pPr>
            <a:r>
              <a:rPr lang="en-US" sz="3000" dirty="0"/>
              <a:t>             X</a:t>
            </a:r>
            <a:r>
              <a:rPr lang="en-US" sz="3000" baseline="-25000" dirty="0"/>
              <a:t>3 </a:t>
            </a:r>
            <a:r>
              <a:rPr lang="en-US" sz="3000" dirty="0"/>
              <a:t>= G</a:t>
            </a:r>
            <a:r>
              <a:rPr lang="en-US" sz="3000" baseline="-25000" dirty="0"/>
              <a:t>1 </a:t>
            </a:r>
            <a:r>
              <a:rPr lang="en-US" sz="3000" dirty="0"/>
              <a:t>x</a:t>
            </a:r>
            <a:r>
              <a:rPr lang="en-US" sz="3000" baseline="-25000" dirty="0"/>
              <a:t>2 </a:t>
            </a:r>
            <a:r>
              <a:rPr lang="en-US" sz="3000" dirty="0"/>
              <a:t>– H</a:t>
            </a:r>
            <a:r>
              <a:rPr lang="en-US" sz="3000" baseline="-25000" dirty="0"/>
              <a:t>2 </a:t>
            </a:r>
            <a:r>
              <a:rPr lang="en-US" sz="3000" dirty="0"/>
              <a:t>x</a:t>
            </a:r>
            <a:r>
              <a:rPr lang="en-US" sz="3000" baseline="-25000" dirty="0"/>
              <a:t>5</a:t>
            </a:r>
            <a:endParaRPr lang="en-US" sz="3000" dirty="0"/>
          </a:p>
          <a:p>
            <a:r>
              <a:rPr lang="en-US" sz="3000" dirty="0"/>
              <a:t>Similarly at node x</a:t>
            </a:r>
            <a:r>
              <a:rPr lang="en-US" sz="3000" baseline="-25000" dirty="0"/>
              <a:t>4 </a:t>
            </a:r>
            <a:r>
              <a:rPr lang="en-US" sz="3000" dirty="0"/>
              <a:t>and x</a:t>
            </a:r>
            <a:r>
              <a:rPr lang="en-US" sz="3000" baseline="-25000" dirty="0"/>
              <a:t>5</a:t>
            </a:r>
            <a:r>
              <a:rPr lang="en-US" sz="3000" dirty="0"/>
              <a:t> the system equations are</a:t>
            </a:r>
          </a:p>
          <a:p>
            <a:pPr>
              <a:buNone/>
            </a:pPr>
            <a:r>
              <a:rPr lang="en-US" sz="3000" dirty="0"/>
              <a:t>              X</a:t>
            </a:r>
            <a:r>
              <a:rPr lang="en-US" sz="3000" baseline="-25000" dirty="0"/>
              <a:t>4</a:t>
            </a:r>
            <a:r>
              <a:rPr lang="en-US" sz="3000" dirty="0"/>
              <a:t>=G</a:t>
            </a:r>
            <a:r>
              <a:rPr lang="en-US" sz="3000" baseline="-25000" dirty="0"/>
              <a:t>2</a:t>
            </a:r>
            <a:r>
              <a:rPr lang="en-US" sz="3000" dirty="0"/>
              <a:t> x</a:t>
            </a:r>
            <a:r>
              <a:rPr lang="en-US" sz="3000" baseline="-25000" dirty="0"/>
              <a:t>3 </a:t>
            </a:r>
            <a:endParaRPr lang="en-US" sz="3000" dirty="0"/>
          </a:p>
          <a:p>
            <a:pPr>
              <a:buNone/>
            </a:pPr>
            <a:r>
              <a:rPr lang="en-US" sz="3000" dirty="0"/>
              <a:t>              x</a:t>
            </a:r>
            <a:r>
              <a:rPr lang="en-US" sz="3000" baseline="-25000" dirty="0"/>
              <a:t>5</a:t>
            </a:r>
            <a:r>
              <a:rPr lang="en-US" sz="3000" dirty="0"/>
              <a:t>=G</a:t>
            </a:r>
            <a:r>
              <a:rPr lang="en-US" sz="3000" baseline="-25000" dirty="0"/>
              <a:t>3 </a:t>
            </a:r>
            <a:r>
              <a:rPr lang="en-US" sz="3000" dirty="0"/>
              <a:t>x</a:t>
            </a:r>
            <a:r>
              <a:rPr lang="en-US" sz="3000" baseline="-25000" dirty="0"/>
              <a:t>4 </a:t>
            </a:r>
            <a:r>
              <a:rPr lang="en-US" sz="3000" dirty="0"/>
              <a:t>+G</a:t>
            </a:r>
            <a:r>
              <a:rPr lang="en-US" sz="3000" baseline="-25000" dirty="0"/>
              <a:t>4 </a:t>
            </a:r>
            <a:r>
              <a:rPr lang="en-US" sz="3000" dirty="0"/>
              <a:t>x</a:t>
            </a:r>
            <a:r>
              <a:rPr lang="en-US" sz="3000" baseline="-25000" dirty="0"/>
              <a:t>3</a:t>
            </a:r>
            <a:endParaRPr lang="en-US" sz="3000" dirty="0"/>
          </a:p>
          <a:p>
            <a:pPr>
              <a:buNone/>
            </a:pPr>
            <a:r>
              <a:rPr lang="en-US" sz="3000" dirty="0"/>
              <a:t> </a:t>
            </a:r>
          </a:p>
          <a:p>
            <a:pPr>
              <a:buNone/>
            </a:pPr>
            <a:endParaRPr lang="en-US" sz="3000" dirty="0"/>
          </a:p>
          <a:p>
            <a:pPr>
              <a:buNone/>
            </a:pPr>
            <a:r>
              <a:rPr lang="en-US" sz="3000" dirty="0"/>
              <a:t> </a:t>
            </a:r>
          </a:p>
          <a:p>
            <a:pPr>
              <a:buNone/>
            </a:pPr>
            <a:r>
              <a:rPr lang="en-US" sz="3000" dirty="0"/>
              <a:t> </a:t>
            </a:r>
          </a:p>
          <a:p>
            <a:pPr>
              <a:buNone/>
            </a:pPr>
            <a:r>
              <a:rPr lang="en-US" sz="3000" dirty="0"/>
              <a:t> </a:t>
            </a:r>
          </a:p>
          <a:p>
            <a:pPr>
              <a:buNone/>
            </a:pPr>
            <a:r>
              <a:rPr lang="en-US" sz="3000" dirty="0"/>
              <a:t> </a:t>
            </a:r>
          </a:p>
          <a:p>
            <a:pPr>
              <a:buNone/>
            </a:pPr>
            <a:r>
              <a:rPr lang="en-US" sz="3000" dirty="0"/>
              <a:t> </a:t>
            </a:r>
          </a:p>
          <a:p>
            <a:pPr>
              <a:buNone/>
            </a:pPr>
            <a:r>
              <a:rPr lang="en-US" sz="3000" dirty="0"/>
              <a:t> </a:t>
            </a:r>
          </a:p>
          <a:p>
            <a:pPr>
              <a:buNone/>
            </a:pPr>
            <a:endParaRPr lang="en-US" sz="3000" dirty="0"/>
          </a:p>
          <a:p>
            <a:pPr>
              <a:buNone/>
            </a:pPr>
            <a:r>
              <a:rPr lang="en-US" sz="3000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89185-0E3D-4D6F-B9EF-BC94A2FF47F0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019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Draw the block diagram for x</a:t>
            </a:r>
            <a:r>
              <a:rPr lang="en-US" baseline="-25000" dirty="0"/>
              <a:t>1</a:t>
            </a:r>
            <a:r>
              <a:rPr lang="en-US" dirty="0"/>
              <a:t>=1.R(s)-1 x</a:t>
            </a:r>
            <a:r>
              <a:rPr lang="en-US" baseline="-25000" dirty="0"/>
              <a:t>5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R(s)                                                x</a:t>
            </a:r>
            <a:r>
              <a:rPr lang="en-US" baseline="-25000" dirty="0"/>
              <a:t>1  </a:t>
            </a:r>
          </a:p>
          <a:p>
            <a:pPr>
              <a:buNone/>
            </a:pPr>
            <a:r>
              <a:rPr lang="en-US" baseline="-25000" dirty="0"/>
              <a:t> </a:t>
            </a:r>
            <a:r>
              <a:rPr lang="en-US" dirty="0"/>
              <a:t>                       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                                               x</a:t>
            </a:r>
            <a:r>
              <a:rPr lang="en-US" baseline="-25000" dirty="0"/>
              <a:t>5  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Block diagram for  x</a:t>
            </a:r>
            <a:r>
              <a:rPr lang="en-US" baseline="-25000" dirty="0"/>
              <a:t>2 </a:t>
            </a:r>
            <a:r>
              <a:rPr lang="en-US" dirty="0"/>
              <a:t>= x</a:t>
            </a:r>
            <a:r>
              <a:rPr lang="en-US" baseline="-25000" dirty="0"/>
              <a:t>1</a:t>
            </a:r>
            <a:r>
              <a:rPr lang="en-US" dirty="0"/>
              <a:t>-H</a:t>
            </a:r>
            <a:r>
              <a:rPr lang="en-US" baseline="-25000" dirty="0"/>
              <a:t>1 </a:t>
            </a:r>
            <a:r>
              <a:rPr lang="en-US" dirty="0"/>
              <a:t>x</a:t>
            </a:r>
            <a:r>
              <a:rPr lang="en-US" baseline="-25000" dirty="0"/>
              <a:t>4  </a:t>
            </a:r>
            <a:r>
              <a:rPr lang="en-US" dirty="0"/>
              <a:t> 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x</a:t>
            </a:r>
            <a:r>
              <a:rPr lang="en-US" baseline="-25000" dirty="0"/>
              <a:t>1                                         +                      </a:t>
            </a:r>
            <a:r>
              <a:rPr lang="en-US" dirty="0"/>
              <a:t>x</a:t>
            </a:r>
            <a:r>
              <a:rPr lang="en-US" baseline="-25000" dirty="0"/>
              <a:t>2</a:t>
            </a:r>
            <a:endParaRPr lang="en-US" dirty="0"/>
          </a:p>
          <a:p>
            <a:pPr>
              <a:buNone/>
            </a:pPr>
            <a:r>
              <a:rPr lang="en-US" baseline="-25000" dirty="0"/>
              <a:t>                                                                         </a:t>
            </a:r>
          </a:p>
          <a:p>
            <a:pPr>
              <a:buNone/>
            </a:pPr>
            <a:r>
              <a:rPr lang="en-US" baseline="-25000" dirty="0"/>
              <a:t>                                                                                                                   </a:t>
            </a:r>
            <a:r>
              <a:rPr lang="en-US" dirty="0"/>
              <a:t>x</a:t>
            </a:r>
            <a:r>
              <a:rPr lang="en-US" baseline="-25000" dirty="0"/>
              <a:t>4                                                                                                                                                                                             4</a:t>
            </a:r>
          </a:p>
          <a:p>
            <a:pPr>
              <a:buNone/>
            </a:pPr>
            <a:r>
              <a:rPr lang="en-US" baseline="-25000" dirty="0"/>
              <a:t>                                                                  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897025" y="1308219"/>
            <a:ext cx="581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9536" y="213787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752600" y="4114800"/>
            <a:ext cx="5715000" cy="1524000"/>
            <a:chOff x="1752600" y="4114800"/>
            <a:chExt cx="5715000" cy="1524000"/>
          </a:xfrm>
        </p:grpSpPr>
        <p:sp>
          <p:nvSpPr>
            <p:cNvPr id="19" name="Rectangle 18"/>
            <p:cNvSpPr/>
            <p:nvPr/>
          </p:nvSpPr>
          <p:spPr>
            <a:xfrm>
              <a:off x="2438400" y="4114800"/>
              <a:ext cx="1143000" cy="762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/>
            <p:cNvCxnSpPr>
              <a:endCxn id="19" idx="1"/>
            </p:cNvCxnSpPr>
            <p:nvPr/>
          </p:nvCxnSpPr>
          <p:spPr>
            <a:xfrm>
              <a:off x="1752600" y="4495800"/>
              <a:ext cx="6858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9" idx="3"/>
            </p:cNvCxnSpPr>
            <p:nvPr/>
          </p:nvCxnSpPr>
          <p:spPr>
            <a:xfrm>
              <a:off x="3581400" y="4495800"/>
              <a:ext cx="8382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4419600" y="4191000"/>
              <a:ext cx="609600" cy="6096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/>
            <p:cNvCxnSpPr>
              <a:stCxn id="29" idx="1"/>
              <a:endCxn id="29" idx="5"/>
            </p:cNvCxnSpPr>
            <p:nvPr/>
          </p:nvCxnSpPr>
          <p:spPr>
            <a:xfrm rot="16200000" flipH="1">
              <a:off x="4508874" y="4280274"/>
              <a:ext cx="431052" cy="4310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29" idx="7"/>
              <a:endCxn id="29" idx="3"/>
            </p:cNvCxnSpPr>
            <p:nvPr/>
          </p:nvCxnSpPr>
          <p:spPr>
            <a:xfrm rot="16200000" flipH="1" flipV="1">
              <a:off x="4508874" y="4280274"/>
              <a:ext cx="431052" cy="4310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29" idx="6"/>
            </p:cNvCxnSpPr>
            <p:nvPr/>
          </p:nvCxnSpPr>
          <p:spPr>
            <a:xfrm>
              <a:off x="5029200" y="4495800"/>
              <a:ext cx="7620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endCxn id="29" idx="4"/>
            </p:cNvCxnSpPr>
            <p:nvPr/>
          </p:nvCxnSpPr>
          <p:spPr>
            <a:xfrm rot="16200000" flipV="1">
              <a:off x="4495800" y="5029200"/>
              <a:ext cx="4572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4724400" y="5257800"/>
              <a:ext cx="9906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/>
            <p:cNvSpPr/>
            <p:nvPr/>
          </p:nvSpPr>
          <p:spPr>
            <a:xfrm>
              <a:off x="5715000" y="4953000"/>
              <a:ext cx="914400" cy="685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/>
            <p:cNvCxnSpPr>
              <a:endCxn id="42" idx="3"/>
            </p:cNvCxnSpPr>
            <p:nvPr/>
          </p:nvCxnSpPr>
          <p:spPr>
            <a:xfrm rot="10800000">
              <a:off x="6629400" y="5334000"/>
              <a:ext cx="8382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/>
          <p:cNvSpPr txBox="1"/>
          <p:nvPr/>
        </p:nvSpPr>
        <p:spPr>
          <a:xfrm>
            <a:off x="5867400" y="50292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</a:t>
            </a:r>
            <a:r>
              <a:rPr lang="en-US" sz="2400" baseline="-25000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19400" y="4267200"/>
            <a:ext cx="410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729104" y="1147262"/>
            <a:ext cx="5334000" cy="1524000"/>
            <a:chOff x="1524000" y="1600200"/>
            <a:chExt cx="5334000" cy="1524000"/>
          </a:xfrm>
        </p:grpSpPr>
        <p:sp>
          <p:nvSpPr>
            <p:cNvPr id="6" name="Rectangle 5"/>
            <p:cNvSpPr/>
            <p:nvPr/>
          </p:nvSpPr>
          <p:spPr>
            <a:xfrm>
              <a:off x="2286000" y="1600200"/>
              <a:ext cx="1371600" cy="838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/>
            <p:cNvCxnSpPr>
              <a:endCxn id="6" idx="1"/>
            </p:cNvCxnSpPr>
            <p:nvPr/>
          </p:nvCxnSpPr>
          <p:spPr>
            <a:xfrm flipV="1">
              <a:off x="1524000" y="2019300"/>
              <a:ext cx="762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V="1">
              <a:off x="3657600" y="1981200"/>
              <a:ext cx="609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4267200" y="1676400"/>
              <a:ext cx="685800" cy="6858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/>
            <p:cNvCxnSpPr>
              <a:stCxn id="12" idx="1"/>
              <a:endCxn id="12" idx="5"/>
            </p:cNvCxnSpPr>
            <p:nvPr/>
          </p:nvCxnSpPr>
          <p:spPr>
            <a:xfrm rot="16200000" flipH="1">
              <a:off x="4367633" y="1776833"/>
              <a:ext cx="484934" cy="48493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3"/>
              <a:endCxn id="12" idx="7"/>
            </p:cNvCxnSpPr>
            <p:nvPr/>
          </p:nvCxnSpPr>
          <p:spPr>
            <a:xfrm rot="5400000" flipH="1" flipV="1">
              <a:off x="4367633" y="1776833"/>
              <a:ext cx="484934" cy="48493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2" idx="6"/>
            </p:cNvCxnSpPr>
            <p:nvPr/>
          </p:nvCxnSpPr>
          <p:spPr>
            <a:xfrm flipV="1">
              <a:off x="4953000" y="1981200"/>
              <a:ext cx="8382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rot="16200000" flipV="1">
              <a:off x="4355862" y="2590800"/>
              <a:ext cx="4572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5562600" y="2514600"/>
              <a:ext cx="762000" cy="609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>
              <a:endCxn id="23" idx="3"/>
            </p:cNvCxnSpPr>
            <p:nvPr/>
          </p:nvCxnSpPr>
          <p:spPr>
            <a:xfrm rot="10800000">
              <a:off x="6324600" y="2819400"/>
              <a:ext cx="5334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endCxn id="23" idx="1"/>
            </p:cNvCxnSpPr>
            <p:nvPr/>
          </p:nvCxnSpPr>
          <p:spPr>
            <a:xfrm>
              <a:off x="4572000" y="2819400"/>
              <a:ext cx="9906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Date Placeholder 3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DAB5D-CBF8-467A-B783-0DA8C6B1C867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4067799" y="1375872"/>
            <a:ext cx="444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+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172200"/>
          </a:xfrm>
        </p:spPr>
        <p:txBody>
          <a:bodyPr/>
          <a:lstStyle/>
          <a:p>
            <a:pPr>
              <a:buNone/>
            </a:pPr>
            <a:r>
              <a:rPr lang="en-US" dirty="0"/>
              <a:t>Block diagram for  x</a:t>
            </a:r>
            <a:r>
              <a:rPr lang="en-US" baseline="-25000" dirty="0"/>
              <a:t>3 </a:t>
            </a:r>
            <a:r>
              <a:rPr lang="en-US" dirty="0"/>
              <a:t>= G</a:t>
            </a:r>
            <a:r>
              <a:rPr lang="en-US" baseline="-25000" dirty="0"/>
              <a:t>1 </a:t>
            </a:r>
            <a:r>
              <a:rPr lang="en-US" dirty="0"/>
              <a:t>x</a:t>
            </a:r>
            <a:r>
              <a:rPr lang="en-US" baseline="-25000" dirty="0"/>
              <a:t>2 </a:t>
            </a:r>
            <a:r>
              <a:rPr lang="en-US" dirty="0"/>
              <a:t>– H</a:t>
            </a:r>
            <a:r>
              <a:rPr lang="en-US" baseline="-25000" dirty="0"/>
              <a:t>2 </a:t>
            </a:r>
            <a:r>
              <a:rPr lang="en-US" dirty="0"/>
              <a:t>x</a:t>
            </a:r>
            <a:r>
              <a:rPr lang="en-US" baseline="-25000" dirty="0"/>
              <a:t>5</a:t>
            </a:r>
            <a:endParaRPr lang="en-US" dirty="0"/>
          </a:p>
          <a:p>
            <a:pPr>
              <a:buNone/>
            </a:pPr>
            <a:r>
              <a:rPr lang="en-US" dirty="0"/>
              <a:t>                                                       </a:t>
            </a:r>
          </a:p>
          <a:p>
            <a:pPr>
              <a:buNone/>
            </a:pPr>
            <a:r>
              <a:rPr lang="en-US" dirty="0"/>
              <a:t>                            </a:t>
            </a:r>
          </a:p>
          <a:p>
            <a:pPr>
              <a:buNone/>
            </a:pPr>
            <a:r>
              <a:rPr lang="en-US" dirty="0"/>
              <a:t>                x</a:t>
            </a:r>
            <a:r>
              <a:rPr lang="en-US" baseline="-25000" dirty="0"/>
              <a:t>2</a:t>
            </a:r>
            <a:r>
              <a:rPr lang="en-US" dirty="0"/>
              <a:t>                    +              x</a:t>
            </a:r>
            <a:r>
              <a:rPr lang="en-US" baseline="-25000" dirty="0"/>
              <a:t>3</a:t>
            </a:r>
            <a:r>
              <a:rPr lang="en-US" dirty="0"/>
              <a:t>                                              </a:t>
            </a:r>
          </a:p>
          <a:p>
            <a:pPr>
              <a:spcBef>
                <a:spcPts val="2736"/>
              </a:spcBef>
              <a:buNone/>
            </a:pPr>
            <a:r>
              <a:rPr lang="en-US" dirty="0"/>
              <a:t>                                                                   x</a:t>
            </a:r>
            <a:r>
              <a:rPr lang="en-US" baseline="-25000" dirty="0"/>
              <a:t>5</a:t>
            </a:r>
            <a:r>
              <a:rPr lang="en-US" dirty="0"/>
              <a:t>                   </a:t>
            </a:r>
          </a:p>
          <a:p>
            <a:pPr>
              <a:spcBef>
                <a:spcPts val="2736"/>
              </a:spcBef>
              <a:buNone/>
            </a:pPr>
            <a:r>
              <a:rPr lang="en-US" dirty="0"/>
              <a:t>Block diagram for     x</a:t>
            </a:r>
            <a:r>
              <a:rPr lang="en-US" baseline="-25000" dirty="0"/>
              <a:t>4</a:t>
            </a:r>
            <a:r>
              <a:rPr lang="en-US" dirty="0"/>
              <a:t>=G</a:t>
            </a:r>
            <a:r>
              <a:rPr lang="en-US" baseline="-25000" dirty="0"/>
              <a:t>2</a:t>
            </a:r>
            <a:r>
              <a:rPr lang="en-US" dirty="0"/>
              <a:t> x</a:t>
            </a:r>
            <a:r>
              <a:rPr lang="en-US" baseline="-25000" dirty="0"/>
              <a:t>3 </a:t>
            </a:r>
            <a:endParaRPr lang="en-US" dirty="0"/>
          </a:p>
          <a:p>
            <a:pPr>
              <a:spcBef>
                <a:spcPts val="2736"/>
              </a:spcBef>
              <a:buNone/>
            </a:pPr>
            <a:r>
              <a:rPr lang="en-US" dirty="0"/>
              <a:t>                       x</a:t>
            </a:r>
            <a:r>
              <a:rPr lang="en-US" baseline="-25000" dirty="0"/>
              <a:t>3</a:t>
            </a:r>
            <a:r>
              <a:rPr lang="en-US" dirty="0"/>
              <a:t>              G</a:t>
            </a:r>
            <a:r>
              <a:rPr lang="en-US" baseline="-25000" dirty="0"/>
              <a:t>2</a:t>
            </a:r>
            <a:r>
              <a:rPr lang="en-US" dirty="0"/>
              <a:t>             x</a:t>
            </a:r>
            <a:r>
              <a:rPr lang="en-US" baseline="-25000" dirty="0"/>
              <a:t>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038600" y="2209800"/>
            <a:ext cx="5334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2133600" y="2209800"/>
            <a:ext cx="4114800" cy="1219200"/>
            <a:chOff x="2133600" y="2209800"/>
            <a:chExt cx="4114800" cy="1219200"/>
          </a:xfrm>
        </p:grpSpPr>
        <p:sp>
          <p:nvSpPr>
            <p:cNvPr id="6" name="Rectangle 5"/>
            <p:cNvSpPr/>
            <p:nvPr/>
          </p:nvSpPr>
          <p:spPr>
            <a:xfrm>
              <a:off x="2743200" y="2209800"/>
              <a:ext cx="838200" cy="609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>
              <a:endCxn id="6" idx="1"/>
            </p:cNvCxnSpPr>
            <p:nvPr/>
          </p:nvCxnSpPr>
          <p:spPr>
            <a:xfrm>
              <a:off x="2133600" y="2514600"/>
              <a:ext cx="6096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3581400" y="2514600"/>
              <a:ext cx="4572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6200000" flipH="1">
              <a:off x="4114800" y="2286000"/>
              <a:ext cx="377170" cy="3771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1" idx="3"/>
              <a:endCxn id="11" idx="7"/>
            </p:cNvCxnSpPr>
            <p:nvPr/>
          </p:nvCxnSpPr>
          <p:spPr>
            <a:xfrm rot="5400000" flipH="1" flipV="1">
              <a:off x="4116715" y="2287915"/>
              <a:ext cx="377170" cy="3771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1" idx="6"/>
            </p:cNvCxnSpPr>
            <p:nvPr/>
          </p:nvCxnSpPr>
          <p:spPr>
            <a:xfrm flipV="1">
              <a:off x="4572000" y="2438400"/>
              <a:ext cx="609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rot="5400000" flipH="1" flipV="1">
              <a:off x="4152900" y="2933700"/>
              <a:ext cx="381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4343400" y="3124200"/>
              <a:ext cx="7620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5105400" y="2819400"/>
              <a:ext cx="685800" cy="609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>
              <a:endCxn id="26" idx="3"/>
            </p:cNvCxnSpPr>
            <p:nvPr/>
          </p:nvCxnSpPr>
          <p:spPr>
            <a:xfrm rot="10800000">
              <a:off x="5791200" y="3124200"/>
              <a:ext cx="4572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2895600" y="228600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</a:t>
            </a:r>
            <a:r>
              <a:rPr lang="en-US" sz="2400" baseline="-25000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600" y="2895600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</a:t>
            </a:r>
            <a:r>
              <a:rPr lang="en-US" sz="2400" baseline="-25000" dirty="0"/>
              <a:t>2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4267200" y="2667000"/>
            <a:ext cx="762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429000" y="4343400"/>
            <a:ext cx="1295400" cy="9144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4724400" y="4800600"/>
            <a:ext cx="6858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48" idx="1"/>
          </p:cNvCxnSpPr>
          <p:nvPr/>
        </p:nvCxnSpPr>
        <p:spPr>
          <a:xfrm>
            <a:off x="2819400" y="4800600"/>
            <a:ext cx="6096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09E7D-0640-422B-9043-F64E512DBF86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839200" cy="6019800"/>
          </a:xfrm>
        </p:spPr>
        <p:txBody>
          <a:bodyPr/>
          <a:lstStyle/>
          <a:p>
            <a:pPr>
              <a:buNone/>
            </a:pPr>
            <a:r>
              <a:rPr lang="en-US" dirty="0"/>
              <a:t>Block diagram for  x</a:t>
            </a:r>
            <a:r>
              <a:rPr lang="en-US" baseline="-25000" dirty="0"/>
              <a:t>5</a:t>
            </a:r>
            <a:r>
              <a:rPr lang="en-US" dirty="0"/>
              <a:t>=G</a:t>
            </a:r>
            <a:r>
              <a:rPr lang="en-US" baseline="-25000" dirty="0"/>
              <a:t>3 </a:t>
            </a:r>
            <a:r>
              <a:rPr lang="en-US" dirty="0"/>
              <a:t>x</a:t>
            </a:r>
            <a:r>
              <a:rPr lang="en-US" baseline="-25000" dirty="0"/>
              <a:t>4 </a:t>
            </a:r>
            <a:r>
              <a:rPr lang="en-US" dirty="0"/>
              <a:t>+G</a:t>
            </a:r>
            <a:r>
              <a:rPr lang="en-US" baseline="-25000" dirty="0"/>
              <a:t>4 </a:t>
            </a:r>
            <a:r>
              <a:rPr lang="en-US" dirty="0"/>
              <a:t>x</a:t>
            </a:r>
            <a:r>
              <a:rPr lang="en-US" baseline="-25000" dirty="0"/>
              <a:t>3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            x</a:t>
            </a:r>
            <a:r>
              <a:rPr lang="en-US" baseline="-25000" dirty="0"/>
              <a:t>4</a:t>
            </a:r>
            <a:r>
              <a:rPr lang="en-US" dirty="0"/>
              <a:t>                   +               x</a:t>
            </a:r>
            <a:r>
              <a:rPr lang="en-US" baseline="-25000" dirty="0"/>
              <a:t>5      </a:t>
            </a:r>
          </a:p>
          <a:p>
            <a:pPr>
              <a:buNone/>
            </a:pPr>
            <a:r>
              <a:rPr lang="en-US" baseline="-25000" dirty="0"/>
              <a:t>                                                                                +</a:t>
            </a:r>
          </a:p>
          <a:p>
            <a:pPr>
              <a:buNone/>
            </a:pPr>
            <a:r>
              <a:rPr lang="en-US" dirty="0"/>
              <a:t>                                                                         x</a:t>
            </a:r>
            <a:r>
              <a:rPr lang="en-US" baseline="-25000" dirty="0"/>
              <a:t>3  </a:t>
            </a:r>
            <a:r>
              <a:rPr lang="en-US" dirty="0"/>
              <a:t> 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733800" y="1676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</a:t>
            </a:r>
            <a:r>
              <a:rPr lang="en-US" sz="2000" baseline="-25000" dirty="0"/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67400" y="2667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</a:t>
            </a:r>
            <a:r>
              <a:rPr lang="en-US" sz="2000" baseline="-25000" dirty="0"/>
              <a:t>4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895600" y="1600200"/>
            <a:ext cx="4038600" cy="1524000"/>
            <a:chOff x="2895600" y="1600200"/>
            <a:chExt cx="4038600" cy="1524000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5334000" y="1828800"/>
              <a:ext cx="6858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rot="10800000">
              <a:off x="6477000" y="2819400"/>
              <a:ext cx="4572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4800600" y="16002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/>
            <p:cNvCxnSpPr>
              <a:stCxn id="12" idx="1"/>
              <a:endCxn id="12" idx="5"/>
            </p:cNvCxnSpPr>
            <p:nvPr/>
          </p:nvCxnSpPr>
          <p:spPr>
            <a:xfrm rot="16200000" flipH="1">
              <a:off x="4878715" y="1678315"/>
              <a:ext cx="377170" cy="3771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2" idx="7"/>
              <a:endCxn id="12" idx="3"/>
            </p:cNvCxnSpPr>
            <p:nvPr/>
          </p:nvCxnSpPr>
          <p:spPr>
            <a:xfrm rot="16200000" flipH="1" flipV="1">
              <a:off x="4878715" y="1678315"/>
              <a:ext cx="377170" cy="3771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endCxn id="12" idx="2"/>
            </p:cNvCxnSpPr>
            <p:nvPr/>
          </p:nvCxnSpPr>
          <p:spPr>
            <a:xfrm flipV="1">
              <a:off x="4267200" y="1866900"/>
              <a:ext cx="533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3657600" y="1600200"/>
              <a:ext cx="609600" cy="6096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>
              <a:endCxn id="19" idx="1"/>
            </p:cNvCxnSpPr>
            <p:nvPr/>
          </p:nvCxnSpPr>
          <p:spPr>
            <a:xfrm>
              <a:off x="2895600" y="1905000"/>
              <a:ext cx="7620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5791200" y="2590800"/>
              <a:ext cx="685800" cy="5334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Arrow Connector 37"/>
            <p:cNvCxnSpPr>
              <a:endCxn id="12" idx="4"/>
            </p:cNvCxnSpPr>
            <p:nvPr/>
          </p:nvCxnSpPr>
          <p:spPr>
            <a:xfrm rot="16200000" flipV="1">
              <a:off x="4692396" y="2520696"/>
              <a:ext cx="74980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5077840" y="2896412"/>
              <a:ext cx="7315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379D-57C6-4348-93B7-25DE72B0D5DA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Combining all block diagram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35843" name="Picture 3" descr="E:\Automatic Control Systems\jpg\fig_1-120_b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09625" y="2158206"/>
            <a:ext cx="7524750" cy="3409950"/>
          </a:xfrm>
          <a:prstGeom prst="rect">
            <a:avLst/>
          </a:prstGeom>
          <a:noFill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D50A-BE09-4F95-A42C-F20381DFF174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304800"/>
            <a:ext cx="8839200" cy="2239962"/>
          </a:xfrm>
        </p:spPr>
        <p:txBody>
          <a:bodyPr>
            <a:normAutofit fontScale="90000"/>
          </a:bodyPr>
          <a:lstStyle/>
          <a:p>
            <a:br>
              <a:rPr lang="en-US" sz="3200" u="sng" dirty="0">
                <a:solidFill>
                  <a:srgbClr val="FF0000"/>
                </a:solidFill>
              </a:rPr>
            </a:br>
            <a:r>
              <a:rPr lang="en-US" sz="3200" u="sng" dirty="0">
                <a:solidFill>
                  <a:srgbClr val="FF0000"/>
                </a:solidFill>
              </a:rPr>
              <a:t>EFFECT OF PARAMETER VARIATION IN OPEN LOOP CONTROL SYSTEM</a:t>
            </a:r>
            <a:br>
              <a:rPr lang="en-US" sz="3200" u="sng" dirty="0">
                <a:solidFill>
                  <a:srgbClr val="FF0000"/>
                </a:solidFill>
              </a:rPr>
            </a:br>
            <a:br>
              <a:rPr lang="en-US" sz="3200" u="sng" dirty="0">
                <a:solidFill>
                  <a:srgbClr val="FF0000"/>
                </a:solidFill>
              </a:rPr>
            </a:br>
            <a:r>
              <a:rPr lang="en-US" sz="3200" dirty="0"/>
              <a:t>       </a:t>
            </a:r>
            <a:br>
              <a:rPr lang="en-US" sz="3200" u="sng" dirty="0">
                <a:solidFill>
                  <a:srgbClr val="FF0000"/>
                </a:solidFill>
              </a:rPr>
            </a:br>
            <a:br>
              <a:rPr lang="en-US" sz="3200" u="sng" dirty="0">
                <a:solidFill>
                  <a:srgbClr val="FF0000"/>
                </a:solidFill>
              </a:rPr>
            </a:br>
            <a:br>
              <a:rPr lang="en-US" sz="3200" u="sng" dirty="0">
                <a:solidFill>
                  <a:srgbClr val="FF0000"/>
                </a:solidFill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918" y="2354094"/>
            <a:ext cx="8738681" cy="4351506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dirty="0"/>
              <a:t>The transfer function of open loop system is</a:t>
            </a:r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34</a:t>
            </a:fld>
            <a:endParaRPr lang="en-US"/>
          </a:p>
        </p:txBody>
      </p:sp>
      <p:grpSp>
        <p:nvGrpSpPr>
          <p:cNvPr id="2" name="Group 17"/>
          <p:cNvGrpSpPr/>
          <p:nvPr/>
        </p:nvGrpSpPr>
        <p:grpSpPr>
          <a:xfrm>
            <a:off x="3247417" y="1465634"/>
            <a:ext cx="3124200" cy="609600"/>
            <a:chOff x="3276600" y="1066800"/>
            <a:chExt cx="3124200" cy="609600"/>
          </a:xfrm>
        </p:grpSpPr>
        <p:sp>
          <p:nvSpPr>
            <p:cNvPr id="7" name="Rectangle 6"/>
            <p:cNvSpPr/>
            <p:nvPr/>
          </p:nvSpPr>
          <p:spPr>
            <a:xfrm>
              <a:off x="4114800" y="1066800"/>
              <a:ext cx="1295400" cy="60960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16"/>
            <p:cNvGrpSpPr/>
            <p:nvPr/>
          </p:nvGrpSpPr>
          <p:grpSpPr>
            <a:xfrm>
              <a:off x="3276600" y="1371600"/>
              <a:ext cx="3124200" cy="0"/>
              <a:chOff x="3276600" y="1371600"/>
              <a:chExt cx="3124200" cy="0"/>
            </a:xfrm>
          </p:grpSpPr>
          <p:cxnSp>
            <p:nvCxnSpPr>
              <p:cNvPr id="9" name="Straight Arrow Connector 8"/>
              <p:cNvCxnSpPr>
                <a:stCxn id="7" idx="3"/>
              </p:cNvCxnSpPr>
              <p:nvPr/>
            </p:nvCxnSpPr>
            <p:spPr>
              <a:xfrm>
                <a:off x="5410200" y="1371600"/>
                <a:ext cx="990600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>
                <a:endCxn id="7" idx="1"/>
              </p:cNvCxnSpPr>
              <p:nvPr/>
            </p:nvCxnSpPr>
            <p:spPr>
              <a:xfrm flipV="1">
                <a:off x="3276600" y="1371600"/>
                <a:ext cx="838200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TextBox 11"/>
          <p:cNvSpPr txBox="1"/>
          <p:nvPr/>
        </p:nvSpPr>
        <p:spPr>
          <a:xfrm>
            <a:off x="4187758" y="1504545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G(s)</a:t>
            </a: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3401438" y="3135497"/>
          <a:ext cx="1752600" cy="932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320" imgH="419040" progId="Equation.3">
                  <p:embed/>
                </p:oleObj>
              </mc:Choice>
              <mc:Fallback>
                <p:oleObj name="Equation" r:id="rId2" imgW="78732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1438" y="3135497"/>
                        <a:ext cx="1752600" cy="9328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55389-97AE-47BF-A3A1-68D17A533F19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500021" y="1420236"/>
            <a:ext cx="846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R(s)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6481" y="1514270"/>
            <a:ext cx="846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C(s)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1083982" y="4319081"/>
          <a:ext cx="6893919" cy="1439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62240" imgH="660240" progId="Equation.3">
                  <p:embed/>
                </p:oleObj>
              </mc:Choice>
              <mc:Fallback>
                <p:oleObj name="Equation" r:id="rId4" imgW="3162240" imgH="6602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3982" y="4319081"/>
                        <a:ext cx="6893919" cy="14396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919" y="184826"/>
            <a:ext cx="8764621" cy="6235429"/>
          </a:xfrm>
        </p:spPr>
        <p:txBody>
          <a:bodyPr/>
          <a:lstStyle/>
          <a:p>
            <a:pPr>
              <a:buNone/>
            </a:pPr>
            <a:r>
              <a:rPr lang="en-US" u="sng" dirty="0">
                <a:solidFill>
                  <a:srgbClr val="FF0000"/>
                </a:solidFill>
              </a:rPr>
              <a:t>EFFECT OF PARAMETER VARIATION IN OPEN LOOP CONTROL SYSTEM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23DD-DAE5-40A2-90E0-E00F000D4CDA}" type="datetime1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35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 bwMode="auto">
              <a:xfrm>
                <a:off x="457201" y="1430338"/>
                <a:ext cx="8249054" cy="35020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from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equation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IN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IN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m:rPr>
                              <m:nor/>
                            </m:rPr>
                            <a:rPr lang="en-IN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IN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−−−−−−−−−−−− 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1" y="1430338"/>
                <a:ext cx="8249054" cy="35020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86383" y="5058383"/>
            <a:ext cx="82198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Equation 2 gives the change in output due to parameter variations in G (s) in open loop system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304800"/>
            <a:ext cx="8839200" cy="2239962"/>
          </a:xfrm>
        </p:spPr>
        <p:txBody>
          <a:bodyPr>
            <a:normAutofit fontScale="90000"/>
          </a:bodyPr>
          <a:lstStyle/>
          <a:p>
            <a:br>
              <a:rPr lang="en-US" sz="3200" u="sng" dirty="0">
                <a:solidFill>
                  <a:srgbClr val="FF0000"/>
                </a:solidFill>
              </a:rPr>
            </a:br>
            <a:r>
              <a:rPr lang="en-US" sz="3200" u="sng" dirty="0">
                <a:solidFill>
                  <a:srgbClr val="FF0000"/>
                </a:solidFill>
              </a:rPr>
              <a:t>EFFECT OF FEEDBACK ON OVERALL GAIN</a:t>
            </a:r>
            <a:br>
              <a:rPr lang="en-US" sz="3200" u="sng" dirty="0">
                <a:solidFill>
                  <a:srgbClr val="FF0000"/>
                </a:solidFill>
              </a:rPr>
            </a:br>
            <a:br>
              <a:rPr lang="en-US" sz="3200" u="sng" dirty="0">
                <a:solidFill>
                  <a:srgbClr val="FF0000"/>
                </a:solidFill>
              </a:rPr>
            </a:br>
            <a:r>
              <a:rPr lang="en-US" sz="3200" dirty="0"/>
              <a:t>       R(s)</a:t>
            </a:r>
            <a:r>
              <a:rPr lang="en-US" sz="3200" dirty="0">
                <a:solidFill>
                  <a:srgbClr val="FF0000"/>
                </a:solidFill>
              </a:rPr>
              <a:t>                                         </a:t>
            </a:r>
            <a:r>
              <a:rPr lang="en-US" sz="3200" dirty="0"/>
              <a:t>C(s)</a:t>
            </a:r>
            <a:br>
              <a:rPr lang="en-US" sz="3200" u="sng" dirty="0">
                <a:solidFill>
                  <a:srgbClr val="FF0000"/>
                </a:solidFill>
              </a:rPr>
            </a:br>
            <a:br>
              <a:rPr lang="en-US" sz="3200" u="sng" dirty="0">
                <a:solidFill>
                  <a:srgbClr val="FF0000"/>
                </a:solidFill>
              </a:rPr>
            </a:br>
            <a:br>
              <a:rPr lang="en-US" sz="3200" u="sng" dirty="0">
                <a:solidFill>
                  <a:srgbClr val="FF0000"/>
                </a:solidFill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839200" cy="48006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800" dirty="0"/>
              <a:t>The overall transfer function of open loop system is</a:t>
            </a:r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r>
              <a:rPr lang="en-US" sz="2800" dirty="0"/>
              <a:t>The overall transfer function of closed loop system is</a:t>
            </a:r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r>
              <a:rPr lang="en-US" sz="2800" dirty="0"/>
              <a:t>For negative feedback the gain G(s) is reduced by a factor </a:t>
            </a:r>
          </a:p>
          <a:p>
            <a:pPr algn="just">
              <a:buNone/>
            </a:pPr>
            <a:r>
              <a:rPr lang="en-US" sz="2800" dirty="0"/>
              <a:t> </a:t>
            </a:r>
          </a:p>
          <a:p>
            <a:pPr algn="just">
              <a:buNone/>
            </a:pPr>
            <a:r>
              <a:rPr lang="en-US" sz="2800" dirty="0">
                <a:solidFill>
                  <a:srgbClr val="00B050"/>
                </a:solidFill>
              </a:rPr>
              <a:t>So due to negative feedback overall gain of the system is reduced</a:t>
            </a:r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sz="2800" dirty="0"/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36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276600" y="1066800"/>
            <a:ext cx="3124200" cy="609600"/>
            <a:chOff x="3276600" y="1066800"/>
            <a:chExt cx="3124200" cy="609600"/>
          </a:xfrm>
        </p:grpSpPr>
        <p:sp>
          <p:nvSpPr>
            <p:cNvPr id="7" name="Rectangle 6"/>
            <p:cNvSpPr/>
            <p:nvPr/>
          </p:nvSpPr>
          <p:spPr>
            <a:xfrm>
              <a:off x="4114800" y="1066800"/>
              <a:ext cx="1295400" cy="60960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3276600" y="1371600"/>
              <a:ext cx="3124200" cy="0"/>
              <a:chOff x="3276600" y="1371600"/>
              <a:chExt cx="3124200" cy="0"/>
            </a:xfrm>
          </p:grpSpPr>
          <p:cxnSp>
            <p:nvCxnSpPr>
              <p:cNvPr id="9" name="Straight Arrow Connector 8"/>
              <p:cNvCxnSpPr>
                <a:stCxn id="7" idx="3"/>
              </p:cNvCxnSpPr>
              <p:nvPr/>
            </p:nvCxnSpPr>
            <p:spPr>
              <a:xfrm>
                <a:off x="5410200" y="1371600"/>
                <a:ext cx="990600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>
                <a:endCxn id="7" idx="1"/>
              </p:cNvCxnSpPr>
              <p:nvPr/>
            </p:nvCxnSpPr>
            <p:spPr>
              <a:xfrm flipV="1">
                <a:off x="3276600" y="1371600"/>
                <a:ext cx="838200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TextBox 11"/>
          <p:cNvSpPr txBox="1"/>
          <p:nvPr/>
        </p:nvSpPr>
        <p:spPr>
          <a:xfrm>
            <a:off x="4343400" y="106680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G(s)</a:t>
            </a: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3352800" y="2357284"/>
          <a:ext cx="1752600" cy="932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320" imgH="419040" progId="Equation.3">
                  <p:embed/>
                </p:oleObj>
              </mc:Choice>
              <mc:Fallback>
                <p:oleObj name="Equation" r:id="rId2" imgW="78732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357284"/>
                        <a:ext cx="1752600" cy="9328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2819400" y="3810000"/>
          <a:ext cx="2667000" cy="854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419040" progId="Equation.3">
                  <p:embed/>
                </p:oleObj>
              </mc:Choice>
              <mc:Fallback>
                <p:oleObj name="Equation" r:id="rId4" imgW="130788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810000"/>
                        <a:ext cx="2667000" cy="8544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838200" y="5105400"/>
          <a:ext cx="1394691" cy="68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419040" progId="Equation.3">
                  <p:embed/>
                </p:oleObj>
              </mc:Choice>
              <mc:Fallback>
                <p:oleObj name="Equation" r:id="rId6" imgW="850680" imgH="419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105400"/>
                        <a:ext cx="1394691" cy="686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55389-97AE-47BF-A3A1-68D17A533F19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7391400" cy="762000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EFFECT OF FEEDBACK ON STABILITY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3000" dirty="0"/>
              <a:t>Consider the open loop system with overall transfer function</a:t>
            </a:r>
          </a:p>
          <a:p>
            <a:pPr algn="just">
              <a:buNone/>
            </a:pPr>
            <a:endParaRPr lang="en-US" sz="3000" dirty="0"/>
          </a:p>
          <a:p>
            <a:pPr algn="just">
              <a:buNone/>
            </a:pPr>
            <a:r>
              <a:rPr lang="en-US" sz="3000" dirty="0"/>
              <a:t>The pole is located at s=-T</a:t>
            </a:r>
          </a:p>
          <a:p>
            <a:pPr algn="just">
              <a:buNone/>
            </a:pPr>
            <a:r>
              <a:rPr lang="en-US" sz="3000" dirty="0"/>
              <a:t>Now, consider closed loop system with unity negative feedback, then overall transfer function is given by</a:t>
            </a:r>
          </a:p>
          <a:p>
            <a:pPr algn="just">
              <a:buNone/>
            </a:pPr>
            <a:endParaRPr lang="en-US" sz="3000" dirty="0"/>
          </a:p>
          <a:p>
            <a:pPr algn="just">
              <a:buNone/>
            </a:pPr>
            <a:endParaRPr lang="en-US" sz="3000" dirty="0"/>
          </a:p>
          <a:p>
            <a:pPr algn="just">
              <a:buNone/>
            </a:pPr>
            <a:r>
              <a:rPr lang="en-US" sz="3000" dirty="0"/>
              <a:t> Now closed loop pole is located at s=-(T+K)</a:t>
            </a:r>
          </a:p>
          <a:p>
            <a:pPr algn="just">
              <a:buNone/>
            </a:pPr>
            <a:r>
              <a:rPr lang="en-US" sz="2800" i="1" dirty="0">
                <a:solidFill>
                  <a:srgbClr val="00B050"/>
                </a:solidFill>
              </a:rPr>
              <a:t>Thus, feedback controls the time response by adjusting the location of poles. The stability depends upon the location of the poles. Thus feedback affects the stability. </a:t>
            </a:r>
            <a:r>
              <a:rPr lang="en-US" sz="2800" dirty="0">
                <a:solidFill>
                  <a:srgbClr val="00B050"/>
                </a:solidFill>
              </a:rPr>
              <a:t>                                        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895600" y="1524000"/>
          <a:ext cx="1600200" cy="775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524000"/>
                        <a:ext cx="1600200" cy="7750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048000" y="3733800"/>
          <a:ext cx="2209800" cy="775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93760" imgH="419040" progId="Equation.3">
                  <p:embed/>
                </p:oleObj>
              </mc:Choice>
              <mc:Fallback>
                <p:oleObj name="Equation" r:id="rId4" imgW="1193760" imgH="419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733800"/>
                        <a:ext cx="2209800" cy="7757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A94DE-0B01-4F0B-9D36-4798ACDAC47F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4609-C126-441D-A6BA-56B1B36B2935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172F1-869A-4726-99B8-B65E91405A96}" type="datetime1">
              <a:rPr lang="en-US" smtClean="0"/>
              <a:pPr/>
              <a:t>7/30/2025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1207</TotalTime>
  <Words>1865</Words>
  <Application>Microsoft Office PowerPoint</Application>
  <PresentationFormat>On-screen Show (4:3)</PresentationFormat>
  <Paragraphs>412</Paragraphs>
  <Slides>38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Cambria Math</vt:lpstr>
      <vt:lpstr>Tahoma</vt:lpstr>
      <vt:lpstr>Times New Roman</vt:lpstr>
      <vt:lpstr>Wingdings</vt:lpstr>
      <vt:lpstr>Office Theme</vt:lpstr>
      <vt:lpstr>Equation</vt:lpstr>
      <vt:lpstr>PowerPoint Presentation</vt:lpstr>
      <vt:lpstr>BOOKS</vt:lpstr>
      <vt:lpstr>PowerPoint Presentation</vt:lpstr>
      <vt:lpstr>PowerPoint Presentation</vt:lpstr>
      <vt:lpstr>PowerPoint Presentation</vt:lpstr>
      <vt:lpstr>PowerPoint Presentation</vt:lpstr>
      <vt:lpstr> TERMINOLOGIES</vt:lpstr>
      <vt:lpstr>PowerPoint Presentation</vt:lpstr>
      <vt:lpstr>PowerPoint Presentation</vt:lpstr>
      <vt:lpstr>PowerPoint Presentation</vt:lpstr>
      <vt:lpstr>PowerPoint Presentation</vt:lpstr>
      <vt:lpstr>COMPARISON OF BLOCK DIAGRAM AND SIGNAL FLOW GRAPH METHOD</vt:lpstr>
      <vt:lpstr>CONSTRUCTION OF SFG FROM EQUATIONS</vt:lpstr>
      <vt:lpstr>CONSTRUCTION OF SFG FROM EQUATIONS</vt:lpstr>
      <vt:lpstr>PowerPoint Presentation</vt:lpstr>
      <vt:lpstr>PowerPoint Presentation</vt:lpstr>
      <vt:lpstr>PowerPoint Presentation</vt:lpstr>
      <vt:lpstr>Complete Signal Flow Graph</vt:lpstr>
      <vt:lpstr>CONSTRUCTION OF SFG FROM BLOCK DIAGRAM</vt:lpstr>
      <vt:lpstr>PowerPoint Presentation</vt:lpstr>
      <vt:lpstr>Draw the SFG for the network shown in fig, take V3 as output node</vt:lpstr>
      <vt:lpstr>PowerPoint Presentation</vt:lpstr>
      <vt:lpstr>MASON’S GAIN FORMULA</vt:lpstr>
      <vt:lpstr>For the given Signal Flow Graph find the ratio C/R by using Mason’s Gain Formula.</vt:lpstr>
      <vt:lpstr>PowerPoint Presentation</vt:lpstr>
      <vt:lpstr>PowerPoint Presentation</vt:lpstr>
      <vt:lpstr>BLOCK DIAGRAM FROM SFG</vt:lpstr>
      <vt:lpstr>Draw the block diagram from the given signal flow graph</vt:lpstr>
      <vt:lpstr>PowerPoint Presentation</vt:lpstr>
      <vt:lpstr>PowerPoint Presentation</vt:lpstr>
      <vt:lpstr>PowerPoint Presentation</vt:lpstr>
      <vt:lpstr>PowerPoint Presentation</vt:lpstr>
      <vt:lpstr>Combining all block diagram</vt:lpstr>
      <vt:lpstr> EFFECT OF PARAMETER VARIATION IN OPEN LOOP CONTROL SYSTEM            </vt:lpstr>
      <vt:lpstr>PowerPoint Presentation</vt:lpstr>
      <vt:lpstr> EFFECT OF FEEDBACK ON OVERALL GAIN         R(s)                                         C(s)   </vt:lpstr>
      <vt:lpstr>EFFECT OF FEEDBACK ON STABILITY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SIGNAL FLOW GRAPH (SFG)  TERMS ASSOCIATED WITH SFG </dc:title>
  <dc:creator>Mohammed</dc:creator>
  <cp:lastModifiedBy>hasansaeedcontrol@gmail.com</cp:lastModifiedBy>
  <cp:revision>145</cp:revision>
  <dcterms:created xsi:type="dcterms:W3CDTF">2015-07-02T13:12:09Z</dcterms:created>
  <dcterms:modified xsi:type="dcterms:W3CDTF">2025-07-30T03:32:55Z</dcterms:modified>
</cp:coreProperties>
</file>