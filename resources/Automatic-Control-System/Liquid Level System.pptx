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9" r:id="rId7"/>
    <p:sldId id="268" r:id="rId8"/>
    <p:sldId id="267" r:id="rId9"/>
    <p:sldId id="266" r:id="rId10"/>
    <p:sldId id="265" r:id="rId11"/>
    <p:sldId id="270" r:id="rId12"/>
    <p:sldId id="273" r:id="rId13"/>
    <p:sldId id="272" r:id="rId14"/>
    <p:sldId id="262" r:id="rId1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1" d="100"/>
          <a:sy n="71" d="100"/>
        </p:scale>
        <p:origin x="-456" y="56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8.wmf"/><Relationship Id="rId1" Type="http://schemas.openxmlformats.org/officeDocument/2006/relationships/image" Target="../media/image6.wmf"/><Relationship Id="rId5" Type="http://schemas.openxmlformats.org/officeDocument/2006/relationships/image" Target="../media/image9.wmf"/><Relationship Id="rId4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13.wmf"/><Relationship Id="rId2" Type="http://schemas.openxmlformats.org/officeDocument/2006/relationships/image" Target="../media/image6.wmf"/><Relationship Id="rId1" Type="http://schemas.openxmlformats.org/officeDocument/2006/relationships/image" Target="../media/image4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4.wmf"/><Relationship Id="rId1" Type="http://schemas.openxmlformats.org/officeDocument/2006/relationships/image" Target="../media/image4.wmf"/><Relationship Id="rId4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3.wmf"/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76175-8821-4261-849A-8BA0A2E7C667}" type="datetimeFigureOut">
              <a:rPr lang="en-US" smtClean="0"/>
              <a:pPr/>
              <a:t>11-Jan-21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41737-FE3A-4D27-BDA4-2639D345A9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41737-FE3A-4D27-BDA4-2639D345A9A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B72F-59A6-4D21-A93E-8C32B60F3476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E0D4-E9FD-475A-8A1F-507194BE26F2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4A3B4-B80C-4BAA-B42A-D29C1A262EB4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6398A-DD9E-4F67-8BE8-733568981ED1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CB6B-883C-45CB-BDCC-DD8D1951F280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EB60-18E2-4B65-ADFF-243B4D3F760F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67A89-8D7C-4B77-BE3B-E3B00DE9C014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D6522-51E0-4E81-8AD4-77D99CAC8BAB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17F3-CE34-42D2-8841-34156AC6B879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1D-447E-4331-BC4D-01738063DC6B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312AC-7040-4FD8-967C-B8A41408D514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oleObject" Target="../embeddings/oleObject35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9.bin"/><Relationship Id="rId12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8.bin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27.bin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6.bin"/><Relationship Id="rId9" Type="http://schemas.openxmlformats.org/officeDocument/2006/relationships/oleObject" Target="../embeddings/oleObject3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9.bin"/><Relationship Id="rId5" Type="http://schemas.openxmlformats.org/officeDocument/2006/relationships/oleObject" Target="../embeddings/oleObject38.bin"/><Relationship Id="rId4" Type="http://schemas.openxmlformats.org/officeDocument/2006/relationships/oleObject" Target="../embeddings/oleObject3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44.bin"/><Relationship Id="rId4" Type="http://schemas.openxmlformats.org/officeDocument/2006/relationships/oleObject" Target="../embeddings/oleObject43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635" y="214290"/>
            <a:ext cx="11675276" cy="6429420"/>
          </a:xfrm>
        </p:spPr>
        <p:txBody>
          <a:bodyPr/>
          <a:lstStyle/>
          <a:p>
            <a:endParaRPr lang="en-GB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SYED HASAN SAEED</a:t>
            </a:r>
          </a:p>
          <a:p>
            <a:endParaRPr lang="en-GB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Email: </a:t>
            </a:r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hasansaeedcontrol@gmail.com</a:t>
            </a:r>
            <a:endParaRPr lang="en-GB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 Page: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 </a:t>
            </a:r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hasansaeed872726549.wordpress.com</a:t>
            </a:r>
          </a:p>
          <a:p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Shasansaeed.yolasite.com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2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306B2-EC7E-4BB8-8894-54A4B6770FA7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SYED HASAN SAEED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5" y="857234"/>
            <a:ext cx="11617555" cy="428627"/>
          </a:xfrm>
        </p:spPr>
        <p:txBody>
          <a:bodyPr>
            <a:noAutofit/>
          </a:bodyPr>
          <a:lstStyle/>
          <a:p>
            <a:r>
              <a:rPr lang="en-GB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BOOKS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130" y="785794"/>
            <a:ext cx="11712781" cy="5857916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KUO &amp; GOLANARAGHI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ANAND KUMAR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  AUTOMATIC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S. HASAN SAEED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ELECTRICAL MACINE &amp; AUTOMATIC CONTROL: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J.B.GUPTA  &amp;  S. HASAN SAEED</a:t>
            </a:r>
          </a:p>
          <a:p>
            <a:pPr marL="514350" indent="-514350" algn="l">
              <a:buAutoNum type="arabicPeriod" startAt="4"/>
            </a:pPr>
            <a:endParaRPr lang="en-GB" sz="2400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R. A . BARAPATE</a:t>
            </a: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6435-E78B-422D-B0C9-AADEB5893BD0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SYED HASAN SAEED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5" y="45476"/>
            <a:ext cx="11617555" cy="428627"/>
          </a:xfrm>
        </p:spPr>
        <p:txBody>
          <a:bodyPr>
            <a:noAutofit/>
          </a:bodyPr>
          <a:lstStyle/>
          <a:p>
            <a:r>
              <a:rPr lang="en-IN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635" y="331226"/>
            <a:ext cx="11617555" cy="571504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Consider a liquid level system as shown in fig.1. A model is to be developed for the height h</a:t>
            </a:r>
            <a:r>
              <a:rPr lang="en-IN" sz="22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h</a:t>
            </a:r>
            <a:r>
              <a:rPr lang="en-IN" sz="22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for given input flow rate q. Assuming laminar flow with laminar resistances R</a:t>
            </a:r>
            <a:r>
              <a:rPr lang="en-IN" sz="22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R</a:t>
            </a:r>
            <a:r>
              <a:rPr lang="en-IN" sz="22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with areas of tank A</a:t>
            </a:r>
            <a:r>
              <a:rPr lang="en-IN" sz="22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A</a:t>
            </a:r>
            <a:r>
              <a:rPr lang="en-IN" sz="22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Let ∆q be a small deviation in the inflow  rate q which results in:</a:t>
            </a:r>
          </a:p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∆ h</a:t>
            </a:r>
            <a:r>
              <a:rPr lang="en-IN" sz="22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small deviation of the head of the tank 1 from it’s steady state value.</a:t>
            </a:r>
          </a:p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∆ h</a:t>
            </a:r>
            <a:r>
              <a:rPr lang="en-IN" sz="22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small deviation of the head the tank 2 from it’s steady state value.</a:t>
            </a:r>
          </a:p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∆ q</a:t>
            </a:r>
            <a:r>
              <a:rPr lang="en-IN" sz="22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small deviation of outflow rate of the tank 1 from it’s steady state value.</a:t>
            </a:r>
          </a:p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∆ q</a:t>
            </a:r>
            <a:r>
              <a:rPr lang="en-IN" sz="22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small deviation of outflow rate of the tank 2 from it’s steady state value.</a:t>
            </a: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</a:t>
            </a: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     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2DE9-AA53-49AD-8404-2983CAF44A4E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SYED HASAN SAEED 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087" y="5857892"/>
            <a:ext cx="1114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71313" y="6182554"/>
            <a:ext cx="110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Reference: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Onkar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N.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Pandey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, Instrumentation and Process Control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S.K.Kataria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&amp; Sons, New Delhi, Edition: 2008-09</a:t>
            </a:r>
            <a:endParaRPr lang="en-US" sz="11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09" y="571480"/>
            <a:ext cx="11808007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200" i="1" dirty="0" smtClean="0">
                <a:latin typeface="Times New Roman" pitchFamily="18" charset="0"/>
                <a:cs typeface="Times New Roman" pitchFamily="18" charset="0"/>
              </a:rPr>
              <a:t> Fig.1 Liquid level System</a:t>
            </a: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0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grpSp>
        <p:nvGrpSpPr>
          <p:cNvPr id="95" name="Group 94"/>
          <p:cNvGrpSpPr/>
          <p:nvPr/>
        </p:nvGrpSpPr>
        <p:grpSpPr>
          <a:xfrm>
            <a:off x="1256007" y="1978457"/>
            <a:ext cx="10000974" cy="3166067"/>
            <a:chOff x="942251" y="1978456"/>
            <a:chExt cx="7502684" cy="3166067"/>
          </a:xfrm>
        </p:grpSpPr>
        <p:grpSp>
          <p:nvGrpSpPr>
            <p:cNvPr id="88" name="Group 87"/>
            <p:cNvGrpSpPr/>
            <p:nvPr/>
          </p:nvGrpSpPr>
          <p:grpSpPr>
            <a:xfrm>
              <a:off x="942251" y="1978456"/>
              <a:ext cx="7209521" cy="2884380"/>
              <a:chOff x="1680218" y="1978456"/>
              <a:chExt cx="7209521" cy="2884380"/>
            </a:xfrm>
          </p:grpSpPr>
          <p:grpSp>
            <p:nvGrpSpPr>
              <p:cNvPr id="62" name="Group 61"/>
              <p:cNvGrpSpPr/>
              <p:nvPr/>
            </p:nvGrpSpPr>
            <p:grpSpPr>
              <a:xfrm>
                <a:off x="4150550" y="4359572"/>
                <a:ext cx="785818" cy="503264"/>
                <a:chOff x="4167470" y="4334452"/>
                <a:chExt cx="785818" cy="503264"/>
              </a:xfrm>
            </p:grpSpPr>
            <p:cxnSp>
              <p:nvCxnSpPr>
                <p:cNvPr id="9" name="Straight Connector 8"/>
                <p:cNvCxnSpPr/>
                <p:nvPr/>
              </p:nvCxnSpPr>
              <p:spPr>
                <a:xfrm rot="5400000">
                  <a:off x="3997376" y="4667622"/>
                  <a:ext cx="340189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 rot="5400000">
                  <a:off x="4779826" y="4667622"/>
                  <a:ext cx="340189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4167470" y="4497527"/>
                  <a:ext cx="785818" cy="3401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 flipV="1">
                  <a:off x="4167470" y="4497527"/>
                  <a:ext cx="785818" cy="3401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 rot="5400000">
                  <a:off x="4390292" y="4504415"/>
                  <a:ext cx="340189" cy="1344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4320604" y="4334452"/>
                  <a:ext cx="483580" cy="10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Group 62"/>
              <p:cNvGrpSpPr/>
              <p:nvPr/>
            </p:nvGrpSpPr>
            <p:grpSpPr>
              <a:xfrm>
                <a:off x="7769322" y="4357694"/>
                <a:ext cx="785818" cy="503264"/>
                <a:chOff x="4167470" y="4334452"/>
                <a:chExt cx="785818" cy="503264"/>
              </a:xfrm>
            </p:grpSpPr>
            <p:cxnSp>
              <p:nvCxnSpPr>
                <p:cNvPr id="64" name="Straight Connector 63"/>
                <p:cNvCxnSpPr/>
                <p:nvPr/>
              </p:nvCxnSpPr>
              <p:spPr>
                <a:xfrm rot="5400000">
                  <a:off x="3997376" y="4667622"/>
                  <a:ext cx="340189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 rot="5400000">
                  <a:off x="4779826" y="4667622"/>
                  <a:ext cx="340189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>
                <a:xfrm>
                  <a:off x="4167470" y="4497527"/>
                  <a:ext cx="785818" cy="3401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>
                <a:xfrm flipV="1">
                  <a:off x="4167470" y="4497527"/>
                  <a:ext cx="785818" cy="3401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/>
                <p:nvPr/>
              </p:nvCxnSpPr>
              <p:spPr>
                <a:xfrm rot="5400000">
                  <a:off x="4390292" y="4504415"/>
                  <a:ext cx="340189" cy="1344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>
                <a:xfrm>
                  <a:off x="4320604" y="4334452"/>
                  <a:ext cx="483580" cy="10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1" name="Straight Connector 70"/>
              <p:cNvCxnSpPr/>
              <p:nvPr/>
            </p:nvCxnSpPr>
            <p:spPr>
              <a:xfrm>
                <a:off x="4929190" y="4857760"/>
                <a:ext cx="2844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1680218" y="4857760"/>
                <a:ext cx="2484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 flipH="1" flipV="1">
                <a:off x="247559" y="3417662"/>
                <a:ext cx="2880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10800000">
                <a:off x="3846798" y="4524135"/>
                <a:ext cx="306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10800000">
                <a:off x="4931052" y="4522090"/>
                <a:ext cx="3456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 rot="5400000" flipH="1" flipV="1">
                <a:off x="2579476" y="3256598"/>
                <a:ext cx="2538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 flipH="1" flipV="1">
                <a:off x="4010274" y="3259369"/>
                <a:ext cx="2538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10800000">
                <a:off x="7437638" y="4521183"/>
                <a:ext cx="3384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 flipH="1" flipV="1">
                <a:off x="6165678" y="3257560"/>
                <a:ext cx="2538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10800000">
                <a:off x="8551339" y="4520034"/>
                <a:ext cx="3384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10800000">
                <a:off x="8551640" y="4856171"/>
                <a:ext cx="288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Arc 88"/>
            <p:cNvSpPr/>
            <p:nvPr/>
          </p:nvSpPr>
          <p:spPr>
            <a:xfrm>
              <a:off x="7843772" y="4522666"/>
              <a:ext cx="601163" cy="336105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Connector 90"/>
            <p:cNvCxnSpPr>
              <a:stCxn id="89" idx="2"/>
            </p:cNvCxnSpPr>
            <p:nvPr/>
          </p:nvCxnSpPr>
          <p:spPr>
            <a:xfrm rot="5400000">
              <a:off x="8218033" y="4917621"/>
              <a:ext cx="45380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Arc 91"/>
            <p:cNvSpPr/>
            <p:nvPr/>
          </p:nvSpPr>
          <p:spPr>
            <a:xfrm>
              <a:off x="8062523" y="4857905"/>
              <a:ext cx="71438" cy="71438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Connector 93"/>
            <p:cNvCxnSpPr/>
            <p:nvPr/>
          </p:nvCxnSpPr>
          <p:spPr>
            <a:xfrm rot="16200000" flipH="1">
              <a:off x="8010950" y="5016634"/>
              <a:ext cx="24602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/>
          <p:cNvGrpSpPr/>
          <p:nvPr/>
        </p:nvGrpSpPr>
        <p:grpSpPr>
          <a:xfrm>
            <a:off x="676334" y="1459728"/>
            <a:ext cx="1869106" cy="871934"/>
            <a:chOff x="718402" y="1262776"/>
            <a:chExt cx="1402195" cy="871934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755527" y="1272413"/>
              <a:ext cx="1357322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rot="5400000">
              <a:off x="1726894" y="1654891"/>
              <a:ext cx="785818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718402" y="1513517"/>
              <a:ext cx="111600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rot="5400000">
              <a:off x="1559667" y="1775495"/>
              <a:ext cx="54000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Oval 101"/>
            <p:cNvSpPr/>
            <p:nvPr/>
          </p:nvSpPr>
          <p:spPr>
            <a:xfrm>
              <a:off x="1830462" y="1991834"/>
              <a:ext cx="288000" cy="142876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" name="Freeform 102"/>
          <p:cNvSpPr/>
          <p:nvPr/>
        </p:nvSpPr>
        <p:spPr>
          <a:xfrm>
            <a:off x="1282202" y="2669552"/>
            <a:ext cx="2849336" cy="73648"/>
          </a:xfrm>
          <a:custGeom>
            <a:avLst/>
            <a:gdLst>
              <a:gd name="connsiteX0" fmla="*/ 0 w 2137559"/>
              <a:gd name="connsiteY0" fmla="*/ 38022 h 73648"/>
              <a:gd name="connsiteX1" fmla="*/ 35626 w 2137559"/>
              <a:gd name="connsiteY1" fmla="*/ 26147 h 73648"/>
              <a:gd name="connsiteX2" fmla="*/ 83128 w 2137559"/>
              <a:gd name="connsiteY2" fmla="*/ 2396 h 73648"/>
              <a:gd name="connsiteX3" fmla="*/ 154380 w 2137559"/>
              <a:gd name="connsiteY3" fmla="*/ 14271 h 73648"/>
              <a:gd name="connsiteX4" fmla="*/ 344385 w 2137559"/>
              <a:gd name="connsiteY4" fmla="*/ 26147 h 73648"/>
              <a:gd name="connsiteX5" fmla="*/ 415637 w 2137559"/>
              <a:gd name="connsiteY5" fmla="*/ 61773 h 73648"/>
              <a:gd name="connsiteX6" fmla="*/ 451263 w 2137559"/>
              <a:gd name="connsiteY6" fmla="*/ 73648 h 73648"/>
              <a:gd name="connsiteX7" fmla="*/ 605642 w 2137559"/>
              <a:gd name="connsiteY7" fmla="*/ 61773 h 73648"/>
              <a:gd name="connsiteX8" fmla="*/ 688769 w 2137559"/>
              <a:gd name="connsiteY8" fmla="*/ 26147 h 73648"/>
              <a:gd name="connsiteX9" fmla="*/ 771896 w 2137559"/>
              <a:gd name="connsiteY9" fmla="*/ 2396 h 73648"/>
              <a:gd name="connsiteX10" fmla="*/ 878774 w 2137559"/>
              <a:gd name="connsiteY10" fmla="*/ 14271 h 73648"/>
              <a:gd name="connsiteX11" fmla="*/ 914400 w 2137559"/>
              <a:gd name="connsiteY11" fmla="*/ 38022 h 73648"/>
              <a:gd name="connsiteX12" fmla="*/ 950026 w 2137559"/>
              <a:gd name="connsiteY12" fmla="*/ 49897 h 73648"/>
              <a:gd name="connsiteX13" fmla="*/ 1175657 w 2137559"/>
              <a:gd name="connsiteY13" fmla="*/ 38022 h 73648"/>
              <a:gd name="connsiteX14" fmla="*/ 1211283 w 2137559"/>
              <a:gd name="connsiteY14" fmla="*/ 26147 h 73648"/>
              <a:gd name="connsiteX15" fmla="*/ 1472541 w 2137559"/>
              <a:gd name="connsiteY15" fmla="*/ 38022 h 73648"/>
              <a:gd name="connsiteX16" fmla="*/ 1638795 w 2137559"/>
              <a:gd name="connsiteY16" fmla="*/ 49897 h 73648"/>
              <a:gd name="connsiteX17" fmla="*/ 1710047 w 2137559"/>
              <a:gd name="connsiteY17" fmla="*/ 26147 h 73648"/>
              <a:gd name="connsiteX18" fmla="*/ 1745673 w 2137559"/>
              <a:gd name="connsiteY18" fmla="*/ 14271 h 73648"/>
              <a:gd name="connsiteX19" fmla="*/ 1900052 w 2137559"/>
              <a:gd name="connsiteY19" fmla="*/ 26147 h 73648"/>
              <a:gd name="connsiteX20" fmla="*/ 1983180 w 2137559"/>
              <a:gd name="connsiteY20" fmla="*/ 61773 h 73648"/>
              <a:gd name="connsiteX21" fmla="*/ 2018805 w 2137559"/>
              <a:gd name="connsiteY21" fmla="*/ 73648 h 73648"/>
              <a:gd name="connsiteX22" fmla="*/ 2101933 w 2137559"/>
              <a:gd name="connsiteY22" fmla="*/ 61773 h 73648"/>
              <a:gd name="connsiteX23" fmla="*/ 2137559 w 2137559"/>
              <a:gd name="connsiteY23" fmla="*/ 38022 h 73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137559" h="73648">
                <a:moveTo>
                  <a:pt x="0" y="38022"/>
                </a:moveTo>
                <a:cubicBezTo>
                  <a:pt x="11875" y="34064"/>
                  <a:pt x="24120" y="31078"/>
                  <a:pt x="35626" y="26147"/>
                </a:cubicBezTo>
                <a:cubicBezTo>
                  <a:pt x="51898" y="19174"/>
                  <a:pt x="65513" y="4158"/>
                  <a:pt x="83128" y="2396"/>
                </a:cubicBezTo>
                <a:cubicBezTo>
                  <a:pt x="107087" y="0"/>
                  <a:pt x="130401" y="12091"/>
                  <a:pt x="154380" y="14271"/>
                </a:cubicBezTo>
                <a:cubicBezTo>
                  <a:pt x="217578" y="20016"/>
                  <a:pt x="281050" y="22188"/>
                  <a:pt x="344385" y="26147"/>
                </a:cubicBezTo>
                <a:cubicBezTo>
                  <a:pt x="433932" y="55995"/>
                  <a:pt x="323554" y="15732"/>
                  <a:pt x="415637" y="61773"/>
                </a:cubicBezTo>
                <a:cubicBezTo>
                  <a:pt x="426833" y="67371"/>
                  <a:pt x="439388" y="69690"/>
                  <a:pt x="451263" y="73648"/>
                </a:cubicBezTo>
                <a:cubicBezTo>
                  <a:pt x="502723" y="69690"/>
                  <a:pt x="554429" y="68175"/>
                  <a:pt x="605642" y="61773"/>
                </a:cubicBezTo>
                <a:cubicBezTo>
                  <a:pt x="631849" y="58497"/>
                  <a:pt x="667142" y="35416"/>
                  <a:pt x="688769" y="26147"/>
                </a:cubicBezTo>
                <a:cubicBezTo>
                  <a:pt x="712626" y="15923"/>
                  <a:pt x="747783" y="8424"/>
                  <a:pt x="771896" y="2396"/>
                </a:cubicBezTo>
                <a:cubicBezTo>
                  <a:pt x="807522" y="6354"/>
                  <a:pt x="843999" y="5577"/>
                  <a:pt x="878774" y="14271"/>
                </a:cubicBezTo>
                <a:cubicBezTo>
                  <a:pt x="892620" y="17733"/>
                  <a:pt x="901634" y="31639"/>
                  <a:pt x="914400" y="38022"/>
                </a:cubicBezTo>
                <a:cubicBezTo>
                  <a:pt x="925596" y="43620"/>
                  <a:pt x="938151" y="45939"/>
                  <a:pt x="950026" y="49897"/>
                </a:cubicBezTo>
                <a:cubicBezTo>
                  <a:pt x="1025236" y="45939"/>
                  <a:pt x="1100652" y="44840"/>
                  <a:pt x="1175657" y="38022"/>
                </a:cubicBezTo>
                <a:cubicBezTo>
                  <a:pt x="1188123" y="36889"/>
                  <a:pt x="1198765" y="26147"/>
                  <a:pt x="1211283" y="26147"/>
                </a:cubicBezTo>
                <a:cubicBezTo>
                  <a:pt x="1298459" y="26147"/>
                  <a:pt x="1385455" y="34064"/>
                  <a:pt x="1472541" y="38022"/>
                </a:cubicBezTo>
                <a:cubicBezTo>
                  <a:pt x="1567531" y="61770"/>
                  <a:pt x="1552585" y="71450"/>
                  <a:pt x="1638795" y="49897"/>
                </a:cubicBezTo>
                <a:cubicBezTo>
                  <a:pt x="1663083" y="43825"/>
                  <a:pt x="1686296" y="34064"/>
                  <a:pt x="1710047" y="26147"/>
                </a:cubicBezTo>
                <a:lnTo>
                  <a:pt x="1745673" y="14271"/>
                </a:lnTo>
                <a:cubicBezTo>
                  <a:pt x="1797133" y="18230"/>
                  <a:pt x="1848839" y="19745"/>
                  <a:pt x="1900052" y="26147"/>
                </a:cubicBezTo>
                <a:cubicBezTo>
                  <a:pt x="1926265" y="29424"/>
                  <a:pt x="1961545" y="52501"/>
                  <a:pt x="1983180" y="61773"/>
                </a:cubicBezTo>
                <a:cubicBezTo>
                  <a:pt x="1994685" y="66704"/>
                  <a:pt x="2006930" y="69690"/>
                  <a:pt x="2018805" y="73648"/>
                </a:cubicBezTo>
                <a:cubicBezTo>
                  <a:pt x="2046514" y="69690"/>
                  <a:pt x="2075123" y="69816"/>
                  <a:pt x="2101933" y="61773"/>
                </a:cubicBezTo>
                <a:cubicBezTo>
                  <a:pt x="2115604" y="57672"/>
                  <a:pt x="2137559" y="38022"/>
                  <a:pt x="2137559" y="38022"/>
                </a:cubicBezTo>
              </a:path>
            </a:pathLst>
          </a:cu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reeform 103"/>
          <p:cNvSpPr/>
          <p:nvPr/>
        </p:nvSpPr>
        <p:spPr>
          <a:xfrm>
            <a:off x="6085522" y="2679452"/>
            <a:ext cx="2849336" cy="73648"/>
          </a:xfrm>
          <a:custGeom>
            <a:avLst/>
            <a:gdLst>
              <a:gd name="connsiteX0" fmla="*/ 0 w 2137559"/>
              <a:gd name="connsiteY0" fmla="*/ 38022 h 73648"/>
              <a:gd name="connsiteX1" fmla="*/ 35626 w 2137559"/>
              <a:gd name="connsiteY1" fmla="*/ 26147 h 73648"/>
              <a:gd name="connsiteX2" fmla="*/ 83128 w 2137559"/>
              <a:gd name="connsiteY2" fmla="*/ 2396 h 73648"/>
              <a:gd name="connsiteX3" fmla="*/ 154380 w 2137559"/>
              <a:gd name="connsiteY3" fmla="*/ 14271 h 73648"/>
              <a:gd name="connsiteX4" fmla="*/ 344385 w 2137559"/>
              <a:gd name="connsiteY4" fmla="*/ 26147 h 73648"/>
              <a:gd name="connsiteX5" fmla="*/ 415637 w 2137559"/>
              <a:gd name="connsiteY5" fmla="*/ 61773 h 73648"/>
              <a:gd name="connsiteX6" fmla="*/ 451263 w 2137559"/>
              <a:gd name="connsiteY6" fmla="*/ 73648 h 73648"/>
              <a:gd name="connsiteX7" fmla="*/ 605642 w 2137559"/>
              <a:gd name="connsiteY7" fmla="*/ 61773 h 73648"/>
              <a:gd name="connsiteX8" fmla="*/ 688769 w 2137559"/>
              <a:gd name="connsiteY8" fmla="*/ 26147 h 73648"/>
              <a:gd name="connsiteX9" fmla="*/ 771896 w 2137559"/>
              <a:gd name="connsiteY9" fmla="*/ 2396 h 73648"/>
              <a:gd name="connsiteX10" fmla="*/ 878774 w 2137559"/>
              <a:gd name="connsiteY10" fmla="*/ 14271 h 73648"/>
              <a:gd name="connsiteX11" fmla="*/ 914400 w 2137559"/>
              <a:gd name="connsiteY11" fmla="*/ 38022 h 73648"/>
              <a:gd name="connsiteX12" fmla="*/ 950026 w 2137559"/>
              <a:gd name="connsiteY12" fmla="*/ 49897 h 73648"/>
              <a:gd name="connsiteX13" fmla="*/ 1175657 w 2137559"/>
              <a:gd name="connsiteY13" fmla="*/ 38022 h 73648"/>
              <a:gd name="connsiteX14" fmla="*/ 1211283 w 2137559"/>
              <a:gd name="connsiteY14" fmla="*/ 26147 h 73648"/>
              <a:gd name="connsiteX15" fmla="*/ 1472541 w 2137559"/>
              <a:gd name="connsiteY15" fmla="*/ 38022 h 73648"/>
              <a:gd name="connsiteX16" fmla="*/ 1638795 w 2137559"/>
              <a:gd name="connsiteY16" fmla="*/ 49897 h 73648"/>
              <a:gd name="connsiteX17" fmla="*/ 1710047 w 2137559"/>
              <a:gd name="connsiteY17" fmla="*/ 26147 h 73648"/>
              <a:gd name="connsiteX18" fmla="*/ 1745673 w 2137559"/>
              <a:gd name="connsiteY18" fmla="*/ 14271 h 73648"/>
              <a:gd name="connsiteX19" fmla="*/ 1900052 w 2137559"/>
              <a:gd name="connsiteY19" fmla="*/ 26147 h 73648"/>
              <a:gd name="connsiteX20" fmla="*/ 1983180 w 2137559"/>
              <a:gd name="connsiteY20" fmla="*/ 61773 h 73648"/>
              <a:gd name="connsiteX21" fmla="*/ 2018805 w 2137559"/>
              <a:gd name="connsiteY21" fmla="*/ 73648 h 73648"/>
              <a:gd name="connsiteX22" fmla="*/ 2101933 w 2137559"/>
              <a:gd name="connsiteY22" fmla="*/ 61773 h 73648"/>
              <a:gd name="connsiteX23" fmla="*/ 2137559 w 2137559"/>
              <a:gd name="connsiteY23" fmla="*/ 38022 h 73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137559" h="73648">
                <a:moveTo>
                  <a:pt x="0" y="38022"/>
                </a:moveTo>
                <a:cubicBezTo>
                  <a:pt x="11875" y="34064"/>
                  <a:pt x="24120" y="31078"/>
                  <a:pt x="35626" y="26147"/>
                </a:cubicBezTo>
                <a:cubicBezTo>
                  <a:pt x="51898" y="19174"/>
                  <a:pt x="65513" y="4158"/>
                  <a:pt x="83128" y="2396"/>
                </a:cubicBezTo>
                <a:cubicBezTo>
                  <a:pt x="107087" y="0"/>
                  <a:pt x="130401" y="12091"/>
                  <a:pt x="154380" y="14271"/>
                </a:cubicBezTo>
                <a:cubicBezTo>
                  <a:pt x="217578" y="20016"/>
                  <a:pt x="281050" y="22188"/>
                  <a:pt x="344385" y="26147"/>
                </a:cubicBezTo>
                <a:cubicBezTo>
                  <a:pt x="433932" y="55995"/>
                  <a:pt x="323554" y="15732"/>
                  <a:pt x="415637" y="61773"/>
                </a:cubicBezTo>
                <a:cubicBezTo>
                  <a:pt x="426833" y="67371"/>
                  <a:pt x="439388" y="69690"/>
                  <a:pt x="451263" y="73648"/>
                </a:cubicBezTo>
                <a:cubicBezTo>
                  <a:pt x="502723" y="69690"/>
                  <a:pt x="554429" y="68175"/>
                  <a:pt x="605642" y="61773"/>
                </a:cubicBezTo>
                <a:cubicBezTo>
                  <a:pt x="631849" y="58497"/>
                  <a:pt x="667142" y="35416"/>
                  <a:pt x="688769" y="26147"/>
                </a:cubicBezTo>
                <a:cubicBezTo>
                  <a:pt x="712626" y="15923"/>
                  <a:pt x="747783" y="8424"/>
                  <a:pt x="771896" y="2396"/>
                </a:cubicBezTo>
                <a:cubicBezTo>
                  <a:pt x="807522" y="6354"/>
                  <a:pt x="843999" y="5577"/>
                  <a:pt x="878774" y="14271"/>
                </a:cubicBezTo>
                <a:cubicBezTo>
                  <a:pt x="892620" y="17733"/>
                  <a:pt x="901634" y="31639"/>
                  <a:pt x="914400" y="38022"/>
                </a:cubicBezTo>
                <a:cubicBezTo>
                  <a:pt x="925596" y="43620"/>
                  <a:pt x="938151" y="45939"/>
                  <a:pt x="950026" y="49897"/>
                </a:cubicBezTo>
                <a:cubicBezTo>
                  <a:pt x="1025236" y="45939"/>
                  <a:pt x="1100652" y="44840"/>
                  <a:pt x="1175657" y="38022"/>
                </a:cubicBezTo>
                <a:cubicBezTo>
                  <a:pt x="1188123" y="36889"/>
                  <a:pt x="1198765" y="26147"/>
                  <a:pt x="1211283" y="26147"/>
                </a:cubicBezTo>
                <a:cubicBezTo>
                  <a:pt x="1298459" y="26147"/>
                  <a:pt x="1385455" y="34064"/>
                  <a:pt x="1472541" y="38022"/>
                </a:cubicBezTo>
                <a:cubicBezTo>
                  <a:pt x="1567531" y="61770"/>
                  <a:pt x="1552585" y="71450"/>
                  <a:pt x="1638795" y="49897"/>
                </a:cubicBezTo>
                <a:cubicBezTo>
                  <a:pt x="1663083" y="43825"/>
                  <a:pt x="1686296" y="34064"/>
                  <a:pt x="1710047" y="26147"/>
                </a:cubicBezTo>
                <a:lnTo>
                  <a:pt x="1745673" y="14271"/>
                </a:lnTo>
                <a:cubicBezTo>
                  <a:pt x="1797133" y="18230"/>
                  <a:pt x="1848839" y="19745"/>
                  <a:pt x="1900052" y="26147"/>
                </a:cubicBezTo>
                <a:cubicBezTo>
                  <a:pt x="1926265" y="29424"/>
                  <a:pt x="1961545" y="52501"/>
                  <a:pt x="1983180" y="61773"/>
                </a:cubicBezTo>
                <a:cubicBezTo>
                  <a:pt x="1994685" y="66704"/>
                  <a:pt x="2006930" y="69690"/>
                  <a:pt x="2018805" y="73648"/>
                </a:cubicBezTo>
                <a:cubicBezTo>
                  <a:pt x="2046514" y="69690"/>
                  <a:pt x="2075123" y="69816"/>
                  <a:pt x="2101933" y="61773"/>
                </a:cubicBezTo>
                <a:cubicBezTo>
                  <a:pt x="2115604" y="57672"/>
                  <a:pt x="2137559" y="38022"/>
                  <a:pt x="2137559" y="38022"/>
                </a:cubicBezTo>
              </a:path>
            </a:pathLst>
          </a:cu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Arrow Connector 105"/>
          <p:cNvCxnSpPr/>
          <p:nvPr/>
        </p:nvCxnSpPr>
        <p:spPr>
          <a:xfrm rot="5400000">
            <a:off x="2456275" y="1820283"/>
            <a:ext cx="500066" cy="2117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476087" y="1976302"/>
            <a:ext cx="666581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460257" y="4856172"/>
            <a:ext cx="666581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rot="5400000" flipH="1" flipV="1">
            <a:off x="221764" y="2516226"/>
            <a:ext cx="1080000" cy="2117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rot="16200000" flipH="1" flipV="1">
            <a:off x="219132" y="4304451"/>
            <a:ext cx="1080000" cy="2117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 rot="16200000" flipH="1" flipV="1">
            <a:off x="5238385" y="4313257"/>
            <a:ext cx="1080000" cy="2117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rot="5400000" flipH="1" flipV="1">
            <a:off x="5221804" y="2527307"/>
            <a:ext cx="1080000" cy="2117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5269038" y="1976490"/>
            <a:ext cx="666581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>
            <a:off x="4570799" y="5000636"/>
            <a:ext cx="952259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>
            <a:off x="9427067" y="4976886"/>
            <a:ext cx="952259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824066" y="3999752"/>
            <a:ext cx="761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GB" sz="2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9713246" y="3985902"/>
            <a:ext cx="761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GB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856476" y="4917699"/>
            <a:ext cx="571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GB" sz="2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9712995" y="4893761"/>
            <a:ext cx="571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GB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539153" y="3202623"/>
            <a:ext cx="666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GB" sz="2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5490647" y="3212523"/>
            <a:ext cx="666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GB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2685034" y="1542378"/>
            <a:ext cx="476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10844151" y="5065646"/>
            <a:ext cx="412693" cy="14721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571313" y="6140350"/>
            <a:ext cx="110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Reference: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Onkar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N.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Pandey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, Instrumentation and Process Control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S.K.Kataria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&amp; Sons, New Delhi, Edition: 2008-09</a:t>
            </a:r>
            <a:endParaRPr lang="en-US" sz="11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0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09" y="571480"/>
            <a:ext cx="11712781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flow balance equation for tank 1 is:</a:t>
            </a: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6538" y="6155516"/>
            <a:ext cx="110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Reference: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Onkar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N.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Pandey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, Instrumentation and Process Control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S.K.Kataria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&amp; Sons, New Delhi, Edition: 2008-09</a:t>
            </a:r>
            <a:endParaRPr lang="en-US" sz="1100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388104" y="1088650"/>
          <a:ext cx="9884380" cy="4496460"/>
        </p:xfrm>
        <a:graphic>
          <a:graphicData uri="http://schemas.openxmlformats.org/presentationml/2006/ole">
            <p:oleObj spid="_x0000_s1026" name="Equation" r:id="rId3" imgW="3581280" imgH="21715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0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71313" y="6196622"/>
            <a:ext cx="110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Reference: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Onkar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N.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Pandey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, Instrumentation and Process Control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S.K.Kataria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&amp; Sons, New Delhi, Edition: 2008-09</a:t>
            </a:r>
            <a:endParaRPr lang="en-US" sz="1100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" name="Content Placeholder 9"/>
          <p:cNvGraphicFramePr>
            <a:graphicFrameLocks noChangeAspect="1"/>
          </p:cNvGraphicFramePr>
          <p:nvPr>
            <p:ph idx="1"/>
          </p:nvPr>
        </p:nvGraphicFramePr>
        <p:xfrm>
          <a:off x="1984916" y="2779713"/>
          <a:ext cx="8125883" cy="1439862"/>
        </p:xfrm>
        <a:graphic>
          <a:graphicData uri="http://schemas.openxmlformats.org/presentationml/2006/ole">
            <p:oleObj spid="_x0000_s2050" name="Equation" r:id="rId3" imgW="914400" imgH="215640" progId="Equation.3">
              <p:embed/>
            </p:oleObj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5484971" y="3321050"/>
          <a:ext cx="1218883" cy="215900"/>
        </p:xfrm>
        <a:graphic>
          <a:graphicData uri="http://schemas.openxmlformats.org/presentationml/2006/ole">
            <p:oleObj spid="_x0000_s2051" name="Equation" r:id="rId4" imgW="914400" imgH="215640" progId="Equation.3">
              <p:embed/>
            </p:oleObj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475830" y="785794"/>
          <a:ext cx="7419337" cy="2000264"/>
        </p:xfrm>
        <a:graphic>
          <a:graphicData uri="http://schemas.openxmlformats.org/presentationml/2006/ole">
            <p:oleObj spid="_x0000_s2052" name="Equation" r:id="rId5" imgW="2438280" imgH="876240" progId="Equation.3">
              <p:embed/>
            </p:oleObj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1313" y="2857497"/>
            <a:ext cx="82846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Block Diagrams of the equations are as follows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219141" y="3701782"/>
            <a:ext cx="5997766" cy="1544598"/>
            <a:chOff x="914594" y="3701782"/>
            <a:chExt cx="4499496" cy="1544598"/>
          </a:xfrm>
        </p:grpSpPr>
        <p:sp>
          <p:nvSpPr>
            <p:cNvPr id="14" name="Oval 13"/>
            <p:cNvSpPr/>
            <p:nvPr/>
          </p:nvSpPr>
          <p:spPr>
            <a:xfrm>
              <a:off x="1672276" y="3780700"/>
              <a:ext cx="714380" cy="71438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/>
            <p:cNvCxnSpPr>
              <a:stCxn id="14" idx="6"/>
            </p:cNvCxnSpPr>
            <p:nvPr/>
          </p:nvCxnSpPr>
          <p:spPr>
            <a:xfrm>
              <a:off x="2386656" y="4137890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4657506" y="413554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914594" y="412931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rot="16200000">
              <a:off x="1667987" y="4865343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043534" y="5244184"/>
              <a:ext cx="1928826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285852" y="3783931"/>
              <a:ext cx="3571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747533" y="4405020"/>
              <a:ext cx="3571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4761250" y="3756269"/>
          <a:ext cx="782967" cy="798834"/>
        </p:xfrm>
        <a:graphic>
          <a:graphicData uri="http://schemas.openxmlformats.org/presentationml/2006/ole">
            <p:oleObj spid="_x0000_s2053" name="Equation" r:id="rId6" imgW="317160" imgH="431640" progId="Equation.3">
              <p:embed/>
            </p:oleObj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96785" y="3741646"/>
            <a:ext cx="123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67110" y="4880451"/>
            <a:ext cx="123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80090" y="3781987"/>
            <a:ext cx="123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51445" y="4857760"/>
            <a:ext cx="2666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From Equation 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0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09" y="571480"/>
            <a:ext cx="11712781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From equation (3)</a:t>
            </a: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From equation (2)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313" y="6196622"/>
            <a:ext cx="110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Reference: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Onkar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N.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Pandey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, Instrumentation and Process Control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S.K.Kataria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&amp; Sons, New Delhi, Edition: 2008-09</a:t>
            </a:r>
            <a:endParaRPr lang="en-US" sz="1100" i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19141" y="1071546"/>
            <a:ext cx="5997766" cy="1544598"/>
            <a:chOff x="914594" y="3701782"/>
            <a:chExt cx="4499496" cy="1544598"/>
          </a:xfrm>
        </p:grpSpPr>
        <p:sp>
          <p:nvSpPr>
            <p:cNvPr id="11" name="Oval 10"/>
            <p:cNvSpPr/>
            <p:nvPr/>
          </p:nvSpPr>
          <p:spPr>
            <a:xfrm>
              <a:off x="1672276" y="3780700"/>
              <a:ext cx="714380" cy="71438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/>
            <p:cNvCxnSpPr>
              <a:stCxn id="11" idx="6"/>
            </p:cNvCxnSpPr>
            <p:nvPr/>
          </p:nvCxnSpPr>
          <p:spPr>
            <a:xfrm>
              <a:off x="2386656" y="4137890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4657506" y="413554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914594" y="412931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rot="16200000">
              <a:off x="1667987" y="4865343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285852" y="3783931"/>
              <a:ext cx="3571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47533" y="4405020"/>
              <a:ext cx="3571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4951702" y="1125335"/>
          <a:ext cx="571355" cy="767019"/>
        </p:xfrm>
        <a:graphic>
          <a:graphicData uri="http://schemas.openxmlformats.org/presentationml/2006/ole">
            <p:oleObj spid="_x0000_s3074" name="Equation" r:id="rId3" imgW="241200" imgH="431640" progId="Equation.3">
              <p:embed/>
            </p:oleObj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682575" y="1067343"/>
            <a:ext cx="1333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2141" y="1459833"/>
            <a:ext cx="1333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02131" y="1957320"/>
            <a:ext cx="1333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219141" y="3701782"/>
            <a:ext cx="5997766" cy="1544598"/>
            <a:chOff x="914594" y="3701782"/>
            <a:chExt cx="4499496" cy="1544598"/>
          </a:xfrm>
        </p:grpSpPr>
        <p:sp>
          <p:nvSpPr>
            <p:cNvPr id="25" name="Oval 24"/>
            <p:cNvSpPr/>
            <p:nvPr/>
          </p:nvSpPr>
          <p:spPr>
            <a:xfrm>
              <a:off x="1672276" y="3780700"/>
              <a:ext cx="714380" cy="71438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>
              <a:stCxn id="25" idx="6"/>
            </p:cNvCxnSpPr>
            <p:nvPr/>
          </p:nvCxnSpPr>
          <p:spPr>
            <a:xfrm>
              <a:off x="2386656" y="4137890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4657506" y="413554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914594" y="412931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6200000">
              <a:off x="1667987" y="4865343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043534" y="5244184"/>
              <a:ext cx="1928826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1285852" y="3783931"/>
              <a:ext cx="3571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747533" y="4405020"/>
              <a:ext cx="35719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4729519" y="3756025"/>
          <a:ext cx="846446" cy="798513"/>
        </p:xfrm>
        <a:graphic>
          <a:graphicData uri="http://schemas.openxmlformats.org/presentationml/2006/ole">
            <p:oleObj spid="_x0000_s3075" name="Equation" r:id="rId4" imgW="342720" imgH="431640" progId="Equation.3">
              <p:embed/>
            </p:oleObj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380090" y="3714752"/>
            <a:ext cx="1333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5333" y="4135812"/>
            <a:ext cx="1333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61507" y="4714884"/>
            <a:ext cx="1333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0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09" y="571480"/>
            <a:ext cx="11712781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From equation (4) </a:t>
            </a: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Combining block diagrams 1 and 3, we get</a:t>
            </a: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313" y="6196622"/>
            <a:ext cx="110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Reference: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Onkar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N.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Pandey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, Instrumentation and Process Control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S.K.Kataria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&amp; Sons, New Delhi, Edition: 2008-09</a:t>
            </a:r>
            <a:endParaRPr lang="en-US" sz="1100" i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676261" y="1142984"/>
            <a:ext cx="4035527" cy="857256"/>
            <a:chOff x="2386656" y="3701782"/>
            <a:chExt cx="3027434" cy="857256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2386656" y="4137890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4657506" y="413554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3332863" y="1142984"/>
            <a:ext cx="1333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14768" y="1120293"/>
            <a:ext cx="1333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5350530" y="1156431"/>
          <a:ext cx="666581" cy="850112"/>
        </p:xfrm>
        <a:graphic>
          <a:graphicData uri="http://schemas.openxmlformats.org/presentationml/2006/ole">
            <p:oleObj spid="_x0000_s4098" name="Equation" r:id="rId3" imgW="253800" imgH="431640" progId="Equation.3">
              <p:embed/>
            </p:oleObj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1047442" y="3212042"/>
            <a:ext cx="8513022" cy="1217091"/>
            <a:chOff x="914594" y="3698418"/>
            <a:chExt cx="8558444" cy="1547962"/>
          </a:xfrm>
        </p:grpSpPr>
        <p:sp>
          <p:nvSpPr>
            <p:cNvPr id="24" name="Oval 23"/>
            <p:cNvSpPr/>
            <p:nvPr/>
          </p:nvSpPr>
          <p:spPr>
            <a:xfrm>
              <a:off x="1672276" y="3780700"/>
              <a:ext cx="714380" cy="71438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>
              <a:stCxn id="24" idx="6"/>
            </p:cNvCxnSpPr>
            <p:nvPr/>
          </p:nvCxnSpPr>
          <p:spPr>
            <a:xfrm>
              <a:off x="2386656" y="4137890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>
              <a:off x="4657505" y="4135541"/>
              <a:ext cx="1688524" cy="549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914594" y="412931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rot="16200000">
              <a:off x="1667987" y="4865343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043533" y="5244184"/>
              <a:ext cx="7429505" cy="158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1195751" y="3698418"/>
              <a:ext cx="357190" cy="5480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29513" y="4405021"/>
              <a:ext cx="357190" cy="5480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988664" y="2691928"/>
            <a:ext cx="4464506" cy="1134460"/>
            <a:chOff x="1229389" y="3026002"/>
            <a:chExt cx="4687811" cy="1533036"/>
          </a:xfrm>
        </p:grpSpPr>
        <p:sp>
          <p:nvSpPr>
            <p:cNvPr id="34" name="Oval 33"/>
            <p:cNvSpPr/>
            <p:nvPr/>
          </p:nvSpPr>
          <p:spPr>
            <a:xfrm>
              <a:off x="1672276" y="3780700"/>
              <a:ext cx="714380" cy="71438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34" idx="6"/>
            </p:cNvCxnSpPr>
            <p:nvPr/>
          </p:nvCxnSpPr>
          <p:spPr>
            <a:xfrm>
              <a:off x="2386656" y="4137890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>
              <a:off x="4657507" y="4135529"/>
              <a:ext cx="1259693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rot="5400000" flipV="1">
              <a:off x="1664804" y="3401546"/>
              <a:ext cx="756578" cy="548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1229389" y="3729417"/>
              <a:ext cx="357190" cy="582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640393" y="3249739"/>
              <a:ext cx="357190" cy="582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43" name="Straight Connector 42"/>
          <p:cNvCxnSpPr/>
          <p:nvPr/>
        </p:nvCxnSpPr>
        <p:spPr>
          <a:xfrm rot="16200000" flipH="1">
            <a:off x="9111971" y="3964785"/>
            <a:ext cx="92869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Object 43"/>
          <p:cNvGraphicFramePr>
            <a:graphicFrameLocks noChangeAspect="1"/>
          </p:cNvGraphicFramePr>
          <p:nvPr/>
        </p:nvGraphicFramePr>
        <p:xfrm>
          <a:off x="3618540" y="3214686"/>
          <a:ext cx="666581" cy="680090"/>
        </p:xfrm>
        <a:graphic>
          <a:graphicData uri="http://schemas.openxmlformats.org/presentationml/2006/ole">
            <p:oleObj spid="_x0000_s4099" name="Equation" r:id="rId4" imgW="317160" imgH="431640" progId="Equation.3">
              <p:embed/>
            </p:oleObj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26204" y="3564308"/>
            <a:ext cx="111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177830" y="4069928"/>
            <a:ext cx="123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57305" y="3213510"/>
            <a:ext cx="123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808221" y="3049119"/>
            <a:ext cx="1333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60994" y="2714620"/>
            <a:ext cx="1333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8279006" y="3210484"/>
          <a:ext cx="476129" cy="638973"/>
        </p:xfrm>
        <a:graphic>
          <a:graphicData uri="http://schemas.openxmlformats.org/presentationml/2006/ole">
            <p:oleObj spid="_x0000_s4100" name="Equation" r:id="rId5" imgW="24120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0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09" y="571480"/>
            <a:ext cx="11712781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Combining block diagram (2) and (4) </a:t>
            </a: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Combining last two blocks, we get</a:t>
            </a: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313" y="6196622"/>
            <a:ext cx="110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Reference: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Onkar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N.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Pandey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, Instrumentation and Process Control </a:t>
            </a:r>
            <a:r>
              <a:rPr lang="en-GB" sz="1100" i="1" dirty="0" err="1" smtClean="0">
                <a:latin typeface="Times New Roman" pitchFamily="18" charset="0"/>
                <a:cs typeface="Times New Roman" pitchFamily="18" charset="0"/>
              </a:rPr>
              <a:t>S.K.Kataria</a:t>
            </a:r>
            <a:r>
              <a:rPr lang="en-GB" sz="1100" i="1" dirty="0" smtClean="0">
                <a:latin typeface="Times New Roman" pitchFamily="18" charset="0"/>
                <a:cs typeface="Times New Roman" pitchFamily="18" charset="0"/>
              </a:rPr>
              <a:t> &amp; Sons, New Delhi, Edition: 2008-09</a:t>
            </a:r>
            <a:endParaRPr lang="en-US" sz="1100" i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58070" y="1357296"/>
            <a:ext cx="7713304" cy="1428759"/>
            <a:chOff x="950508" y="3701782"/>
            <a:chExt cx="7727390" cy="1544598"/>
          </a:xfrm>
        </p:grpSpPr>
        <p:sp>
          <p:nvSpPr>
            <p:cNvPr id="11" name="Oval 10"/>
            <p:cNvSpPr/>
            <p:nvPr/>
          </p:nvSpPr>
          <p:spPr>
            <a:xfrm>
              <a:off x="1693494" y="3846248"/>
              <a:ext cx="763198" cy="56160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V="1">
              <a:off x="2456692" y="4128844"/>
              <a:ext cx="686546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4657502" y="4135542"/>
              <a:ext cx="1538405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950508" y="412931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rot="16200000">
              <a:off x="1637631" y="4834989"/>
              <a:ext cx="817293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043531" y="5244184"/>
              <a:ext cx="6634367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231979" y="3726316"/>
              <a:ext cx="357190" cy="465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47533" y="4405020"/>
              <a:ext cx="357190" cy="465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20" name="Object 3"/>
          <p:cNvGraphicFramePr>
            <a:graphicFrameLocks noChangeAspect="1"/>
          </p:cNvGraphicFramePr>
          <p:nvPr/>
        </p:nvGraphicFramePr>
        <p:xfrm>
          <a:off x="3808992" y="1397639"/>
          <a:ext cx="770725" cy="727081"/>
        </p:xfrm>
        <a:graphic>
          <a:graphicData uri="http://schemas.openxmlformats.org/presentationml/2006/ole">
            <p:oleObj spid="_x0000_s5122" name="Equation" r:id="rId3" imgW="342720" imgH="431640" progId="Equation.3">
              <p:embed/>
            </p:oleObj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102557" y="1358922"/>
            <a:ext cx="1212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1313" y="1785926"/>
            <a:ext cx="1296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04132" y="2366674"/>
            <a:ext cx="1307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14191" y="1401842"/>
            <a:ext cx="1675190" cy="74547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8190805" y="1770000"/>
            <a:ext cx="1727550" cy="3809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99187" y="1674419"/>
            <a:ext cx="395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+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6932395" y="1455739"/>
          <a:ext cx="757569" cy="687387"/>
        </p:xfrm>
        <a:graphic>
          <a:graphicData uri="http://schemas.openxmlformats.org/presentationml/2006/ole">
            <p:oleObj spid="_x0000_s5123" name="Equation" r:id="rId4" imgW="253800" imgH="431640" progId="Equation.3">
              <p:embed/>
            </p:oleObj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8284608" y="1357298"/>
            <a:ext cx="1307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9" name="Straight Connector 38"/>
          <p:cNvCxnSpPr>
            <a:stCxn id="37" idx="2"/>
          </p:cNvCxnSpPr>
          <p:nvPr/>
        </p:nvCxnSpPr>
        <p:spPr>
          <a:xfrm rot="16200000" flipH="1">
            <a:off x="8430518" y="2265388"/>
            <a:ext cx="1028650" cy="1269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/>
          <p:cNvGrpSpPr/>
          <p:nvPr/>
        </p:nvGrpSpPr>
        <p:grpSpPr>
          <a:xfrm>
            <a:off x="666538" y="4222176"/>
            <a:ext cx="5959605" cy="1064212"/>
            <a:chOff x="914594" y="3599238"/>
            <a:chExt cx="8558444" cy="1647142"/>
          </a:xfrm>
        </p:grpSpPr>
        <p:sp>
          <p:nvSpPr>
            <p:cNvPr id="43" name="Oval 42"/>
            <p:cNvSpPr/>
            <p:nvPr/>
          </p:nvSpPr>
          <p:spPr>
            <a:xfrm>
              <a:off x="1672276" y="3780700"/>
              <a:ext cx="714380" cy="71438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/>
            <p:cNvCxnSpPr>
              <a:stCxn id="43" idx="6"/>
            </p:cNvCxnSpPr>
            <p:nvPr/>
          </p:nvCxnSpPr>
          <p:spPr>
            <a:xfrm>
              <a:off x="2386656" y="4137890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>
              <a:off x="4657505" y="4135541"/>
              <a:ext cx="1688524" cy="549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914594" y="412931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rot="16200000">
              <a:off x="1667987" y="4865343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2043533" y="5244184"/>
              <a:ext cx="7429505" cy="158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1051346" y="3599238"/>
              <a:ext cx="357189" cy="6669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523583" y="4405021"/>
              <a:ext cx="357189" cy="6669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52" name="Object 51"/>
          <p:cNvGraphicFramePr>
            <a:graphicFrameLocks noChangeAspect="1"/>
          </p:cNvGraphicFramePr>
          <p:nvPr/>
        </p:nvGraphicFramePr>
        <p:xfrm>
          <a:off x="2380605" y="4300840"/>
          <a:ext cx="603284" cy="545927"/>
        </p:xfrm>
        <a:graphic>
          <a:graphicData uri="http://schemas.openxmlformats.org/presentationml/2006/ole">
            <p:oleObj spid="_x0000_s5124" name="Equation" r:id="rId5" imgW="317160" imgH="431640" progId="Equation.3">
              <p:embed/>
            </p:oleObj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279303" y="4553922"/>
            <a:ext cx="12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458594" y="4911625"/>
            <a:ext cx="1183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274554" y="4176230"/>
            <a:ext cx="120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570542" y="3000372"/>
            <a:ext cx="1428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725402" y="3929066"/>
            <a:ext cx="136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8" name="Object 4"/>
          <p:cNvGraphicFramePr>
            <a:graphicFrameLocks noChangeAspect="1"/>
          </p:cNvGraphicFramePr>
          <p:nvPr/>
        </p:nvGraphicFramePr>
        <p:xfrm>
          <a:off x="5724747" y="4335004"/>
          <a:ext cx="369665" cy="496097"/>
        </p:xfrm>
        <a:graphic>
          <a:graphicData uri="http://schemas.openxmlformats.org/presentationml/2006/ole">
            <p:oleObj spid="_x0000_s5125" name="Equation" r:id="rId6" imgW="241200" imgH="431640" progId="Equation.3">
              <p:embed/>
            </p:oleObj>
          </a:graphicData>
        </a:graphic>
      </p:graphicFrame>
      <p:grpSp>
        <p:nvGrpSpPr>
          <p:cNvPr id="59" name="Group 58"/>
          <p:cNvGrpSpPr/>
          <p:nvPr/>
        </p:nvGrpSpPr>
        <p:grpSpPr>
          <a:xfrm>
            <a:off x="4021854" y="3894433"/>
            <a:ext cx="3418771" cy="1037025"/>
            <a:chOff x="1041194" y="3026004"/>
            <a:chExt cx="5127820" cy="1705367"/>
          </a:xfrm>
        </p:grpSpPr>
        <p:sp>
          <p:nvSpPr>
            <p:cNvPr id="60" name="Oval 59"/>
            <p:cNvSpPr/>
            <p:nvPr/>
          </p:nvSpPr>
          <p:spPr>
            <a:xfrm>
              <a:off x="1672276" y="3780700"/>
              <a:ext cx="714380" cy="71438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Arrow Connector 60"/>
            <p:cNvCxnSpPr>
              <a:stCxn id="60" idx="6"/>
            </p:cNvCxnSpPr>
            <p:nvPr/>
          </p:nvCxnSpPr>
          <p:spPr>
            <a:xfrm>
              <a:off x="2386656" y="4137890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>
              <a:off x="4657507" y="4135530"/>
              <a:ext cx="1511507" cy="548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rot="5400000" flipV="1">
              <a:off x="1637920" y="3401549"/>
              <a:ext cx="756578" cy="54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1041194" y="4022786"/>
              <a:ext cx="357190" cy="708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532853" y="3139172"/>
              <a:ext cx="357190" cy="708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68" name="Straight Connector 67"/>
          <p:cNvCxnSpPr/>
          <p:nvPr/>
        </p:nvCxnSpPr>
        <p:spPr>
          <a:xfrm rot="5400000" flipH="1" flipV="1">
            <a:off x="6272728" y="4928934"/>
            <a:ext cx="714380" cy="21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/>
          <p:cNvGrpSpPr/>
          <p:nvPr/>
        </p:nvGrpSpPr>
        <p:grpSpPr>
          <a:xfrm>
            <a:off x="7039952" y="4259362"/>
            <a:ext cx="4462824" cy="1058123"/>
            <a:chOff x="1155425" y="3701782"/>
            <a:chExt cx="6353498" cy="1525215"/>
          </a:xfrm>
        </p:grpSpPr>
        <p:sp>
          <p:nvSpPr>
            <p:cNvPr id="70" name="Oval 69"/>
            <p:cNvSpPr/>
            <p:nvPr/>
          </p:nvSpPr>
          <p:spPr>
            <a:xfrm>
              <a:off x="1693494" y="3846248"/>
              <a:ext cx="763198" cy="56160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Arrow Connector 70"/>
            <p:cNvCxnSpPr/>
            <p:nvPr/>
          </p:nvCxnSpPr>
          <p:spPr>
            <a:xfrm flipV="1">
              <a:off x="2456692" y="4128844"/>
              <a:ext cx="686546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>
              <a:off x="4657502" y="4135542"/>
              <a:ext cx="819808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 rot="16200000">
              <a:off x="1637632" y="4815606"/>
              <a:ext cx="817293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2043532" y="5224802"/>
              <a:ext cx="5465391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1155425" y="4133448"/>
              <a:ext cx="357189" cy="621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543817" y="4255414"/>
              <a:ext cx="357189" cy="621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10379576" y="4283064"/>
          <a:ext cx="564269" cy="601591"/>
        </p:xfrm>
        <a:graphic>
          <a:graphicData uri="http://schemas.openxmlformats.org/presentationml/2006/ole">
            <p:oleObj spid="_x0000_s5126" name="Equation" r:id="rId7" imgW="253800" imgH="431640" progId="Equation.3">
              <p:embed/>
            </p:oleObj>
          </a:graphicData>
        </a:graphic>
      </p:graphicFrame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8665511" y="4233267"/>
          <a:ext cx="675040" cy="637189"/>
        </p:xfrm>
        <a:graphic>
          <a:graphicData uri="http://schemas.openxmlformats.org/presentationml/2006/ole">
            <p:oleObj spid="_x0000_s5127" name="Equation" r:id="rId8" imgW="342720" imgH="431640" progId="Equation.3">
              <p:embed/>
            </p:oleObj>
          </a:graphicData>
        </a:graphic>
      </p:graphicFrame>
      <p:sp>
        <p:nvSpPr>
          <p:cNvPr id="79" name="Rectangle 78"/>
          <p:cNvSpPr/>
          <p:nvPr/>
        </p:nvSpPr>
        <p:spPr>
          <a:xfrm>
            <a:off x="10093899" y="4237510"/>
            <a:ext cx="1103835" cy="67403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11200760" y="4576212"/>
            <a:ext cx="671825" cy="3809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rot="5400000" flipH="1" flipV="1">
            <a:off x="11133562" y="4942544"/>
            <a:ext cx="741600" cy="21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85561" y="3902218"/>
            <a:ext cx="495174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5400000">
            <a:off x="9304188" y="4228088"/>
            <a:ext cx="648000" cy="21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576318" y="3844181"/>
            <a:ext cx="136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713253" y="4924995"/>
            <a:ext cx="1237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380091" y="4202676"/>
            <a:ext cx="1296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1148062" y="4143380"/>
            <a:ext cx="1237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0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09" y="571480"/>
            <a:ext cx="11712781" cy="5857916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1800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18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313" y="6143645"/>
            <a:ext cx="11046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smtClean="0">
                <a:latin typeface="Times New Roman" pitchFamily="18" charset="0"/>
                <a:cs typeface="Times New Roman" pitchFamily="18" charset="0"/>
              </a:rPr>
              <a:t>Reference: </a:t>
            </a:r>
            <a:r>
              <a:rPr lang="en-GB" sz="1200" i="1" dirty="0" err="1" smtClean="0">
                <a:latin typeface="Times New Roman" pitchFamily="18" charset="0"/>
                <a:cs typeface="Times New Roman" pitchFamily="18" charset="0"/>
              </a:rPr>
              <a:t>Onkar</a:t>
            </a:r>
            <a:r>
              <a:rPr lang="en-GB" sz="1200" i="1" dirty="0" smtClean="0">
                <a:latin typeface="Times New Roman" pitchFamily="18" charset="0"/>
                <a:cs typeface="Times New Roman" pitchFamily="18" charset="0"/>
              </a:rPr>
              <a:t> N. </a:t>
            </a:r>
            <a:r>
              <a:rPr lang="en-GB" sz="1200" i="1" dirty="0" err="1" smtClean="0">
                <a:latin typeface="Times New Roman" pitchFamily="18" charset="0"/>
                <a:cs typeface="Times New Roman" pitchFamily="18" charset="0"/>
              </a:rPr>
              <a:t>Pandey</a:t>
            </a:r>
            <a:r>
              <a:rPr lang="en-GB" sz="1200" i="1" dirty="0" smtClean="0">
                <a:latin typeface="Times New Roman" pitchFamily="18" charset="0"/>
                <a:cs typeface="Times New Roman" pitchFamily="18" charset="0"/>
              </a:rPr>
              <a:t>, Instrumentation and Process Control </a:t>
            </a:r>
            <a:r>
              <a:rPr lang="en-GB" sz="1200" i="1" dirty="0" err="1" smtClean="0">
                <a:latin typeface="Times New Roman" pitchFamily="18" charset="0"/>
                <a:cs typeface="Times New Roman" pitchFamily="18" charset="0"/>
              </a:rPr>
              <a:t>S.K.Kataria</a:t>
            </a:r>
            <a:r>
              <a:rPr lang="en-GB" sz="1200" i="1" dirty="0" smtClean="0">
                <a:latin typeface="Times New Roman" pitchFamily="18" charset="0"/>
                <a:cs typeface="Times New Roman" pitchFamily="18" charset="0"/>
              </a:rPr>
              <a:t> &amp; Sons, New Delhi, Edition: 2008-09</a:t>
            </a:r>
            <a:endParaRPr lang="en-US" sz="1200" i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66538" y="1235227"/>
            <a:ext cx="5959605" cy="1064212"/>
            <a:chOff x="914594" y="3599238"/>
            <a:chExt cx="8558444" cy="1647142"/>
          </a:xfrm>
        </p:grpSpPr>
        <p:sp>
          <p:nvSpPr>
            <p:cNvPr id="12" name="Oval 11"/>
            <p:cNvSpPr/>
            <p:nvPr/>
          </p:nvSpPr>
          <p:spPr>
            <a:xfrm>
              <a:off x="1672276" y="3780700"/>
              <a:ext cx="714380" cy="71438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/>
            <p:cNvCxnSpPr>
              <a:stCxn id="12" idx="6"/>
            </p:cNvCxnSpPr>
            <p:nvPr/>
          </p:nvCxnSpPr>
          <p:spPr>
            <a:xfrm>
              <a:off x="2386656" y="4137890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4657505" y="4135541"/>
              <a:ext cx="1688524" cy="549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914594" y="412931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rot="16200000">
              <a:off x="1667987" y="4865343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043533" y="5244184"/>
              <a:ext cx="7429505" cy="158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051346" y="3599238"/>
              <a:ext cx="357189" cy="6669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523583" y="4405021"/>
              <a:ext cx="357189" cy="6669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2380605" y="1313891"/>
          <a:ext cx="603284" cy="545927"/>
        </p:xfrm>
        <a:graphic>
          <a:graphicData uri="http://schemas.openxmlformats.org/presentationml/2006/ole">
            <p:oleObj spid="_x0000_s6147" name="Equation" r:id="rId3" imgW="317160" imgH="431640" progId="Equation.3">
              <p:embed/>
            </p:oleObj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9303" y="1566973"/>
            <a:ext cx="12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58594" y="1924676"/>
            <a:ext cx="1183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74554" y="1189281"/>
            <a:ext cx="120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25402" y="942117"/>
            <a:ext cx="136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6" name="Object 4"/>
          <p:cNvGraphicFramePr>
            <a:graphicFrameLocks noChangeAspect="1"/>
          </p:cNvGraphicFramePr>
          <p:nvPr/>
        </p:nvGraphicFramePr>
        <p:xfrm>
          <a:off x="5724747" y="1348055"/>
          <a:ext cx="369665" cy="496097"/>
        </p:xfrm>
        <a:graphic>
          <a:graphicData uri="http://schemas.openxmlformats.org/presentationml/2006/ole">
            <p:oleObj spid="_x0000_s6148" name="Equation" r:id="rId4" imgW="241200" imgH="431640" progId="Equation.3">
              <p:embed/>
            </p:oleObj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4021854" y="907484"/>
            <a:ext cx="3418771" cy="1037025"/>
            <a:chOff x="1041194" y="3026004"/>
            <a:chExt cx="5127820" cy="1705367"/>
          </a:xfrm>
        </p:grpSpPr>
        <p:sp>
          <p:nvSpPr>
            <p:cNvPr id="28" name="Oval 27"/>
            <p:cNvSpPr/>
            <p:nvPr/>
          </p:nvSpPr>
          <p:spPr>
            <a:xfrm>
              <a:off x="1672276" y="3780700"/>
              <a:ext cx="714380" cy="71438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/>
            <p:cNvCxnSpPr>
              <a:stCxn id="28" idx="6"/>
            </p:cNvCxnSpPr>
            <p:nvPr/>
          </p:nvCxnSpPr>
          <p:spPr>
            <a:xfrm>
              <a:off x="2386656" y="4137890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4657507" y="4135530"/>
              <a:ext cx="1511507" cy="548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 flipV="1">
              <a:off x="1637920" y="3401549"/>
              <a:ext cx="756578" cy="54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041194" y="4022786"/>
              <a:ext cx="357190" cy="708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532853" y="3139172"/>
              <a:ext cx="357190" cy="708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039952" y="1272413"/>
            <a:ext cx="4462824" cy="1058123"/>
            <a:chOff x="1155425" y="3701782"/>
            <a:chExt cx="6353498" cy="1525215"/>
          </a:xfrm>
        </p:grpSpPr>
        <p:sp>
          <p:nvSpPr>
            <p:cNvPr id="36" name="Oval 35"/>
            <p:cNvSpPr/>
            <p:nvPr/>
          </p:nvSpPr>
          <p:spPr>
            <a:xfrm>
              <a:off x="1693494" y="3846248"/>
              <a:ext cx="763198" cy="56160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flipV="1">
              <a:off x="2456692" y="4128844"/>
              <a:ext cx="686546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>
              <a:off x="4657502" y="4135542"/>
              <a:ext cx="819808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rot="16200000">
              <a:off x="1637632" y="4815606"/>
              <a:ext cx="817293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2043532" y="5224802"/>
              <a:ext cx="5465391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1155425" y="4133448"/>
              <a:ext cx="357189" cy="621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543817" y="4255414"/>
              <a:ext cx="357189" cy="621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44" name="Object 6"/>
          <p:cNvGraphicFramePr>
            <a:graphicFrameLocks noChangeAspect="1"/>
          </p:cNvGraphicFramePr>
          <p:nvPr/>
        </p:nvGraphicFramePr>
        <p:xfrm>
          <a:off x="10379576" y="1296115"/>
          <a:ext cx="564269" cy="601591"/>
        </p:xfrm>
        <a:graphic>
          <a:graphicData uri="http://schemas.openxmlformats.org/presentationml/2006/ole">
            <p:oleObj spid="_x0000_s6149" name="Equation" r:id="rId5" imgW="253800" imgH="431640" progId="Equation.3">
              <p:embed/>
            </p:oleObj>
          </a:graphicData>
        </a:graphic>
      </p:graphicFrame>
      <p:graphicFrame>
        <p:nvGraphicFramePr>
          <p:cNvPr id="45" name="Object 7"/>
          <p:cNvGraphicFramePr>
            <a:graphicFrameLocks noChangeAspect="1"/>
          </p:cNvGraphicFramePr>
          <p:nvPr/>
        </p:nvGraphicFramePr>
        <p:xfrm>
          <a:off x="8665511" y="1246318"/>
          <a:ext cx="675040" cy="637189"/>
        </p:xfrm>
        <a:graphic>
          <a:graphicData uri="http://schemas.openxmlformats.org/presentationml/2006/ole">
            <p:oleObj spid="_x0000_s6150" name="Equation" r:id="rId6" imgW="342720" imgH="431640" progId="Equation.3">
              <p:embed/>
            </p:oleObj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9576318" y="857232"/>
            <a:ext cx="136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713253" y="1938046"/>
            <a:ext cx="1237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 rot="5400000" flipH="1" flipV="1">
            <a:off x="6272728" y="1946188"/>
            <a:ext cx="714380" cy="21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0093899" y="1254764"/>
            <a:ext cx="1103835" cy="67403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 rot="5400000" flipH="1" flipV="1">
            <a:off x="11133562" y="1959798"/>
            <a:ext cx="741600" cy="21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11195157" y="1585060"/>
            <a:ext cx="671825" cy="3809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4685561" y="905979"/>
            <a:ext cx="495174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rot="5400000">
            <a:off x="9304188" y="1231849"/>
            <a:ext cx="648000" cy="21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380091" y="1142984"/>
            <a:ext cx="1296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248931" y="1200975"/>
            <a:ext cx="1047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1284780" y="2571744"/>
            <a:ext cx="1047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244184" y="3059668"/>
            <a:ext cx="11587679" cy="1440902"/>
            <a:chOff x="142844" y="3059668"/>
            <a:chExt cx="8693023" cy="1440902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8247734" y="3416852"/>
              <a:ext cx="64800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5400000" flipH="1" flipV="1">
              <a:off x="4540859" y="4107286"/>
              <a:ext cx="71438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" name="Group 98"/>
            <p:cNvGrpSpPr/>
            <p:nvPr/>
          </p:nvGrpSpPr>
          <p:grpSpPr>
            <a:xfrm>
              <a:off x="142844" y="3076014"/>
              <a:ext cx="8693023" cy="1424556"/>
              <a:chOff x="142844" y="2790262"/>
              <a:chExt cx="8693023" cy="1424556"/>
            </a:xfrm>
          </p:grpSpPr>
          <p:grpSp>
            <p:nvGrpSpPr>
              <p:cNvPr id="56" name="Group 55"/>
              <p:cNvGrpSpPr/>
              <p:nvPr/>
            </p:nvGrpSpPr>
            <p:grpSpPr>
              <a:xfrm>
                <a:off x="433346" y="3119510"/>
                <a:ext cx="4470868" cy="1064212"/>
                <a:chOff x="914594" y="3599238"/>
                <a:chExt cx="8558444" cy="1647142"/>
              </a:xfrm>
            </p:grpSpPr>
            <p:sp>
              <p:nvSpPr>
                <p:cNvPr id="57" name="Oval 56"/>
                <p:cNvSpPr/>
                <p:nvPr/>
              </p:nvSpPr>
              <p:spPr>
                <a:xfrm>
                  <a:off x="1672276" y="3780700"/>
                  <a:ext cx="714380" cy="71438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8" name="Straight Arrow Connector 57"/>
                <p:cNvCxnSpPr>
                  <a:stCxn id="57" idx="6"/>
                </p:cNvCxnSpPr>
                <p:nvPr/>
              </p:nvCxnSpPr>
              <p:spPr>
                <a:xfrm>
                  <a:off x="2386656" y="4137890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" name="Rectangle 58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0" name="Straight Arrow Connector 59"/>
                <p:cNvCxnSpPr/>
                <p:nvPr/>
              </p:nvCxnSpPr>
              <p:spPr>
                <a:xfrm>
                  <a:off x="4657505" y="4135541"/>
                  <a:ext cx="1688524" cy="549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Arrow Connector 60"/>
                <p:cNvCxnSpPr/>
                <p:nvPr/>
              </p:nvCxnSpPr>
              <p:spPr>
                <a:xfrm>
                  <a:off x="914594" y="4129312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/>
                <p:cNvCxnSpPr/>
                <p:nvPr/>
              </p:nvCxnSpPr>
              <p:spPr>
                <a:xfrm rot="16200000">
                  <a:off x="1667987" y="4865343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>
                  <a:off x="2043533" y="5244184"/>
                  <a:ext cx="7429505" cy="15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TextBox 63"/>
                <p:cNvSpPr txBox="1"/>
                <p:nvPr/>
              </p:nvSpPr>
              <p:spPr>
                <a:xfrm>
                  <a:off x="1051346" y="3599238"/>
                  <a:ext cx="357189" cy="6669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5" name="TextBox 64"/>
                <p:cNvSpPr txBox="1"/>
                <p:nvPr/>
              </p:nvSpPr>
              <p:spPr>
                <a:xfrm>
                  <a:off x="1523583" y="4405021"/>
                  <a:ext cx="357189" cy="6669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66" name="Object 65"/>
              <p:cNvGraphicFramePr>
                <a:graphicFrameLocks noChangeAspect="1"/>
              </p:cNvGraphicFramePr>
              <p:nvPr/>
            </p:nvGraphicFramePr>
            <p:xfrm>
              <a:off x="1719230" y="3198173"/>
              <a:ext cx="452581" cy="545927"/>
            </p:xfrm>
            <a:graphic>
              <a:graphicData uri="http://schemas.openxmlformats.org/presentationml/2006/ole">
                <p:oleObj spid="_x0000_s6151" name="Equation" r:id="rId7" imgW="317160" imgH="431640" progId="Equation.3">
                  <p:embed/>
                </p:oleObj>
              </a:graphicData>
            </a:graphic>
          </p:graphicFrame>
          <p:sp>
            <p:nvSpPr>
              <p:cNvPr id="67" name="TextBox 66"/>
              <p:cNvSpPr txBox="1"/>
              <p:nvPr/>
            </p:nvSpPr>
            <p:spPr>
              <a:xfrm>
                <a:off x="142844" y="3451256"/>
                <a:ext cx="9334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027542" y="3808959"/>
                <a:ext cx="8875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2389867" y="3073564"/>
                <a:ext cx="900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∆h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70" name="Group 69"/>
              <p:cNvGrpSpPr/>
              <p:nvPr/>
            </p:nvGrpSpPr>
            <p:grpSpPr>
              <a:xfrm>
                <a:off x="2950488" y="2791767"/>
                <a:ext cx="2564746" cy="1037025"/>
                <a:chOff x="1041194" y="3026004"/>
                <a:chExt cx="5127820" cy="1705367"/>
              </a:xfrm>
            </p:grpSpPr>
            <p:sp>
              <p:nvSpPr>
                <p:cNvPr id="71" name="Oval 70"/>
                <p:cNvSpPr/>
                <p:nvPr/>
              </p:nvSpPr>
              <p:spPr>
                <a:xfrm>
                  <a:off x="1672276" y="3780700"/>
                  <a:ext cx="714380" cy="71438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2" name="Straight Arrow Connector 71"/>
                <p:cNvCxnSpPr>
                  <a:stCxn id="71" idx="6"/>
                </p:cNvCxnSpPr>
                <p:nvPr/>
              </p:nvCxnSpPr>
              <p:spPr>
                <a:xfrm>
                  <a:off x="2386656" y="4137890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Rectangle 72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4" name="Straight Arrow Connector 73"/>
                <p:cNvCxnSpPr/>
                <p:nvPr/>
              </p:nvCxnSpPr>
              <p:spPr>
                <a:xfrm>
                  <a:off x="4657507" y="4135530"/>
                  <a:ext cx="1511507" cy="5489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Arrow Connector 74"/>
                <p:cNvCxnSpPr/>
                <p:nvPr/>
              </p:nvCxnSpPr>
              <p:spPr>
                <a:xfrm rot="5400000" flipV="1">
                  <a:off x="1637920" y="3401549"/>
                  <a:ext cx="756578" cy="5488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6" name="TextBox 75"/>
                <p:cNvSpPr txBox="1"/>
                <p:nvPr/>
              </p:nvSpPr>
              <p:spPr>
                <a:xfrm>
                  <a:off x="1041194" y="4022786"/>
                  <a:ext cx="357190" cy="7085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>
                  <a:off x="1532853" y="3139172"/>
                  <a:ext cx="357190" cy="7085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78" name="Group 77"/>
              <p:cNvGrpSpPr/>
              <p:nvPr/>
            </p:nvGrpSpPr>
            <p:grpSpPr>
              <a:xfrm>
                <a:off x="5214651" y="3156695"/>
                <a:ext cx="3347990" cy="1058123"/>
                <a:chOff x="1155425" y="3701782"/>
                <a:chExt cx="6353498" cy="1525215"/>
              </a:xfrm>
            </p:grpSpPr>
            <p:sp>
              <p:nvSpPr>
                <p:cNvPr id="79" name="Oval 78"/>
                <p:cNvSpPr/>
                <p:nvPr/>
              </p:nvSpPr>
              <p:spPr>
                <a:xfrm>
                  <a:off x="1693494" y="3846248"/>
                  <a:ext cx="763198" cy="561608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0" name="Straight Arrow Connector 79"/>
                <p:cNvCxnSpPr/>
                <p:nvPr/>
              </p:nvCxnSpPr>
              <p:spPr>
                <a:xfrm flipV="1">
                  <a:off x="2456692" y="4128844"/>
                  <a:ext cx="686546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Rectangle 80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2" name="Straight Arrow Connector 81"/>
                <p:cNvCxnSpPr/>
                <p:nvPr/>
              </p:nvCxnSpPr>
              <p:spPr>
                <a:xfrm>
                  <a:off x="4657502" y="4135542"/>
                  <a:ext cx="819808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Arrow Connector 82"/>
                <p:cNvCxnSpPr/>
                <p:nvPr/>
              </p:nvCxnSpPr>
              <p:spPr>
                <a:xfrm rot="16200000">
                  <a:off x="1637632" y="4815606"/>
                  <a:ext cx="817293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/>
                <p:cNvCxnSpPr/>
                <p:nvPr/>
              </p:nvCxnSpPr>
              <p:spPr>
                <a:xfrm>
                  <a:off x="2043532" y="5224802"/>
                  <a:ext cx="5465391" cy="158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TextBox 84"/>
                <p:cNvSpPr txBox="1"/>
                <p:nvPr/>
              </p:nvSpPr>
              <p:spPr>
                <a:xfrm>
                  <a:off x="1155425" y="4133448"/>
                  <a:ext cx="357189" cy="6210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1543817" y="4255414"/>
                  <a:ext cx="357189" cy="6210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87" name="Object 6"/>
              <p:cNvGraphicFramePr>
                <a:graphicFrameLocks noChangeAspect="1"/>
              </p:cNvGraphicFramePr>
              <p:nvPr/>
            </p:nvGraphicFramePr>
            <p:xfrm>
              <a:off x="7720022" y="3180397"/>
              <a:ext cx="423312" cy="601591"/>
            </p:xfrm>
            <a:graphic>
              <a:graphicData uri="http://schemas.openxmlformats.org/presentationml/2006/ole">
                <p:oleObj spid="_x0000_s6152" name="Equation" r:id="rId8" imgW="253800" imgH="431640" progId="Equation.3">
                  <p:embed/>
                </p:oleObj>
              </a:graphicData>
            </a:graphic>
          </p:graphicFrame>
          <p:graphicFrame>
            <p:nvGraphicFramePr>
              <p:cNvPr id="88" name="Object 7"/>
              <p:cNvGraphicFramePr>
                <a:graphicFrameLocks noChangeAspect="1"/>
              </p:cNvGraphicFramePr>
              <p:nvPr/>
            </p:nvGraphicFramePr>
            <p:xfrm>
              <a:off x="6434138" y="3130600"/>
              <a:ext cx="506412" cy="637189"/>
            </p:xfrm>
            <a:graphic>
              <a:graphicData uri="http://schemas.openxmlformats.org/presentationml/2006/ole">
                <p:oleObj spid="_x0000_s6153" name="Equation" r:id="rId9" imgW="342720" imgH="431640" progId="Equation.3">
                  <p:embed/>
                </p:oleObj>
              </a:graphicData>
            </a:graphic>
          </p:graphicFrame>
          <p:sp>
            <p:nvSpPr>
              <p:cNvPr id="90" name="TextBox 89"/>
              <p:cNvSpPr txBox="1"/>
              <p:nvPr/>
            </p:nvSpPr>
            <p:spPr>
              <a:xfrm>
                <a:off x="5719758" y="3822329"/>
                <a:ext cx="928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91" name="Straight Arrow Connector 90"/>
              <p:cNvCxnSpPr/>
              <p:nvPr/>
            </p:nvCxnSpPr>
            <p:spPr>
              <a:xfrm>
                <a:off x="8331867" y="3469342"/>
                <a:ext cx="504000" cy="38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3448398" y="2790262"/>
                <a:ext cx="1908000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Rectangle 94"/>
              <p:cNvSpPr/>
              <p:nvPr/>
            </p:nvSpPr>
            <p:spPr>
              <a:xfrm>
                <a:off x="7496197" y="3139045"/>
                <a:ext cx="828092" cy="674039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6" name="Straight Connector 95"/>
              <p:cNvCxnSpPr/>
              <p:nvPr/>
            </p:nvCxnSpPr>
            <p:spPr>
              <a:xfrm rot="5400000" flipH="1" flipV="1">
                <a:off x="8196967" y="3843224"/>
                <a:ext cx="7416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Box 97"/>
              <p:cNvSpPr txBox="1"/>
              <p:nvPr/>
            </p:nvSpPr>
            <p:spPr>
              <a:xfrm>
                <a:off x="4790517" y="3078156"/>
                <a:ext cx="9726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aphicFrame>
            <p:nvGraphicFramePr>
              <p:cNvPr id="6154" name="Object 10"/>
              <p:cNvGraphicFramePr>
                <a:graphicFrameLocks noChangeAspect="1"/>
              </p:cNvGraphicFramePr>
              <p:nvPr/>
            </p:nvGraphicFramePr>
            <p:xfrm>
              <a:off x="4214810" y="3214686"/>
              <a:ext cx="277812" cy="496887"/>
            </p:xfrm>
            <a:graphic>
              <a:graphicData uri="http://schemas.openxmlformats.org/presentationml/2006/ole">
                <p:oleObj spid="_x0000_s6154" name="Equation" r:id="rId10" imgW="241200" imgH="431640" progId="Equation.3">
                  <p:embed/>
                </p:oleObj>
              </a:graphicData>
            </a:graphic>
          </p:graphicFrame>
        </p:grpSp>
        <p:sp>
          <p:nvSpPr>
            <p:cNvPr id="100" name="TextBox 99"/>
            <p:cNvSpPr txBox="1"/>
            <p:nvPr/>
          </p:nvSpPr>
          <p:spPr>
            <a:xfrm>
              <a:off x="3428992" y="3059668"/>
              <a:ext cx="10234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∆h</a:t>
              </a:r>
              <a:r>
                <a:rPr lang="en-US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(s)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7201274" y="2808750"/>
            <a:ext cx="1047484" cy="531163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7457821" y="2911284"/>
            <a:ext cx="761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IN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4" name="Straight Connector 103"/>
          <p:cNvCxnSpPr/>
          <p:nvPr/>
        </p:nvCxnSpPr>
        <p:spPr>
          <a:xfrm>
            <a:off x="8252991" y="3093944"/>
            <a:ext cx="3215163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rot="5400000">
            <a:off x="11557931" y="3321579"/>
            <a:ext cx="500066" cy="21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0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09" y="571480"/>
            <a:ext cx="11712781" cy="5857916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1800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1800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327087" y="1000108"/>
            <a:ext cx="11331878" cy="1500199"/>
            <a:chOff x="142844" y="3059668"/>
            <a:chExt cx="8693023" cy="1440902"/>
          </a:xfrm>
        </p:grpSpPr>
        <p:cxnSp>
          <p:nvCxnSpPr>
            <p:cNvPr id="12" name="Straight Connector 11"/>
            <p:cNvCxnSpPr/>
            <p:nvPr/>
          </p:nvCxnSpPr>
          <p:spPr>
            <a:xfrm rot="5400000">
              <a:off x="8247734" y="3416852"/>
              <a:ext cx="64800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 flipV="1">
              <a:off x="4540859" y="4107286"/>
              <a:ext cx="71438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98"/>
            <p:cNvGrpSpPr/>
            <p:nvPr/>
          </p:nvGrpSpPr>
          <p:grpSpPr>
            <a:xfrm>
              <a:off x="142844" y="3076014"/>
              <a:ext cx="8693023" cy="1424556"/>
              <a:chOff x="142844" y="2790262"/>
              <a:chExt cx="8693023" cy="1424556"/>
            </a:xfrm>
          </p:grpSpPr>
          <p:grpSp>
            <p:nvGrpSpPr>
              <p:cNvPr id="16" name="Group 55"/>
              <p:cNvGrpSpPr/>
              <p:nvPr/>
            </p:nvGrpSpPr>
            <p:grpSpPr>
              <a:xfrm>
                <a:off x="433346" y="3119510"/>
                <a:ext cx="4470870" cy="1064212"/>
                <a:chOff x="914594" y="3599238"/>
                <a:chExt cx="8558444" cy="1647142"/>
              </a:xfrm>
            </p:grpSpPr>
            <p:sp>
              <p:nvSpPr>
                <p:cNvPr id="47" name="Oval 46"/>
                <p:cNvSpPr/>
                <p:nvPr/>
              </p:nvSpPr>
              <p:spPr>
                <a:xfrm>
                  <a:off x="1672276" y="3780700"/>
                  <a:ext cx="714380" cy="71438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8" name="Straight Arrow Connector 47"/>
                <p:cNvCxnSpPr>
                  <a:stCxn id="47" idx="6"/>
                </p:cNvCxnSpPr>
                <p:nvPr/>
              </p:nvCxnSpPr>
              <p:spPr>
                <a:xfrm>
                  <a:off x="2386656" y="4137890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Rectangle 48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0" name="Straight Arrow Connector 49"/>
                <p:cNvCxnSpPr/>
                <p:nvPr/>
              </p:nvCxnSpPr>
              <p:spPr>
                <a:xfrm>
                  <a:off x="4657505" y="4135541"/>
                  <a:ext cx="1688524" cy="549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/>
                <p:cNvCxnSpPr/>
                <p:nvPr/>
              </p:nvCxnSpPr>
              <p:spPr>
                <a:xfrm>
                  <a:off x="914594" y="4129312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/>
                <p:cNvCxnSpPr/>
                <p:nvPr/>
              </p:nvCxnSpPr>
              <p:spPr>
                <a:xfrm rot="16200000">
                  <a:off x="1667987" y="4865343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>
                  <a:off x="2043533" y="5244184"/>
                  <a:ext cx="7429505" cy="15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TextBox 53"/>
                <p:cNvSpPr txBox="1"/>
                <p:nvPr/>
              </p:nvSpPr>
              <p:spPr>
                <a:xfrm>
                  <a:off x="1051346" y="3599238"/>
                  <a:ext cx="357189" cy="6405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1523584" y="4405021"/>
                  <a:ext cx="357189" cy="6405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17" name="Object 16"/>
              <p:cNvGraphicFramePr>
                <a:graphicFrameLocks noChangeAspect="1"/>
              </p:cNvGraphicFramePr>
              <p:nvPr/>
            </p:nvGraphicFramePr>
            <p:xfrm>
              <a:off x="1719230" y="3198173"/>
              <a:ext cx="452581" cy="545927"/>
            </p:xfrm>
            <a:graphic>
              <a:graphicData uri="http://schemas.openxmlformats.org/presentationml/2006/ole">
                <p:oleObj spid="_x0000_s25603" name="Equation" r:id="rId3" imgW="317160" imgH="431640" progId="Equation.3">
                  <p:embed/>
                </p:oleObj>
              </a:graphicData>
            </a:graphic>
          </p:graphicFrame>
          <p:sp>
            <p:nvSpPr>
              <p:cNvPr id="18" name="TextBox 17"/>
              <p:cNvSpPr txBox="1"/>
              <p:nvPr/>
            </p:nvSpPr>
            <p:spPr>
              <a:xfrm>
                <a:off x="142844" y="3451256"/>
                <a:ext cx="933444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027542" y="3808959"/>
                <a:ext cx="887552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2389867" y="3073564"/>
                <a:ext cx="900999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∆h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21" name="Group 69"/>
              <p:cNvGrpSpPr/>
              <p:nvPr/>
            </p:nvGrpSpPr>
            <p:grpSpPr>
              <a:xfrm>
                <a:off x="2950486" y="2791766"/>
                <a:ext cx="2564744" cy="1019993"/>
                <a:chOff x="1041194" y="3026004"/>
                <a:chExt cx="5127820" cy="1677359"/>
              </a:xfrm>
            </p:grpSpPr>
            <p:sp>
              <p:nvSpPr>
                <p:cNvPr id="40" name="Oval 39"/>
                <p:cNvSpPr/>
                <p:nvPr/>
              </p:nvSpPr>
              <p:spPr>
                <a:xfrm>
                  <a:off x="1672276" y="3780700"/>
                  <a:ext cx="714380" cy="71438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Straight Arrow Connector 40"/>
                <p:cNvCxnSpPr>
                  <a:stCxn id="40" idx="6"/>
                </p:cNvCxnSpPr>
                <p:nvPr/>
              </p:nvCxnSpPr>
              <p:spPr>
                <a:xfrm>
                  <a:off x="2386656" y="4137890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Rectangle 41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3" name="Straight Arrow Connector 42"/>
                <p:cNvCxnSpPr/>
                <p:nvPr/>
              </p:nvCxnSpPr>
              <p:spPr>
                <a:xfrm>
                  <a:off x="4657507" y="4135530"/>
                  <a:ext cx="1511507" cy="5489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/>
                <p:cNvCxnSpPr/>
                <p:nvPr/>
              </p:nvCxnSpPr>
              <p:spPr>
                <a:xfrm rot="5400000" flipV="1">
                  <a:off x="1637920" y="3401549"/>
                  <a:ext cx="756578" cy="5488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Box 44"/>
                <p:cNvSpPr txBox="1"/>
                <p:nvPr/>
              </p:nvSpPr>
              <p:spPr>
                <a:xfrm>
                  <a:off x="1041194" y="4022786"/>
                  <a:ext cx="357190" cy="6805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1532852" y="3139174"/>
                  <a:ext cx="357190" cy="680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22" name="Group 77"/>
              <p:cNvGrpSpPr/>
              <p:nvPr/>
            </p:nvGrpSpPr>
            <p:grpSpPr>
              <a:xfrm>
                <a:off x="5214651" y="3156695"/>
                <a:ext cx="3347991" cy="1058123"/>
                <a:chOff x="1155425" y="3701782"/>
                <a:chExt cx="6353498" cy="1525215"/>
              </a:xfrm>
            </p:grpSpPr>
            <p:sp>
              <p:nvSpPr>
                <p:cNvPr id="32" name="Oval 31"/>
                <p:cNvSpPr/>
                <p:nvPr/>
              </p:nvSpPr>
              <p:spPr>
                <a:xfrm>
                  <a:off x="1693494" y="3846248"/>
                  <a:ext cx="763198" cy="561608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3" name="Straight Arrow Connector 32"/>
                <p:cNvCxnSpPr/>
                <p:nvPr/>
              </p:nvCxnSpPr>
              <p:spPr>
                <a:xfrm flipV="1">
                  <a:off x="2456692" y="4128844"/>
                  <a:ext cx="686546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Rectangle 33"/>
                <p:cNvSpPr/>
                <p:nvPr/>
              </p:nvSpPr>
              <p:spPr>
                <a:xfrm>
                  <a:off x="3143239" y="3701782"/>
                  <a:ext cx="3992069" cy="857255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" name="Straight Arrow Connector 35"/>
                <p:cNvCxnSpPr/>
                <p:nvPr/>
              </p:nvCxnSpPr>
              <p:spPr>
                <a:xfrm rot="16200000">
                  <a:off x="1637632" y="4815606"/>
                  <a:ext cx="817293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>
                  <a:off x="2043532" y="5224802"/>
                  <a:ext cx="5465391" cy="158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TextBox 37"/>
                <p:cNvSpPr txBox="1"/>
                <p:nvPr/>
              </p:nvSpPr>
              <p:spPr>
                <a:xfrm>
                  <a:off x="1155425" y="4133449"/>
                  <a:ext cx="357190" cy="5965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TextBox 38"/>
                <p:cNvSpPr txBox="1"/>
                <p:nvPr/>
              </p:nvSpPr>
              <p:spPr>
                <a:xfrm>
                  <a:off x="1543817" y="4255414"/>
                  <a:ext cx="357190" cy="5965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24" name="Object 7"/>
              <p:cNvGraphicFramePr>
                <a:graphicFrameLocks noChangeAspect="1"/>
              </p:cNvGraphicFramePr>
              <p:nvPr/>
            </p:nvGraphicFramePr>
            <p:xfrm>
              <a:off x="6909694" y="3130600"/>
              <a:ext cx="506412" cy="637189"/>
            </p:xfrm>
            <a:graphic>
              <a:graphicData uri="http://schemas.openxmlformats.org/presentationml/2006/ole">
                <p:oleObj spid="_x0000_s25605" name="Equation" r:id="rId4" imgW="342720" imgH="431640" progId="Equation.3">
                  <p:embed/>
                </p:oleObj>
              </a:graphicData>
            </a:graphic>
          </p:graphicFrame>
          <p:sp>
            <p:nvSpPr>
              <p:cNvPr id="25" name="TextBox 24"/>
              <p:cNvSpPr txBox="1"/>
              <p:nvPr/>
            </p:nvSpPr>
            <p:spPr>
              <a:xfrm>
                <a:off x="5719758" y="3822329"/>
                <a:ext cx="928693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>
                <a:off x="8331867" y="3469342"/>
                <a:ext cx="504000" cy="38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3448398" y="2790262"/>
                <a:ext cx="1908000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rot="5400000" flipH="1" flipV="1">
                <a:off x="8196967" y="3843224"/>
                <a:ext cx="7416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4790517" y="3078156"/>
                <a:ext cx="972685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aphicFrame>
            <p:nvGraphicFramePr>
              <p:cNvPr id="31" name="Object 10"/>
              <p:cNvGraphicFramePr>
                <a:graphicFrameLocks noChangeAspect="1"/>
              </p:cNvGraphicFramePr>
              <p:nvPr/>
            </p:nvGraphicFramePr>
            <p:xfrm>
              <a:off x="4214810" y="3214686"/>
              <a:ext cx="277812" cy="496887"/>
            </p:xfrm>
            <a:graphic>
              <a:graphicData uri="http://schemas.openxmlformats.org/presentationml/2006/ole">
                <p:oleObj spid="_x0000_s25606" name="Equation" r:id="rId5" imgW="241200" imgH="431640" progId="Equation.3">
                  <p:embed/>
                </p:oleObj>
              </a:graphicData>
            </a:graphic>
          </p:graphicFrame>
        </p:grpSp>
        <p:sp>
          <p:nvSpPr>
            <p:cNvPr id="15" name="TextBox 14"/>
            <p:cNvSpPr txBox="1"/>
            <p:nvPr/>
          </p:nvSpPr>
          <p:spPr>
            <a:xfrm>
              <a:off x="3428992" y="3059668"/>
              <a:ext cx="1023433" cy="354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∆h</a:t>
              </a:r>
              <a:r>
                <a:rPr lang="en-US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(s)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6" name="Rectangle 55"/>
          <p:cNvSpPr/>
          <p:nvPr/>
        </p:nvSpPr>
        <p:spPr>
          <a:xfrm>
            <a:off x="7159854" y="727197"/>
            <a:ext cx="1024361" cy="55302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7413033" y="825818"/>
            <a:ext cx="744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IN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8" name="Straight Connector 57"/>
          <p:cNvCxnSpPr/>
          <p:nvPr/>
        </p:nvCxnSpPr>
        <p:spPr>
          <a:xfrm>
            <a:off x="8201291" y="1026445"/>
            <a:ext cx="3119188" cy="169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Object 6"/>
          <p:cNvGraphicFramePr>
            <a:graphicFrameLocks noChangeAspect="1"/>
          </p:cNvGraphicFramePr>
          <p:nvPr/>
        </p:nvGraphicFramePr>
        <p:xfrm>
          <a:off x="9667059" y="1382975"/>
          <a:ext cx="551812" cy="626348"/>
        </p:xfrm>
        <a:graphic>
          <a:graphicData uri="http://schemas.openxmlformats.org/presentationml/2006/ole">
            <p:oleObj spid="_x0000_s25607" name="Equation" r:id="rId6" imgW="253800" imgH="431640" progId="Equation.3">
              <p:embed/>
            </p:oleObj>
          </a:graphicData>
        </a:graphic>
      </p:graphicFrame>
      <p:grpSp>
        <p:nvGrpSpPr>
          <p:cNvPr id="62" name="Group 61"/>
          <p:cNvGrpSpPr/>
          <p:nvPr/>
        </p:nvGrpSpPr>
        <p:grpSpPr>
          <a:xfrm>
            <a:off x="476460" y="2928933"/>
            <a:ext cx="11331878" cy="1467823"/>
            <a:chOff x="142844" y="3059668"/>
            <a:chExt cx="8693023" cy="1409806"/>
          </a:xfrm>
        </p:grpSpPr>
        <p:cxnSp>
          <p:nvCxnSpPr>
            <p:cNvPr id="63" name="Straight Connector 62"/>
            <p:cNvCxnSpPr/>
            <p:nvPr/>
          </p:nvCxnSpPr>
          <p:spPr>
            <a:xfrm rot="5400000">
              <a:off x="8247734" y="3416852"/>
              <a:ext cx="64800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 flipH="1" flipV="1">
              <a:off x="4540859" y="4107286"/>
              <a:ext cx="71438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98"/>
            <p:cNvGrpSpPr/>
            <p:nvPr/>
          </p:nvGrpSpPr>
          <p:grpSpPr>
            <a:xfrm>
              <a:off x="142844" y="3076014"/>
              <a:ext cx="8693023" cy="1393460"/>
              <a:chOff x="142844" y="2790262"/>
              <a:chExt cx="8693023" cy="1393460"/>
            </a:xfrm>
          </p:grpSpPr>
          <p:grpSp>
            <p:nvGrpSpPr>
              <p:cNvPr id="67" name="Group 55"/>
              <p:cNvGrpSpPr/>
              <p:nvPr/>
            </p:nvGrpSpPr>
            <p:grpSpPr>
              <a:xfrm>
                <a:off x="433346" y="3119510"/>
                <a:ext cx="4470870" cy="1064212"/>
                <a:chOff x="914594" y="3599238"/>
                <a:chExt cx="8558444" cy="1647142"/>
              </a:xfrm>
            </p:grpSpPr>
            <p:sp>
              <p:nvSpPr>
                <p:cNvPr id="95" name="Oval 94"/>
                <p:cNvSpPr/>
                <p:nvPr/>
              </p:nvSpPr>
              <p:spPr>
                <a:xfrm>
                  <a:off x="1672276" y="3780700"/>
                  <a:ext cx="714380" cy="71438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6" name="Straight Arrow Connector 95"/>
                <p:cNvCxnSpPr>
                  <a:stCxn id="95" idx="6"/>
                </p:cNvCxnSpPr>
                <p:nvPr/>
              </p:nvCxnSpPr>
              <p:spPr>
                <a:xfrm>
                  <a:off x="2386656" y="4137890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Rectangle 96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8" name="Straight Arrow Connector 97"/>
                <p:cNvCxnSpPr/>
                <p:nvPr/>
              </p:nvCxnSpPr>
              <p:spPr>
                <a:xfrm>
                  <a:off x="4657505" y="4135541"/>
                  <a:ext cx="1688524" cy="549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/>
                <p:cNvCxnSpPr/>
                <p:nvPr/>
              </p:nvCxnSpPr>
              <p:spPr>
                <a:xfrm>
                  <a:off x="914594" y="4129312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/>
                <p:cNvCxnSpPr/>
                <p:nvPr/>
              </p:nvCxnSpPr>
              <p:spPr>
                <a:xfrm rot="16200000">
                  <a:off x="1667987" y="4865343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/>
              </p:nvCxnSpPr>
              <p:spPr>
                <a:xfrm>
                  <a:off x="2043533" y="5244184"/>
                  <a:ext cx="7429505" cy="15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2" name="TextBox 101"/>
                <p:cNvSpPr txBox="1"/>
                <p:nvPr/>
              </p:nvSpPr>
              <p:spPr>
                <a:xfrm>
                  <a:off x="1051346" y="3599238"/>
                  <a:ext cx="357189" cy="6405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03" name="TextBox 102"/>
                <p:cNvSpPr txBox="1"/>
                <p:nvPr/>
              </p:nvSpPr>
              <p:spPr>
                <a:xfrm>
                  <a:off x="1523584" y="4405021"/>
                  <a:ext cx="357189" cy="6405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68" name="Object 67"/>
              <p:cNvGraphicFramePr>
                <a:graphicFrameLocks noChangeAspect="1"/>
              </p:cNvGraphicFramePr>
              <p:nvPr/>
            </p:nvGraphicFramePr>
            <p:xfrm>
              <a:off x="1719230" y="3198173"/>
              <a:ext cx="452581" cy="545927"/>
            </p:xfrm>
            <a:graphic>
              <a:graphicData uri="http://schemas.openxmlformats.org/presentationml/2006/ole">
                <p:oleObj spid="_x0000_s25608" name="Equation" r:id="rId7" imgW="317160" imgH="431640" progId="Equation.3">
                  <p:embed/>
                </p:oleObj>
              </a:graphicData>
            </a:graphic>
          </p:graphicFrame>
          <p:sp>
            <p:nvSpPr>
              <p:cNvPr id="69" name="TextBox 68"/>
              <p:cNvSpPr txBox="1"/>
              <p:nvPr/>
            </p:nvSpPr>
            <p:spPr>
              <a:xfrm>
                <a:off x="142844" y="3451256"/>
                <a:ext cx="933444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1027542" y="3808959"/>
                <a:ext cx="887552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2389867" y="3073564"/>
                <a:ext cx="900999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∆h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72" name="Group 69"/>
              <p:cNvGrpSpPr/>
              <p:nvPr/>
            </p:nvGrpSpPr>
            <p:grpSpPr>
              <a:xfrm>
                <a:off x="2950484" y="2791766"/>
                <a:ext cx="3318063" cy="1019994"/>
                <a:chOff x="1041194" y="3026004"/>
                <a:chExt cx="6633980" cy="1677361"/>
              </a:xfrm>
            </p:grpSpPr>
            <p:sp>
              <p:nvSpPr>
                <p:cNvPr id="88" name="Oval 87"/>
                <p:cNvSpPr/>
                <p:nvPr/>
              </p:nvSpPr>
              <p:spPr>
                <a:xfrm>
                  <a:off x="1672276" y="3780700"/>
                  <a:ext cx="714380" cy="71438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9" name="Straight Arrow Connector 88"/>
                <p:cNvCxnSpPr>
                  <a:stCxn id="88" idx="6"/>
                </p:cNvCxnSpPr>
                <p:nvPr/>
              </p:nvCxnSpPr>
              <p:spPr>
                <a:xfrm>
                  <a:off x="2386656" y="4137890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0" name="Rectangle 89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1" name="Straight Arrow Connector 90"/>
                <p:cNvCxnSpPr/>
                <p:nvPr/>
              </p:nvCxnSpPr>
              <p:spPr>
                <a:xfrm>
                  <a:off x="4657512" y="4135530"/>
                  <a:ext cx="3017662" cy="5489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Arrow Connector 91"/>
                <p:cNvCxnSpPr/>
                <p:nvPr/>
              </p:nvCxnSpPr>
              <p:spPr>
                <a:xfrm rot="5400000" flipV="1">
                  <a:off x="1637920" y="3401549"/>
                  <a:ext cx="756578" cy="5488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TextBox 92"/>
                <p:cNvSpPr txBox="1"/>
                <p:nvPr/>
              </p:nvSpPr>
              <p:spPr>
                <a:xfrm>
                  <a:off x="1041194" y="4022787"/>
                  <a:ext cx="357191" cy="680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94" name="TextBox 93"/>
                <p:cNvSpPr txBox="1"/>
                <p:nvPr/>
              </p:nvSpPr>
              <p:spPr>
                <a:xfrm>
                  <a:off x="1532853" y="3139174"/>
                  <a:ext cx="357191" cy="680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73" name="Group 77"/>
              <p:cNvGrpSpPr/>
              <p:nvPr/>
            </p:nvGrpSpPr>
            <p:grpSpPr>
              <a:xfrm>
                <a:off x="5214651" y="3156692"/>
                <a:ext cx="3151114" cy="713326"/>
                <a:chOff x="1155425" y="3701782"/>
                <a:chExt cx="5979883" cy="1028214"/>
              </a:xfrm>
            </p:grpSpPr>
            <p:sp>
              <p:nvSpPr>
                <p:cNvPr id="83" name="Rectangle 82"/>
                <p:cNvSpPr/>
                <p:nvPr/>
              </p:nvSpPr>
              <p:spPr>
                <a:xfrm>
                  <a:off x="3143239" y="3701782"/>
                  <a:ext cx="3992069" cy="857255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1155425" y="4133448"/>
                  <a:ext cx="357190" cy="5965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74" name="Object 7"/>
              <p:cNvGraphicFramePr>
                <a:graphicFrameLocks noChangeAspect="1"/>
              </p:cNvGraphicFramePr>
              <p:nvPr/>
            </p:nvGraphicFramePr>
            <p:xfrm>
              <a:off x="6619697" y="3130713"/>
              <a:ext cx="1087635" cy="637347"/>
            </p:xfrm>
            <a:graphic>
              <a:graphicData uri="http://schemas.openxmlformats.org/presentationml/2006/ole">
                <p:oleObj spid="_x0000_s25609" name="Equation" r:id="rId8" imgW="736560" imgH="431640" progId="Equation.3">
                  <p:embed/>
                </p:oleObj>
              </a:graphicData>
            </a:graphic>
          </p:graphicFrame>
          <p:cxnSp>
            <p:nvCxnSpPr>
              <p:cNvPr id="76" name="Straight Arrow Connector 75"/>
              <p:cNvCxnSpPr/>
              <p:nvPr/>
            </p:nvCxnSpPr>
            <p:spPr>
              <a:xfrm>
                <a:off x="8331867" y="3469342"/>
                <a:ext cx="504000" cy="38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3448398" y="2790262"/>
                <a:ext cx="1908000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TextBox 78"/>
              <p:cNvSpPr txBox="1"/>
              <p:nvPr/>
            </p:nvSpPr>
            <p:spPr>
              <a:xfrm>
                <a:off x="4790517" y="3078156"/>
                <a:ext cx="972685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aphicFrame>
            <p:nvGraphicFramePr>
              <p:cNvPr id="80" name="Object 10"/>
              <p:cNvGraphicFramePr>
                <a:graphicFrameLocks noChangeAspect="1"/>
              </p:cNvGraphicFramePr>
              <p:nvPr/>
            </p:nvGraphicFramePr>
            <p:xfrm>
              <a:off x="4214810" y="3214686"/>
              <a:ext cx="277812" cy="496887"/>
            </p:xfrm>
            <a:graphic>
              <a:graphicData uri="http://schemas.openxmlformats.org/presentationml/2006/ole">
                <p:oleObj spid="_x0000_s25610" name="Equation" r:id="rId9" imgW="241200" imgH="431640" progId="Equation.3">
                  <p:embed/>
                </p:oleObj>
              </a:graphicData>
            </a:graphic>
          </p:graphicFrame>
        </p:grpSp>
        <p:sp>
          <p:nvSpPr>
            <p:cNvPr id="66" name="TextBox 65"/>
            <p:cNvSpPr txBox="1"/>
            <p:nvPr/>
          </p:nvSpPr>
          <p:spPr>
            <a:xfrm>
              <a:off x="3428992" y="3059668"/>
              <a:ext cx="1023433" cy="354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∆h</a:t>
              </a:r>
              <a:r>
                <a:rPr lang="en-US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(s)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4" name="Rectangle 103"/>
          <p:cNvSpPr/>
          <p:nvPr/>
        </p:nvSpPr>
        <p:spPr>
          <a:xfrm>
            <a:off x="7291303" y="2670910"/>
            <a:ext cx="1024361" cy="55302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/>
          <p:cNvCxnSpPr/>
          <p:nvPr/>
        </p:nvCxnSpPr>
        <p:spPr>
          <a:xfrm>
            <a:off x="8350665" y="2954134"/>
            <a:ext cx="3119188" cy="169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7522800" y="2773916"/>
            <a:ext cx="744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IN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7" name="Group 106"/>
          <p:cNvGrpSpPr/>
          <p:nvPr/>
        </p:nvGrpSpPr>
        <p:grpSpPr>
          <a:xfrm>
            <a:off x="285635" y="4532946"/>
            <a:ext cx="11331878" cy="1467823"/>
            <a:chOff x="142844" y="3059668"/>
            <a:chExt cx="8693023" cy="1409806"/>
          </a:xfrm>
        </p:grpSpPr>
        <p:cxnSp>
          <p:nvCxnSpPr>
            <p:cNvPr id="108" name="Straight Connector 107"/>
            <p:cNvCxnSpPr/>
            <p:nvPr/>
          </p:nvCxnSpPr>
          <p:spPr>
            <a:xfrm rot="5400000">
              <a:off x="8247734" y="3416852"/>
              <a:ext cx="64800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0" name="Group 98"/>
            <p:cNvGrpSpPr/>
            <p:nvPr/>
          </p:nvGrpSpPr>
          <p:grpSpPr>
            <a:xfrm>
              <a:off x="142844" y="3076014"/>
              <a:ext cx="8693023" cy="1393460"/>
              <a:chOff x="142844" y="2790262"/>
              <a:chExt cx="8693023" cy="1393460"/>
            </a:xfrm>
          </p:grpSpPr>
          <p:grpSp>
            <p:nvGrpSpPr>
              <p:cNvPr id="112" name="Group 55"/>
              <p:cNvGrpSpPr/>
              <p:nvPr/>
            </p:nvGrpSpPr>
            <p:grpSpPr>
              <a:xfrm>
                <a:off x="433346" y="3119510"/>
                <a:ext cx="3718825" cy="1064212"/>
                <a:chOff x="914594" y="3599238"/>
                <a:chExt cx="7118827" cy="1647142"/>
              </a:xfrm>
            </p:grpSpPr>
            <p:sp>
              <p:nvSpPr>
                <p:cNvPr id="136" name="Oval 135"/>
                <p:cNvSpPr/>
                <p:nvPr/>
              </p:nvSpPr>
              <p:spPr>
                <a:xfrm>
                  <a:off x="1672276" y="3780700"/>
                  <a:ext cx="714380" cy="71438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37" name="Straight Arrow Connector 136"/>
                <p:cNvCxnSpPr>
                  <a:stCxn id="136" idx="6"/>
                </p:cNvCxnSpPr>
                <p:nvPr/>
              </p:nvCxnSpPr>
              <p:spPr>
                <a:xfrm>
                  <a:off x="2386656" y="4137890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8" name="Rectangle 137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39" name="Straight Arrow Connector 138"/>
                <p:cNvCxnSpPr/>
                <p:nvPr/>
              </p:nvCxnSpPr>
              <p:spPr>
                <a:xfrm>
                  <a:off x="4657505" y="4135541"/>
                  <a:ext cx="1688524" cy="549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/>
                <p:cNvCxnSpPr/>
                <p:nvPr/>
              </p:nvCxnSpPr>
              <p:spPr>
                <a:xfrm>
                  <a:off x="914594" y="4129312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/>
                <p:cNvCxnSpPr/>
                <p:nvPr/>
              </p:nvCxnSpPr>
              <p:spPr>
                <a:xfrm rot="16200000">
                  <a:off x="1667987" y="4865343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/>
                <p:cNvCxnSpPr/>
                <p:nvPr/>
              </p:nvCxnSpPr>
              <p:spPr>
                <a:xfrm>
                  <a:off x="2043532" y="5244184"/>
                  <a:ext cx="5989889" cy="15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3" name="TextBox 142"/>
                <p:cNvSpPr txBox="1"/>
                <p:nvPr/>
              </p:nvSpPr>
              <p:spPr>
                <a:xfrm>
                  <a:off x="1051346" y="3599238"/>
                  <a:ext cx="357189" cy="6405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4" name="TextBox 143"/>
                <p:cNvSpPr txBox="1"/>
                <p:nvPr/>
              </p:nvSpPr>
              <p:spPr>
                <a:xfrm>
                  <a:off x="1523584" y="4405021"/>
                  <a:ext cx="357189" cy="6405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113" name="Object 112"/>
              <p:cNvGraphicFramePr>
                <a:graphicFrameLocks noChangeAspect="1"/>
              </p:cNvGraphicFramePr>
              <p:nvPr/>
            </p:nvGraphicFramePr>
            <p:xfrm>
              <a:off x="1719230" y="3198173"/>
              <a:ext cx="452581" cy="545927"/>
            </p:xfrm>
            <a:graphic>
              <a:graphicData uri="http://schemas.openxmlformats.org/presentationml/2006/ole">
                <p:oleObj spid="_x0000_s25611" name="Equation" r:id="rId10" imgW="317160" imgH="431640" progId="Equation.3">
                  <p:embed/>
                </p:oleObj>
              </a:graphicData>
            </a:graphic>
          </p:graphicFrame>
          <p:sp>
            <p:nvSpPr>
              <p:cNvPr id="114" name="TextBox 113"/>
              <p:cNvSpPr txBox="1"/>
              <p:nvPr/>
            </p:nvSpPr>
            <p:spPr>
              <a:xfrm>
                <a:off x="142844" y="3451256"/>
                <a:ext cx="933444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2389867" y="3073564"/>
                <a:ext cx="900999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∆h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17" name="Group 69"/>
              <p:cNvGrpSpPr/>
              <p:nvPr/>
            </p:nvGrpSpPr>
            <p:grpSpPr>
              <a:xfrm>
                <a:off x="2950482" y="2791766"/>
                <a:ext cx="3318063" cy="1019994"/>
                <a:chOff x="1041194" y="3026004"/>
                <a:chExt cx="6633980" cy="1677361"/>
              </a:xfrm>
            </p:grpSpPr>
            <p:sp>
              <p:nvSpPr>
                <p:cNvPr id="129" name="Oval 128"/>
                <p:cNvSpPr/>
                <p:nvPr/>
              </p:nvSpPr>
              <p:spPr>
                <a:xfrm>
                  <a:off x="1672276" y="3780700"/>
                  <a:ext cx="714380" cy="71438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30" name="Straight Arrow Connector 129"/>
                <p:cNvCxnSpPr>
                  <a:stCxn id="129" idx="6"/>
                </p:cNvCxnSpPr>
                <p:nvPr/>
              </p:nvCxnSpPr>
              <p:spPr>
                <a:xfrm>
                  <a:off x="2386656" y="4137890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1" name="Rectangle 130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32" name="Straight Arrow Connector 131"/>
                <p:cNvCxnSpPr/>
                <p:nvPr/>
              </p:nvCxnSpPr>
              <p:spPr>
                <a:xfrm>
                  <a:off x="4657512" y="4135530"/>
                  <a:ext cx="3017662" cy="5489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/>
                <p:cNvCxnSpPr/>
                <p:nvPr/>
              </p:nvCxnSpPr>
              <p:spPr>
                <a:xfrm rot="5400000" flipV="1">
                  <a:off x="1637920" y="3401549"/>
                  <a:ext cx="756578" cy="5488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4" name="TextBox 133"/>
                <p:cNvSpPr txBox="1"/>
                <p:nvPr/>
              </p:nvSpPr>
              <p:spPr>
                <a:xfrm>
                  <a:off x="1041194" y="4022787"/>
                  <a:ext cx="357191" cy="680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5" name="TextBox 134"/>
                <p:cNvSpPr txBox="1"/>
                <p:nvPr/>
              </p:nvSpPr>
              <p:spPr>
                <a:xfrm>
                  <a:off x="1532853" y="3139174"/>
                  <a:ext cx="357191" cy="680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18" name="Group 77"/>
              <p:cNvGrpSpPr/>
              <p:nvPr/>
            </p:nvGrpSpPr>
            <p:grpSpPr>
              <a:xfrm>
                <a:off x="5419315" y="3156700"/>
                <a:ext cx="2946450" cy="797941"/>
                <a:chOff x="1543817" y="3701782"/>
                <a:chExt cx="5591491" cy="1150178"/>
              </a:xfrm>
            </p:grpSpPr>
            <p:sp>
              <p:nvSpPr>
                <p:cNvPr id="126" name="Rectangle 125"/>
                <p:cNvSpPr/>
                <p:nvPr/>
              </p:nvSpPr>
              <p:spPr>
                <a:xfrm>
                  <a:off x="3143239" y="3701782"/>
                  <a:ext cx="3992069" cy="857255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TextBox 127"/>
                <p:cNvSpPr txBox="1"/>
                <p:nvPr/>
              </p:nvSpPr>
              <p:spPr>
                <a:xfrm>
                  <a:off x="1543817" y="4255414"/>
                  <a:ext cx="357190" cy="5965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119" name="Object 7"/>
              <p:cNvGraphicFramePr>
                <a:graphicFrameLocks noChangeAspect="1"/>
              </p:cNvGraphicFramePr>
              <p:nvPr/>
            </p:nvGraphicFramePr>
            <p:xfrm>
              <a:off x="6619697" y="3130713"/>
              <a:ext cx="1087635" cy="637347"/>
            </p:xfrm>
            <a:graphic>
              <a:graphicData uri="http://schemas.openxmlformats.org/presentationml/2006/ole">
                <p:oleObj spid="_x0000_s25612" name="Equation" r:id="rId11" imgW="736560" imgH="431640" progId="Equation.3">
                  <p:embed/>
                </p:oleObj>
              </a:graphicData>
            </a:graphic>
          </p:graphicFrame>
          <p:cxnSp>
            <p:nvCxnSpPr>
              <p:cNvPr id="120" name="Straight Arrow Connector 119"/>
              <p:cNvCxnSpPr/>
              <p:nvPr/>
            </p:nvCxnSpPr>
            <p:spPr>
              <a:xfrm>
                <a:off x="8331867" y="3469342"/>
                <a:ext cx="504000" cy="38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3448398" y="2790262"/>
                <a:ext cx="1908000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23" name="Object 10"/>
              <p:cNvGraphicFramePr>
                <a:graphicFrameLocks noChangeAspect="1"/>
              </p:cNvGraphicFramePr>
              <p:nvPr/>
            </p:nvGraphicFramePr>
            <p:xfrm>
              <a:off x="4214810" y="3214686"/>
              <a:ext cx="277812" cy="496887"/>
            </p:xfrm>
            <a:graphic>
              <a:graphicData uri="http://schemas.openxmlformats.org/presentationml/2006/ole">
                <p:oleObj spid="_x0000_s25613" name="Equation" r:id="rId12" imgW="241200" imgH="431640" progId="Equation.3">
                  <p:embed/>
                </p:oleObj>
              </a:graphicData>
            </a:graphic>
          </p:graphicFrame>
        </p:grpSp>
        <p:sp>
          <p:nvSpPr>
            <p:cNvPr id="111" name="TextBox 110"/>
            <p:cNvSpPr txBox="1"/>
            <p:nvPr/>
          </p:nvSpPr>
          <p:spPr>
            <a:xfrm>
              <a:off x="3428992" y="3059668"/>
              <a:ext cx="1023433" cy="354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∆h</a:t>
              </a:r>
              <a:r>
                <a:rPr lang="en-US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(s)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45" name="Rectangle 144"/>
          <p:cNvSpPr/>
          <p:nvPr/>
        </p:nvSpPr>
        <p:spPr>
          <a:xfrm>
            <a:off x="7118403" y="4274923"/>
            <a:ext cx="1024361" cy="55302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Connector 145"/>
          <p:cNvCxnSpPr/>
          <p:nvPr/>
        </p:nvCxnSpPr>
        <p:spPr>
          <a:xfrm>
            <a:off x="8147929" y="4570314"/>
            <a:ext cx="3119188" cy="169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/>
          <p:nvPr/>
        </p:nvCxnSpPr>
        <p:spPr>
          <a:xfrm rot="5400000" flipH="1" flipV="1">
            <a:off x="10899533" y="5641397"/>
            <a:ext cx="743779" cy="207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7332349" y="4357694"/>
            <a:ext cx="744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IN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5523058" y="5688123"/>
            <a:ext cx="2742208" cy="61919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" name="Straight Connector 149"/>
          <p:cNvCxnSpPr/>
          <p:nvPr/>
        </p:nvCxnSpPr>
        <p:spPr>
          <a:xfrm>
            <a:off x="8282457" y="6000769"/>
            <a:ext cx="2975225" cy="10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1" name="Object 150"/>
          <p:cNvGraphicFramePr>
            <a:graphicFrameLocks noChangeAspect="1"/>
          </p:cNvGraphicFramePr>
          <p:nvPr/>
        </p:nvGraphicFramePr>
        <p:xfrm>
          <a:off x="6094412" y="5841007"/>
          <a:ext cx="1618840" cy="375374"/>
        </p:xfrm>
        <a:graphic>
          <a:graphicData uri="http://schemas.openxmlformats.org/presentationml/2006/ole">
            <p:oleObj spid="_x0000_s25614" name="Equation" r:id="rId13" imgW="698400" imgH="215640" progId="Equation.3">
              <p:embed/>
            </p:oleObj>
          </a:graphicData>
        </a:graphic>
      </p:graphicFrame>
      <p:sp>
        <p:nvSpPr>
          <p:cNvPr id="152" name="TextBox 151"/>
          <p:cNvSpPr txBox="1"/>
          <p:nvPr/>
        </p:nvSpPr>
        <p:spPr>
          <a:xfrm>
            <a:off x="11248931" y="1785926"/>
            <a:ext cx="1047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1141383" y="3607176"/>
            <a:ext cx="1047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11231006" y="5233586"/>
            <a:ext cx="1047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0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09" y="571480"/>
            <a:ext cx="11712781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313" y="6143645"/>
            <a:ext cx="11046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smtClean="0">
                <a:latin typeface="Times New Roman" pitchFamily="18" charset="0"/>
                <a:cs typeface="Times New Roman" pitchFamily="18" charset="0"/>
              </a:rPr>
              <a:t>Reference: </a:t>
            </a:r>
            <a:r>
              <a:rPr lang="en-GB" sz="1200" i="1" dirty="0" err="1" smtClean="0">
                <a:latin typeface="Times New Roman" pitchFamily="18" charset="0"/>
                <a:cs typeface="Times New Roman" pitchFamily="18" charset="0"/>
              </a:rPr>
              <a:t>Onkar</a:t>
            </a:r>
            <a:r>
              <a:rPr lang="en-GB" sz="1200" i="1" dirty="0" smtClean="0">
                <a:latin typeface="Times New Roman" pitchFamily="18" charset="0"/>
                <a:cs typeface="Times New Roman" pitchFamily="18" charset="0"/>
              </a:rPr>
              <a:t> N. </a:t>
            </a:r>
            <a:r>
              <a:rPr lang="en-GB" sz="1200" i="1" dirty="0" err="1" smtClean="0">
                <a:latin typeface="Times New Roman" pitchFamily="18" charset="0"/>
                <a:cs typeface="Times New Roman" pitchFamily="18" charset="0"/>
              </a:rPr>
              <a:t>Pandey</a:t>
            </a:r>
            <a:r>
              <a:rPr lang="en-GB" sz="1200" i="1" dirty="0" smtClean="0">
                <a:latin typeface="Times New Roman" pitchFamily="18" charset="0"/>
                <a:cs typeface="Times New Roman" pitchFamily="18" charset="0"/>
              </a:rPr>
              <a:t>, Instrumentation and Process Control </a:t>
            </a:r>
            <a:r>
              <a:rPr lang="en-GB" sz="1200" i="1" dirty="0" err="1" smtClean="0">
                <a:latin typeface="Times New Roman" pitchFamily="18" charset="0"/>
                <a:cs typeface="Times New Roman" pitchFamily="18" charset="0"/>
              </a:rPr>
              <a:t>S.K.Kataria</a:t>
            </a:r>
            <a:r>
              <a:rPr lang="en-GB" sz="1200" i="1" dirty="0" smtClean="0">
                <a:latin typeface="Times New Roman" pitchFamily="18" charset="0"/>
                <a:cs typeface="Times New Roman" pitchFamily="18" charset="0"/>
              </a:rPr>
              <a:t> &amp; Sons, New Delhi, Edition: 2008-09</a:t>
            </a:r>
            <a:endParaRPr lang="en-US" sz="1200" i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5635" y="725931"/>
            <a:ext cx="11673143" cy="1467823"/>
            <a:chOff x="142844" y="3059668"/>
            <a:chExt cx="8954823" cy="1409806"/>
          </a:xfrm>
        </p:grpSpPr>
        <p:cxnSp>
          <p:nvCxnSpPr>
            <p:cNvPr id="12" name="Straight Connector 11"/>
            <p:cNvCxnSpPr/>
            <p:nvPr/>
          </p:nvCxnSpPr>
          <p:spPr>
            <a:xfrm rot="5400000">
              <a:off x="8247734" y="3416852"/>
              <a:ext cx="64800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98"/>
            <p:cNvGrpSpPr/>
            <p:nvPr/>
          </p:nvGrpSpPr>
          <p:grpSpPr>
            <a:xfrm>
              <a:off x="142844" y="3076014"/>
              <a:ext cx="8954823" cy="1393460"/>
              <a:chOff x="142844" y="2790262"/>
              <a:chExt cx="8954823" cy="1393460"/>
            </a:xfrm>
          </p:grpSpPr>
          <p:grpSp>
            <p:nvGrpSpPr>
              <p:cNvPr id="15" name="Group 55"/>
              <p:cNvGrpSpPr/>
              <p:nvPr/>
            </p:nvGrpSpPr>
            <p:grpSpPr>
              <a:xfrm>
                <a:off x="433346" y="3119510"/>
                <a:ext cx="3718825" cy="1064212"/>
                <a:chOff x="914594" y="3599238"/>
                <a:chExt cx="7118827" cy="1647142"/>
              </a:xfrm>
            </p:grpSpPr>
            <p:sp>
              <p:nvSpPr>
                <p:cNvPr id="35" name="Oval 34"/>
                <p:cNvSpPr/>
                <p:nvPr/>
              </p:nvSpPr>
              <p:spPr>
                <a:xfrm>
                  <a:off x="1672276" y="3780700"/>
                  <a:ext cx="714380" cy="71438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" name="Straight Arrow Connector 35"/>
                <p:cNvCxnSpPr>
                  <a:stCxn id="35" idx="6"/>
                </p:cNvCxnSpPr>
                <p:nvPr/>
              </p:nvCxnSpPr>
              <p:spPr>
                <a:xfrm>
                  <a:off x="2386656" y="4137890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Rectangle 36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8" name="Straight Arrow Connector 37"/>
                <p:cNvCxnSpPr/>
                <p:nvPr/>
              </p:nvCxnSpPr>
              <p:spPr>
                <a:xfrm>
                  <a:off x="4657505" y="4135541"/>
                  <a:ext cx="1688524" cy="549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/>
                <p:cNvCxnSpPr/>
                <p:nvPr/>
              </p:nvCxnSpPr>
              <p:spPr>
                <a:xfrm>
                  <a:off x="914594" y="4129312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/>
                <p:cNvCxnSpPr/>
                <p:nvPr/>
              </p:nvCxnSpPr>
              <p:spPr>
                <a:xfrm rot="16200000">
                  <a:off x="1667987" y="4865343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>
                  <a:off x="2043532" y="5244184"/>
                  <a:ext cx="5989889" cy="15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Box 41"/>
                <p:cNvSpPr txBox="1"/>
                <p:nvPr/>
              </p:nvSpPr>
              <p:spPr>
                <a:xfrm>
                  <a:off x="1051346" y="3599238"/>
                  <a:ext cx="357189" cy="6405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3" name="TextBox 42"/>
                <p:cNvSpPr txBox="1"/>
                <p:nvPr/>
              </p:nvSpPr>
              <p:spPr>
                <a:xfrm>
                  <a:off x="1523584" y="4405021"/>
                  <a:ext cx="357189" cy="6405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16" name="Object 15"/>
              <p:cNvGraphicFramePr>
                <a:graphicFrameLocks noChangeAspect="1"/>
              </p:cNvGraphicFramePr>
              <p:nvPr/>
            </p:nvGraphicFramePr>
            <p:xfrm>
              <a:off x="1719230" y="3198173"/>
              <a:ext cx="452581" cy="545927"/>
            </p:xfrm>
            <a:graphic>
              <a:graphicData uri="http://schemas.openxmlformats.org/presentationml/2006/ole">
                <p:oleObj spid="_x0000_s28675" name="Equation" r:id="rId3" imgW="317160" imgH="431640" progId="Equation.3">
                  <p:embed/>
                </p:oleObj>
              </a:graphicData>
            </a:graphic>
          </p:graphicFrame>
          <p:sp>
            <p:nvSpPr>
              <p:cNvPr id="17" name="TextBox 16"/>
              <p:cNvSpPr txBox="1"/>
              <p:nvPr/>
            </p:nvSpPr>
            <p:spPr>
              <a:xfrm>
                <a:off x="142844" y="3451256"/>
                <a:ext cx="933444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1027542" y="3808959"/>
                <a:ext cx="887552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∆q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389867" y="3073564"/>
                <a:ext cx="900999" cy="354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∆h</a:t>
                </a:r>
                <a:r>
                  <a:rPr lang="en-US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(s)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20" name="Group 69"/>
              <p:cNvGrpSpPr/>
              <p:nvPr/>
            </p:nvGrpSpPr>
            <p:grpSpPr>
              <a:xfrm>
                <a:off x="2950481" y="2791766"/>
                <a:ext cx="1850954" cy="1019994"/>
                <a:chOff x="1041194" y="3026004"/>
                <a:chExt cx="3700713" cy="1677361"/>
              </a:xfrm>
            </p:grpSpPr>
            <p:sp>
              <p:nvSpPr>
                <p:cNvPr id="28" name="Oval 27"/>
                <p:cNvSpPr/>
                <p:nvPr/>
              </p:nvSpPr>
              <p:spPr>
                <a:xfrm>
                  <a:off x="1672276" y="3780700"/>
                  <a:ext cx="714380" cy="71438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9" name="Straight Arrow Connector 28"/>
                <p:cNvCxnSpPr>
                  <a:stCxn id="28" idx="6"/>
                </p:cNvCxnSpPr>
                <p:nvPr/>
              </p:nvCxnSpPr>
              <p:spPr>
                <a:xfrm>
                  <a:off x="2386657" y="4137891"/>
                  <a:ext cx="2355250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/>
                <p:cNvCxnSpPr/>
                <p:nvPr/>
              </p:nvCxnSpPr>
              <p:spPr>
                <a:xfrm rot="5400000" flipV="1">
                  <a:off x="1637920" y="3401549"/>
                  <a:ext cx="756578" cy="5488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TextBox 32"/>
                <p:cNvSpPr txBox="1"/>
                <p:nvPr/>
              </p:nvSpPr>
              <p:spPr>
                <a:xfrm>
                  <a:off x="1041194" y="4022787"/>
                  <a:ext cx="357190" cy="680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>
                  <a:off x="1532852" y="3139172"/>
                  <a:ext cx="357190" cy="680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 smtClean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21" name="Group 77"/>
              <p:cNvGrpSpPr/>
              <p:nvPr/>
            </p:nvGrpSpPr>
            <p:grpSpPr>
              <a:xfrm>
                <a:off x="4794881" y="3156696"/>
                <a:ext cx="2103632" cy="797940"/>
                <a:chOff x="358822" y="3701782"/>
                <a:chExt cx="3992066" cy="1150178"/>
              </a:xfrm>
            </p:grpSpPr>
            <p:sp>
              <p:nvSpPr>
                <p:cNvPr id="26" name="Rectangle 25"/>
                <p:cNvSpPr/>
                <p:nvPr/>
              </p:nvSpPr>
              <p:spPr>
                <a:xfrm>
                  <a:off x="358822" y="3701782"/>
                  <a:ext cx="3992066" cy="857255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1543817" y="4255414"/>
                  <a:ext cx="357190" cy="5965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22" name="Object 7"/>
              <p:cNvGraphicFramePr>
                <a:graphicFrameLocks noChangeAspect="1"/>
              </p:cNvGraphicFramePr>
              <p:nvPr/>
            </p:nvGraphicFramePr>
            <p:xfrm>
              <a:off x="4956305" y="3130283"/>
              <a:ext cx="1480482" cy="637347"/>
            </p:xfrm>
            <a:graphic>
              <a:graphicData uri="http://schemas.openxmlformats.org/presentationml/2006/ole">
                <p:oleObj spid="_x0000_s28676" name="Equation" r:id="rId4" imgW="1002960" imgH="431640" progId="Equation.3">
                  <p:embed/>
                </p:oleObj>
              </a:graphicData>
            </a:graphic>
          </p:graphicFrame>
          <p:cxnSp>
            <p:nvCxnSpPr>
              <p:cNvPr id="23" name="Straight Arrow Connector 22"/>
              <p:cNvCxnSpPr/>
              <p:nvPr/>
            </p:nvCxnSpPr>
            <p:spPr>
              <a:xfrm>
                <a:off x="6888907" y="3469342"/>
                <a:ext cx="2208760" cy="38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3448398" y="2790262"/>
                <a:ext cx="1908000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3428992" y="3059668"/>
              <a:ext cx="1023433" cy="354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∆h</a:t>
              </a:r>
              <a:r>
                <a:rPr lang="en-US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(s)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4" name="Rectangle 43"/>
          <p:cNvSpPr/>
          <p:nvPr/>
        </p:nvSpPr>
        <p:spPr>
          <a:xfrm>
            <a:off x="7118403" y="467908"/>
            <a:ext cx="1024361" cy="55302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7332349" y="550679"/>
            <a:ext cx="744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IN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523058" y="1881108"/>
            <a:ext cx="2742208" cy="61919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/>
          <p:cNvCxnSpPr/>
          <p:nvPr/>
        </p:nvCxnSpPr>
        <p:spPr>
          <a:xfrm>
            <a:off x="8147929" y="758900"/>
            <a:ext cx="3119188" cy="169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 flipH="1" flipV="1">
            <a:off x="10899533" y="1829983"/>
            <a:ext cx="743779" cy="207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8282457" y="2189355"/>
            <a:ext cx="2975225" cy="106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6189638" y="2017891"/>
          <a:ext cx="1618829" cy="376237"/>
        </p:xfrm>
        <a:graphic>
          <a:graphicData uri="http://schemas.openxmlformats.org/presentationml/2006/ole">
            <p:oleObj spid="_x0000_s28678" name="Equation" r:id="rId5" imgW="698400" imgH="215640" progId="Equation.3">
              <p:embed/>
            </p:oleObj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11266856" y="1486727"/>
            <a:ext cx="1047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4" name="Group 98"/>
          <p:cNvGrpSpPr/>
          <p:nvPr/>
        </p:nvGrpSpPr>
        <p:grpSpPr>
          <a:xfrm>
            <a:off x="380861" y="3006852"/>
            <a:ext cx="10272961" cy="1136521"/>
            <a:chOff x="142844" y="3092121"/>
            <a:chExt cx="7880697" cy="1091601"/>
          </a:xfrm>
        </p:grpSpPr>
        <p:grpSp>
          <p:nvGrpSpPr>
            <p:cNvPr id="56" name="Group 55"/>
            <p:cNvGrpSpPr/>
            <p:nvPr/>
          </p:nvGrpSpPr>
          <p:grpSpPr>
            <a:xfrm>
              <a:off x="433346" y="3119510"/>
              <a:ext cx="3387502" cy="1064212"/>
              <a:chOff x="914594" y="3599238"/>
              <a:chExt cx="6484585" cy="1647142"/>
            </a:xfrm>
          </p:grpSpPr>
          <p:sp>
            <p:nvSpPr>
              <p:cNvPr id="73" name="Oval 72"/>
              <p:cNvSpPr/>
              <p:nvPr/>
            </p:nvSpPr>
            <p:spPr>
              <a:xfrm>
                <a:off x="1672276" y="3780700"/>
                <a:ext cx="714380" cy="71438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4" name="Straight Arrow Connector 73"/>
              <p:cNvCxnSpPr>
                <a:stCxn id="73" idx="6"/>
              </p:cNvCxnSpPr>
              <p:nvPr/>
            </p:nvCxnSpPr>
            <p:spPr>
              <a:xfrm>
                <a:off x="2386656" y="4137890"/>
                <a:ext cx="756584" cy="549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ectangle 74"/>
              <p:cNvSpPr/>
              <p:nvPr/>
            </p:nvSpPr>
            <p:spPr>
              <a:xfrm>
                <a:off x="3143240" y="3701782"/>
                <a:ext cx="1500198" cy="857256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/>
              <p:cNvCxnSpPr/>
              <p:nvPr/>
            </p:nvCxnSpPr>
            <p:spPr>
              <a:xfrm>
                <a:off x="4657505" y="4135541"/>
                <a:ext cx="1688524" cy="5491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/>
              <p:nvPr/>
            </p:nvCxnSpPr>
            <p:spPr>
              <a:xfrm>
                <a:off x="914594" y="4129312"/>
                <a:ext cx="756584" cy="549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/>
              <p:nvPr/>
            </p:nvCxnSpPr>
            <p:spPr>
              <a:xfrm rot="16200000">
                <a:off x="1667987" y="4865343"/>
                <a:ext cx="756584" cy="549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2043527" y="5244193"/>
                <a:ext cx="5355652" cy="1589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/>
              <p:cNvSpPr txBox="1"/>
              <p:nvPr/>
            </p:nvSpPr>
            <p:spPr>
              <a:xfrm>
                <a:off x="1051346" y="3599238"/>
                <a:ext cx="357189" cy="640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200" dirty="0" smtClean="0">
                    <a:latin typeface="Times New Roman" pitchFamily="18" charset="0"/>
                    <a:cs typeface="Times New Roman" pitchFamily="18" charset="0"/>
                  </a:rPr>
                  <a:t>+</a:t>
                </a: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1523584" y="4405021"/>
                <a:ext cx="357189" cy="640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200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aphicFrame>
          <p:nvGraphicFramePr>
            <p:cNvPr id="57" name="Object 56"/>
            <p:cNvGraphicFramePr>
              <a:graphicFrameLocks noChangeAspect="1"/>
            </p:cNvGraphicFramePr>
            <p:nvPr/>
          </p:nvGraphicFramePr>
          <p:xfrm>
            <a:off x="1719230" y="3198173"/>
            <a:ext cx="452581" cy="545927"/>
          </p:xfrm>
          <a:graphic>
            <a:graphicData uri="http://schemas.openxmlformats.org/presentationml/2006/ole">
              <p:oleObj spid="_x0000_s28679" name="Equation" r:id="rId6" imgW="317160" imgH="431640" progId="Equation.3">
                <p:embed/>
              </p:oleObj>
            </a:graphicData>
          </a:graphic>
        </p:graphicFrame>
        <p:sp>
          <p:nvSpPr>
            <p:cNvPr id="58" name="TextBox 57"/>
            <p:cNvSpPr txBox="1"/>
            <p:nvPr/>
          </p:nvSpPr>
          <p:spPr>
            <a:xfrm>
              <a:off x="142844" y="3451256"/>
              <a:ext cx="933444" cy="354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∆q (s)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027542" y="3808959"/>
              <a:ext cx="887552" cy="354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∆q</a:t>
              </a:r>
              <a:r>
                <a:rPr lang="en-US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(s)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62" name="Group 77"/>
            <p:cNvGrpSpPr/>
            <p:nvPr/>
          </p:nvGrpSpPr>
          <p:grpSpPr>
            <a:xfrm>
              <a:off x="3298848" y="3092121"/>
              <a:ext cx="2308734" cy="862327"/>
              <a:chOff x="-2480265" y="3608883"/>
              <a:chExt cx="4381272" cy="1243077"/>
            </a:xfrm>
          </p:grpSpPr>
          <p:sp>
            <p:nvSpPr>
              <p:cNvPr id="66" name="Rectangle 65"/>
              <p:cNvSpPr/>
              <p:nvPr/>
            </p:nvSpPr>
            <p:spPr>
              <a:xfrm>
                <a:off x="-2480265" y="3608883"/>
                <a:ext cx="3992032" cy="1127916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543817" y="4255414"/>
                <a:ext cx="357190" cy="596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64" name="Straight Arrow Connector 63"/>
            <p:cNvCxnSpPr/>
            <p:nvPr/>
          </p:nvCxnSpPr>
          <p:spPr>
            <a:xfrm>
              <a:off x="5409843" y="3508093"/>
              <a:ext cx="2613698" cy="380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2" name="Object 7"/>
          <p:cNvGraphicFramePr>
            <a:graphicFrameLocks noChangeAspect="1"/>
          </p:cNvGraphicFramePr>
          <p:nvPr/>
        </p:nvGraphicFramePr>
        <p:xfrm>
          <a:off x="4630175" y="3085258"/>
          <a:ext cx="2539339" cy="663575"/>
        </p:xfrm>
        <a:graphic>
          <a:graphicData uri="http://schemas.openxmlformats.org/presentationml/2006/ole">
            <p:oleObj spid="_x0000_s28681" name="Equation" r:id="rId7" imgW="1320480" imgH="431640" progId="Equation.3">
              <p:embed/>
            </p:oleObj>
          </a:graphicData>
        </a:graphic>
      </p:graphicFrame>
      <p:sp>
        <p:nvSpPr>
          <p:cNvPr id="84" name="TextBox 83"/>
          <p:cNvSpPr txBox="1"/>
          <p:nvPr/>
        </p:nvSpPr>
        <p:spPr>
          <a:xfrm>
            <a:off x="9617769" y="3019008"/>
            <a:ext cx="1047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165681" y="3875278"/>
            <a:ext cx="2693293" cy="52696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6" name="Object 6"/>
          <p:cNvGraphicFramePr>
            <a:graphicFrameLocks noChangeAspect="1"/>
          </p:cNvGraphicFramePr>
          <p:nvPr/>
        </p:nvGraphicFramePr>
        <p:xfrm>
          <a:off x="5855046" y="3973611"/>
          <a:ext cx="1618829" cy="376237"/>
        </p:xfrm>
        <a:graphic>
          <a:graphicData uri="http://schemas.openxmlformats.org/presentationml/2006/ole">
            <p:oleObj spid="_x0000_s28682" name="Equation" r:id="rId8" imgW="698400" imgH="215640" progId="Equation.3">
              <p:embed/>
            </p:oleObj>
          </a:graphicData>
        </a:graphic>
      </p:graphicFrame>
      <p:cxnSp>
        <p:nvCxnSpPr>
          <p:cNvPr id="87" name="Straight Connector 86"/>
          <p:cNvCxnSpPr/>
          <p:nvPr/>
        </p:nvCxnSpPr>
        <p:spPr>
          <a:xfrm rot="5400000" flipH="1" flipV="1">
            <a:off x="9151690" y="3799855"/>
            <a:ext cx="743779" cy="207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7858974" y="4152205"/>
            <a:ext cx="1663569" cy="462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0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09" y="571480"/>
            <a:ext cx="11712781" cy="5857916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1800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313" y="6143645"/>
            <a:ext cx="11046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 smtClean="0">
                <a:latin typeface="Times New Roman" pitchFamily="18" charset="0"/>
                <a:cs typeface="Times New Roman" pitchFamily="18" charset="0"/>
              </a:rPr>
              <a:t>Reference: </a:t>
            </a:r>
            <a:r>
              <a:rPr lang="en-GB" sz="1200" i="1" dirty="0" err="1" smtClean="0">
                <a:latin typeface="Times New Roman" pitchFamily="18" charset="0"/>
                <a:cs typeface="Times New Roman" pitchFamily="18" charset="0"/>
              </a:rPr>
              <a:t>Onkar</a:t>
            </a:r>
            <a:r>
              <a:rPr lang="en-GB" sz="1200" i="1" dirty="0" smtClean="0">
                <a:latin typeface="Times New Roman" pitchFamily="18" charset="0"/>
                <a:cs typeface="Times New Roman" pitchFamily="18" charset="0"/>
              </a:rPr>
              <a:t> N. </a:t>
            </a:r>
            <a:r>
              <a:rPr lang="en-GB" sz="1200" i="1" dirty="0" err="1" smtClean="0">
                <a:latin typeface="Times New Roman" pitchFamily="18" charset="0"/>
                <a:cs typeface="Times New Roman" pitchFamily="18" charset="0"/>
              </a:rPr>
              <a:t>Pandey</a:t>
            </a:r>
            <a:r>
              <a:rPr lang="en-GB" sz="1200" i="1" dirty="0" smtClean="0">
                <a:latin typeface="Times New Roman" pitchFamily="18" charset="0"/>
                <a:cs typeface="Times New Roman" pitchFamily="18" charset="0"/>
              </a:rPr>
              <a:t>, Instrumentation and Process Control </a:t>
            </a:r>
            <a:r>
              <a:rPr lang="en-GB" sz="1200" i="1" dirty="0" err="1" smtClean="0">
                <a:latin typeface="Times New Roman" pitchFamily="18" charset="0"/>
                <a:cs typeface="Times New Roman" pitchFamily="18" charset="0"/>
              </a:rPr>
              <a:t>S.K.Kataria</a:t>
            </a:r>
            <a:r>
              <a:rPr lang="en-GB" sz="1200" i="1" dirty="0" smtClean="0">
                <a:latin typeface="Times New Roman" pitchFamily="18" charset="0"/>
                <a:cs typeface="Times New Roman" pitchFamily="18" charset="0"/>
              </a:rPr>
              <a:t> &amp; Sons, New Delhi, Edition: 2008-09</a:t>
            </a:r>
            <a:endParaRPr lang="en-US" sz="1200" i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98"/>
          <p:cNvGrpSpPr/>
          <p:nvPr/>
        </p:nvGrpSpPr>
        <p:grpSpPr>
          <a:xfrm>
            <a:off x="868422" y="785795"/>
            <a:ext cx="10272961" cy="1136521"/>
            <a:chOff x="142844" y="3092121"/>
            <a:chExt cx="7880697" cy="1091601"/>
          </a:xfrm>
        </p:grpSpPr>
        <p:grpSp>
          <p:nvGrpSpPr>
            <p:cNvPr id="12" name="Group 55"/>
            <p:cNvGrpSpPr/>
            <p:nvPr/>
          </p:nvGrpSpPr>
          <p:grpSpPr>
            <a:xfrm>
              <a:off x="433345" y="3119510"/>
              <a:ext cx="3387501" cy="1064212"/>
              <a:chOff x="914594" y="3599238"/>
              <a:chExt cx="6484585" cy="1647142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1672276" y="3780700"/>
                <a:ext cx="714380" cy="71438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/>
              <p:cNvCxnSpPr>
                <a:stCxn id="20" idx="6"/>
              </p:cNvCxnSpPr>
              <p:nvPr/>
            </p:nvCxnSpPr>
            <p:spPr>
              <a:xfrm>
                <a:off x="2386656" y="4137890"/>
                <a:ext cx="756584" cy="549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>
                <a:off x="914594" y="4129312"/>
                <a:ext cx="756584" cy="549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 rot="16200000">
                <a:off x="1667987" y="4865343"/>
                <a:ext cx="756584" cy="549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2043527" y="5244193"/>
                <a:ext cx="5355652" cy="1589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1051346" y="3599238"/>
                <a:ext cx="357189" cy="640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200" dirty="0" smtClean="0">
                    <a:latin typeface="Times New Roman" pitchFamily="18" charset="0"/>
                    <a:cs typeface="Times New Roman" pitchFamily="18" charset="0"/>
                  </a:rPr>
                  <a:t>+</a:t>
                </a: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523584" y="4405021"/>
                <a:ext cx="357189" cy="640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200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142844" y="3451256"/>
              <a:ext cx="933444" cy="354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∆q (s)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27542" y="3808959"/>
              <a:ext cx="887552" cy="354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∆q</a:t>
              </a:r>
              <a:r>
                <a:rPr lang="en-US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(s)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6" name="Group 77"/>
            <p:cNvGrpSpPr/>
            <p:nvPr/>
          </p:nvGrpSpPr>
          <p:grpSpPr>
            <a:xfrm>
              <a:off x="1595087" y="3092121"/>
              <a:ext cx="4012495" cy="862327"/>
              <a:chOff x="-5713483" y="3608883"/>
              <a:chExt cx="7614490" cy="1243077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-5713483" y="3608883"/>
                <a:ext cx="7225250" cy="1127916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543817" y="4255414"/>
                <a:ext cx="357190" cy="596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cxnSp>
          <p:nvCxnSpPr>
            <p:cNvPr id="17" name="Straight Arrow Connector 16"/>
            <p:cNvCxnSpPr/>
            <p:nvPr/>
          </p:nvCxnSpPr>
          <p:spPr>
            <a:xfrm>
              <a:off x="5409843" y="3508093"/>
              <a:ext cx="2613698" cy="380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9" name="Object 7"/>
          <p:cNvGraphicFramePr>
            <a:graphicFrameLocks noChangeAspect="1"/>
          </p:cNvGraphicFramePr>
          <p:nvPr/>
        </p:nvGraphicFramePr>
        <p:xfrm>
          <a:off x="3142411" y="857233"/>
          <a:ext cx="4223766" cy="663575"/>
        </p:xfrm>
        <a:graphic>
          <a:graphicData uri="http://schemas.openxmlformats.org/presentationml/2006/ole">
            <p:oleObj spid="_x0000_s27652" name="Equation" r:id="rId3" imgW="2197080" imgH="431640" progId="Equation.3">
              <p:embed/>
            </p:oleObj>
          </a:graphicData>
        </a:graphic>
      </p:graphicFrame>
      <p:sp>
        <p:nvSpPr>
          <p:cNvPr id="30" name="Rectangle 29"/>
          <p:cNvSpPr/>
          <p:nvPr/>
        </p:nvSpPr>
        <p:spPr>
          <a:xfrm>
            <a:off x="5653242" y="1654221"/>
            <a:ext cx="2693293" cy="52696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Object 6"/>
          <p:cNvGraphicFramePr>
            <a:graphicFrameLocks noChangeAspect="1"/>
          </p:cNvGraphicFramePr>
          <p:nvPr/>
        </p:nvGraphicFramePr>
        <p:xfrm>
          <a:off x="6342607" y="1752554"/>
          <a:ext cx="1618829" cy="376237"/>
        </p:xfrm>
        <a:graphic>
          <a:graphicData uri="http://schemas.openxmlformats.org/presentationml/2006/ole">
            <p:oleObj spid="_x0000_s27653" name="Equation" r:id="rId4" imgW="698400" imgH="215640" progId="Equation.3">
              <p:embed/>
            </p:oleObj>
          </a:graphicData>
        </a:graphic>
      </p:graphicFrame>
      <p:cxnSp>
        <p:nvCxnSpPr>
          <p:cNvPr id="32" name="Straight Connector 31"/>
          <p:cNvCxnSpPr/>
          <p:nvPr/>
        </p:nvCxnSpPr>
        <p:spPr>
          <a:xfrm rot="5400000" flipH="1" flipV="1">
            <a:off x="9658884" y="1582388"/>
            <a:ext cx="738000" cy="207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45356" y="1924180"/>
            <a:ext cx="1663569" cy="462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093899" y="857232"/>
            <a:ext cx="1047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∆q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(s)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1714024" y="3286124"/>
          <a:ext cx="8951168" cy="787400"/>
        </p:xfrm>
        <a:graphic>
          <a:graphicData uri="http://schemas.openxmlformats.org/presentationml/2006/ole">
            <p:oleObj spid="_x0000_s27654" name="Equation" r:id="rId5" imgW="3682800" imgH="431640" progId="Equation.3">
              <p:embed/>
            </p:oleObj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66538" y="2714621"/>
            <a:ext cx="111414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Therefore Transfer Function is given by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23" y="285728"/>
            <a:ext cx="11998416" cy="6143668"/>
          </a:xfrm>
        </p:spPr>
        <p:txBody>
          <a:bodyPr/>
          <a:lstStyle/>
          <a:p>
            <a:pPr algn="ctr">
              <a:buNone/>
            </a:pPr>
            <a:endParaRPr lang="en-IN" dirty="0" smtClean="0"/>
          </a:p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dirty="0" smtClean="0"/>
          </a:p>
          <a:p>
            <a:pPr algn="ctr">
              <a:buNone/>
            </a:pPr>
            <a:endParaRPr lang="en-IN" sz="36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11-Jan-21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1011</Words>
  <Application>Microsoft Office PowerPoint</Application>
  <PresentationFormat>Custom</PresentationFormat>
  <Paragraphs>300</Paragraphs>
  <Slides>14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Equation</vt:lpstr>
      <vt:lpstr>Slide 1</vt:lpstr>
      <vt:lpstr>BOOKS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Slide 14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SHS</dc:creator>
  <cp:lastModifiedBy>syed hasan saeed</cp:lastModifiedBy>
  <cp:revision>114</cp:revision>
  <dcterms:created xsi:type="dcterms:W3CDTF">2020-04-11T12:13:45Z</dcterms:created>
  <dcterms:modified xsi:type="dcterms:W3CDTF">2021-01-11T04:42:47Z</dcterms:modified>
</cp:coreProperties>
</file>