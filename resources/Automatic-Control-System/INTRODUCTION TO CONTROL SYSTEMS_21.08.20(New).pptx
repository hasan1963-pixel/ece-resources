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notesSlides/notesSlide5.xml" ContentType="application/vnd.openxmlformats-officedocument.presentationml.notesSlide+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notesSlides/notesSlide6.xml" ContentType="application/vnd.openxmlformats-officedocument.presentationml.notesSlide+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0"/>
  </p:notesMasterIdLst>
  <p:handoutMasterIdLst>
    <p:handoutMasterId r:id="rId41"/>
  </p:handoutMasterIdLst>
  <p:sldIdLst>
    <p:sldId id="280" r:id="rId2"/>
    <p:sldId id="268" r:id="rId3"/>
    <p:sldId id="278" r:id="rId4"/>
    <p:sldId id="270" r:id="rId5"/>
    <p:sldId id="269" r:id="rId6"/>
    <p:sldId id="282" r:id="rId7"/>
    <p:sldId id="281" r:id="rId8"/>
    <p:sldId id="283" r:id="rId9"/>
    <p:sldId id="299" r:id="rId10"/>
    <p:sldId id="284" r:id="rId11"/>
    <p:sldId id="285" r:id="rId12"/>
    <p:sldId id="257" r:id="rId13"/>
    <p:sldId id="289" r:id="rId14"/>
    <p:sldId id="300" r:id="rId15"/>
    <p:sldId id="288" r:id="rId16"/>
    <p:sldId id="258" r:id="rId17"/>
    <p:sldId id="259" r:id="rId18"/>
    <p:sldId id="260" r:id="rId19"/>
    <p:sldId id="261" r:id="rId20"/>
    <p:sldId id="262" r:id="rId21"/>
    <p:sldId id="263" r:id="rId22"/>
    <p:sldId id="264" r:id="rId23"/>
    <p:sldId id="297" r:id="rId24"/>
    <p:sldId id="276" r:id="rId25"/>
    <p:sldId id="265" r:id="rId26"/>
    <p:sldId id="275" r:id="rId27"/>
    <p:sldId id="290" r:id="rId28"/>
    <p:sldId id="303" r:id="rId29"/>
    <p:sldId id="301" r:id="rId30"/>
    <p:sldId id="302" r:id="rId31"/>
    <p:sldId id="266" r:id="rId32"/>
    <p:sldId id="272" r:id="rId33"/>
    <p:sldId id="273" r:id="rId34"/>
    <p:sldId id="291" r:id="rId35"/>
    <p:sldId id="293" r:id="rId36"/>
    <p:sldId id="298" r:id="rId37"/>
    <p:sldId id="296" r:id="rId38"/>
    <p:sldId id="304" r:id="rId39"/>
  </p:sldIdLst>
  <p:sldSz cx="12188825" cy="6858000"/>
  <p:notesSz cx="6858000" cy="9144000"/>
  <p:custDataLst>
    <p:tags r:id="rId42"/>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39">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89" d="100"/>
          <a:sy n="89" d="100"/>
        </p:scale>
        <p:origin x="486" y="78"/>
      </p:cViewPr>
      <p:guideLst>
        <p:guide orient="horz" pos="2160"/>
        <p:guide pos="3839"/>
      </p:guideLst>
    </p:cSldViewPr>
  </p:slid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gs" Target="tags/tag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r>
              <a:rPr lang="en-US"/>
              <a:t>UNIT I    </a:t>
            </a:r>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4F6CA58B-5890-470E-B821-CB8CBDE8352A}" type="datetimeFigureOut">
              <a:rPr lang="en-US" smtClean="0"/>
              <a:pPr/>
              <a:t>7/31/2026</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r>
              <a:rPr lang="en-US"/>
              <a:t>SYED HASAN SAEED</a:t>
            </a:r>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5D0B6073-5D1D-4FFC-A6EE-DE25C10108F0}" type="slidenum">
              <a:rPr lang="en-US" smtClean="0"/>
              <a:pPr/>
              <a:t>‹#›</a:t>
            </a:fld>
            <a:endParaRPr 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f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r>
              <a:rPr lang="en-IN"/>
              <a:t>UNIT I    </a:t>
            </a:r>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AD9EAFBD-25CE-4C15-B74F-6A06B07F8378}" type="datetimeFigureOut">
              <a:rPr lang="en-US" smtClean="0"/>
              <a:pPr/>
              <a:t>7/31/2026</a:t>
            </a:fld>
            <a:endParaRPr lang="en-IN"/>
          </a:p>
        </p:txBody>
      </p:sp>
      <p:sp>
        <p:nvSpPr>
          <p:cNvPr id="4" name="Slide Image Placeholder 3"/>
          <p:cNvSpPr>
            <a:spLocks noGrp="1" noRot="1" noChangeAspect="1"/>
          </p:cNvSpPr>
          <p:nvPr>
            <p:ph type="sldImg" idx="2"/>
          </p:nvPr>
        </p:nvSpPr>
        <p:spPr>
          <a:xfrm>
            <a:off x="382588" y="685800"/>
            <a:ext cx="6092825"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r>
              <a:rPr lang="en-IN"/>
              <a:t>SYED HASAN SAEED</a:t>
            </a:r>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275D2FF-B3A5-455E-B80B-1FE42233847C}" type="slidenum">
              <a:rPr lang="en-IN" smtClean="0"/>
              <a:pPr/>
              <a:t>‹#›</a:t>
            </a:fld>
            <a:endParaRPr lang="en-IN"/>
          </a:p>
        </p:txBody>
      </p:sp>
    </p:spTree>
  </p:cSld>
  <p:clrMap bg1="lt1" tx1="dk1" bg2="lt2" tx2="dk2" accent1="accent1" accent2="accent2" accent3="accent3" accent4="accent4" accent5="accent5" accent6="accent6" hlink="hlink" folHlink="folHlink"/>
  <p:hf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685800"/>
            <a:ext cx="6092825" cy="34290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6275D2FF-B3A5-455E-B80B-1FE42233847C}" type="slidenum">
              <a:rPr lang="en-IN" smtClean="0"/>
              <a:pPr/>
              <a:t>4</a:t>
            </a:fld>
            <a:endParaRPr lang="en-IN"/>
          </a:p>
        </p:txBody>
      </p:sp>
      <p:sp>
        <p:nvSpPr>
          <p:cNvPr id="5" name="Footer Placeholder 4"/>
          <p:cNvSpPr>
            <a:spLocks noGrp="1"/>
          </p:cNvSpPr>
          <p:nvPr>
            <p:ph type="ftr" sz="quarter" idx="11"/>
          </p:nvPr>
        </p:nvSpPr>
        <p:spPr/>
        <p:txBody>
          <a:bodyPr/>
          <a:lstStyle/>
          <a:p>
            <a:r>
              <a:rPr lang="en-IN"/>
              <a:t>SYED HASAN SAEED</a:t>
            </a:r>
          </a:p>
        </p:txBody>
      </p:sp>
      <p:sp>
        <p:nvSpPr>
          <p:cNvPr id="6" name="Header Placeholder 5"/>
          <p:cNvSpPr>
            <a:spLocks noGrp="1"/>
          </p:cNvSpPr>
          <p:nvPr>
            <p:ph type="hdr" sz="quarter" idx="12"/>
          </p:nvPr>
        </p:nvSpPr>
        <p:spPr/>
        <p:txBody>
          <a:bodyPr/>
          <a:lstStyle/>
          <a:p>
            <a:r>
              <a:rPr lang="en-IN"/>
              <a:t>UNIT I    </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685800"/>
            <a:ext cx="6092825" cy="3429000"/>
          </a:xfrm>
        </p:spPr>
      </p:sp>
      <p:sp>
        <p:nvSpPr>
          <p:cNvPr id="3" name="Notes Placeholder 2"/>
          <p:cNvSpPr>
            <a:spLocks noGrp="1"/>
          </p:cNvSpPr>
          <p:nvPr>
            <p:ph type="body" idx="1"/>
          </p:nvPr>
        </p:nvSpPr>
        <p:spPr/>
        <p:txBody>
          <a:bodyPr>
            <a:normAutofit/>
          </a:bodyPr>
          <a:lstStyle/>
          <a:p>
            <a:endParaRPr lang="en-IN"/>
          </a:p>
        </p:txBody>
      </p:sp>
      <p:sp>
        <p:nvSpPr>
          <p:cNvPr id="4" name="Slide Number Placeholder 3"/>
          <p:cNvSpPr>
            <a:spLocks noGrp="1"/>
          </p:cNvSpPr>
          <p:nvPr>
            <p:ph type="sldNum" sz="quarter" idx="10"/>
          </p:nvPr>
        </p:nvSpPr>
        <p:spPr/>
        <p:txBody>
          <a:bodyPr/>
          <a:lstStyle/>
          <a:p>
            <a:fld id="{6275D2FF-B3A5-455E-B80B-1FE42233847C}" type="slidenum">
              <a:rPr lang="en-IN" smtClean="0"/>
              <a:pPr/>
              <a:t>11</a:t>
            </a:fld>
            <a:endParaRPr lang="en-IN"/>
          </a:p>
        </p:txBody>
      </p:sp>
      <p:sp>
        <p:nvSpPr>
          <p:cNvPr id="5" name="Footer Placeholder 4"/>
          <p:cNvSpPr>
            <a:spLocks noGrp="1"/>
          </p:cNvSpPr>
          <p:nvPr>
            <p:ph type="ftr" sz="quarter" idx="11"/>
          </p:nvPr>
        </p:nvSpPr>
        <p:spPr/>
        <p:txBody>
          <a:bodyPr/>
          <a:lstStyle/>
          <a:p>
            <a:r>
              <a:rPr lang="en-IN"/>
              <a:t>SYED HASAN SAEED</a:t>
            </a:r>
          </a:p>
        </p:txBody>
      </p:sp>
      <p:sp>
        <p:nvSpPr>
          <p:cNvPr id="6" name="Header Placeholder 5"/>
          <p:cNvSpPr>
            <a:spLocks noGrp="1"/>
          </p:cNvSpPr>
          <p:nvPr>
            <p:ph type="hdr" sz="quarter" idx="12"/>
          </p:nvPr>
        </p:nvSpPr>
        <p:spPr/>
        <p:txBody>
          <a:bodyPr/>
          <a:lstStyle/>
          <a:p>
            <a:r>
              <a:rPr lang="en-IN"/>
              <a:t>UNIT I    </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685800"/>
            <a:ext cx="6092825" cy="3429000"/>
          </a:xfrm>
        </p:spPr>
      </p:sp>
      <p:sp>
        <p:nvSpPr>
          <p:cNvPr id="3" name="Notes Placeholder 2"/>
          <p:cNvSpPr>
            <a:spLocks noGrp="1"/>
          </p:cNvSpPr>
          <p:nvPr>
            <p:ph type="body" idx="1"/>
          </p:nvPr>
        </p:nvSpPr>
        <p:spPr/>
        <p:txBody>
          <a:bodyPr>
            <a:normAutofit/>
          </a:bodyPr>
          <a:lstStyle/>
          <a:p>
            <a:endParaRPr lang="en-IN"/>
          </a:p>
        </p:txBody>
      </p:sp>
      <p:sp>
        <p:nvSpPr>
          <p:cNvPr id="4" name="Slide Number Placeholder 3"/>
          <p:cNvSpPr>
            <a:spLocks noGrp="1"/>
          </p:cNvSpPr>
          <p:nvPr>
            <p:ph type="sldNum" sz="quarter" idx="10"/>
          </p:nvPr>
        </p:nvSpPr>
        <p:spPr/>
        <p:txBody>
          <a:bodyPr/>
          <a:lstStyle/>
          <a:p>
            <a:fld id="{6275D2FF-B3A5-455E-B80B-1FE42233847C}" type="slidenum">
              <a:rPr lang="en-IN" smtClean="0"/>
              <a:pPr/>
              <a:t>12</a:t>
            </a:fld>
            <a:endParaRPr lang="en-IN"/>
          </a:p>
        </p:txBody>
      </p:sp>
      <p:sp>
        <p:nvSpPr>
          <p:cNvPr id="5" name="Footer Placeholder 4"/>
          <p:cNvSpPr>
            <a:spLocks noGrp="1"/>
          </p:cNvSpPr>
          <p:nvPr>
            <p:ph type="ftr" sz="quarter" idx="11"/>
          </p:nvPr>
        </p:nvSpPr>
        <p:spPr/>
        <p:txBody>
          <a:bodyPr/>
          <a:lstStyle/>
          <a:p>
            <a:r>
              <a:rPr lang="en-IN"/>
              <a:t>SYED HASAN SAEED</a:t>
            </a:r>
          </a:p>
        </p:txBody>
      </p:sp>
      <p:sp>
        <p:nvSpPr>
          <p:cNvPr id="6" name="Header Placeholder 5"/>
          <p:cNvSpPr>
            <a:spLocks noGrp="1"/>
          </p:cNvSpPr>
          <p:nvPr>
            <p:ph type="hdr" sz="quarter" idx="12"/>
          </p:nvPr>
        </p:nvSpPr>
        <p:spPr/>
        <p:txBody>
          <a:bodyPr/>
          <a:lstStyle/>
          <a:p>
            <a:r>
              <a:rPr lang="en-IN"/>
              <a:t>UNIT I    </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685800"/>
            <a:ext cx="6092825" cy="3429000"/>
          </a:xfrm>
        </p:spPr>
      </p:sp>
      <p:sp>
        <p:nvSpPr>
          <p:cNvPr id="3" name="Notes Placeholder 2"/>
          <p:cNvSpPr>
            <a:spLocks noGrp="1"/>
          </p:cNvSpPr>
          <p:nvPr>
            <p:ph type="body" idx="1"/>
          </p:nvPr>
        </p:nvSpPr>
        <p:spPr/>
        <p:txBody>
          <a:bodyPr>
            <a:normAutofit/>
          </a:bodyPr>
          <a:lstStyle/>
          <a:p>
            <a:endParaRPr lang="en-IN"/>
          </a:p>
        </p:txBody>
      </p:sp>
      <p:sp>
        <p:nvSpPr>
          <p:cNvPr id="4" name="Slide Number Placeholder 3"/>
          <p:cNvSpPr>
            <a:spLocks noGrp="1"/>
          </p:cNvSpPr>
          <p:nvPr>
            <p:ph type="sldNum" sz="quarter" idx="10"/>
          </p:nvPr>
        </p:nvSpPr>
        <p:spPr/>
        <p:txBody>
          <a:bodyPr/>
          <a:lstStyle/>
          <a:p>
            <a:fld id="{6275D2FF-B3A5-455E-B80B-1FE42233847C}" type="slidenum">
              <a:rPr lang="en-IN" smtClean="0"/>
              <a:pPr/>
              <a:t>13</a:t>
            </a:fld>
            <a:endParaRPr lang="en-IN"/>
          </a:p>
        </p:txBody>
      </p:sp>
      <p:sp>
        <p:nvSpPr>
          <p:cNvPr id="5" name="Footer Placeholder 4"/>
          <p:cNvSpPr>
            <a:spLocks noGrp="1"/>
          </p:cNvSpPr>
          <p:nvPr>
            <p:ph type="ftr" sz="quarter" idx="11"/>
          </p:nvPr>
        </p:nvSpPr>
        <p:spPr/>
        <p:txBody>
          <a:bodyPr/>
          <a:lstStyle/>
          <a:p>
            <a:r>
              <a:rPr lang="en-IN"/>
              <a:t>SYED HASAN SAEED</a:t>
            </a:r>
          </a:p>
        </p:txBody>
      </p:sp>
      <p:sp>
        <p:nvSpPr>
          <p:cNvPr id="6" name="Header Placeholder 5"/>
          <p:cNvSpPr>
            <a:spLocks noGrp="1"/>
          </p:cNvSpPr>
          <p:nvPr>
            <p:ph type="hdr" sz="quarter" idx="12"/>
          </p:nvPr>
        </p:nvSpPr>
        <p:spPr/>
        <p:txBody>
          <a:bodyPr/>
          <a:lstStyle/>
          <a:p>
            <a:r>
              <a:rPr lang="en-IN"/>
              <a:t>UNIT I    </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685800"/>
            <a:ext cx="6092825" cy="3429000"/>
          </a:xfrm>
        </p:spPr>
      </p:sp>
      <p:sp>
        <p:nvSpPr>
          <p:cNvPr id="3" name="Notes Placeholder 2"/>
          <p:cNvSpPr>
            <a:spLocks noGrp="1"/>
          </p:cNvSpPr>
          <p:nvPr>
            <p:ph type="body" idx="1"/>
          </p:nvPr>
        </p:nvSpPr>
        <p:spPr/>
        <p:txBody>
          <a:bodyPr>
            <a:normAutofit/>
          </a:bodyPr>
          <a:lstStyle/>
          <a:p>
            <a:endParaRPr lang="en-IN"/>
          </a:p>
        </p:txBody>
      </p:sp>
      <p:sp>
        <p:nvSpPr>
          <p:cNvPr id="4" name="Slide Number Placeholder 3"/>
          <p:cNvSpPr>
            <a:spLocks noGrp="1"/>
          </p:cNvSpPr>
          <p:nvPr>
            <p:ph type="sldNum" sz="quarter" idx="10"/>
          </p:nvPr>
        </p:nvSpPr>
        <p:spPr/>
        <p:txBody>
          <a:bodyPr/>
          <a:lstStyle/>
          <a:p>
            <a:fld id="{6275D2FF-B3A5-455E-B80B-1FE42233847C}" type="slidenum">
              <a:rPr lang="en-IN" smtClean="0"/>
              <a:pPr/>
              <a:t>15</a:t>
            </a:fld>
            <a:endParaRPr lang="en-IN"/>
          </a:p>
        </p:txBody>
      </p:sp>
      <p:sp>
        <p:nvSpPr>
          <p:cNvPr id="5" name="Footer Placeholder 4"/>
          <p:cNvSpPr>
            <a:spLocks noGrp="1"/>
          </p:cNvSpPr>
          <p:nvPr>
            <p:ph type="ftr" sz="quarter" idx="11"/>
          </p:nvPr>
        </p:nvSpPr>
        <p:spPr/>
        <p:txBody>
          <a:bodyPr/>
          <a:lstStyle/>
          <a:p>
            <a:r>
              <a:rPr lang="en-IN"/>
              <a:t>SYED HASAN SAEED</a:t>
            </a:r>
          </a:p>
        </p:txBody>
      </p:sp>
      <p:sp>
        <p:nvSpPr>
          <p:cNvPr id="6" name="Header Placeholder 5"/>
          <p:cNvSpPr>
            <a:spLocks noGrp="1"/>
          </p:cNvSpPr>
          <p:nvPr>
            <p:ph type="hdr" sz="quarter" idx="12"/>
          </p:nvPr>
        </p:nvSpPr>
        <p:spPr/>
        <p:txBody>
          <a:bodyPr/>
          <a:lstStyle/>
          <a:p>
            <a:r>
              <a:rPr lang="en-IN"/>
              <a:t>UNIT I    </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685800"/>
            <a:ext cx="6092825" cy="3429000"/>
          </a:xfrm>
        </p:spPr>
      </p:sp>
      <p:sp>
        <p:nvSpPr>
          <p:cNvPr id="3" name="Notes Placeholder 2"/>
          <p:cNvSpPr>
            <a:spLocks noGrp="1"/>
          </p:cNvSpPr>
          <p:nvPr>
            <p:ph type="body" idx="1"/>
          </p:nvPr>
        </p:nvSpPr>
        <p:spPr/>
        <p:txBody>
          <a:bodyPr>
            <a:normAutofit/>
          </a:bodyPr>
          <a:lstStyle/>
          <a:p>
            <a:endParaRPr lang="en-US" dirty="0"/>
          </a:p>
        </p:txBody>
      </p:sp>
      <p:sp>
        <p:nvSpPr>
          <p:cNvPr id="4" name="Header Placeholder 3"/>
          <p:cNvSpPr>
            <a:spLocks noGrp="1"/>
          </p:cNvSpPr>
          <p:nvPr>
            <p:ph type="hdr" sz="quarter" idx="10"/>
          </p:nvPr>
        </p:nvSpPr>
        <p:spPr/>
        <p:txBody>
          <a:bodyPr/>
          <a:lstStyle/>
          <a:p>
            <a:r>
              <a:rPr lang="en-IN"/>
              <a:t>UNIT I    </a:t>
            </a:r>
          </a:p>
        </p:txBody>
      </p:sp>
      <p:sp>
        <p:nvSpPr>
          <p:cNvPr id="5" name="Footer Placeholder 4"/>
          <p:cNvSpPr>
            <a:spLocks noGrp="1"/>
          </p:cNvSpPr>
          <p:nvPr>
            <p:ph type="ftr" sz="quarter" idx="11"/>
          </p:nvPr>
        </p:nvSpPr>
        <p:spPr/>
        <p:txBody>
          <a:bodyPr/>
          <a:lstStyle/>
          <a:p>
            <a:r>
              <a:rPr lang="en-IN"/>
              <a:t>SYED HASAN SAEED</a:t>
            </a:r>
          </a:p>
        </p:txBody>
      </p:sp>
      <p:sp>
        <p:nvSpPr>
          <p:cNvPr id="6" name="Slide Number Placeholder 5"/>
          <p:cNvSpPr>
            <a:spLocks noGrp="1"/>
          </p:cNvSpPr>
          <p:nvPr>
            <p:ph type="sldNum" sz="quarter" idx="12"/>
          </p:nvPr>
        </p:nvSpPr>
        <p:spPr/>
        <p:txBody>
          <a:bodyPr/>
          <a:lstStyle/>
          <a:p>
            <a:fld id="{6275D2FF-B3A5-455E-B80B-1FE42233847C}" type="slidenum">
              <a:rPr lang="en-IN" smtClean="0"/>
              <a:pPr/>
              <a:t>35</a:t>
            </a:fld>
            <a:endParaRPr lang="en-I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162" y="2130426"/>
            <a:ext cx="10360501" cy="1470025"/>
          </a:xfrm>
        </p:spPr>
        <p:txBody>
          <a:bodyPr/>
          <a:lstStyle/>
          <a:p>
            <a:r>
              <a:rPr lang="en-US"/>
              <a:t>Click to edit Master title style</a:t>
            </a:r>
            <a:endParaRPr lang="en-IN"/>
          </a:p>
        </p:txBody>
      </p:sp>
      <p:sp>
        <p:nvSpPr>
          <p:cNvPr id="3" name="Subtitle 2"/>
          <p:cNvSpPr>
            <a:spLocks noGrp="1"/>
          </p:cNvSpPr>
          <p:nvPr>
            <p:ph type="subTitle" idx="1"/>
          </p:nvPr>
        </p:nvSpPr>
        <p:spPr>
          <a:xfrm>
            <a:off x="1828324" y="3886200"/>
            <a:ext cx="8532178"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DD84608D-500E-4F14-8F11-1D965BA24CC4}" type="datetime1">
              <a:rPr lang="en-US" smtClean="0"/>
              <a:pPr/>
              <a:t>7/31/2026</a:t>
            </a:fld>
            <a:endParaRPr lang="en-IN"/>
          </a:p>
        </p:txBody>
      </p:sp>
      <p:sp>
        <p:nvSpPr>
          <p:cNvPr id="5" name="Footer Placeholder 4"/>
          <p:cNvSpPr>
            <a:spLocks noGrp="1"/>
          </p:cNvSpPr>
          <p:nvPr>
            <p:ph type="ftr" sz="quarter" idx="11"/>
          </p:nvPr>
        </p:nvSpPr>
        <p:spPr/>
        <p:txBody>
          <a:bodyPr/>
          <a:lstStyle/>
          <a:p>
            <a:r>
              <a:rPr lang="en-US"/>
              <a:t>SYED HASAN SAEED, INTEGRAL UNIVERSITY, LUCKNOW, INDIA</a:t>
            </a:r>
            <a:endParaRPr lang="en-IN"/>
          </a:p>
        </p:txBody>
      </p:sp>
      <p:sp>
        <p:nvSpPr>
          <p:cNvPr id="6" name="Slide Number Placeholder 5"/>
          <p:cNvSpPr>
            <a:spLocks noGrp="1"/>
          </p:cNvSpPr>
          <p:nvPr>
            <p:ph type="sldNum" sz="quarter" idx="12"/>
          </p:nvPr>
        </p:nvSpPr>
        <p:spPr/>
        <p:txBody>
          <a:bodyPr/>
          <a:lstStyle/>
          <a:p>
            <a:fld id="{794472C8-07AE-4D03-9F73-512FB105EB04}" type="slidenum">
              <a:rPr lang="en-IN" smtClean="0"/>
              <a:pPr/>
              <a:t>‹#›</a:t>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CAD2BB77-313E-4D01-9379-CC0F0D4C86CA}" type="datetime1">
              <a:rPr lang="en-US" smtClean="0"/>
              <a:pPr/>
              <a:t>7/31/2026</a:t>
            </a:fld>
            <a:endParaRPr lang="en-IN"/>
          </a:p>
        </p:txBody>
      </p:sp>
      <p:sp>
        <p:nvSpPr>
          <p:cNvPr id="5" name="Footer Placeholder 4"/>
          <p:cNvSpPr>
            <a:spLocks noGrp="1"/>
          </p:cNvSpPr>
          <p:nvPr>
            <p:ph type="ftr" sz="quarter" idx="11"/>
          </p:nvPr>
        </p:nvSpPr>
        <p:spPr/>
        <p:txBody>
          <a:bodyPr/>
          <a:lstStyle/>
          <a:p>
            <a:r>
              <a:rPr lang="en-US"/>
              <a:t>SYED HASAN SAEED, INTEGRAL UNIVERSITY, LUCKNOW, INDIA</a:t>
            </a:r>
            <a:endParaRPr lang="en-IN"/>
          </a:p>
        </p:txBody>
      </p:sp>
      <p:sp>
        <p:nvSpPr>
          <p:cNvPr id="6" name="Slide Number Placeholder 5"/>
          <p:cNvSpPr>
            <a:spLocks noGrp="1"/>
          </p:cNvSpPr>
          <p:nvPr>
            <p:ph type="sldNum" sz="quarter" idx="12"/>
          </p:nvPr>
        </p:nvSpPr>
        <p:spPr/>
        <p:txBody>
          <a:bodyPr/>
          <a:lstStyle/>
          <a:p>
            <a:fld id="{794472C8-07AE-4D03-9F73-512FB105EB04}" type="slidenum">
              <a:rPr lang="en-IN" smtClean="0"/>
              <a:pPr/>
              <a:t>‹#›</a:t>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2833" y="4406901"/>
            <a:ext cx="10360501" cy="1362075"/>
          </a:xfrm>
        </p:spPr>
        <p:txBody>
          <a:bodyPr anchor="t"/>
          <a:lstStyle>
            <a:lvl1pPr algn="l">
              <a:defRPr sz="4000" b="1" cap="all"/>
            </a:lvl1pPr>
          </a:lstStyle>
          <a:p>
            <a:r>
              <a:rPr lang="en-US"/>
              <a:t>Click to edit Master title style</a:t>
            </a:r>
            <a:endParaRPr lang="en-IN"/>
          </a:p>
        </p:txBody>
      </p:sp>
      <p:sp>
        <p:nvSpPr>
          <p:cNvPr id="3" name="Text Placeholder 2"/>
          <p:cNvSpPr>
            <a:spLocks noGrp="1"/>
          </p:cNvSpPr>
          <p:nvPr>
            <p:ph type="body" idx="1"/>
          </p:nvPr>
        </p:nvSpPr>
        <p:spPr>
          <a:xfrm>
            <a:off x="962833" y="2906713"/>
            <a:ext cx="10360501"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F13FA49-CF61-409A-8C5E-E2336A2B8E9E}" type="datetime1">
              <a:rPr lang="en-US" smtClean="0"/>
              <a:pPr/>
              <a:t>7/31/2026</a:t>
            </a:fld>
            <a:endParaRPr lang="en-IN"/>
          </a:p>
        </p:txBody>
      </p:sp>
      <p:sp>
        <p:nvSpPr>
          <p:cNvPr id="5" name="Footer Placeholder 4"/>
          <p:cNvSpPr>
            <a:spLocks noGrp="1"/>
          </p:cNvSpPr>
          <p:nvPr>
            <p:ph type="ftr" sz="quarter" idx="11"/>
          </p:nvPr>
        </p:nvSpPr>
        <p:spPr/>
        <p:txBody>
          <a:bodyPr/>
          <a:lstStyle/>
          <a:p>
            <a:r>
              <a:rPr lang="en-US"/>
              <a:t>SYED HASAN SAEED, INTEGRAL UNIVERSITY, LUCKNOW, INDIA</a:t>
            </a:r>
            <a:endParaRPr lang="en-IN"/>
          </a:p>
        </p:txBody>
      </p:sp>
      <p:sp>
        <p:nvSpPr>
          <p:cNvPr id="6" name="Slide Number Placeholder 5"/>
          <p:cNvSpPr>
            <a:spLocks noGrp="1"/>
          </p:cNvSpPr>
          <p:nvPr>
            <p:ph type="sldNum" sz="quarter" idx="12"/>
          </p:nvPr>
        </p:nvSpPr>
        <p:spPr/>
        <p:txBody>
          <a:bodyPr/>
          <a:lstStyle/>
          <a:p>
            <a:fld id="{794472C8-07AE-4D03-9F73-512FB105EB04}" type="slidenum">
              <a:rPr lang="en-IN" smtClean="0"/>
              <a:pPr/>
              <a:t>‹#›</a:t>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609441" y="1600201"/>
            <a:ext cx="5383398"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95986" y="1600201"/>
            <a:ext cx="5383398"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8896D347-90DD-4F3C-BA67-E8C27E8538A9}" type="datetime1">
              <a:rPr lang="en-US" smtClean="0"/>
              <a:pPr/>
              <a:t>7/31/2026</a:t>
            </a:fld>
            <a:endParaRPr lang="en-IN"/>
          </a:p>
        </p:txBody>
      </p:sp>
      <p:sp>
        <p:nvSpPr>
          <p:cNvPr id="6" name="Footer Placeholder 5"/>
          <p:cNvSpPr>
            <a:spLocks noGrp="1"/>
          </p:cNvSpPr>
          <p:nvPr>
            <p:ph type="ftr" sz="quarter" idx="11"/>
          </p:nvPr>
        </p:nvSpPr>
        <p:spPr/>
        <p:txBody>
          <a:bodyPr/>
          <a:lstStyle/>
          <a:p>
            <a:r>
              <a:rPr lang="en-US"/>
              <a:t>SYED HASAN SAEED, INTEGRAL UNIVERSITY, LUCKNOW, INDIA</a:t>
            </a:r>
            <a:endParaRPr lang="en-IN"/>
          </a:p>
        </p:txBody>
      </p:sp>
      <p:sp>
        <p:nvSpPr>
          <p:cNvPr id="7" name="Slide Number Placeholder 6"/>
          <p:cNvSpPr>
            <a:spLocks noGrp="1"/>
          </p:cNvSpPr>
          <p:nvPr>
            <p:ph type="sldNum" sz="quarter" idx="12"/>
          </p:nvPr>
        </p:nvSpPr>
        <p:spPr/>
        <p:txBody>
          <a:bodyPr/>
          <a:lstStyle/>
          <a:p>
            <a:fld id="{794472C8-07AE-4D03-9F73-512FB105EB04}" type="slidenum">
              <a:rPr lang="en-IN" smtClean="0"/>
              <a:pPr/>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IN"/>
          </a:p>
        </p:txBody>
      </p:sp>
      <p:sp>
        <p:nvSpPr>
          <p:cNvPr id="3" name="Text Placeholder 2"/>
          <p:cNvSpPr>
            <a:spLocks noGrp="1"/>
          </p:cNvSpPr>
          <p:nvPr>
            <p:ph type="body" idx="1"/>
          </p:nvPr>
        </p:nvSpPr>
        <p:spPr>
          <a:xfrm>
            <a:off x="609441" y="1535113"/>
            <a:ext cx="5385514"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441" y="2174875"/>
            <a:ext cx="5385514"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91754" y="1535113"/>
            <a:ext cx="5387630"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1754" y="2174875"/>
            <a:ext cx="538763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F0932990-3028-4A34-AF92-35391E0897CC}" type="datetime1">
              <a:rPr lang="en-US" smtClean="0"/>
              <a:pPr/>
              <a:t>7/31/2026</a:t>
            </a:fld>
            <a:endParaRPr lang="en-IN"/>
          </a:p>
        </p:txBody>
      </p:sp>
      <p:sp>
        <p:nvSpPr>
          <p:cNvPr id="8" name="Footer Placeholder 7"/>
          <p:cNvSpPr>
            <a:spLocks noGrp="1"/>
          </p:cNvSpPr>
          <p:nvPr>
            <p:ph type="ftr" sz="quarter" idx="11"/>
          </p:nvPr>
        </p:nvSpPr>
        <p:spPr/>
        <p:txBody>
          <a:bodyPr/>
          <a:lstStyle/>
          <a:p>
            <a:r>
              <a:rPr lang="en-US"/>
              <a:t>SYED HASAN SAEED, INTEGRAL UNIVERSITY, LUCKNOW, INDIA</a:t>
            </a:r>
            <a:endParaRPr lang="en-IN"/>
          </a:p>
        </p:txBody>
      </p:sp>
      <p:sp>
        <p:nvSpPr>
          <p:cNvPr id="9" name="Slide Number Placeholder 8"/>
          <p:cNvSpPr>
            <a:spLocks noGrp="1"/>
          </p:cNvSpPr>
          <p:nvPr>
            <p:ph type="sldNum" sz="quarter" idx="12"/>
          </p:nvPr>
        </p:nvSpPr>
        <p:spPr/>
        <p:txBody>
          <a:bodyPr/>
          <a:lstStyle/>
          <a:p>
            <a:fld id="{794472C8-07AE-4D03-9F73-512FB105EB04}" type="slidenum">
              <a:rPr lang="en-IN" smtClean="0"/>
              <a:pPr/>
              <a:t>‹#›</a:t>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0FC8BF7B-AC15-4FE5-8ECA-71228250F8A7}" type="datetime1">
              <a:rPr lang="en-US" smtClean="0"/>
              <a:pPr/>
              <a:t>7/31/2026</a:t>
            </a:fld>
            <a:endParaRPr lang="en-IN"/>
          </a:p>
        </p:txBody>
      </p:sp>
      <p:sp>
        <p:nvSpPr>
          <p:cNvPr id="4" name="Footer Placeholder 3"/>
          <p:cNvSpPr>
            <a:spLocks noGrp="1"/>
          </p:cNvSpPr>
          <p:nvPr>
            <p:ph type="ftr" sz="quarter" idx="11"/>
          </p:nvPr>
        </p:nvSpPr>
        <p:spPr/>
        <p:txBody>
          <a:bodyPr/>
          <a:lstStyle/>
          <a:p>
            <a:r>
              <a:rPr lang="en-US"/>
              <a:t>SYED HASAN SAEED, INTEGRAL UNIVERSITY, LUCKNOW, INDIA</a:t>
            </a:r>
            <a:endParaRPr lang="en-IN"/>
          </a:p>
        </p:txBody>
      </p:sp>
      <p:sp>
        <p:nvSpPr>
          <p:cNvPr id="5" name="Slide Number Placeholder 4"/>
          <p:cNvSpPr>
            <a:spLocks noGrp="1"/>
          </p:cNvSpPr>
          <p:nvPr>
            <p:ph type="sldNum" sz="quarter" idx="12"/>
          </p:nvPr>
        </p:nvSpPr>
        <p:spPr/>
        <p:txBody>
          <a:bodyPr/>
          <a:lstStyle/>
          <a:p>
            <a:fld id="{794472C8-07AE-4D03-9F73-512FB105EB04}" type="slidenum">
              <a:rPr lang="en-IN" smtClean="0"/>
              <a:pPr/>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EECA954-8E75-4A52-A1AF-5F54CD530B37}" type="datetime1">
              <a:rPr lang="en-US" smtClean="0"/>
              <a:pPr/>
              <a:t>7/31/2026</a:t>
            </a:fld>
            <a:endParaRPr lang="en-IN"/>
          </a:p>
        </p:txBody>
      </p:sp>
      <p:sp>
        <p:nvSpPr>
          <p:cNvPr id="3" name="Footer Placeholder 2"/>
          <p:cNvSpPr>
            <a:spLocks noGrp="1"/>
          </p:cNvSpPr>
          <p:nvPr>
            <p:ph type="ftr" sz="quarter" idx="11"/>
          </p:nvPr>
        </p:nvSpPr>
        <p:spPr/>
        <p:txBody>
          <a:bodyPr/>
          <a:lstStyle/>
          <a:p>
            <a:r>
              <a:rPr lang="en-US"/>
              <a:t>SYED HASAN SAEED, INTEGRAL UNIVERSITY, LUCKNOW, INDIA</a:t>
            </a:r>
            <a:endParaRPr lang="en-IN"/>
          </a:p>
        </p:txBody>
      </p:sp>
      <p:sp>
        <p:nvSpPr>
          <p:cNvPr id="4" name="Slide Number Placeholder 3"/>
          <p:cNvSpPr>
            <a:spLocks noGrp="1"/>
          </p:cNvSpPr>
          <p:nvPr>
            <p:ph type="sldNum" sz="quarter" idx="12"/>
          </p:nvPr>
        </p:nvSpPr>
        <p:spPr/>
        <p:txBody>
          <a:bodyPr/>
          <a:lstStyle/>
          <a:p>
            <a:fld id="{794472C8-07AE-4D03-9F73-512FB105EB04}" type="slidenum">
              <a:rPr lang="en-IN" smtClean="0"/>
              <a:pPr/>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442" y="273050"/>
            <a:ext cx="4010039" cy="1162050"/>
          </a:xfrm>
        </p:spPr>
        <p:txBody>
          <a:bodyPr anchor="b"/>
          <a:lstStyle>
            <a:lvl1pPr algn="l">
              <a:defRPr sz="2000" b="1"/>
            </a:lvl1pPr>
          </a:lstStyle>
          <a:p>
            <a:r>
              <a:rPr lang="en-US"/>
              <a:t>Click to edit Master title style</a:t>
            </a:r>
            <a:endParaRPr lang="en-IN"/>
          </a:p>
        </p:txBody>
      </p:sp>
      <p:sp>
        <p:nvSpPr>
          <p:cNvPr id="3" name="Content Placeholder 2"/>
          <p:cNvSpPr>
            <a:spLocks noGrp="1"/>
          </p:cNvSpPr>
          <p:nvPr>
            <p:ph idx="1"/>
          </p:nvPr>
        </p:nvSpPr>
        <p:spPr>
          <a:xfrm>
            <a:off x="4765492" y="273051"/>
            <a:ext cx="6813892"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609442" y="1435101"/>
            <a:ext cx="4010039"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7C07F17-5C1A-4FE8-99ED-0C7D70D578D4}" type="datetime1">
              <a:rPr lang="en-US" smtClean="0"/>
              <a:pPr/>
              <a:t>7/31/2026</a:t>
            </a:fld>
            <a:endParaRPr lang="en-IN"/>
          </a:p>
        </p:txBody>
      </p:sp>
      <p:sp>
        <p:nvSpPr>
          <p:cNvPr id="6" name="Footer Placeholder 5"/>
          <p:cNvSpPr>
            <a:spLocks noGrp="1"/>
          </p:cNvSpPr>
          <p:nvPr>
            <p:ph type="ftr" sz="quarter" idx="11"/>
          </p:nvPr>
        </p:nvSpPr>
        <p:spPr/>
        <p:txBody>
          <a:bodyPr/>
          <a:lstStyle/>
          <a:p>
            <a:r>
              <a:rPr lang="en-US"/>
              <a:t>SYED HASAN SAEED, INTEGRAL UNIVERSITY, LUCKNOW, INDIA</a:t>
            </a:r>
            <a:endParaRPr lang="en-IN"/>
          </a:p>
        </p:txBody>
      </p:sp>
      <p:sp>
        <p:nvSpPr>
          <p:cNvPr id="7" name="Slide Number Placeholder 6"/>
          <p:cNvSpPr>
            <a:spLocks noGrp="1"/>
          </p:cNvSpPr>
          <p:nvPr>
            <p:ph type="sldNum" sz="quarter" idx="12"/>
          </p:nvPr>
        </p:nvSpPr>
        <p:spPr/>
        <p:txBody>
          <a:bodyPr/>
          <a:lstStyle/>
          <a:p>
            <a:fld id="{794472C8-07AE-4D03-9F73-512FB105EB04}" type="slidenum">
              <a:rPr lang="en-IN" smtClean="0"/>
              <a:pPr/>
              <a:t>‹#›</a:t>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095" y="4800600"/>
            <a:ext cx="7313295" cy="566738"/>
          </a:xfrm>
        </p:spPr>
        <p:txBody>
          <a:bodyPr anchor="b"/>
          <a:lstStyle>
            <a:lvl1pPr algn="l">
              <a:defRPr sz="2000" b="1"/>
            </a:lvl1pPr>
          </a:lstStyle>
          <a:p>
            <a:r>
              <a:rPr lang="en-US"/>
              <a:t>Click to edit Master title style</a:t>
            </a:r>
            <a:endParaRPr lang="en-IN"/>
          </a:p>
        </p:txBody>
      </p:sp>
      <p:sp>
        <p:nvSpPr>
          <p:cNvPr id="3" name="Picture Placeholder 2"/>
          <p:cNvSpPr>
            <a:spLocks noGrp="1"/>
          </p:cNvSpPr>
          <p:nvPr>
            <p:ph type="pic" idx="1"/>
          </p:nvPr>
        </p:nvSpPr>
        <p:spPr>
          <a:xfrm>
            <a:off x="2389095" y="612775"/>
            <a:ext cx="7313295"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2389095" y="5367338"/>
            <a:ext cx="7313295"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11F5B6C-3F9C-4721-B26D-57E4341447D7}" type="datetime1">
              <a:rPr lang="en-US" smtClean="0"/>
              <a:pPr/>
              <a:t>7/31/2026</a:t>
            </a:fld>
            <a:endParaRPr lang="en-IN"/>
          </a:p>
        </p:txBody>
      </p:sp>
      <p:sp>
        <p:nvSpPr>
          <p:cNvPr id="6" name="Footer Placeholder 5"/>
          <p:cNvSpPr>
            <a:spLocks noGrp="1"/>
          </p:cNvSpPr>
          <p:nvPr>
            <p:ph type="ftr" sz="quarter" idx="11"/>
          </p:nvPr>
        </p:nvSpPr>
        <p:spPr/>
        <p:txBody>
          <a:bodyPr/>
          <a:lstStyle/>
          <a:p>
            <a:r>
              <a:rPr lang="en-US"/>
              <a:t>SYED HASAN SAEED, INTEGRAL UNIVERSITY, LUCKNOW, INDIA</a:t>
            </a:r>
            <a:endParaRPr lang="en-IN"/>
          </a:p>
        </p:txBody>
      </p:sp>
      <p:sp>
        <p:nvSpPr>
          <p:cNvPr id="7" name="Slide Number Placeholder 6"/>
          <p:cNvSpPr>
            <a:spLocks noGrp="1"/>
          </p:cNvSpPr>
          <p:nvPr>
            <p:ph type="sldNum" sz="quarter" idx="12"/>
          </p:nvPr>
        </p:nvSpPr>
        <p:spPr/>
        <p:txBody>
          <a:bodyPr/>
          <a:lstStyle/>
          <a:p>
            <a:fld id="{794472C8-07AE-4D03-9F73-512FB105EB04}" type="slidenum">
              <a:rPr lang="en-IN" smtClean="0"/>
              <a:pPr/>
              <a:t>‹#›</a:t>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32AF88DC-19F8-4DB1-9B44-5F6F3934F198}" type="datetime1">
              <a:rPr lang="en-US" smtClean="0"/>
              <a:pPr/>
              <a:t>7/31/2026</a:t>
            </a:fld>
            <a:endParaRPr lang="en-IN"/>
          </a:p>
        </p:txBody>
      </p:sp>
      <p:sp>
        <p:nvSpPr>
          <p:cNvPr id="5" name="Footer Placeholder 4"/>
          <p:cNvSpPr>
            <a:spLocks noGrp="1"/>
          </p:cNvSpPr>
          <p:nvPr>
            <p:ph type="ftr" sz="quarter" idx="11"/>
          </p:nvPr>
        </p:nvSpPr>
        <p:spPr/>
        <p:txBody>
          <a:bodyPr/>
          <a:lstStyle/>
          <a:p>
            <a:r>
              <a:rPr lang="en-US"/>
              <a:t>SYED HASAN SAEED, INTEGRAL UNIVERSITY, LUCKNOW, INDIA</a:t>
            </a:r>
            <a:endParaRPr lang="en-IN"/>
          </a:p>
        </p:txBody>
      </p:sp>
      <p:sp>
        <p:nvSpPr>
          <p:cNvPr id="6" name="Slide Number Placeholder 5"/>
          <p:cNvSpPr>
            <a:spLocks noGrp="1"/>
          </p:cNvSpPr>
          <p:nvPr>
            <p:ph type="sldNum" sz="quarter" idx="12"/>
          </p:nvPr>
        </p:nvSpPr>
        <p:spPr/>
        <p:txBody>
          <a:bodyPr/>
          <a:lstStyle/>
          <a:p>
            <a:fld id="{794472C8-07AE-4D03-9F73-512FB105EB04}" type="slidenum">
              <a:rPr lang="en-IN" smtClean="0"/>
              <a:pPr/>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6898" y="274639"/>
            <a:ext cx="2742486" cy="5851525"/>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609441" y="274639"/>
            <a:ext cx="802431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DF8A8614-CE3E-44C9-9445-10A3CC862578}" type="datetime1">
              <a:rPr lang="en-US" smtClean="0"/>
              <a:pPr/>
              <a:t>7/31/2026</a:t>
            </a:fld>
            <a:endParaRPr lang="en-IN"/>
          </a:p>
        </p:txBody>
      </p:sp>
      <p:sp>
        <p:nvSpPr>
          <p:cNvPr id="5" name="Footer Placeholder 4"/>
          <p:cNvSpPr>
            <a:spLocks noGrp="1"/>
          </p:cNvSpPr>
          <p:nvPr>
            <p:ph type="ftr" sz="quarter" idx="11"/>
          </p:nvPr>
        </p:nvSpPr>
        <p:spPr/>
        <p:txBody>
          <a:bodyPr/>
          <a:lstStyle/>
          <a:p>
            <a:r>
              <a:rPr lang="en-US"/>
              <a:t>SYED HASAN SAEED, INTEGRAL UNIVERSITY, LUCKNOW, INDIA</a:t>
            </a:r>
            <a:endParaRPr lang="en-IN"/>
          </a:p>
        </p:txBody>
      </p:sp>
      <p:sp>
        <p:nvSpPr>
          <p:cNvPr id="6" name="Slide Number Placeholder 5"/>
          <p:cNvSpPr>
            <a:spLocks noGrp="1"/>
          </p:cNvSpPr>
          <p:nvPr>
            <p:ph type="sldNum" sz="quarter" idx="12"/>
          </p:nvPr>
        </p:nvSpPr>
        <p:spPr/>
        <p:txBody>
          <a:bodyPr/>
          <a:lstStyle/>
          <a:p>
            <a:fld id="{794472C8-07AE-4D03-9F73-512FB105EB04}" type="slidenum">
              <a:rPr lang="en-IN" smtClean="0"/>
              <a:pPr/>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441" y="274638"/>
            <a:ext cx="10969943" cy="1143000"/>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609441" y="1600201"/>
            <a:ext cx="10969943"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609441" y="6356351"/>
            <a:ext cx="2844059"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F02D73E-A98B-4360-8B8D-C436FBD8FE6D}" type="datetime1">
              <a:rPr lang="en-US" smtClean="0"/>
              <a:pPr/>
              <a:t>7/31/2026</a:t>
            </a:fld>
            <a:endParaRPr lang="en-IN"/>
          </a:p>
        </p:txBody>
      </p:sp>
      <p:sp>
        <p:nvSpPr>
          <p:cNvPr id="5" name="Footer Placeholder 4"/>
          <p:cNvSpPr>
            <a:spLocks noGrp="1"/>
          </p:cNvSpPr>
          <p:nvPr>
            <p:ph type="ftr" sz="quarter" idx="3"/>
          </p:nvPr>
        </p:nvSpPr>
        <p:spPr>
          <a:xfrm>
            <a:off x="4164515" y="6356351"/>
            <a:ext cx="3859795"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SYED HASAN SAEED, INTEGRAL UNIVERSITY, LUCKNOW, INDIA</a:t>
            </a:r>
            <a:endParaRPr lang="en-IN"/>
          </a:p>
        </p:txBody>
      </p:sp>
      <p:sp>
        <p:nvSpPr>
          <p:cNvPr id="6" name="Slide Number Placeholder 5"/>
          <p:cNvSpPr>
            <a:spLocks noGrp="1"/>
          </p:cNvSpPr>
          <p:nvPr>
            <p:ph type="sldNum" sz="quarter" idx="4"/>
          </p:nvPr>
        </p:nvSpPr>
        <p:spPr>
          <a:xfrm>
            <a:off x="8735325" y="6356351"/>
            <a:ext cx="2844059"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94472C8-07AE-4D03-9F73-512FB105EB04}" type="slidenum">
              <a:rPr lang="en-IN" smtClean="0"/>
              <a:pPr/>
              <a:t>‹#›</a:t>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 Id="rId5" Type="http://schemas.openxmlformats.org/officeDocument/2006/relationships/image" Target="../media/image4.jpeg"/><Relationship Id="rId4" Type="http://schemas.openxmlformats.org/officeDocument/2006/relationships/image" Target="../media/image3.jpe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8" Type="http://schemas.openxmlformats.org/officeDocument/2006/relationships/hyperlink" Target="https://www.slido.com/support/ppi/how-to-change-the-design" TargetMode="External"/><Relationship Id="rId3" Type="http://schemas.openxmlformats.org/officeDocument/2006/relationships/tags" Target="../tags/tag4.xml"/><Relationship Id="rId7" Type="http://schemas.openxmlformats.org/officeDocument/2006/relationships/image" Target="../media/image6.svg"/><Relationship Id="rId2" Type="http://schemas.openxmlformats.org/officeDocument/2006/relationships/tags" Target="../tags/tag3.xml"/><Relationship Id="rId1" Type="http://schemas.openxmlformats.org/officeDocument/2006/relationships/tags" Target="../tags/tag2.xml"/><Relationship Id="rId6" Type="http://schemas.openxmlformats.org/officeDocument/2006/relationships/hyperlink" Target="https://www.slido.com/powerpoint-polling?utm_source=powerpoint&amp;utm_medium=placeholder-slide" TargetMode="External"/><Relationship Id="rId5" Type="http://schemas.openxmlformats.org/officeDocument/2006/relationships/image" Target="../media/image5.svg"/><Relationship Id="rId4" Type="http://schemas.openxmlformats.org/officeDocument/2006/relationships/slideLayout" Target="../slideLayouts/slideLayout7.xml"/><Relationship Id="rId9" Type="http://schemas.openxmlformats.org/officeDocument/2006/relationships/image" Target="../media/image7.svg"/></Relationships>
</file>

<file path=ppt/slides/_rels/slide10.xml.rels><?xml version="1.0" encoding="UTF-8" standalone="yes"?>
<Relationships xmlns="http://schemas.openxmlformats.org/package/2006/relationships"><Relationship Id="rId2" Type="http://schemas.openxmlformats.org/officeDocument/2006/relationships/hyperlink" Target="https://www.slideshare.net/AmitNevase/control-system-63615804?qid=c8d0cf53-5c3f-4ee1-8f62-0267cd6cbd84&amp;v=&amp;b=&amp;from_search=3" TargetMode="Externa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hyperlink" Target="https://www.slideshare.net/AmitNevase/control-system-63615804?qid=c8d0cf53-5c3f-4ee1-8f62-0267cd6cbd84&amp;v=&amp;b=&amp;from_search=3" TargetMode="External"/></Relationships>
</file>

<file path=ppt/slides/_rels/slide12.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hyperlink" Target="https://www.slideshare.net/AmitNevase/control-system-63615804?qid=c8d0cf53-5c3f-4ee1-8f62-0267cd6cbd84&amp;v=&amp;b=&amp;from_search=3" TargetMode="External"/></Relationships>
</file>

<file path=ppt/slides/_rels/slide13.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10.jpeg"/></Relationships>
</file>

<file path=ppt/slides/_rels/slide14.xml.rels><?xml version="1.0" encoding="UTF-8" standalone="yes"?>
<Relationships xmlns="http://schemas.openxmlformats.org/package/2006/relationships"><Relationship Id="rId8" Type="http://schemas.openxmlformats.org/officeDocument/2006/relationships/hyperlink" Target="https://www.slido.com/support/ppi/how-to-change-the-design" TargetMode="External"/><Relationship Id="rId3" Type="http://schemas.openxmlformats.org/officeDocument/2006/relationships/tags" Target="../tags/tag7.xml"/><Relationship Id="rId7" Type="http://schemas.openxmlformats.org/officeDocument/2006/relationships/image" Target="../media/image6.svg"/><Relationship Id="rId2" Type="http://schemas.openxmlformats.org/officeDocument/2006/relationships/tags" Target="../tags/tag6.xml"/><Relationship Id="rId1" Type="http://schemas.openxmlformats.org/officeDocument/2006/relationships/tags" Target="../tags/tag5.xml"/><Relationship Id="rId6" Type="http://schemas.openxmlformats.org/officeDocument/2006/relationships/hyperlink" Target="https://www.slido.com/powerpoint-polling?utm_source=powerpoint&amp;utm_medium=placeholder-slide" TargetMode="External"/><Relationship Id="rId5" Type="http://schemas.openxmlformats.org/officeDocument/2006/relationships/image" Target="../media/image5.svg"/><Relationship Id="rId4" Type="http://schemas.openxmlformats.org/officeDocument/2006/relationships/slideLayout" Target="../slideLayouts/slideLayout7.xml"/><Relationship Id="rId9" Type="http://schemas.openxmlformats.org/officeDocument/2006/relationships/image" Target="../media/image7.sv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1.jpeg"/><Relationship Id="rId1" Type="http://schemas.openxmlformats.org/officeDocument/2006/relationships/slideLayout" Target="../slideLayouts/slideLayout2.xml"/><Relationship Id="rId4" Type="http://schemas.openxmlformats.org/officeDocument/2006/relationships/image" Target="../media/image13.jpeg"/></Relationships>
</file>

<file path=ppt/slides/_rels/slide2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 Id="rId5" Type="http://schemas.microsoft.com/office/2007/relationships/hdphoto" Target="../media/hdphoto1.wdp"/><Relationship Id="rId4" Type="http://schemas.openxmlformats.org/officeDocument/2006/relationships/image" Target="../media/image16.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17.jpeg"/><Relationship Id="rId1" Type="http://schemas.openxmlformats.org/officeDocument/2006/relationships/slideLayout" Target="../slideLayouts/slideLayout2.xml"/><Relationship Id="rId4" Type="http://schemas.openxmlformats.org/officeDocument/2006/relationships/image" Target="../media/image19.jpeg"/></Relationships>
</file>

<file path=ppt/slides/_rels/slide27.xml.rels><?xml version="1.0" encoding="UTF-8" standalone="yes"?>
<Relationships xmlns="http://schemas.openxmlformats.org/package/2006/relationships"><Relationship Id="rId3" Type="http://schemas.openxmlformats.org/officeDocument/2006/relationships/hyperlink" Target="https://www.slideshare.net/AmitNevase/control-system-63615804?qid=c8d0cf53-5c3f-4ee1-8f62-0267cd6cbd84&amp;v=&amp;b=&amp;from_search=3" TargetMode="External"/><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8" Type="http://schemas.openxmlformats.org/officeDocument/2006/relationships/hyperlink" Target="https://www.slido.com/support/ppi/how-to-change-the-design" TargetMode="External"/><Relationship Id="rId3" Type="http://schemas.openxmlformats.org/officeDocument/2006/relationships/tags" Target="../tags/tag10.xml"/><Relationship Id="rId7" Type="http://schemas.openxmlformats.org/officeDocument/2006/relationships/image" Target="../media/image6.svg"/><Relationship Id="rId2" Type="http://schemas.openxmlformats.org/officeDocument/2006/relationships/tags" Target="../tags/tag9.xml"/><Relationship Id="rId1" Type="http://schemas.openxmlformats.org/officeDocument/2006/relationships/tags" Target="../tags/tag8.xml"/><Relationship Id="rId6" Type="http://schemas.openxmlformats.org/officeDocument/2006/relationships/hyperlink" Target="https://www.slido.com/powerpoint-polling?utm_source=powerpoint&amp;utm_medium=placeholder-slide" TargetMode="External"/><Relationship Id="rId5" Type="http://schemas.openxmlformats.org/officeDocument/2006/relationships/image" Target="../media/image21.svg"/><Relationship Id="rId4" Type="http://schemas.openxmlformats.org/officeDocument/2006/relationships/slideLayout" Target="../slideLayouts/slideLayout7.xml"/><Relationship Id="rId9" Type="http://schemas.openxmlformats.org/officeDocument/2006/relationships/image" Target="../media/image7.svg"/></Relationships>
</file>

<file path=ppt/slides/_rels/slide29.xml.rels><?xml version="1.0" encoding="UTF-8" standalone="yes"?>
<Relationships xmlns="http://schemas.openxmlformats.org/package/2006/relationships"><Relationship Id="rId8" Type="http://schemas.openxmlformats.org/officeDocument/2006/relationships/hyperlink" Target="https://www.slido.com/support/ppi/how-to-change-the-design" TargetMode="External"/><Relationship Id="rId3" Type="http://schemas.openxmlformats.org/officeDocument/2006/relationships/tags" Target="../tags/tag13.xml"/><Relationship Id="rId7" Type="http://schemas.openxmlformats.org/officeDocument/2006/relationships/image" Target="../media/image6.svg"/><Relationship Id="rId2" Type="http://schemas.openxmlformats.org/officeDocument/2006/relationships/tags" Target="../tags/tag12.xml"/><Relationship Id="rId1" Type="http://schemas.openxmlformats.org/officeDocument/2006/relationships/tags" Target="../tags/tag11.xml"/><Relationship Id="rId6" Type="http://schemas.openxmlformats.org/officeDocument/2006/relationships/hyperlink" Target="https://www.slido.com/powerpoint-polling?utm_source=powerpoint&amp;utm_medium=placeholder-slide" TargetMode="External"/><Relationship Id="rId5" Type="http://schemas.openxmlformats.org/officeDocument/2006/relationships/image" Target="../media/image21.svg"/><Relationship Id="rId4" Type="http://schemas.openxmlformats.org/officeDocument/2006/relationships/slideLayout" Target="../slideLayouts/slideLayout7.xml"/><Relationship Id="rId9" Type="http://schemas.openxmlformats.org/officeDocument/2006/relationships/image" Target="../media/image7.svg"/></Relationships>
</file>

<file path=ppt/slides/_rels/slide30.xml.rels><?xml version="1.0" encoding="UTF-8" standalone="yes"?>
<Relationships xmlns="http://schemas.openxmlformats.org/package/2006/relationships"><Relationship Id="rId8" Type="http://schemas.openxmlformats.org/officeDocument/2006/relationships/hyperlink" Target="https://www.slido.com/support/ppi/how-to-change-the-design" TargetMode="External"/><Relationship Id="rId3" Type="http://schemas.openxmlformats.org/officeDocument/2006/relationships/tags" Target="../tags/tag16.xml"/><Relationship Id="rId7" Type="http://schemas.openxmlformats.org/officeDocument/2006/relationships/image" Target="../media/image6.svg"/><Relationship Id="rId2" Type="http://schemas.openxmlformats.org/officeDocument/2006/relationships/tags" Target="../tags/tag15.xml"/><Relationship Id="rId1" Type="http://schemas.openxmlformats.org/officeDocument/2006/relationships/tags" Target="../tags/tag14.xml"/><Relationship Id="rId6" Type="http://schemas.openxmlformats.org/officeDocument/2006/relationships/hyperlink" Target="https://www.slido.com/powerpoint-polling?utm_source=powerpoint&amp;utm_medium=placeholder-slide" TargetMode="External"/><Relationship Id="rId5" Type="http://schemas.openxmlformats.org/officeDocument/2006/relationships/image" Target="../media/image21.svg"/><Relationship Id="rId4" Type="http://schemas.openxmlformats.org/officeDocument/2006/relationships/slideLayout" Target="../slideLayouts/slideLayout7.xml"/><Relationship Id="rId9" Type="http://schemas.openxmlformats.org/officeDocument/2006/relationships/image" Target="../media/image7.sv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8" Type="http://schemas.openxmlformats.org/officeDocument/2006/relationships/hyperlink" Target="https://www.slido.com/support/ppi/how-to-change-the-design" TargetMode="External"/><Relationship Id="rId3" Type="http://schemas.openxmlformats.org/officeDocument/2006/relationships/tags" Target="../tags/tag19.xml"/><Relationship Id="rId7" Type="http://schemas.openxmlformats.org/officeDocument/2006/relationships/image" Target="../media/image6.svg"/><Relationship Id="rId2" Type="http://schemas.openxmlformats.org/officeDocument/2006/relationships/tags" Target="../tags/tag18.xml"/><Relationship Id="rId1" Type="http://schemas.openxmlformats.org/officeDocument/2006/relationships/tags" Target="../tags/tag17.xml"/><Relationship Id="rId6" Type="http://schemas.openxmlformats.org/officeDocument/2006/relationships/hyperlink" Target="https://www.slido.com/powerpoint-polling?utm_source=powerpoint&amp;utm_medium=placeholder-slide" TargetMode="External"/><Relationship Id="rId5" Type="http://schemas.openxmlformats.org/officeDocument/2006/relationships/image" Target="../media/image22.svg"/><Relationship Id="rId4" Type="http://schemas.openxmlformats.org/officeDocument/2006/relationships/slideLayout" Target="../slideLayouts/slideLayout7.xml"/><Relationship Id="rId9" Type="http://schemas.openxmlformats.org/officeDocument/2006/relationships/image" Target="../media/image7.svg"/></Relationships>
</file>

<file path=ppt/slides/_rels/slide37.xml.rels><?xml version="1.0" encoding="UTF-8" standalone="yes"?>
<Relationships xmlns="http://schemas.openxmlformats.org/package/2006/relationships"><Relationship Id="rId3" Type="http://schemas.openxmlformats.org/officeDocument/2006/relationships/image" Target="../media/image23.emf"/><Relationship Id="rId2" Type="http://schemas.openxmlformats.org/officeDocument/2006/relationships/oleObject" Target="../embeddings/oleObject1.bin"/><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380861" y="142852"/>
            <a:ext cx="11522329" cy="6286544"/>
          </a:xfrm>
        </p:spPr>
        <p:txBody>
          <a:bodyPr>
            <a:normAutofit fontScale="62500" lnSpcReduction="20000"/>
          </a:bodyPr>
          <a:lstStyle/>
          <a:p>
            <a:endParaRPr lang="en-US" sz="3600" dirty="0">
              <a:solidFill>
                <a:srgbClr val="FF0000"/>
              </a:solidFill>
            </a:endParaRPr>
          </a:p>
          <a:p>
            <a:endParaRPr lang="en-US" sz="5100" dirty="0">
              <a:solidFill>
                <a:srgbClr val="FF0000"/>
              </a:solidFill>
            </a:endParaRPr>
          </a:p>
          <a:p>
            <a:r>
              <a:rPr lang="en-US" sz="5100" dirty="0">
                <a:solidFill>
                  <a:srgbClr val="FF0000"/>
                </a:solidFill>
                <a:latin typeface="Times New Roman" pitchFamily="18" charset="0"/>
                <a:cs typeface="Times New Roman" pitchFamily="18" charset="0"/>
              </a:rPr>
              <a:t>CONTROL SYSTEM </a:t>
            </a:r>
          </a:p>
          <a:p>
            <a:r>
              <a:rPr lang="en-US" sz="5100" dirty="0">
                <a:solidFill>
                  <a:srgbClr val="FF0000"/>
                </a:solidFill>
                <a:latin typeface="Times New Roman" pitchFamily="18" charset="0"/>
                <a:cs typeface="Times New Roman" pitchFamily="18" charset="0"/>
              </a:rPr>
              <a:t>AND ITS APPLICATIONS</a:t>
            </a:r>
          </a:p>
          <a:p>
            <a:endParaRPr lang="en-US" sz="3600" dirty="0">
              <a:solidFill>
                <a:srgbClr val="FF0000"/>
              </a:solidFill>
              <a:latin typeface="Times New Roman" pitchFamily="18" charset="0"/>
              <a:cs typeface="Times New Roman" pitchFamily="18" charset="0"/>
            </a:endParaRPr>
          </a:p>
          <a:p>
            <a:endParaRPr lang="en-US" sz="3600" dirty="0">
              <a:solidFill>
                <a:srgbClr val="FF0000"/>
              </a:solidFill>
              <a:latin typeface="Times New Roman" pitchFamily="18" charset="0"/>
              <a:cs typeface="Times New Roman" pitchFamily="18" charset="0"/>
            </a:endParaRPr>
          </a:p>
          <a:p>
            <a:endParaRPr lang="en-US" sz="3600" dirty="0">
              <a:solidFill>
                <a:srgbClr val="FF0000"/>
              </a:solidFill>
              <a:latin typeface="Times New Roman" pitchFamily="18" charset="0"/>
              <a:cs typeface="Times New Roman" pitchFamily="18" charset="0"/>
            </a:endParaRPr>
          </a:p>
          <a:p>
            <a:r>
              <a:rPr lang="en-US" sz="4800" dirty="0">
                <a:solidFill>
                  <a:srgbClr val="FF0000"/>
                </a:solidFill>
                <a:latin typeface="Times New Roman" pitchFamily="18" charset="0"/>
                <a:cs typeface="Times New Roman" pitchFamily="18" charset="0"/>
              </a:rPr>
              <a:t>SYED HASAN SAEED</a:t>
            </a:r>
          </a:p>
          <a:p>
            <a:endParaRPr lang="en-US" sz="3600" dirty="0">
              <a:solidFill>
                <a:srgbClr val="FF0000"/>
              </a:solidFill>
              <a:latin typeface="Times New Roman" pitchFamily="18" charset="0"/>
              <a:cs typeface="Times New Roman" pitchFamily="18" charset="0"/>
            </a:endParaRPr>
          </a:p>
          <a:p>
            <a:endParaRPr lang="en-US" sz="3600" dirty="0">
              <a:solidFill>
                <a:srgbClr val="FF0000"/>
              </a:solidFill>
              <a:latin typeface="Times New Roman" pitchFamily="18" charset="0"/>
              <a:cs typeface="Times New Roman" pitchFamily="18" charset="0"/>
            </a:endParaRPr>
          </a:p>
          <a:p>
            <a:endParaRPr lang="en-US" sz="3600" dirty="0">
              <a:solidFill>
                <a:srgbClr val="FF0000"/>
              </a:solidFill>
              <a:latin typeface="Times New Roman" pitchFamily="18" charset="0"/>
              <a:cs typeface="Times New Roman" pitchFamily="18" charset="0"/>
            </a:endParaRPr>
          </a:p>
          <a:p>
            <a:pPr marL="342900" lvl="0" indent="-342900">
              <a:defRPr/>
            </a:pPr>
            <a:endParaRPr lang="en-US" sz="5400" dirty="0">
              <a:solidFill>
                <a:srgbClr val="00B050"/>
              </a:solidFill>
              <a:latin typeface="Times New Roman" pitchFamily="18" charset="0"/>
              <a:cs typeface="Times New Roman" pitchFamily="18" charset="0"/>
            </a:endParaRPr>
          </a:p>
          <a:p>
            <a:pPr marL="342900" lvl="0" indent="-342900" algn="l">
              <a:defRPr/>
            </a:pPr>
            <a:r>
              <a:rPr lang="en-US" sz="3600" dirty="0">
                <a:solidFill>
                  <a:srgbClr val="002060"/>
                </a:solidFill>
                <a:latin typeface="Times New Roman" pitchFamily="18" charset="0"/>
                <a:cs typeface="Times New Roman" pitchFamily="18" charset="0"/>
              </a:rPr>
              <a:t>           </a:t>
            </a:r>
          </a:p>
          <a:p>
            <a:pPr marL="342900" lvl="0" indent="-342900" algn="l">
              <a:defRPr/>
            </a:pPr>
            <a:endParaRPr lang="en-US" sz="3600" dirty="0">
              <a:solidFill>
                <a:srgbClr val="002060"/>
              </a:solidFill>
              <a:latin typeface="Times New Roman" pitchFamily="18" charset="0"/>
              <a:cs typeface="Times New Roman" pitchFamily="18" charset="0"/>
            </a:endParaRPr>
          </a:p>
          <a:p>
            <a:pPr marL="342900" lvl="0" indent="-342900" algn="l">
              <a:defRPr/>
            </a:pPr>
            <a:endParaRPr lang="en-US" sz="1800" dirty="0">
              <a:solidFill>
                <a:srgbClr val="002060"/>
              </a:solidFill>
              <a:latin typeface="Times New Roman" pitchFamily="18" charset="0"/>
              <a:cs typeface="Times New Roman" pitchFamily="18" charset="0"/>
            </a:endParaRPr>
          </a:p>
          <a:p>
            <a:pPr marL="342900" lvl="0" indent="-342900" algn="l">
              <a:defRPr/>
            </a:pPr>
            <a:r>
              <a:rPr lang="en-US" sz="1800" dirty="0">
                <a:solidFill>
                  <a:srgbClr val="002060"/>
                </a:solidFill>
                <a:latin typeface="Times New Roman" pitchFamily="18" charset="0"/>
                <a:cs typeface="Times New Roman" pitchFamily="18" charset="0"/>
              </a:rPr>
              <a:t>Declaration : The content of the presentation has been created for academic use / non-commercial use with fair dealing.</a:t>
            </a:r>
          </a:p>
          <a:p>
            <a:endParaRPr lang="en-US" sz="3600" dirty="0">
              <a:solidFill>
                <a:srgbClr val="FF0000"/>
              </a:solidFill>
              <a:latin typeface="Times New Roman" pitchFamily="18" charset="0"/>
              <a:cs typeface="Times New Roman" pitchFamily="18" charset="0"/>
            </a:endParaRPr>
          </a:p>
        </p:txBody>
      </p:sp>
      <p:sp>
        <p:nvSpPr>
          <p:cNvPr id="4" name="Footer Placeholder 3"/>
          <p:cNvSpPr>
            <a:spLocks noGrp="1"/>
          </p:cNvSpPr>
          <p:nvPr>
            <p:ph type="ftr" sz="quarter" idx="11"/>
          </p:nvPr>
        </p:nvSpPr>
        <p:spPr>
          <a:xfrm>
            <a:off x="1523571" y="6356351"/>
            <a:ext cx="8951231" cy="365125"/>
          </a:xfrm>
        </p:spPr>
        <p:txBody>
          <a:bodyPr/>
          <a:lstStyle/>
          <a:p>
            <a:r>
              <a:rPr lang="en-US" dirty="0">
                <a:solidFill>
                  <a:schemeClr val="tx1"/>
                </a:solidFill>
              </a:rPr>
              <a:t>SYED HASAN SAEED, INTEGRAL UNIVERSITY, LUCKNOW, INDIA</a:t>
            </a:r>
            <a:endParaRPr lang="en-IN" dirty="0">
              <a:solidFill>
                <a:schemeClr val="tx1"/>
              </a:solidFill>
            </a:endParaRPr>
          </a:p>
        </p:txBody>
      </p:sp>
      <p:sp>
        <p:nvSpPr>
          <p:cNvPr id="5" name="Slide Number Placeholder 4"/>
          <p:cNvSpPr>
            <a:spLocks noGrp="1"/>
          </p:cNvSpPr>
          <p:nvPr>
            <p:ph type="sldNum" sz="quarter" idx="12"/>
          </p:nvPr>
        </p:nvSpPr>
        <p:spPr/>
        <p:txBody>
          <a:bodyPr/>
          <a:lstStyle/>
          <a:p>
            <a:fld id="{794472C8-07AE-4D03-9F73-512FB105EB04}" type="slidenum">
              <a:rPr lang="en-IN" smtClean="0"/>
              <a:pPr/>
              <a:t>1</a:t>
            </a:fld>
            <a:endParaRPr lang="en-IN"/>
          </a:p>
        </p:txBody>
      </p:sp>
    </p:spTree>
  </p:cSld>
  <p:clrMapOvr>
    <a:masterClrMapping/>
  </p:clrMapOvr>
  <p:transition advTm="1844"/>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09441" y="285728"/>
            <a:ext cx="11293749" cy="6286544"/>
          </a:xfrm>
        </p:spPr>
        <p:txBody>
          <a:bodyPr>
            <a:normAutofit/>
          </a:bodyPr>
          <a:lstStyle/>
          <a:p>
            <a:pPr algn="ctr">
              <a:buNone/>
            </a:pPr>
            <a:r>
              <a:rPr lang="en-IN" sz="2400" dirty="0">
                <a:solidFill>
                  <a:srgbClr val="FF0000"/>
                </a:solidFill>
                <a:latin typeface="Times New Roman" pitchFamily="18" charset="0"/>
                <a:cs typeface="Times New Roman" pitchFamily="18" charset="0"/>
              </a:rPr>
              <a:t>AUTOMATIC CONTROL SYSTEMS</a:t>
            </a:r>
          </a:p>
          <a:p>
            <a:pPr algn="ctr">
              <a:buNone/>
            </a:pPr>
            <a:endParaRPr lang="en-IN" sz="2400" dirty="0">
              <a:solidFill>
                <a:srgbClr val="00B050"/>
              </a:solidFill>
              <a:latin typeface="Times New Roman" pitchFamily="18" charset="0"/>
              <a:cs typeface="Times New Roman" pitchFamily="18" charset="0"/>
            </a:endParaRPr>
          </a:p>
          <a:p>
            <a:pPr algn="ctr">
              <a:buNone/>
            </a:pPr>
            <a:endParaRPr lang="en-IN" sz="2400" dirty="0">
              <a:solidFill>
                <a:srgbClr val="00B050"/>
              </a:solidFill>
              <a:latin typeface="Times New Roman" pitchFamily="18" charset="0"/>
              <a:cs typeface="Times New Roman" pitchFamily="18" charset="0"/>
            </a:endParaRPr>
          </a:p>
          <a:p>
            <a:pPr algn="ctr">
              <a:buNone/>
            </a:pPr>
            <a:r>
              <a:rPr lang="en-IN" sz="2400" dirty="0">
                <a:solidFill>
                  <a:srgbClr val="00B050"/>
                </a:solidFill>
                <a:latin typeface="Times New Roman" pitchFamily="18" charset="0"/>
                <a:cs typeface="Times New Roman" pitchFamily="18" charset="0"/>
              </a:rPr>
              <a:t>BOOKS </a:t>
            </a:r>
          </a:p>
          <a:p>
            <a:pPr algn="ctr">
              <a:buNone/>
            </a:pPr>
            <a:endParaRPr lang="en-IN" sz="2400" dirty="0">
              <a:solidFill>
                <a:srgbClr val="00B050"/>
              </a:solidFill>
              <a:latin typeface="Times New Roman" pitchFamily="18" charset="0"/>
              <a:cs typeface="Times New Roman" pitchFamily="18" charset="0"/>
            </a:endParaRPr>
          </a:p>
          <a:p>
            <a:pPr marL="514350" indent="-514350" algn="just">
              <a:buFont typeface="+mj-lt"/>
              <a:buAutoNum type="arabicPeriod"/>
            </a:pPr>
            <a:r>
              <a:rPr lang="en-IN" sz="2400" dirty="0">
                <a:solidFill>
                  <a:srgbClr val="00B050"/>
                </a:solidFill>
                <a:latin typeface="Times New Roman" pitchFamily="18" charset="0"/>
                <a:cs typeface="Times New Roman" pitchFamily="18" charset="0"/>
              </a:rPr>
              <a:t>CONTROL SYSTEM                                         B.C. KUO</a:t>
            </a:r>
          </a:p>
          <a:p>
            <a:pPr marL="514350" indent="-514350" algn="just">
              <a:buFont typeface="+mj-lt"/>
              <a:buAutoNum type="arabicPeriod"/>
            </a:pPr>
            <a:r>
              <a:rPr lang="en-IN" sz="2400" dirty="0">
                <a:solidFill>
                  <a:srgbClr val="00B050"/>
                </a:solidFill>
                <a:latin typeface="Times New Roman" pitchFamily="18" charset="0"/>
                <a:cs typeface="Times New Roman" pitchFamily="18" charset="0"/>
              </a:rPr>
              <a:t>CONTROL SYSTEMS                                     K. OGATTA</a:t>
            </a:r>
          </a:p>
          <a:p>
            <a:pPr marL="514350" indent="-514350" algn="just">
              <a:buFont typeface="+mj-lt"/>
              <a:buAutoNum type="arabicPeriod"/>
            </a:pPr>
            <a:r>
              <a:rPr lang="en-IN" sz="2400" dirty="0">
                <a:solidFill>
                  <a:srgbClr val="00B050"/>
                </a:solidFill>
                <a:latin typeface="Times New Roman" pitchFamily="18" charset="0"/>
                <a:cs typeface="Times New Roman" pitchFamily="18" charset="0"/>
              </a:rPr>
              <a:t>CONTROL SYSTEMS                 NAGRATH &amp; KOTHARI</a:t>
            </a:r>
          </a:p>
          <a:p>
            <a:pPr marL="514350" indent="-514350" algn="just">
              <a:buFont typeface="+mj-lt"/>
              <a:buAutoNum type="arabicPeriod"/>
            </a:pPr>
            <a:r>
              <a:rPr lang="en-IN" sz="2400" dirty="0">
                <a:solidFill>
                  <a:srgbClr val="00B050"/>
                </a:solidFill>
                <a:latin typeface="Times New Roman" pitchFamily="18" charset="0"/>
                <a:cs typeface="Times New Roman" pitchFamily="18" charset="0"/>
              </a:rPr>
              <a:t>AUTOMATIC CONTROL SYSTEMS     S.HASAN SAEED</a:t>
            </a:r>
          </a:p>
          <a:p>
            <a:pPr marL="514350" indent="-514350" algn="just">
              <a:buFont typeface="+mj-lt"/>
              <a:buAutoNum type="arabicPeriod"/>
            </a:pPr>
            <a:r>
              <a:rPr lang="en-IN" sz="2400" dirty="0">
                <a:solidFill>
                  <a:srgbClr val="00B050"/>
                </a:solidFill>
                <a:latin typeface="Times New Roman" pitchFamily="18" charset="0"/>
                <a:cs typeface="Times New Roman" pitchFamily="18" charset="0"/>
              </a:rPr>
              <a:t>AUTOMATIC CONTROL SYSTEMS    R. A. BARAPATE</a:t>
            </a:r>
          </a:p>
          <a:p>
            <a:pPr marL="514350" indent="-514350" algn="just">
              <a:buFont typeface="+mj-lt"/>
              <a:buAutoNum type="arabicPeriod"/>
            </a:pPr>
            <a:r>
              <a:rPr lang="en-IN" sz="2400" dirty="0">
                <a:solidFill>
                  <a:srgbClr val="00B050"/>
                </a:solidFill>
                <a:latin typeface="Times New Roman" pitchFamily="18" charset="0"/>
                <a:cs typeface="Times New Roman" pitchFamily="18" charset="0"/>
              </a:rPr>
              <a:t>CONTROL SYSTEM                             A. ANAND KUMAR</a:t>
            </a:r>
          </a:p>
          <a:p>
            <a:pPr algn="ctr">
              <a:buNone/>
            </a:pPr>
            <a:endParaRPr lang="en-IN" sz="2400" dirty="0">
              <a:latin typeface="Times New Roman" pitchFamily="18" charset="0"/>
              <a:cs typeface="Times New Roman" pitchFamily="18" charset="0"/>
            </a:endParaRPr>
          </a:p>
        </p:txBody>
      </p:sp>
      <p:sp>
        <p:nvSpPr>
          <p:cNvPr id="4" name="Footer Placeholder 3"/>
          <p:cNvSpPr>
            <a:spLocks noGrp="1"/>
          </p:cNvSpPr>
          <p:nvPr>
            <p:ph type="ftr" sz="quarter" idx="11"/>
          </p:nvPr>
        </p:nvSpPr>
        <p:spPr>
          <a:xfrm>
            <a:off x="2856733" y="6215083"/>
            <a:ext cx="6856262" cy="365125"/>
          </a:xfrm>
        </p:spPr>
        <p:txBody>
          <a:bodyPr/>
          <a:lstStyle/>
          <a:p>
            <a:r>
              <a:rPr lang="en-US">
                <a:solidFill>
                  <a:schemeClr val="tx1"/>
                </a:solidFill>
              </a:rPr>
              <a:t>SYED HASAN SAEED, INTEGRAL UNIVERSITY, LUCKNOW, INDIA</a:t>
            </a:r>
            <a:endParaRPr lang="en-IN" dirty="0">
              <a:solidFill>
                <a:schemeClr val="tx1"/>
              </a:solidFill>
            </a:endParaRPr>
          </a:p>
        </p:txBody>
      </p:sp>
      <p:sp>
        <p:nvSpPr>
          <p:cNvPr id="5" name="Slide Number Placeholder 4"/>
          <p:cNvSpPr>
            <a:spLocks noGrp="1"/>
          </p:cNvSpPr>
          <p:nvPr>
            <p:ph type="sldNum" sz="quarter" idx="12"/>
          </p:nvPr>
        </p:nvSpPr>
        <p:spPr/>
        <p:txBody>
          <a:bodyPr/>
          <a:lstStyle/>
          <a:p>
            <a:fld id="{794472C8-07AE-4D03-9F73-512FB105EB04}" type="slidenum">
              <a:rPr lang="en-IN" smtClean="0"/>
              <a:pPr/>
              <a:t>2</a:t>
            </a:fld>
            <a:endParaRPr lang="en-IN"/>
          </a:p>
        </p:txBody>
      </p:sp>
    </p:spTree>
  </p:cSld>
  <p:clrMapOvr>
    <a:masterClrMapping/>
  </p:clrMapOvr>
  <p:transition advTm="750"/>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581" y="142852"/>
            <a:ext cx="11769835" cy="6143668"/>
          </a:xfrm>
        </p:spPr>
        <p:txBody>
          <a:bodyPr>
            <a:noAutofit/>
          </a:bodyPr>
          <a:lstStyle/>
          <a:p>
            <a:pPr>
              <a:buNone/>
            </a:pPr>
            <a:r>
              <a:rPr lang="en-US" sz="2800" dirty="0">
                <a:latin typeface="Times New Roman" pitchFamily="18" charset="0"/>
                <a:cs typeface="Times New Roman" pitchFamily="18" charset="0"/>
              </a:rPr>
              <a:t>In modern times, control system play a very important role in our daily life. The concepts of automatic control are fundamental and well mixed in every aspect our life touches. From a simple bread toaster to a complex modern power plant, there is a series of control principles that affect our life. </a:t>
            </a:r>
          </a:p>
          <a:p>
            <a:pPr>
              <a:buNone/>
            </a:pPr>
            <a:r>
              <a:rPr lang="en-US" sz="2800" dirty="0">
                <a:latin typeface="Times New Roman" pitchFamily="18" charset="0"/>
                <a:cs typeface="Times New Roman" pitchFamily="18" charset="0"/>
              </a:rPr>
              <a:t>Elementary acts such as walking or moving a chalk to a particular point on the blackboard uses control principles. </a:t>
            </a:r>
          </a:p>
          <a:p>
            <a:pPr>
              <a:buNone/>
            </a:pPr>
            <a:r>
              <a:rPr lang="en-US" sz="2800" dirty="0">
                <a:latin typeface="Times New Roman" pitchFamily="18" charset="0"/>
                <a:cs typeface="Times New Roman" pitchFamily="18" charset="0"/>
              </a:rPr>
              <a:t>Advanced examples of launching a satellite, regulating the generation in a power plant, tracking an enemy plane on radar etc. show the application of control principles.</a:t>
            </a:r>
          </a:p>
        </p:txBody>
      </p:sp>
      <p:sp>
        <p:nvSpPr>
          <p:cNvPr id="4" name="Footer Placeholder 3"/>
          <p:cNvSpPr>
            <a:spLocks noGrp="1"/>
          </p:cNvSpPr>
          <p:nvPr>
            <p:ph type="ftr" sz="quarter" idx="11"/>
          </p:nvPr>
        </p:nvSpPr>
        <p:spPr/>
        <p:txBody>
          <a:bodyPr/>
          <a:lstStyle/>
          <a:p>
            <a:r>
              <a:rPr lang="en-US"/>
              <a:t>SYED HASAN SAEED, INTEGRAL UNIVERSITY, LUCKNOW, INDIA</a:t>
            </a:r>
            <a:endParaRPr lang="en-IN" dirty="0"/>
          </a:p>
        </p:txBody>
      </p:sp>
      <p:sp>
        <p:nvSpPr>
          <p:cNvPr id="5" name="Slide Number Placeholder 4"/>
          <p:cNvSpPr>
            <a:spLocks noGrp="1"/>
          </p:cNvSpPr>
          <p:nvPr>
            <p:ph type="sldNum" sz="quarter" idx="12"/>
          </p:nvPr>
        </p:nvSpPr>
        <p:spPr/>
        <p:txBody>
          <a:bodyPr/>
          <a:lstStyle/>
          <a:p>
            <a:fld id="{794472C8-07AE-4D03-9F73-512FB105EB04}" type="slidenum">
              <a:rPr lang="en-IN" smtClean="0"/>
              <a:pPr/>
              <a:t>3</a:t>
            </a:fld>
            <a:endParaRPr lang="en-IN"/>
          </a:p>
        </p:txBody>
      </p:sp>
      <p:sp>
        <p:nvSpPr>
          <p:cNvPr id="6" name="TextBox 5"/>
          <p:cNvSpPr txBox="1"/>
          <p:nvPr/>
        </p:nvSpPr>
        <p:spPr>
          <a:xfrm>
            <a:off x="476086" y="5786454"/>
            <a:ext cx="11331878" cy="369332"/>
          </a:xfrm>
          <a:prstGeom prst="rect">
            <a:avLst/>
          </a:prstGeom>
          <a:noFill/>
        </p:spPr>
        <p:txBody>
          <a:bodyPr wrap="square" rtlCol="0">
            <a:spAutoFit/>
          </a:bodyPr>
          <a:lstStyle/>
          <a:p>
            <a:r>
              <a:rPr lang="en-IN" sz="900" i="1" dirty="0"/>
              <a:t> Reference : AUTOMATIC CONTROL SYSTEMS    R. A. BARAPATE Tech – Max Publications, </a:t>
            </a:r>
            <a:r>
              <a:rPr lang="en-IN" sz="900" i="1" dirty="0" err="1"/>
              <a:t>Pune</a:t>
            </a:r>
            <a:r>
              <a:rPr lang="en-IN" sz="900" i="1" dirty="0"/>
              <a:t>, India</a:t>
            </a:r>
          </a:p>
          <a:p>
            <a:endParaRPr lang="en-US" sz="900" i="1" dirty="0"/>
          </a:p>
        </p:txBody>
      </p:sp>
    </p:spTree>
  </p:cSld>
  <p:clrMapOvr>
    <a:masterClrMapping/>
  </p:clrMapOvr>
  <p:transition advTm="703"/>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5635" y="285728"/>
            <a:ext cx="11712781" cy="785818"/>
          </a:xfrm>
        </p:spPr>
        <p:txBody>
          <a:bodyPr>
            <a:noAutofit/>
          </a:bodyPr>
          <a:lstStyle/>
          <a:p>
            <a:pPr algn="l"/>
            <a:r>
              <a:rPr lang="en-US" sz="2800" dirty="0">
                <a:latin typeface="Times New Roman" pitchFamily="18" charset="0"/>
                <a:ea typeface="+mn-ea"/>
                <a:cs typeface="Times New Roman" pitchFamily="18" charset="0"/>
              </a:rPr>
              <a:t>In this lecture we will discuss the following points</a:t>
            </a:r>
          </a:p>
        </p:txBody>
      </p:sp>
      <p:sp>
        <p:nvSpPr>
          <p:cNvPr id="3" name="Content Placeholder 2"/>
          <p:cNvSpPr>
            <a:spLocks noGrp="1"/>
          </p:cNvSpPr>
          <p:nvPr>
            <p:ph idx="1"/>
          </p:nvPr>
        </p:nvSpPr>
        <p:spPr>
          <a:xfrm>
            <a:off x="190409" y="1285860"/>
            <a:ext cx="11808007" cy="4286280"/>
          </a:xfrm>
        </p:spPr>
        <p:txBody>
          <a:bodyPr>
            <a:normAutofit/>
          </a:bodyPr>
          <a:lstStyle/>
          <a:p>
            <a:pPr>
              <a:buFont typeface="Wingdings" pitchFamily="2" charset="2"/>
              <a:buChar char="Ø"/>
            </a:pPr>
            <a:r>
              <a:rPr lang="en-US" sz="2800" dirty="0">
                <a:latin typeface="Times New Roman" pitchFamily="18" charset="0"/>
                <a:cs typeface="Times New Roman" pitchFamily="18" charset="0"/>
              </a:rPr>
              <a:t>Basic definitions.</a:t>
            </a:r>
          </a:p>
          <a:p>
            <a:pPr>
              <a:buFont typeface="Wingdings" pitchFamily="2" charset="2"/>
              <a:buChar char="Ø"/>
            </a:pPr>
            <a:r>
              <a:rPr lang="en-US" sz="2800" dirty="0">
                <a:latin typeface="Times New Roman" pitchFamily="18" charset="0"/>
                <a:cs typeface="Times New Roman" pitchFamily="18" charset="0"/>
              </a:rPr>
              <a:t>Requirement of control systems.</a:t>
            </a:r>
          </a:p>
          <a:p>
            <a:pPr>
              <a:buFont typeface="Wingdings" pitchFamily="2" charset="2"/>
              <a:buChar char="Ø"/>
            </a:pPr>
            <a:r>
              <a:rPr lang="en-US" sz="2800" dirty="0">
                <a:latin typeface="Times New Roman" pitchFamily="18" charset="0"/>
                <a:cs typeface="Times New Roman" pitchFamily="18" charset="0"/>
              </a:rPr>
              <a:t>Classification of control systems.</a:t>
            </a:r>
          </a:p>
          <a:p>
            <a:pPr>
              <a:buFont typeface="Wingdings" pitchFamily="2" charset="2"/>
              <a:buChar char="Ø"/>
            </a:pPr>
            <a:r>
              <a:rPr lang="en-US" sz="2800" dirty="0">
                <a:latin typeface="Times New Roman" pitchFamily="18" charset="0"/>
                <a:cs typeface="Times New Roman" pitchFamily="18" charset="0"/>
              </a:rPr>
              <a:t>Open loop and closed loop control systems.</a:t>
            </a:r>
          </a:p>
          <a:p>
            <a:pPr>
              <a:buFont typeface="Wingdings" pitchFamily="2" charset="2"/>
              <a:buChar char="Ø"/>
            </a:pPr>
            <a:r>
              <a:rPr lang="en-US" sz="2800" dirty="0">
                <a:latin typeface="Times New Roman" pitchFamily="18" charset="0"/>
                <a:cs typeface="Times New Roman" pitchFamily="18" charset="0"/>
              </a:rPr>
              <a:t>Comparison of open loop and closed loop systems.</a:t>
            </a:r>
          </a:p>
          <a:p>
            <a:pPr>
              <a:buFont typeface="Wingdings" pitchFamily="2" charset="2"/>
              <a:buChar char="Ø"/>
            </a:pPr>
            <a:r>
              <a:rPr lang="en-US" sz="2800" dirty="0">
                <a:latin typeface="Times New Roman" pitchFamily="18" charset="0"/>
                <a:cs typeface="Times New Roman" pitchFamily="18" charset="0"/>
              </a:rPr>
              <a:t>Components of closed loop system</a:t>
            </a:r>
          </a:p>
          <a:p>
            <a:pPr>
              <a:buFont typeface="Wingdings" pitchFamily="2" charset="2"/>
              <a:buChar char="Ø"/>
            </a:pPr>
            <a:endParaRPr lang="en-US" sz="3400" dirty="0"/>
          </a:p>
          <a:p>
            <a:pPr>
              <a:buFont typeface="Wingdings" pitchFamily="2" charset="2"/>
              <a:buChar char="Ø"/>
            </a:pPr>
            <a:endParaRPr lang="en-US" sz="3400" dirty="0"/>
          </a:p>
        </p:txBody>
      </p:sp>
      <p:sp>
        <p:nvSpPr>
          <p:cNvPr id="4" name="Footer Placeholder 3"/>
          <p:cNvSpPr>
            <a:spLocks noGrp="1"/>
          </p:cNvSpPr>
          <p:nvPr>
            <p:ph type="ftr" sz="quarter" idx="11"/>
          </p:nvPr>
        </p:nvSpPr>
        <p:spPr/>
        <p:txBody>
          <a:bodyPr/>
          <a:lstStyle/>
          <a:p>
            <a:r>
              <a:rPr lang="en-US">
                <a:solidFill>
                  <a:schemeClr val="tx1"/>
                </a:solidFill>
              </a:rPr>
              <a:t>SYED HASAN SAEED, INTEGRAL UNIVERSITY, LUCKNOW, INDIA</a:t>
            </a:r>
            <a:endParaRPr lang="en-IN" dirty="0">
              <a:solidFill>
                <a:schemeClr val="tx1"/>
              </a:solidFill>
            </a:endParaRPr>
          </a:p>
        </p:txBody>
      </p:sp>
      <p:sp>
        <p:nvSpPr>
          <p:cNvPr id="5" name="Slide Number Placeholder 4"/>
          <p:cNvSpPr>
            <a:spLocks noGrp="1"/>
          </p:cNvSpPr>
          <p:nvPr>
            <p:ph type="sldNum" sz="quarter" idx="12"/>
          </p:nvPr>
        </p:nvSpPr>
        <p:spPr/>
        <p:txBody>
          <a:bodyPr/>
          <a:lstStyle/>
          <a:p>
            <a:fld id="{794472C8-07AE-4D03-9F73-512FB105EB04}" type="slidenum">
              <a:rPr lang="en-IN" smtClean="0"/>
              <a:pPr/>
              <a:t>4</a:t>
            </a:fld>
            <a:endParaRPr lang="en-IN"/>
          </a:p>
        </p:txBody>
      </p:sp>
    </p:spTree>
  </p:cSld>
  <p:clrMapOvr>
    <a:masterClrMapping/>
  </p:clrMapOvr>
  <p:transition advTm="579"/>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914162" y="214292"/>
            <a:ext cx="10227221" cy="428627"/>
          </a:xfrm>
        </p:spPr>
        <p:txBody>
          <a:bodyPr>
            <a:noAutofit/>
          </a:bodyPr>
          <a:lstStyle/>
          <a:p>
            <a:r>
              <a:rPr lang="en-IN" sz="2800" u="sng" dirty="0">
                <a:solidFill>
                  <a:schemeClr val="accent6">
                    <a:lumMod val="50000"/>
                  </a:schemeClr>
                </a:solidFill>
                <a:latin typeface="Times New Roman" pitchFamily="18" charset="0"/>
                <a:cs typeface="Times New Roman" pitchFamily="18" charset="0"/>
              </a:rPr>
              <a:t>INTRODUCTION TO CONTROL SYSTEMS</a:t>
            </a:r>
          </a:p>
        </p:txBody>
      </p:sp>
      <p:sp>
        <p:nvSpPr>
          <p:cNvPr id="3" name="Subtitle 2"/>
          <p:cNvSpPr>
            <a:spLocks noGrp="1"/>
          </p:cNvSpPr>
          <p:nvPr>
            <p:ph type="subTitle" idx="1"/>
          </p:nvPr>
        </p:nvSpPr>
        <p:spPr>
          <a:xfrm>
            <a:off x="285635" y="642918"/>
            <a:ext cx="11617555" cy="5929354"/>
          </a:xfrm>
        </p:spPr>
        <p:txBody>
          <a:bodyPr>
            <a:normAutofit/>
          </a:bodyPr>
          <a:lstStyle/>
          <a:p>
            <a:r>
              <a:rPr lang="en-IN" sz="2800" u="sng" dirty="0">
                <a:solidFill>
                  <a:srgbClr val="FF0000"/>
                </a:solidFill>
                <a:latin typeface="Times New Roman" pitchFamily="18" charset="0"/>
                <a:ea typeface="Tahoma" pitchFamily="34" charset="0"/>
                <a:cs typeface="Times New Roman" pitchFamily="18" charset="0"/>
              </a:rPr>
              <a:t>BASIC DEFINITIONS</a:t>
            </a:r>
          </a:p>
          <a:p>
            <a:pPr algn="just"/>
            <a:r>
              <a:rPr lang="en-IN" sz="2800" dirty="0">
                <a:solidFill>
                  <a:srgbClr val="FF0000"/>
                </a:solidFill>
                <a:latin typeface="Times New Roman" pitchFamily="18" charset="0"/>
                <a:ea typeface="Tahoma" pitchFamily="34" charset="0"/>
                <a:cs typeface="Times New Roman" pitchFamily="18" charset="0"/>
              </a:rPr>
              <a:t>SYSTEM : </a:t>
            </a:r>
            <a:r>
              <a:rPr lang="en-IN" sz="2800" dirty="0">
                <a:solidFill>
                  <a:schemeClr val="tx1"/>
                </a:solidFill>
                <a:latin typeface="Times New Roman" pitchFamily="18" charset="0"/>
                <a:ea typeface="Tahoma" pitchFamily="34" charset="0"/>
                <a:cs typeface="Times New Roman" pitchFamily="18" charset="0"/>
              </a:rPr>
              <a:t>A system is collection of  or combination of objects or components connected together in such a manner  to attain a certain objective.</a:t>
            </a:r>
          </a:p>
          <a:p>
            <a:pPr algn="just"/>
            <a:r>
              <a:rPr lang="en-IN" sz="2800" dirty="0">
                <a:solidFill>
                  <a:schemeClr val="tx1"/>
                </a:solidFill>
                <a:latin typeface="Times New Roman" pitchFamily="18" charset="0"/>
                <a:ea typeface="Tahoma" pitchFamily="34" charset="0"/>
                <a:cs typeface="Times New Roman" pitchFamily="18" charset="0"/>
              </a:rPr>
              <a:t>Every physical object is actually a system. A classroom is a good example of physical system. A room along with the combination of benches, blackboard, fans, lighting arrangement etc. Can be called a classroom which acts as an elementary system.</a:t>
            </a:r>
          </a:p>
          <a:p>
            <a:pPr algn="just"/>
            <a:r>
              <a:rPr lang="en-IN" sz="2800" dirty="0">
                <a:solidFill>
                  <a:schemeClr val="tx1"/>
                </a:solidFill>
                <a:latin typeface="Times New Roman" pitchFamily="18" charset="0"/>
                <a:ea typeface="Tahoma" pitchFamily="34" charset="0"/>
                <a:cs typeface="Times New Roman" pitchFamily="18" charset="0"/>
              </a:rPr>
              <a:t>Another example of a system is a lamp. A lamp is made up of glass, filament is a physical system. Similarly, kite made up of paper and sticks is an example of a physical system.</a:t>
            </a:r>
          </a:p>
          <a:p>
            <a:pPr algn="just"/>
            <a:endParaRPr lang="en-IN" sz="2800" dirty="0">
              <a:solidFill>
                <a:schemeClr val="tx1"/>
              </a:solidFill>
              <a:latin typeface="Times New Roman" pitchFamily="18" charset="0"/>
              <a:ea typeface="Tahoma" pitchFamily="34" charset="0"/>
              <a:cs typeface="Times New Roman" pitchFamily="18" charset="0"/>
            </a:endParaRPr>
          </a:p>
        </p:txBody>
      </p:sp>
      <p:sp>
        <p:nvSpPr>
          <p:cNvPr id="4" name="Footer Placeholder 3"/>
          <p:cNvSpPr>
            <a:spLocks noGrp="1"/>
          </p:cNvSpPr>
          <p:nvPr>
            <p:ph type="ftr" sz="quarter" idx="11"/>
          </p:nvPr>
        </p:nvSpPr>
        <p:spPr>
          <a:xfrm>
            <a:off x="2475830" y="6500834"/>
            <a:ext cx="7522843" cy="357166"/>
          </a:xfrm>
        </p:spPr>
        <p:txBody>
          <a:bodyPr/>
          <a:lstStyle/>
          <a:p>
            <a:r>
              <a:rPr lang="en-US">
                <a:solidFill>
                  <a:schemeClr val="tx1"/>
                </a:solidFill>
              </a:rPr>
              <a:t>SYED HASAN SAEED, INTEGRAL UNIVERSITY, LUCKNOW, INDIA</a:t>
            </a:r>
            <a:endParaRPr lang="en-IN" dirty="0">
              <a:solidFill>
                <a:schemeClr val="tx1"/>
              </a:solidFill>
            </a:endParaRPr>
          </a:p>
        </p:txBody>
      </p:sp>
      <p:sp>
        <p:nvSpPr>
          <p:cNvPr id="5" name="Slide Number Placeholder 4"/>
          <p:cNvSpPr>
            <a:spLocks noGrp="1"/>
          </p:cNvSpPr>
          <p:nvPr>
            <p:ph type="sldNum" sz="quarter" idx="12"/>
          </p:nvPr>
        </p:nvSpPr>
        <p:spPr/>
        <p:txBody>
          <a:bodyPr/>
          <a:lstStyle/>
          <a:p>
            <a:fld id="{794472C8-07AE-4D03-9F73-512FB105EB04}" type="slidenum">
              <a:rPr lang="en-IN" smtClean="0"/>
              <a:pPr/>
              <a:t>5</a:t>
            </a:fld>
            <a:endParaRPr lang="en-IN"/>
          </a:p>
        </p:txBody>
      </p:sp>
    </p:spTree>
  </p:cSld>
  <p:clrMapOvr>
    <a:masterClrMapping/>
  </p:clrMapOvr>
  <p:transition advTm="485"/>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914162" y="214292"/>
            <a:ext cx="10227221" cy="428627"/>
          </a:xfrm>
        </p:spPr>
        <p:txBody>
          <a:bodyPr>
            <a:noAutofit/>
          </a:bodyPr>
          <a:lstStyle/>
          <a:p>
            <a:r>
              <a:rPr lang="en-IN" sz="2800" u="sng" dirty="0">
                <a:solidFill>
                  <a:schemeClr val="accent6">
                    <a:lumMod val="50000"/>
                  </a:schemeClr>
                </a:solidFill>
                <a:latin typeface="Times New Roman" pitchFamily="18" charset="0"/>
                <a:cs typeface="Times New Roman" pitchFamily="18" charset="0"/>
              </a:rPr>
              <a:t>INTRODUCTION TO CONTROL SYSTEMS</a:t>
            </a:r>
          </a:p>
        </p:txBody>
      </p:sp>
      <p:sp>
        <p:nvSpPr>
          <p:cNvPr id="4" name="Footer Placeholder 3"/>
          <p:cNvSpPr>
            <a:spLocks noGrp="1"/>
          </p:cNvSpPr>
          <p:nvPr>
            <p:ph type="ftr" sz="quarter" idx="11"/>
          </p:nvPr>
        </p:nvSpPr>
        <p:spPr>
          <a:xfrm>
            <a:off x="2475830" y="6500834"/>
            <a:ext cx="7522843" cy="357166"/>
          </a:xfrm>
        </p:spPr>
        <p:txBody>
          <a:bodyPr/>
          <a:lstStyle/>
          <a:p>
            <a:r>
              <a:rPr lang="en-US">
                <a:solidFill>
                  <a:schemeClr val="tx1"/>
                </a:solidFill>
              </a:rPr>
              <a:t>SYED HASAN SAEED, INTEGRAL UNIVERSITY, LUCKNOW, INDIA</a:t>
            </a:r>
            <a:endParaRPr lang="en-IN" dirty="0">
              <a:solidFill>
                <a:schemeClr val="tx1"/>
              </a:solidFill>
            </a:endParaRPr>
          </a:p>
        </p:txBody>
      </p:sp>
      <p:sp>
        <p:nvSpPr>
          <p:cNvPr id="5" name="Slide Number Placeholder 4"/>
          <p:cNvSpPr>
            <a:spLocks noGrp="1"/>
          </p:cNvSpPr>
          <p:nvPr>
            <p:ph type="sldNum" sz="quarter" idx="12"/>
          </p:nvPr>
        </p:nvSpPr>
        <p:spPr/>
        <p:txBody>
          <a:bodyPr/>
          <a:lstStyle/>
          <a:p>
            <a:fld id="{794472C8-07AE-4D03-9F73-512FB105EB04}" type="slidenum">
              <a:rPr lang="en-IN" smtClean="0"/>
              <a:pPr/>
              <a:t>6</a:t>
            </a:fld>
            <a:endParaRPr lang="en-IN"/>
          </a:p>
        </p:txBody>
      </p:sp>
      <p:sp>
        <p:nvSpPr>
          <p:cNvPr id="6" name="Subtitle 5"/>
          <p:cNvSpPr>
            <a:spLocks noGrp="1"/>
          </p:cNvSpPr>
          <p:nvPr>
            <p:ph type="subTitle" idx="1"/>
          </p:nvPr>
        </p:nvSpPr>
        <p:spPr>
          <a:xfrm>
            <a:off x="190409" y="785794"/>
            <a:ext cx="11808007" cy="5715040"/>
          </a:xfrm>
        </p:spPr>
        <p:txBody>
          <a:bodyPr>
            <a:normAutofit/>
          </a:bodyPr>
          <a:lstStyle/>
          <a:p>
            <a:pPr algn="l"/>
            <a:r>
              <a:rPr lang="en-US" sz="2800" dirty="0">
                <a:solidFill>
                  <a:srgbClr val="FF0000"/>
                </a:solidFill>
                <a:latin typeface="Times New Roman" pitchFamily="18" charset="0"/>
                <a:cs typeface="Times New Roman" pitchFamily="18" charset="0"/>
              </a:rPr>
              <a:t>REAL TIME EXAMPLES OF SYSTEM:</a:t>
            </a:r>
          </a:p>
          <a:p>
            <a:pPr algn="l"/>
            <a:endParaRPr lang="en-US" sz="2800" dirty="0">
              <a:solidFill>
                <a:srgbClr val="FF0000"/>
              </a:solidFill>
            </a:endParaRPr>
          </a:p>
        </p:txBody>
      </p:sp>
      <p:pic>
        <p:nvPicPr>
          <p:cNvPr id="7" name="Picture 6" descr="Image result for classroom with blackboard, benches, fans"/>
          <p:cNvPicPr/>
          <p:nvPr/>
        </p:nvPicPr>
        <p:blipFill>
          <a:blip r:embed="rId2"/>
          <a:srcRect/>
          <a:stretch>
            <a:fillRect/>
          </a:stretch>
        </p:blipFill>
        <p:spPr bwMode="auto">
          <a:xfrm>
            <a:off x="761764" y="1428737"/>
            <a:ext cx="3677669" cy="2060917"/>
          </a:xfrm>
          <a:prstGeom prst="rect">
            <a:avLst/>
          </a:prstGeom>
          <a:noFill/>
          <a:ln w="9525">
            <a:noFill/>
            <a:miter lim="800000"/>
            <a:headEnd/>
            <a:tailEnd/>
          </a:ln>
        </p:spPr>
      </p:pic>
      <p:pic>
        <p:nvPicPr>
          <p:cNvPr id="8" name="Picture 7" descr="Image result for lamp"/>
          <p:cNvPicPr/>
          <p:nvPr/>
        </p:nvPicPr>
        <p:blipFill>
          <a:blip r:embed="rId3"/>
          <a:srcRect/>
          <a:stretch>
            <a:fillRect/>
          </a:stretch>
        </p:blipFill>
        <p:spPr bwMode="auto">
          <a:xfrm>
            <a:off x="4570799" y="1071547"/>
            <a:ext cx="3272813" cy="2455249"/>
          </a:xfrm>
          <a:prstGeom prst="rect">
            <a:avLst/>
          </a:prstGeom>
          <a:noFill/>
          <a:ln w="9525">
            <a:noFill/>
            <a:miter lim="800000"/>
            <a:headEnd/>
            <a:tailEnd/>
          </a:ln>
        </p:spPr>
      </p:pic>
      <p:pic>
        <p:nvPicPr>
          <p:cNvPr id="9" name="Picture 8" descr="Image result for lamp"/>
          <p:cNvPicPr/>
          <p:nvPr/>
        </p:nvPicPr>
        <p:blipFill>
          <a:blip r:embed="rId4"/>
          <a:srcRect/>
          <a:stretch>
            <a:fillRect/>
          </a:stretch>
        </p:blipFill>
        <p:spPr bwMode="auto">
          <a:xfrm>
            <a:off x="8094155" y="1285860"/>
            <a:ext cx="3618583" cy="2143140"/>
          </a:xfrm>
          <a:prstGeom prst="rect">
            <a:avLst/>
          </a:prstGeom>
          <a:noFill/>
          <a:ln w="9525">
            <a:noFill/>
            <a:miter lim="800000"/>
            <a:headEnd/>
            <a:tailEnd/>
          </a:ln>
        </p:spPr>
      </p:pic>
      <p:pic>
        <p:nvPicPr>
          <p:cNvPr id="10" name="Picture 9" descr="Image result for kite"/>
          <p:cNvPicPr/>
          <p:nvPr/>
        </p:nvPicPr>
        <p:blipFill>
          <a:blip r:embed="rId5"/>
          <a:srcRect/>
          <a:stretch>
            <a:fillRect/>
          </a:stretch>
        </p:blipFill>
        <p:spPr bwMode="auto">
          <a:xfrm>
            <a:off x="952216" y="4071942"/>
            <a:ext cx="3544135" cy="2658794"/>
          </a:xfrm>
          <a:prstGeom prst="rect">
            <a:avLst/>
          </a:prstGeom>
          <a:noFill/>
          <a:ln w="9525">
            <a:noFill/>
            <a:miter lim="800000"/>
            <a:headEnd/>
            <a:tailEnd/>
          </a:ln>
        </p:spPr>
      </p:pic>
      <p:sp>
        <p:nvSpPr>
          <p:cNvPr id="11" name="TextBox 10"/>
          <p:cNvSpPr txBox="1"/>
          <p:nvPr/>
        </p:nvSpPr>
        <p:spPr>
          <a:xfrm>
            <a:off x="1333119" y="3500438"/>
            <a:ext cx="2952002" cy="461665"/>
          </a:xfrm>
          <a:prstGeom prst="rect">
            <a:avLst/>
          </a:prstGeom>
          <a:noFill/>
        </p:spPr>
        <p:txBody>
          <a:bodyPr wrap="square" rtlCol="0">
            <a:spAutoFit/>
          </a:bodyPr>
          <a:lstStyle/>
          <a:p>
            <a:r>
              <a:rPr lang="en-US" sz="2400" dirty="0">
                <a:latin typeface="Times New Roman" pitchFamily="18" charset="0"/>
                <a:cs typeface="Times New Roman" pitchFamily="18" charset="0"/>
              </a:rPr>
              <a:t>CLASSROOM</a:t>
            </a:r>
          </a:p>
        </p:txBody>
      </p:sp>
      <p:sp>
        <p:nvSpPr>
          <p:cNvPr id="12" name="TextBox 11"/>
          <p:cNvSpPr txBox="1"/>
          <p:nvPr/>
        </p:nvSpPr>
        <p:spPr>
          <a:xfrm>
            <a:off x="5523057" y="3467402"/>
            <a:ext cx="1618840" cy="461665"/>
          </a:xfrm>
          <a:prstGeom prst="rect">
            <a:avLst/>
          </a:prstGeom>
          <a:noFill/>
        </p:spPr>
        <p:txBody>
          <a:bodyPr wrap="square" rtlCol="0">
            <a:spAutoFit/>
          </a:bodyPr>
          <a:lstStyle/>
          <a:p>
            <a:r>
              <a:rPr lang="en-US" sz="2400" dirty="0">
                <a:latin typeface="Times New Roman" pitchFamily="18" charset="0"/>
                <a:cs typeface="Times New Roman" pitchFamily="18" charset="0"/>
              </a:rPr>
              <a:t>BULB</a:t>
            </a:r>
          </a:p>
        </p:txBody>
      </p:sp>
      <p:sp>
        <p:nvSpPr>
          <p:cNvPr id="13" name="TextBox 12"/>
          <p:cNvSpPr txBox="1"/>
          <p:nvPr/>
        </p:nvSpPr>
        <p:spPr>
          <a:xfrm>
            <a:off x="9236866" y="3428490"/>
            <a:ext cx="1523614" cy="461665"/>
          </a:xfrm>
          <a:prstGeom prst="rect">
            <a:avLst/>
          </a:prstGeom>
          <a:noFill/>
        </p:spPr>
        <p:txBody>
          <a:bodyPr wrap="square" rtlCol="0">
            <a:spAutoFit/>
          </a:bodyPr>
          <a:lstStyle/>
          <a:p>
            <a:r>
              <a:rPr lang="en-US" sz="2400" dirty="0">
                <a:latin typeface="Times New Roman" pitchFamily="18" charset="0"/>
                <a:cs typeface="Times New Roman" pitchFamily="18" charset="0"/>
              </a:rPr>
              <a:t>LAMP</a:t>
            </a:r>
          </a:p>
        </p:txBody>
      </p:sp>
      <p:sp>
        <p:nvSpPr>
          <p:cNvPr id="14" name="TextBox 13"/>
          <p:cNvSpPr txBox="1"/>
          <p:nvPr/>
        </p:nvSpPr>
        <p:spPr>
          <a:xfrm>
            <a:off x="4189895" y="5539104"/>
            <a:ext cx="1237936" cy="461665"/>
          </a:xfrm>
          <a:prstGeom prst="rect">
            <a:avLst/>
          </a:prstGeom>
          <a:noFill/>
        </p:spPr>
        <p:txBody>
          <a:bodyPr wrap="square" rtlCol="0">
            <a:spAutoFit/>
          </a:bodyPr>
          <a:lstStyle/>
          <a:p>
            <a:r>
              <a:rPr lang="en-US" sz="2400" dirty="0">
                <a:latin typeface="Times New Roman" pitchFamily="18" charset="0"/>
                <a:cs typeface="Times New Roman" pitchFamily="18" charset="0"/>
              </a:rPr>
              <a:t>KITE</a:t>
            </a:r>
          </a:p>
        </p:txBody>
      </p:sp>
    </p:spTree>
  </p:cSld>
  <p:clrMapOvr>
    <a:masterClrMapping/>
  </p:clrMapOvr>
  <p:transition advTm="313"/>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914162" y="214292"/>
            <a:ext cx="10227221" cy="428627"/>
          </a:xfrm>
        </p:spPr>
        <p:txBody>
          <a:bodyPr>
            <a:noAutofit/>
          </a:bodyPr>
          <a:lstStyle/>
          <a:p>
            <a:r>
              <a:rPr lang="en-IN" sz="2800" u="sng" dirty="0">
                <a:solidFill>
                  <a:schemeClr val="accent6">
                    <a:lumMod val="50000"/>
                  </a:schemeClr>
                </a:solidFill>
                <a:latin typeface="Times New Roman" pitchFamily="18" charset="0"/>
                <a:cs typeface="Times New Roman" pitchFamily="18" charset="0"/>
              </a:rPr>
              <a:t>INTRODUCTION TO CONTROL SYSTEMS</a:t>
            </a:r>
          </a:p>
        </p:txBody>
      </p:sp>
      <p:sp>
        <p:nvSpPr>
          <p:cNvPr id="3" name="Subtitle 2"/>
          <p:cNvSpPr>
            <a:spLocks noGrp="1"/>
          </p:cNvSpPr>
          <p:nvPr>
            <p:ph type="subTitle" idx="1"/>
          </p:nvPr>
        </p:nvSpPr>
        <p:spPr>
          <a:xfrm>
            <a:off x="285635" y="733812"/>
            <a:ext cx="11617555" cy="5929354"/>
          </a:xfrm>
        </p:spPr>
        <p:txBody>
          <a:bodyPr>
            <a:normAutofit/>
          </a:bodyPr>
          <a:lstStyle/>
          <a:p>
            <a:r>
              <a:rPr lang="en-IN" sz="2800" u="sng" dirty="0">
                <a:solidFill>
                  <a:srgbClr val="FF0000"/>
                </a:solidFill>
                <a:latin typeface="Times New Roman" pitchFamily="18" charset="0"/>
                <a:ea typeface="Tahoma" pitchFamily="34" charset="0"/>
                <a:cs typeface="Times New Roman" pitchFamily="18" charset="0"/>
              </a:rPr>
              <a:t>BASIC DEFINITIONS</a:t>
            </a:r>
          </a:p>
          <a:p>
            <a:pPr algn="just"/>
            <a:r>
              <a:rPr lang="en-IN" sz="2800" dirty="0">
                <a:solidFill>
                  <a:srgbClr val="FF0000"/>
                </a:solidFill>
                <a:latin typeface="Times New Roman" pitchFamily="18" charset="0"/>
                <a:ea typeface="Tahoma" pitchFamily="34" charset="0"/>
                <a:cs typeface="Times New Roman" pitchFamily="18" charset="0"/>
              </a:rPr>
              <a:t>INPUT: </a:t>
            </a:r>
            <a:r>
              <a:rPr lang="en-IN" sz="2800" dirty="0">
                <a:solidFill>
                  <a:schemeClr val="tx1"/>
                </a:solidFill>
                <a:latin typeface="Times New Roman" pitchFamily="18" charset="0"/>
                <a:ea typeface="Tahoma" pitchFamily="34" charset="0"/>
                <a:cs typeface="Times New Roman" pitchFamily="18" charset="0"/>
              </a:rPr>
              <a:t>The excitation applied to a control system from an external source in order to produce the output is called input.</a:t>
            </a:r>
          </a:p>
          <a:p>
            <a:pPr algn="just"/>
            <a:endParaRPr lang="en-IN" sz="2800" dirty="0">
              <a:solidFill>
                <a:schemeClr val="tx1"/>
              </a:solidFill>
              <a:latin typeface="Times New Roman" pitchFamily="18" charset="0"/>
              <a:ea typeface="Tahoma" pitchFamily="34" charset="0"/>
              <a:cs typeface="Times New Roman" pitchFamily="18" charset="0"/>
            </a:endParaRPr>
          </a:p>
          <a:p>
            <a:pPr algn="just"/>
            <a:endParaRPr lang="en-IN" sz="2800" dirty="0">
              <a:solidFill>
                <a:schemeClr val="tx1"/>
              </a:solidFill>
              <a:latin typeface="Times New Roman" pitchFamily="18" charset="0"/>
              <a:ea typeface="Tahoma" pitchFamily="34" charset="0"/>
              <a:cs typeface="Times New Roman" pitchFamily="18" charset="0"/>
            </a:endParaRPr>
          </a:p>
          <a:p>
            <a:pPr algn="just"/>
            <a:r>
              <a:rPr lang="en-IN" sz="2800" dirty="0">
                <a:solidFill>
                  <a:srgbClr val="FF0000"/>
                </a:solidFill>
                <a:latin typeface="Times New Roman" pitchFamily="18" charset="0"/>
                <a:ea typeface="Tahoma" pitchFamily="34" charset="0"/>
                <a:cs typeface="Times New Roman" pitchFamily="18" charset="0"/>
              </a:rPr>
              <a:t>OUTPUT :</a:t>
            </a:r>
            <a:r>
              <a:rPr lang="en-IN" sz="2800" dirty="0">
                <a:solidFill>
                  <a:schemeClr val="tx1"/>
                </a:solidFill>
                <a:latin typeface="Times New Roman" pitchFamily="18" charset="0"/>
                <a:ea typeface="Tahoma" pitchFamily="34" charset="0"/>
                <a:cs typeface="Times New Roman" pitchFamily="18" charset="0"/>
              </a:rPr>
              <a:t> The actual response obtained from a system is called output.</a:t>
            </a:r>
          </a:p>
          <a:p>
            <a:pPr algn="just"/>
            <a:endParaRPr lang="en-IN" sz="2800" dirty="0">
              <a:solidFill>
                <a:schemeClr val="tx1"/>
              </a:solidFill>
              <a:latin typeface="Times New Roman" pitchFamily="18" charset="0"/>
              <a:ea typeface="Tahoma" pitchFamily="34" charset="0"/>
              <a:cs typeface="Times New Roman" pitchFamily="18" charset="0"/>
            </a:endParaRPr>
          </a:p>
        </p:txBody>
      </p:sp>
      <p:sp>
        <p:nvSpPr>
          <p:cNvPr id="4" name="Footer Placeholder 3"/>
          <p:cNvSpPr>
            <a:spLocks noGrp="1"/>
          </p:cNvSpPr>
          <p:nvPr>
            <p:ph type="ftr" sz="quarter" idx="11"/>
          </p:nvPr>
        </p:nvSpPr>
        <p:spPr>
          <a:xfrm>
            <a:off x="2475830" y="6500834"/>
            <a:ext cx="7522843" cy="357166"/>
          </a:xfrm>
        </p:spPr>
        <p:txBody>
          <a:bodyPr/>
          <a:lstStyle/>
          <a:p>
            <a:r>
              <a:rPr lang="en-US">
                <a:solidFill>
                  <a:schemeClr val="tx1"/>
                </a:solidFill>
              </a:rPr>
              <a:t>SYED HASAN SAEED, INTEGRAL UNIVERSITY, LUCKNOW, INDIA</a:t>
            </a:r>
            <a:endParaRPr lang="en-IN" dirty="0">
              <a:solidFill>
                <a:schemeClr val="tx1"/>
              </a:solidFill>
            </a:endParaRPr>
          </a:p>
        </p:txBody>
      </p:sp>
      <p:sp>
        <p:nvSpPr>
          <p:cNvPr id="5" name="Slide Number Placeholder 4"/>
          <p:cNvSpPr>
            <a:spLocks noGrp="1"/>
          </p:cNvSpPr>
          <p:nvPr>
            <p:ph type="sldNum" sz="quarter" idx="12"/>
          </p:nvPr>
        </p:nvSpPr>
        <p:spPr/>
        <p:txBody>
          <a:bodyPr/>
          <a:lstStyle/>
          <a:p>
            <a:fld id="{794472C8-07AE-4D03-9F73-512FB105EB04}" type="slidenum">
              <a:rPr lang="en-IN" smtClean="0"/>
              <a:pPr/>
              <a:t>7</a:t>
            </a:fld>
            <a:endParaRPr lang="en-IN"/>
          </a:p>
        </p:txBody>
      </p:sp>
      <p:grpSp>
        <p:nvGrpSpPr>
          <p:cNvPr id="10" name="Group 9"/>
          <p:cNvGrpSpPr/>
          <p:nvPr/>
        </p:nvGrpSpPr>
        <p:grpSpPr>
          <a:xfrm>
            <a:off x="2094926" y="2357430"/>
            <a:ext cx="5142197" cy="785818"/>
            <a:chOff x="1571604" y="2948390"/>
            <a:chExt cx="3857652" cy="785818"/>
          </a:xfrm>
        </p:grpSpPr>
        <p:sp>
          <p:nvSpPr>
            <p:cNvPr id="6" name="Rectangle 5"/>
            <p:cNvSpPr/>
            <p:nvPr/>
          </p:nvSpPr>
          <p:spPr>
            <a:xfrm>
              <a:off x="3714744" y="2948390"/>
              <a:ext cx="1714512" cy="785818"/>
            </a:xfrm>
            <a:prstGeom prst="rect">
              <a:avLst/>
            </a:prstGeom>
            <a:noFill/>
            <a:ln w="158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 name="Straight Arrow Connector 7"/>
            <p:cNvCxnSpPr/>
            <p:nvPr/>
          </p:nvCxnSpPr>
          <p:spPr>
            <a:xfrm>
              <a:off x="2643174" y="3331422"/>
              <a:ext cx="1071570" cy="0"/>
            </a:xfrm>
            <a:prstGeom prst="straightConnector1">
              <a:avLst/>
            </a:prstGeom>
            <a:ln w="158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9" name="TextBox 8"/>
            <p:cNvSpPr txBox="1"/>
            <p:nvPr/>
          </p:nvSpPr>
          <p:spPr>
            <a:xfrm>
              <a:off x="1571604" y="3000372"/>
              <a:ext cx="1143008" cy="461665"/>
            </a:xfrm>
            <a:prstGeom prst="rect">
              <a:avLst/>
            </a:prstGeom>
            <a:noFill/>
          </p:spPr>
          <p:txBody>
            <a:bodyPr wrap="square" rtlCol="0">
              <a:spAutoFit/>
            </a:bodyPr>
            <a:lstStyle/>
            <a:p>
              <a:r>
                <a:rPr lang="en-US" sz="2400" dirty="0"/>
                <a:t>INPUT</a:t>
              </a:r>
            </a:p>
          </p:txBody>
        </p:sp>
      </p:grpSp>
      <p:grpSp>
        <p:nvGrpSpPr>
          <p:cNvPr id="17" name="Group 16"/>
          <p:cNvGrpSpPr/>
          <p:nvPr/>
        </p:nvGrpSpPr>
        <p:grpSpPr>
          <a:xfrm>
            <a:off x="2094926" y="4143380"/>
            <a:ext cx="8475102" cy="785818"/>
            <a:chOff x="1571604" y="5214950"/>
            <a:chExt cx="6357982" cy="785818"/>
          </a:xfrm>
        </p:grpSpPr>
        <p:grpSp>
          <p:nvGrpSpPr>
            <p:cNvPr id="11" name="Group 10"/>
            <p:cNvGrpSpPr/>
            <p:nvPr/>
          </p:nvGrpSpPr>
          <p:grpSpPr>
            <a:xfrm>
              <a:off x="1571604" y="5214950"/>
              <a:ext cx="3857652" cy="785818"/>
              <a:chOff x="1571604" y="2948390"/>
              <a:chExt cx="3857652" cy="785818"/>
            </a:xfrm>
          </p:grpSpPr>
          <p:sp>
            <p:nvSpPr>
              <p:cNvPr id="12" name="Rectangle 11"/>
              <p:cNvSpPr/>
              <p:nvPr/>
            </p:nvSpPr>
            <p:spPr>
              <a:xfrm>
                <a:off x="3714744" y="2948390"/>
                <a:ext cx="1714512" cy="785818"/>
              </a:xfrm>
              <a:prstGeom prst="rect">
                <a:avLst/>
              </a:prstGeom>
              <a:noFill/>
              <a:ln w="158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3" name="Straight Arrow Connector 12"/>
              <p:cNvCxnSpPr/>
              <p:nvPr/>
            </p:nvCxnSpPr>
            <p:spPr>
              <a:xfrm>
                <a:off x="2643174" y="3341150"/>
                <a:ext cx="1071570" cy="0"/>
              </a:xfrm>
              <a:prstGeom prst="straightConnector1">
                <a:avLst/>
              </a:prstGeom>
              <a:ln w="158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4" name="TextBox 13"/>
              <p:cNvSpPr txBox="1"/>
              <p:nvPr/>
            </p:nvSpPr>
            <p:spPr>
              <a:xfrm>
                <a:off x="1571604" y="3000372"/>
                <a:ext cx="1143008" cy="461665"/>
              </a:xfrm>
              <a:prstGeom prst="rect">
                <a:avLst/>
              </a:prstGeom>
              <a:noFill/>
            </p:spPr>
            <p:txBody>
              <a:bodyPr wrap="square" rtlCol="0">
                <a:spAutoFit/>
              </a:bodyPr>
              <a:lstStyle/>
              <a:p>
                <a:r>
                  <a:rPr lang="en-US" sz="2400" dirty="0"/>
                  <a:t>INPUT</a:t>
                </a:r>
              </a:p>
            </p:txBody>
          </p:sp>
        </p:grpSp>
        <p:cxnSp>
          <p:nvCxnSpPr>
            <p:cNvPr id="15" name="Straight Arrow Connector 14"/>
            <p:cNvCxnSpPr/>
            <p:nvPr/>
          </p:nvCxnSpPr>
          <p:spPr>
            <a:xfrm>
              <a:off x="5429256" y="5611052"/>
              <a:ext cx="1071570" cy="0"/>
            </a:xfrm>
            <a:prstGeom prst="straightConnector1">
              <a:avLst/>
            </a:prstGeom>
            <a:ln w="158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6" name="TextBox 15"/>
            <p:cNvSpPr txBox="1"/>
            <p:nvPr/>
          </p:nvSpPr>
          <p:spPr>
            <a:xfrm>
              <a:off x="6572264" y="5357826"/>
              <a:ext cx="1357322" cy="461665"/>
            </a:xfrm>
            <a:prstGeom prst="rect">
              <a:avLst/>
            </a:prstGeom>
            <a:noFill/>
          </p:spPr>
          <p:txBody>
            <a:bodyPr wrap="square" rtlCol="0">
              <a:spAutoFit/>
            </a:bodyPr>
            <a:lstStyle/>
            <a:p>
              <a:r>
                <a:rPr lang="en-US" sz="2400" dirty="0"/>
                <a:t>OUTPUT</a:t>
              </a:r>
            </a:p>
          </p:txBody>
        </p:sp>
      </p:grpSp>
    </p:spTree>
  </p:cSld>
  <p:clrMapOvr>
    <a:masterClrMapping/>
  </p:clrMapOvr>
  <p:transition advTm="359"/>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914162" y="214292"/>
            <a:ext cx="10227221" cy="428627"/>
          </a:xfrm>
        </p:spPr>
        <p:txBody>
          <a:bodyPr>
            <a:noAutofit/>
          </a:bodyPr>
          <a:lstStyle/>
          <a:p>
            <a:r>
              <a:rPr lang="en-IN" sz="2800" u="sng" dirty="0">
                <a:solidFill>
                  <a:schemeClr val="accent6">
                    <a:lumMod val="50000"/>
                  </a:schemeClr>
                </a:solidFill>
                <a:latin typeface="Times New Roman" pitchFamily="18" charset="0"/>
                <a:cs typeface="Times New Roman" pitchFamily="18" charset="0"/>
              </a:rPr>
              <a:t>INTRODUCTION TO CONTROL SYSTEMS</a:t>
            </a:r>
          </a:p>
        </p:txBody>
      </p:sp>
      <p:sp>
        <p:nvSpPr>
          <p:cNvPr id="3" name="Subtitle 2"/>
          <p:cNvSpPr>
            <a:spLocks noGrp="1"/>
          </p:cNvSpPr>
          <p:nvPr>
            <p:ph type="subTitle" idx="1"/>
          </p:nvPr>
        </p:nvSpPr>
        <p:spPr>
          <a:xfrm>
            <a:off x="285635" y="785794"/>
            <a:ext cx="11617555" cy="5929354"/>
          </a:xfrm>
        </p:spPr>
        <p:txBody>
          <a:bodyPr>
            <a:normAutofit/>
          </a:bodyPr>
          <a:lstStyle/>
          <a:p>
            <a:r>
              <a:rPr lang="en-IN" sz="2800" u="sng" dirty="0">
                <a:solidFill>
                  <a:srgbClr val="FF0000"/>
                </a:solidFill>
                <a:latin typeface="Times New Roman" pitchFamily="18" charset="0"/>
                <a:ea typeface="Tahoma" pitchFamily="34" charset="0"/>
                <a:cs typeface="Times New Roman" pitchFamily="18" charset="0"/>
              </a:rPr>
              <a:t>BASIC DEFINITIONS</a:t>
            </a:r>
          </a:p>
          <a:p>
            <a:pPr algn="just"/>
            <a:r>
              <a:rPr lang="en-IN" sz="2800" dirty="0">
                <a:solidFill>
                  <a:srgbClr val="FF0000"/>
                </a:solidFill>
                <a:latin typeface="Times New Roman" pitchFamily="18" charset="0"/>
                <a:ea typeface="Tahoma" pitchFamily="34" charset="0"/>
                <a:cs typeface="Times New Roman" pitchFamily="18" charset="0"/>
              </a:rPr>
              <a:t>CONTROL: </a:t>
            </a:r>
            <a:r>
              <a:rPr lang="en-IN" sz="2800" dirty="0">
                <a:solidFill>
                  <a:schemeClr val="tx1"/>
                </a:solidFill>
                <a:latin typeface="Times New Roman" pitchFamily="18" charset="0"/>
                <a:ea typeface="Tahoma" pitchFamily="34" charset="0"/>
                <a:cs typeface="Times New Roman" pitchFamily="18" charset="0"/>
              </a:rPr>
              <a:t>Control means to regulate, direct or command a system so that the desired objective is obtained.</a:t>
            </a:r>
          </a:p>
          <a:p>
            <a:pPr algn="just"/>
            <a:r>
              <a:rPr lang="en-IN" sz="2800" dirty="0">
                <a:solidFill>
                  <a:srgbClr val="FF0000"/>
                </a:solidFill>
                <a:latin typeface="Times New Roman" pitchFamily="18" charset="0"/>
                <a:ea typeface="Tahoma" pitchFamily="34" charset="0"/>
                <a:cs typeface="Times New Roman" pitchFamily="18" charset="0"/>
              </a:rPr>
              <a:t>CONTROL SYSTEM: </a:t>
            </a:r>
          </a:p>
          <a:p>
            <a:pPr algn="just"/>
            <a:r>
              <a:rPr lang="en-IN" sz="2800" dirty="0">
                <a:solidFill>
                  <a:schemeClr val="tx1"/>
                </a:solidFill>
                <a:latin typeface="Times New Roman" pitchFamily="18" charset="0"/>
                <a:ea typeface="Tahoma" pitchFamily="34" charset="0"/>
                <a:cs typeface="Times New Roman" pitchFamily="18" charset="0"/>
              </a:rPr>
              <a:t>Now combine all terms</a:t>
            </a:r>
          </a:p>
          <a:p>
            <a:pPr algn="just"/>
            <a:r>
              <a:rPr lang="en-IN" sz="2800" dirty="0">
                <a:solidFill>
                  <a:schemeClr val="tx1"/>
                </a:solidFill>
                <a:latin typeface="Times New Roman" pitchFamily="18" charset="0"/>
                <a:ea typeface="Tahoma" pitchFamily="34" charset="0"/>
                <a:cs typeface="Times New Roman" pitchFamily="18" charset="0"/>
              </a:rPr>
              <a:t>Control + System = Control System</a:t>
            </a:r>
          </a:p>
        </p:txBody>
      </p:sp>
      <p:sp>
        <p:nvSpPr>
          <p:cNvPr id="4" name="Footer Placeholder 3"/>
          <p:cNvSpPr>
            <a:spLocks noGrp="1"/>
          </p:cNvSpPr>
          <p:nvPr>
            <p:ph type="ftr" sz="quarter" idx="11"/>
          </p:nvPr>
        </p:nvSpPr>
        <p:spPr>
          <a:xfrm>
            <a:off x="2475830" y="6500834"/>
            <a:ext cx="7522843" cy="357166"/>
          </a:xfrm>
        </p:spPr>
        <p:txBody>
          <a:bodyPr/>
          <a:lstStyle/>
          <a:p>
            <a:r>
              <a:rPr lang="en-US">
                <a:solidFill>
                  <a:schemeClr val="tx1"/>
                </a:solidFill>
              </a:rPr>
              <a:t>SYED HASAN SAEED, INTEGRAL UNIVERSITY, LUCKNOW, INDIA</a:t>
            </a:r>
            <a:endParaRPr lang="en-IN" dirty="0">
              <a:solidFill>
                <a:schemeClr val="tx1"/>
              </a:solidFill>
            </a:endParaRPr>
          </a:p>
        </p:txBody>
      </p:sp>
      <p:sp>
        <p:nvSpPr>
          <p:cNvPr id="5" name="Slide Number Placeholder 4"/>
          <p:cNvSpPr>
            <a:spLocks noGrp="1"/>
          </p:cNvSpPr>
          <p:nvPr>
            <p:ph type="sldNum" sz="quarter" idx="12"/>
          </p:nvPr>
        </p:nvSpPr>
        <p:spPr/>
        <p:txBody>
          <a:bodyPr/>
          <a:lstStyle/>
          <a:p>
            <a:fld id="{794472C8-07AE-4D03-9F73-512FB105EB04}" type="slidenum">
              <a:rPr lang="en-IN" smtClean="0"/>
              <a:pPr/>
              <a:t>8</a:t>
            </a:fld>
            <a:endParaRPr lang="en-IN"/>
          </a:p>
        </p:txBody>
      </p:sp>
      <p:grpSp>
        <p:nvGrpSpPr>
          <p:cNvPr id="6" name="Group 5"/>
          <p:cNvGrpSpPr/>
          <p:nvPr/>
        </p:nvGrpSpPr>
        <p:grpSpPr>
          <a:xfrm>
            <a:off x="1618797" y="4857760"/>
            <a:ext cx="8475102" cy="785818"/>
            <a:chOff x="1571604" y="5214950"/>
            <a:chExt cx="6357982" cy="785818"/>
          </a:xfrm>
        </p:grpSpPr>
        <p:grpSp>
          <p:nvGrpSpPr>
            <p:cNvPr id="7" name="Group 10"/>
            <p:cNvGrpSpPr/>
            <p:nvPr/>
          </p:nvGrpSpPr>
          <p:grpSpPr>
            <a:xfrm>
              <a:off x="1571604" y="5214950"/>
              <a:ext cx="3857652" cy="785818"/>
              <a:chOff x="1571604" y="2948390"/>
              <a:chExt cx="3857652" cy="785818"/>
            </a:xfrm>
          </p:grpSpPr>
          <p:sp>
            <p:nvSpPr>
              <p:cNvPr id="10" name="Rectangle 9"/>
              <p:cNvSpPr/>
              <p:nvPr/>
            </p:nvSpPr>
            <p:spPr>
              <a:xfrm>
                <a:off x="3714744" y="2948390"/>
                <a:ext cx="1714512" cy="785818"/>
              </a:xfrm>
              <a:prstGeom prst="rect">
                <a:avLst/>
              </a:prstGeom>
              <a:noFill/>
              <a:ln w="158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Arrow Connector 10"/>
              <p:cNvCxnSpPr/>
              <p:nvPr/>
            </p:nvCxnSpPr>
            <p:spPr>
              <a:xfrm>
                <a:off x="2643174" y="3341150"/>
                <a:ext cx="1071570" cy="0"/>
              </a:xfrm>
              <a:prstGeom prst="straightConnector1">
                <a:avLst/>
              </a:prstGeom>
              <a:ln w="158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2" name="TextBox 11"/>
              <p:cNvSpPr txBox="1"/>
              <p:nvPr/>
            </p:nvSpPr>
            <p:spPr>
              <a:xfrm>
                <a:off x="1571604" y="3000372"/>
                <a:ext cx="1143008" cy="461665"/>
              </a:xfrm>
              <a:prstGeom prst="rect">
                <a:avLst/>
              </a:prstGeom>
              <a:noFill/>
            </p:spPr>
            <p:txBody>
              <a:bodyPr wrap="square" rtlCol="0">
                <a:spAutoFit/>
              </a:bodyPr>
              <a:lstStyle/>
              <a:p>
                <a:r>
                  <a:rPr lang="en-US" sz="2400" dirty="0"/>
                  <a:t>INPUT</a:t>
                </a:r>
              </a:p>
            </p:txBody>
          </p:sp>
        </p:grpSp>
        <p:cxnSp>
          <p:nvCxnSpPr>
            <p:cNvPr id="8" name="Straight Arrow Connector 7"/>
            <p:cNvCxnSpPr/>
            <p:nvPr/>
          </p:nvCxnSpPr>
          <p:spPr>
            <a:xfrm>
              <a:off x="5429256" y="5611052"/>
              <a:ext cx="1071570" cy="0"/>
            </a:xfrm>
            <a:prstGeom prst="straightConnector1">
              <a:avLst/>
            </a:prstGeom>
            <a:ln w="158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9" name="TextBox 8"/>
            <p:cNvSpPr txBox="1"/>
            <p:nvPr/>
          </p:nvSpPr>
          <p:spPr>
            <a:xfrm>
              <a:off x="6572264" y="5357826"/>
              <a:ext cx="1357322" cy="461665"/>
            </a:xfrm>
            <a:prstGeom prst="rect">
              <a:avLst/>
            </a:prstGeom>
            <a:noFill/>
          </p:spPr>
          <p:txBody>
            <a:bodyPr wrap="square" rtlCol="0">
              <a:spAutoFit/>
            </a:bodyPr>
            <a:lstStyle/>
            <a:p>
              <a:r>
                <a:rPr lang="en-US" sz="2400" dirty="0"/>
                <a:t>OUTPUT</a:t>
              </a:r>
            </a:p>
          </p:txBody>
        </p:sp>
      </p:grpSp>
      <p:sp>
        <p:nvSpPr>
          <p:cNvPr id="13" name="TextBox 12"/>
          <p:cNvSpPr txBox="1"/>
          <p:nvPr/>
        </p:nvSpPr>
        <p:spPr>
          <a:xfrm>
            <a:off x="4696414" y="4844989"/>
            <a:ext cx="2094969" cy="830997"/>
          </a:xfrm>
          <a:prstGeom prst="rect">
            <a:avLst/>
          </a:prstGeom>
          <a:noFill/>
        </p:spPr>
        <p:txBody>
          <a:bodyPr wrap="square" rtlCol="0">
            <a:spAutoFit/>
          </a:bodyPr>
          <a:lstStyle/>
          <a:p>
            <a:r>
              <a:rPr lang="en-US" sz="2400" dirty="0"/>
              <a:t>CONTROL</a:t>
            </a:r>
          </a:p>
          <a:p>
            <a:r>
              <a:rPr lang="en-US" sz="2400" dirty="0"/>
              <a:t>SYSTEM</a:t>
            </a:r>
          </a:p>
        </p:txBody>
      </p:sp>
    </p:spTree>
  </p:cSld>
  <p:clrMapOvr>
    <a:masterClrMapping/>
  </p:clrMapOvr>
  <p:transition advTm="313"/>
</p:sld>
</file>

<file path=ppt/slides/slide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BDC663BA-C4E2-EC24-9775-18D4B1F4E637}"/>
              </a:ext>
            </a:extLst>
          </p:cNvPr>
          <p:cNvSpPr>
            <a:spLocks noGrp="1"/>
          </p:cNvSpPr>
          <p:nvPr>
            <p:ph type="ftr" sz="quarter" idx="11"/>
          </p:nvPr>
        </p:nvSpPr>
        <p:spPr/>
        <p:txBody>
          <a:bodyPr/>
          <a:lstStyle/>
          <a:p>
            <a:r>
              <a:rPr lang="en-US"/>
              <a:t>SYED HASAN SAEED, INTEGRAL UNIVERSITY, LUCKNOW, INDIA</a:t>
            </a:r>
            <a:endParaRPr lang="en-IN"/>
          </a:p>
        </p:txBody>
      </p:sp>
      <p:sp>
        <p:nvSpPr>
          <p:cNvPr id="3" name="Slide Number Placeholder 2">
            <a:extLst>
              <a:ext uri="{FF2B5EF4-FFF2-40B4-BE49-F238E27FC236}">
                <a16:creationId xmlns:a16="http://schemas.microsoft.com/office/drawing/2014/main" id="{1942EE94-E0DF-309A-0CF3-57CD1D86119D}"/>
              </a:ext>
            </a:extLst>
          </p:cNvPr>
          <p:cNvSpPr>
            <a:spLocks noGrp="1"/>
          </p:cNvSpPr>
          <p:nvPr>
            <p:ph type="sldNum" sz="quarter" idx="12"/>
          </p:nvPr>
        </p:nvSpPr>
        <p:spPr/>
        <p:txBody>
          <a:bodyPr/>
          <a:lstStyle/>
          <a:p>
            <a:fld id="{794472C8-07AE-4D03-9F73-512FB105EB04}" type="slidenum">
              <a:rPr lang="en-IN" smtClean="0"/>
              <a:pPr/>
              <a:t>9</a:t>
            </a:fld>
            <a:endParaRPr lang="en-IN"/>
          </a:p>
        </p:txBody>
      </p:sp>
      <p:sp>
        <p:nvSpPr>
          <p:cNvPr id="4" name="Rectangle 3">
            <a:extLst>
              <a:ext uri="{FF2B5EF4-FFF2-40B4-BE49-F238E27FC236}">
                <a16:creationId xmlns:a16="http://schemas.microsoft.com/office/drawing/2014/main" id="{763BF4E6-9240-E7F9-DC72-5CF6EB8F9C5D}"/>
              </a:ext>
              <a:ext uri="{C183D7F6-B498-43B3-948B-1728B52AA6E4}">
                <adec:decorative xmlns:adec="http://schemas.microsoft.com/office/drawing/2017/decorative" val="1"/>
              </a:ext>
            </a:extLst>
          </p:cNvPr>
          <p:cNvSpPr/>
          <p:nvPr>
            <p:custDataLst>
              <p:tags r:id="rId2"/>
            </p:custDataLst>
          </p:nvPr>
        </p:nvSpPr>
        <p:spPr>
          <a:xfrm>
            <a:off x="444577" y="1743012"/>
            <a:ext cx="2371079" cy="2371079"/>
          </a:xfrm>
          <a:prstGeom prst="rect">
            <a:avLst/>
          </a:prstGeom>
          <a:blipFill>
            <a:blip>
              <a:extLst>
                <a:ext uri="{96DAC541-7B7A-43D3-8B79-37D633B846F1}">
                  <asvg:svgBlip xmlns:asvg="http://schemas.microsoft.com/office/drawing/2016/SVG/main" r:embed="rId5"/>
                </a:ext>
              </a:extLst>
            </a:blip>
            <a:stretch>
              <a:fillRect/>
            </a:stretch>
          </a:blipFill>
          <a:ln>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Rectangle 4" descr="Which of these is the best example of a system?">
            <a:extLst>
              <a:ext uri="{FF2B5EF4-FFF2-40B4-BE49-F238E27FC236}">
                <a16:creationId xmlns:a16="http://schemas.microsoft.com/office/drawing/2014/main" id="{1182E1F2-8DBC-9786-8012-BBC82923E024}"/>
              </a:ext>
            </a:extLst>
          </p:cNvPr>
          <p:cNvSpPr/>
          <p:nvPr>
            <p:custDataLst>
              <p:tags r:id="rId3"/>
            </p:custDataLst>
          </p:nvPr>
        </p:nvSpPr>
        <p:spPr>
          <a:xfrm>
            <a:off x="3112040" y="1000897"/>
            <a:ext cx="8484015" cy="3855308"/>
          </a:xfrm>
          <a:prstGeom prst="rect">
            <a:avLst/>
          </a:prstGeom>
          <a:noFill/>
          <a:ln w="25400" cap="flat" cmpd="sng" algn="ctr">
            <a:solidFill>
              <a:srgbClr val="FFFFFF"/>
            </a:solidFill>
            <a:prstDash val="solid"/>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4000" b="1">
                <a:solidFill>
                  <a:srgbClr val="000000"/>
                </a:solidFill>
              </a:rPr>
              <a:t>Which of these is the best example of a system?</a:t>
            </a:r>
            <a:endParaRPr lang="en-IN" sz="4000" b="1">
              <a:solidFill>
                <a:srgbClr val="000000"/>
              </a:solidFill>
            </a:endParaRPr>
          </a:p>
        </p:txBody>
      </p:sp>
      <p:sp>
        <p:nvSpPr>
          <p:cNvPr id="6" name="Rectangle 5" descr="The Slido app must be installed on every computer you’re presenting from">
            <a:extLst>
              <a:ext uri="{FF2B5EF4-FFF2-40B4-BE49-F238E27FC236}">
                <a16:creationId xmlns:a16="http://schemas.microsoft.com/office/drawing/2014/main" id="{60D0EC54-E0BA-E345-1B01-16AF6BCD1505}"/>
              </a:ext>
            </a:extLst>
          </p:cNvPr>
          <p:cNvSpPr/>
          <p:nvPr/>
        </p:nvSpPr>
        <p:spPr>
          <a:xfrm>
            <a:off x="0" y="5820032"/>
            <a:ext cx="12188824" cy="1037968"/>
          </a:xfrm>
          <a:prstGeom prst="rect">
            <a:avLst/>
          </a:prstGeom>
          <a:solidFill>
            <a:srgbClr val="198038"/>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lIns="740962" tIns="259337" rIns="1852405" bIns="203765" rtlCol="0" anchor="ctr">
            <a:normAutofit fontScale="92500"/>
          </a:bodyPr>
          <a:lstStyle/>
          <a:p>
            <a:r>
              <a:rPr lang="en-US" sz="2600">
                <a:solidFill>
                  <a:srgbClr val="FFFFFF"/>
                </a:solidFill>
              </a:rPr>
              <a:t>The </a:t>
            </a:r>
            <a:r>
              <a:rPr lang="en-US" sz="2600">
                <a:solidFill>
                  <a:srgbClr val="FFFFFF"/>
                </a:solidFill>
                <a:hlinkClick r:id="rId6">
                  <a:extLst>
                    <a:ext uri="{A12FA001-AC4F-418D-AE19-62706E023703}">
                      <ahyp:hlinkClr xmlns:ahyp="http://schemas.microsoft.com/office/drawing/2018/hyperlinkcolor" val="tx"/>
                    </a:ext>
                  </a:extLst>
                </a:hlinkClick>
              </a:rPr>
              <a:t>Slido app</a:t>
            </a:r>
            <a:r>
              <a:rPr lang="en-US" sz="2600">
                <a:solidFill>
                  <a:srgbClr val="FFFFFF"/>
                </a:solidFill>
              </a:rPr>
              <a:t> must be installed on every computer you’re presenting from</a:t>
            </a:r>
            <a:endParaRPr lang="en-IN" sz="2600">
              <a:solidFill>
                <a:srgbClr val="FFFFFF"/>
              </a:solidFill>
            </a:endParaRPr>
          </a:p>
        </p:txBody>
      </p:sp>
      <p:pic>
        <p:nvPicPr>
          <p:cNvPr id="8" name="Graphic 7">
            <a:extLst>
              <a:ext uri="{FF2B5EF4-FFF2-40B4-BE49-F238E27FC236}">
                <a16:creationId xmlns:a16="http://schemas.microsoft.com/office/drawing/2014/main" id="{FED4243B-573C-3213-9A9C-F842DDED7B12}"/>
              </a:ext>
              <a:ext uri="{C183D7F6-B498-43B3-948B-1728B52AA6E4}">
                <adec:decorative xmlns:adec="http://schemas.microsoft.com/office/drawing/2017/decorative" val="1"/>
              </a:ext>
            </a:extLst>
          </p:cNvPr>
          <p:cNvPicPr>
            <a:picLocks/>
          </p:cNvPicPr>
          <p:nvPr/>
        </p:nvPicPr>
        <p:blipFill>
          <a:blip>
            <a:extLst>
              <a:ext uri="{96DAC541-7B7A-43D3-8B79-37D633B846F1}">
                <asvg:svgBlip xmlns:asvg="http://schemas.microsoft.com/office/drawing/2016/SVG/main" r:embed="rId7"/>
              </a:ext>
            </a:extLst>
          </a:blip>
          <a:stretch>
            <a:fillRect/>
          </a:stretch>
        </p:blipFill>
        <p:spPr>
          <a:xfrm>
            <a:off x="296385" y="6190824"/>
            <a:ext cx="296385" cy="296385"/>
          </a:xfrm>
          <a:prstGeom prst="rect">
            <a:avLst/>
          </a:prstGeom>
        </p:spPr>
      </p:pic>
      <p:sp>
        <p:nvSpPr>
          <p:cNvPr id="9" name="Trapezoid 8" descr="Do not edit&#10;How to change the design">
            <a:extLst>
              <a:ext uri="{FF2B5EF4-FFF2-40B4-BE49-F238E27FC236}">
                <a16:creationId xmlns:a16="http://schemas.microsoft.com/office/drawing/2014/main" id="{CB80A907-1AB4-FCBF-DE2F-AFEA21F81233}"/>
              </a:ext>
            </a:extLst>
          </p:cNvPr>
          <p:cNvSpPr/>
          <p:nvPr/>
        </p:nvSpPr>
        <p:spPr>
          <a:xfrm rot="2700000">
            <a:off x="9617865" y="514790"/>
            <a:ext cx="3334329" cy="778010"/>
          </a:xfrm>
          <a:prstGeom prst="trapezoid">
            <a:avLst>
              <a:gd name="adj" fmla="val 100000"/>
            </a:avLst>
          </a:prstGeom>
          <a:solidFill>
            <a:srgbClr val="EDFAF2"/>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tIns="0" bIns="0" rtlCol="0" anchor="t">
            <a:normAutofit fontScale="70000" lnSpcReduction="20000"/>
          </a:bodyPr>
          <a:lstStyle/>
          <a:p>
            <a:pPr algn="ctr"/>
            <a:r>
              <a:rPr lang="en-US" sz="2600" b="1">
                <a:solidFill>
                  <a:srgbClr val="198038"/>
                </a:solidFill>
              </a:rPr>
              <a:t>Do not edit
</a:t>
            </a:r>
            <a:r>
              <a:rPr lang="en-US" sz="2200">
                <a:solidFill>
                  <a:srgbClr val="198038"/>
                </a:solidFill>
                <a:hlinkClick r:id="rId8">
                  <a:extLst>
                    <a:ext uri="{A12FA001-AC4F-418D-AE19-62706E023703}">
                      <ahyp:hlinkClr xmlns:ahyp="http://schemas.microsoft.com/office/drawing/2018/hyperlinkcolor" val="tx"/>
                    </a:ext>
                  </a:extLst>
                </a:hlinkClick>
              </a:rPr>
              <a:t>How to change the design</a:t>
            </a:r>
            <a:endParaRPr lang="en-IN" sz="2200">
              <a:solidFill>
                <a:srgbClr val="198038"/>
              </a:solidFill>
            </a:endParaRPr>
          </a:p>
        </p:txBody>
      </p:sp>
      <p:pic>
        <p:nvPicPr>
          <p:cNvPr id="11" name="Graphic 10">
            <a:extLst>
              <a:ext uri="{FF2B5EF4-FFF2-40B4-BE49-F238E27FC236}">
                <a16:creationId xmlns:a16="http://schemas.microsoft.com/office/drawing/2014/main" id="{090B8A1E-7942-2029-7EDA-00CA157B43DC}"/>
              </a:ext>
              <a:ext uri="{C183D7F6-B498-43B3-948B-1728B52AA6E4}">
                <adec:decorative xmlns:adec="http://schemas.microsoft.com/office/drawing/2017/decorative" val="1"/>
              </a:ext>
            </a:extLst>
          </p:cNvPr>
          <p:cNvPicPr>
            <a:picLocks/>
          </p:cNvPicPr>
          <p:nvPr/>
        </p:nvPicPr>
        <p:blipFill>
          <a:blip>
            <a:extLst>
              <a:ext uri="{96DAC541-7B7A-43D3-8B79-37D633B846F1}">
                <asvg:svgBlip xmlns:asvg="http://schemas.microsoft.com/office/drawing/2016/SVG/main" r:embed="rId9"/>
              </a:ext>
            </a:extLst>
          </a:blip>
          <a:stretch>
            <a:fillRect/>
          </a:stretch>
        </p:blipFill>
        <p:spPr>
          <a:xfrm>
            <a:off x="10743949" y="6153776"/>
            <a:ext cx="1111443" cy="370481"/>
          </a:xfrm>
          <a:prstGeom prst="rect">
            <a:avLst/>
          </a:prstGeom>
        </p:spPr>
      </p:pic>
    </p:spTree>
    <p:custDataLst>
      <p:tags r:id="rId1"/>
    </p:custDataLst>
    <p:extLst>
      <p:ext uri="{BB962C8B-B14F-4D97-AF65-F5344CB8AC3E}">
        <p14:creationId xmlns:p14="http://schemas.microsoft.com/office/powerpoint/2010/main" val="38612245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914162" y="214292"/>
            <a:ext cx="10227221" cy="428627"/>
          </a:xfrm>
        </p:spPr>
        <p:txBody>
          <a:bodyPr>
            <a:noAutofit/>
          </a:bodyPr>
          <a:lstStyle/>
          <a:p>
            <a:r>
              <a:rPr lang="en-IN" sz="2800" u="sng" dirty="0">
                <a:solidFill>
                  <a:schemeClr val="accent6">
                    <a:lumMod val="50000"/>
                  </a:schemeClr>
                </a:solidFill>
                <a:latin typeface="Times New Roman" pitchFamily="18" charset="0"/>
                <a:cs typeface="Times New Roman" pitchFamily="18" charset="0"/>
              </a:rPr>
              <a:t>INTRODUCTION TO CONTROL SYSTEMS</a:t>
            </a:r>
          </a:p>
        </p:txBody>
      </p:sp>
      <p:sp>
        <p:nvSpPr>
          <p:cNvPr id="3" name="Subtitle 2"/>
          <p:cNvSpPr>
            <a:spLocks noGrp="1"/>
          </p:cNvSpPr>
          <p:nvPr>
            <p:ph type="subTitle" idx="1"/>
          </p:nvPr>
        </p:nvSpPr>
        <p:spPr>
          <a:xfrm>
            <a:off x="285635" y="785794"/>
            <a:ext cx="11617555" cy="5929354"/>
          </a:xfrm>
        </p:spPr>
        <p:txBody>
          <a:bodyPr>
            <a:normAutofit/>
          </a:bodyPr>
          <a:lstStyle/>
          <a:p>
            <a:pPr algn="just"/>
            <a:endParaRPr lang="en-IN" sz="2000" dirty="0">
              <a:solidFill>
                <a:schemeClr val="tx1"/>
              </a:solidFill>
              <a:ea typeface="Tahoma" pitchFamily="34" charset="0"/>
              <a:cs typeface="Arial" pitchFamily="34" charset="0"/>
            </a:endParaRPr>
          </a:p>
          <a:p>
            <a:pPr algn="just"/>
            <a:endParaRPr lang="en-IN" sz="1100" dirty="0">
              <a:solidFill>
                <a:schemeClr val="tx1"/>
              </a:solidFill>
              <a:ea typeface="Tahoma" pitchFamily="34" charset="0"/>
              <a:cs typeface="Arial" pitchFamily="34" charset="0"/>
            </a:endParaRPr>
          </a:p>
          <a:p>
            <a:pPr algn="just"/>
            <a:endParaRPr lang="en-IN" sz="1100" dirty="0">
              <a:solidFill>
                <a:schemeClr val="tx1"/>
              </a:solidFill>
              <a:ea typeface="Tahoma" pitchFamily="34" charset="0"/>
              <a:cs typeface="Arial" pitchFamily="34" charset="0"/>
            </a:endParaRPr>
          </a:p>
          <a:p>
            <a:pPr algn="just"/>
            <a:endParaRPr lang="en-IN" sz="1100" dirty="0">
              <a:solidFill>
                <a:schemeClr val="tx1"/>
              </a:solidFill>
              <a:ea typeface="Tahoma" pitchFamily="34" charset="0"/>
              <a:cs typeface="Arial" pitchFamily="34" charset="0"/>
            </a:endParaRPr>
          </a:p>
          <a:p>
            <a:pPr algn="just"/>
            <a:endParaRPr lang="en-IN" sz="1100" dirty="0">
              <a:solidFill>
                <a:schemeClr val="tx1"/>
              </a:solidFill>
              <a:ea typeface="Tahoma" pitchFamily="34" charset="0"/>
              <a:cs typeface="Arial" pitchFamily="34" charset="0"/>
            </a:endParaRPr>
          </a:p>
          <a:p>
            <a:pPr algn="just"/>
            <a:endParaRPr lang="en-IN" sz="1100" dirty="0">
              <a:solidFill>
                <a:schemeClr val="tx1"/>
              </a:solidFill>
              <a:ea typeface="Tahoma" pitchFamily="34" charset="0"/>
              <a:cs typeface="Arial" pitchFamily="34" charset="0"/>
            </a:endParaRPr>
          </a:p>
          <a:p>
            <a:pPr algn="just"/>
            <a:endParaRPr lang="en-IN" sz="1100" dirty="0">
              <a:solidFill>
                <a:schemeClr val="tx1"/>
              </a:solidFill>
              <a:ea typeface="Tahoma" pitchFamily="34" charset="0"/>
              <a:cs typeface="Arial" pitchFamily="34" charset="0"/>
            </a:endParaRPr>
          </a:p>
          <a:p>
            <a:pPr algn="just"/>
            <a:endParaRPr lang="en-IN" sz="1100" dirty="0">
              <a:solidFill>
                <a:schemeClr val="tx1"/>
              </a:solidFill>
              <a:ea typeface="Tahoma" pitchFamily="34" charset="0"/>
              <a:cs typeface="Arial" pitchFamily="34" charset="0"/>
            </a:endParaRPr>
          </a:p>
          <a:p>
            <a:pPr algn="just"/>
            <a:endParaRPr lang="en-IN" sz="1100" dirty="0">
              <a:solidFill>
                <a:schemeClr val="tx1"/>
              </a:solidFill>
              <a:ea typeface="Tahoma" pitchFamily="34" charset="0"/>
              <a:cs typeface="Arial" pitchFamily="34" charset="0"/>
            </a:endParaRPr>
          </a:p>
          <a:p>
            <a:pPr algn="just"/>
            <a:endParaRPr lang="en-IN" sz="1100" dirty="0">
              <a:solidFill>
                <a:schemeClr val="tx1"/>
              </a:solidFill>
              <a:ea typeface="Tahoma" pitchFamily="34" charset="0"/>
              <a:cs typeface="Arial" pitchFamily="34" charset="0"/>
            </a:endParaRPr>
          </a:p>
          <a:p>
            <a:pPr algn="just"/>
            <a:endParaRPr lang="en-IN" sz="1100" dirty="0">
              <a:solidFill>
                <a:schemeClr val="tx1"/>
              </a:solidFill>
              <a:ea typeface="Tahoma" pitchFamily="34" charset="0"/>
              <a:cs typeface="Arial" pitchFamily="34" charset="0"/>
            </a:endParaRPr>
          </a:p>
          <a:p>
            <a:pPr algn="just"/>
            <a:endParaRPr lang="en-IN" sz="1100" dirty="0">
              <a:solidFill>
                <a:schemeClr val="tx1"/>
              </a:solidFill>
              <a:ea typeface="Tahoma" pitchFamily="34" charset="0"/>
              <a:cs typeface="Arial" pitchFamily="34" charset="0"/>
            </a:endParaRPr>
          </a:p>
          <a:p>
            <a:pPr algn="just"/>
            <a:endParaRPr lang="en-IN" sz="1100" dirty="0">
              <a:solidFill>
                <a:schemeClr val="tx1"/>
              </a:solidFill>
              <a:ea typeface="Tahoma" pitchFamily="34" charset="0"/>
              <a:cs typeface="Arial" pitchFamily="34" charset="0"/>
            </a:endParaRPr>
          </a:p>
          <a:p>
            <a:pPr algn="just"/>
            <a:endParaRPr lang="en-IN" sz="1100" dirty="0">
              <a:solidFill>
                <a:schemeClr val="tx1"/>
              </a:solidFill>
              <a:ea typeface="Tahoma" pitchFamily="34" charset="0"/>
              <a:cs typeface="Arial" pitchFamily="34" charset="0"/>
            </a:endParaRPr>
          </a:p>
          <a:p>
            <a:pPr algn="just"/>
            <a:endParaRPr lang="en-IN" sz="1100" dirty="0">
              <a:solidFill>
                <a:schemeClr val="tx1"/>
              </a:solidFill>
              <a:ea typeface="Tahoma" pitchFamily="34" charset="0"/>
              <a:cs typeface="Arial" pitchFamily="34" charset="0"/>
            </a:endParaRPr>
          </a:p>
          <a:p>
            <a:pPr algn="just"/>
            <a:endParaRPr lang="en-IN" sz="1100" dirty="0">
              <a:solidFill>
                <a:schemeClr val="tx1"/>
              </a:solidFill>
              <a:ea typeface="Tahoma" pitchFamily="34" charset="0"/>
              <a:cs typeface="Arial" pitchFamily="34" charset="0"/>
            </a:endParaRPr>
          </a:p>
          <a:p>
            <a:pPr algn="just"/>
            <a:endParaRPr lang="en-IN" sz="1100" dirty="0">
              <a:solidFill>
                <a:schemeClr val="tx1"/>
              </a:solidFill>
              <a:ea typeface="Tahoma" pitchFamily="34" charset="0"/>
              <a:cs typeface="Arial" pitchFamily="34" charset="0"/>
            </a:endParaRPr>
          </a:p>
          <a:p>
            <a:pPr algn="just"/>
            <a:endParaRPr lang="en-IN" sz="1100" dirty="0">
              <a:solidFill>
                <a:schemeClr val="tx1"/>
              </a:solidFill>
              <a:ea typeface="Tahoma" pitchFamily="34" charset="0"/>
              <a:cs typeface="Arial" pitchFamily="34" charset="0"/>
            </a:endParaRPr>
          </a:p>
          <a:p>
            <a:pPr algn="just"/>
            <a:endParaRPr lang="en-IN" sz="1100" dirty="0">
              <a:solidFill>
                <a:schemeClr val="tx1"/>
              </a:solidFill>
              <a:ea typeface="Tahoma" pitchFamily="34" charset="0"/>
              <a:cs typeface="Arial" pitchFamily="34" charset="0"/>
            </a:endParaRPr>
          </a:p>
          <a:p>
            <a:pPr algn="just"/>
            <a:endParaRPr lang="en-IN" sz="1100" dirty="0">
              <a:solidFill>
                <a:schemeClr val="tx1"/>
              </a:solidFill>
              <a:ea typeface="Tahoma" pitchFamily="34" charset="0"/>
              <a:cs typeface="Arial" pitchFamily="34" charset="0"/>
            </a:endParaRPr>
          </a:p>
          <a:p>
            <a:pPr algn="just"/>
            <a:endParaRPr lang="en-IN" sz="1100" dirty="0">
              <a:solidFill>
                <a:schemeClr val="tx1"/>
              </a:solidFill>
              <a:ea typeface="Tahoma" pitchFamily="34" charset="0"/>
              <a:cs typeface="Arial" pitchFamily="34" charset="0"/>
            </a:endParaRPr>
          </a:p>
          <a:p>
            <a:pPr algn="just"/>
            <a:endParaRPr lang="en-IN" sz="1100" dirty="0">
              <a:solidFill>
                <a:schemeClr val="tx1"/>
              </a:solidFill>
              <a:ea typeface="Tahoma" pitchFamily="34" charset="0"/>
              <a:cs typeface="Arial" pitchFamily="34" charset="0"/>
            </a:endParaRPr>
          </a:p>
          <a:p>
            <a:pPr algn="just"/>
            <a:endParaRPr lang="en-IN" sz="1100" dirty="0">
              <a:solidFill>
                <a:schemeClr val="tx1"/>
              </a:solidFill>
              <a:ea typeface="Tahoma" pitchFamily="34" charset="0"/>
              <a:cs typeface="Arial" pitchFamily="34" charset="0"/>
            </a:endParaRPr>
          </a:p>
          <a:p>
            <a:pPr algn="just"/>
            <a:endParaRPr lang="en-IN" sz="1100" dirty="0">
              <a:solidFill>
                <a:schemeClr val="tx1"/>
              </a:solidFill>
              <a:ea typeface="Tahoma" pitchFamily="34" charset="0"/>
              <a:cs typeface="Arial" pitchFamily="34" charset="0"/>
            </a:endParaRPr>
          </a:p>
          <a:p>
            <a:pPr algn="just"/>
            <a:endParaRPr lang="en-IN" sz="1100" dirty="0">
              <a:solidFill>
                <a:schemeClr val="tx1"/>
              </a:solidFill>
              <a:ea typeface="Tahoma" pitchFamily="34" charset="0"/>
              <a:cs typeface="Arial" pitchFamily="34" charset="0"/>
            </a:endParaRPr>
          </a:p>
          <a:p>
            <a:pPr algn="just"/>
            <a:r>
              <a:rPr lang="en-IN" sz="1100" dirty="0">
                <a:solidFill>
                  <a:schemeClr val="tx1"/>
                </a:solidFill>
                <a:ea typeface="Tahoma" pitchFamily="34" charset="0"/>
                <a:cs typeface="Arial" pitchFamily="34" charset="0"/>
              </a:rPr>
              <a:t>REFERENCE:</a:t>
            </a:r>
          </a:p>
          <a:p>
            <a:pPr algn="just"/>
            <a:endParaRPr lang="en-IN" sz="3000" dirty="0">
              <a:solidFill>
                <a:schemeClr val="tx1"/>
              </a:solidFill>
              <a:ea typeface="Tahoma" pitchFamily="34" charset="0"/>
              <a:cs typeface="Arial" pitchFamily="34" charset="0"/>
            </a:endParaRPr>
          </a:p>
        </p:txBody>
      </p:sp>
      <p:sp>
        <p:nvSpPr>
          <p:cNvPr id="4" name="Footer Placeholder 3"/>
          <p:cNvSpPr>
            <a:spLocks noGrp="1"/>
          </p:cNvSpPr>
          <p:nvPr>
            <p:ph type="ftr" sz="quarter" idx="11"/>
          </p:nvPr>
        </p:nvSpPr>
        <p:spPr>
          <a:xfrm>
            <a:off x="2475830" y="6500834"/>
            <a:ext cx="7522843" cy="357166"/>
          </a:xfrm>
        </p:spPr>
        <p:txBody>
          <a:bodyPr/>
          <a:lstStyle/>
          <a:p>
            <a:r>
              <a:rPr lang="en-US">
                <a:solidFill>
                  <a:schemeClr val="tx1"/>
                </a:solidFill>
              </a:rPr>
              <a:t>SYED HASAN SAEED, INTEGRAL UNIVERSITY, LUCKNOW, INDIA</a:t>
            </a:r>
            <a:endParaRPr lang="en-IN" dirty="0">
              <a:solidFill>
                <a:schemeClr val="tx1"/>
              </a:solidFill>
            </a:endParaRPr>
          </a:p>
        </p:txBody>
      </p:sp>
      <p:sp>
        <p:nvSpPr>
          <p:cNvPr id="5" name="Slide Number Placeholder 4"/>
          <p:cNvSpPr>
            <a:spLocks noGrp="1"/>
          </p:cNvSpPr>
          <p:nvPr>
            <p:ph type="sldNum" sz="quarter" idx="12"/>
          </p:nvPr>
        </p:nvSpPr>
        <p:spPr/>
        <p:txBody>
          <a:bodyPr/>
          <a:lstStyle/>
          <a:p>
            <a:fld id="{794472C8-07AE-4D03-9F73-512FB105EB04}" type="slidenum">
              <a:rPr lang="en-IN" smtClean="0"/>
              <a:pPr/>
              <a:t>10</a:t>
            </a:fld>
            <a:endParaRPr lang="en-IN"/>
          </a:p>
        </p:txBody>
      </p:sp>
      <p:sp>
        <p:nvSpPr>
          <p:cNvPr id="6" name="TextBox 5"/>
          <p:cNvSpPr txBox="1"/>
          <p:nvPr/>
        </p:nvSpPr>
        <p:spPr>
          <a:xfrm>
            <a:off x="571312" y="6201714"/>
            <a:ext cx="11141426" cy="261610"/>
          </a:xfrm>
          <a:prstGeom prst="rect">
            <a:avLst/>
          </a:prstGeom>
          <a:noFill/>
        </p:spPr>
        <p:txBody>
          <a:bodyPr wrap="square" rtlCol="0">
            <a:spAutoFit/>
          </a:bodyPr>
          <a:lstStyle/>
          <a:p>
            <a:r>
              <a:rPr lang="en-US" sz="1100" dirty="0">
                <a:hlinkClick r:id="rId2"/>
              </a:rPr>
              <a:t>https://www.slideshare.net/AmitNevase/control-system-63615804?qid=c8d0cf53-5c3f-4ee1-8f62-0267cd6cbd84&amp;v=&amp;b=&amp;from_search=3</a:t>
            </a:r>
            <a:endParaRPr lang="en-US" sz="1100" dirty="0"/>
          </a:p>
        </p:txBody>
      </p:sp>
      <p:grpSp>
        <p:nvGrpSpPr>
          <p:cNvPr id="7" name="Group 6"/>
          <p:cNvGrpSpPr/>
          <p:nvPr/>
        </p:nvGrpSpPr>
        <p:grpSpPr>
          <a:xfrm>
            <a:off x="1865970" y="2690567"/>
            <a:ext cx="8799284" cy="830997"/>
            <a:chOff x="1649428" y="5211906"/>
            <a:chExt cx="6280158" cy="830997"/>
          </a:xfrm>
        </p:grpSpPr>
        <p:grpSp>
          <p:nvGrpSpPr>
            <p:cNvPr id="8" name="Group 10"/>
            <p:cNvGrpSpPr/>
            <p:nvPr/>
          </p:nvGrpSpPr>
          <p:grpSpPr>
            <a:xfrm>
              <a:off x="1649428" y="5214950"/>
              <a:ext cx="3779828" cy="785818"/>
              <a:chOff x="1649428" y="2948390"/>
              <a:chExt cx="3779828" cy="785818"/>
            </a:xfrm>
          </p:grpSpPr>
          <p:sp>
            <p:nvSpPr>
              <p:cNvPr id="11" name="Rectangle 10"/>
              <p:cNvSpPr/>
              <p:nvPr/>
            </p:nvSpPr>
            <p:spPr>
              <a:xfrm>
                <a:off x="3714744" y="2948390"/>
                <a:ext cx="1714512" cy="785818"/>
              </a:xfrm>
              <a:prstGeom prst="rect">
                <a:avLst/>
              </a:prstGeom>
              <a:noFill/>
              <a:ln w="158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Straight Arrow Connector 11"/>
              <p:cNvCxnSpPr/>
              <p:nvPr/>
            </p:nvCxnSpPr>
            <p:spPr>
              <a:xfrm>
                <a:off x="2643174" y="3341150"/>
                <a:ext cx="1071570" cy="0"/>
              </a:xfrm>
              <a:prstGeom prst="straightConnector1">
                <a:avLst/>
              </a:prstGeom>
              <a:ln w="158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3" name="TextBox 12"/>
              <p:cNvSpPr txBox="1"/>
              <p:nvPr/>
            </p:nvSpPr>
            <p:spPr>
              <a:xfrm>
                <a:off x="1649428" y="3078196"/>
                <a:ext cx="1143008" cy="461665"/>
              </a:xfrm>
              <a:prstGeom prst="rect">
                <a:avLst/>
              </a:prstGeom>
              <a:noFill/>
            </p:spPr>
            <p:txBody>
              <a:bodyPr wrap="square" rtlCol="0">
                <a:spAutoFit/>
              </a:bodyPr>
              <a:lstStyle/>
              <a:p>
                <a:r>
                  <a:rPr lang="en-US" sz="2400" dirty="0">
                    <a:latin typeface="Times New Roman" pitchFamily="18" charset="0"/>
                    <a:cs typeface="Times New Roman" pitchFamily="18" charset="0"/>
                  </a:rPr>
                  <a:t>INPUT</a:t>
                </a:r>
              </a:p>
            </p:txBody>
          </p:sp>
        </p:grpSp>
        <p:cxnSp>
          <p:nvCxnSpPr>
            <p:cNvPr id="9" name="Straight Arrow Connector 8"/>
            <p:cNvCxnSpPr/>
            <p:nvPr/>
          </p:nvCxnSpPr>
          <p:spPr>
            <a:xfrm>
              <a:off x="5429256" y="5611052"/>
              <a:ext cx="1071570" cy="0"/>
            </a:xfrm>
            <a:prstGeom prst="straightConnector1">
              <a:avLst/>
            </a:prstGeom>
            <a:ln w="158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0" name="TextBox 9"/>
            <p:cNvSpPr txBox="1"/>
            <p:nvPr/>
          </p:nvSpPr>
          <p:spPr>
            <a:xfrm>
              <a:off x="6572264" y="5211906"/>
              <a:ext cx="1357322" cy="830997"/>
            </a:xfrm>
            <a:prstGeom prst="rect">
              <a:avLst/>
            </a:prstGeom>
            <a:noFill/>
          </p:spPr>
          <p:txBody>
            <a:bodyPr wrap="square" rtlCol="0">
              <a:spAutoFit/>
            </a:bodyPr>
            <a:lstStyle/>
            <a:p>
              <a:r>
                <a:rPr lang="en-US" sz="2400" dirty="0">
                  <a:latin typeface="Times New Roman" pitchFamily="18" charset="0"/>
                  <a:cs typeface="Times New Roman" pitchFamily="18" charset="0"/>
                </a:rPr>
                <a:t>DESIREOUTPUT</a:t>
              </a:r>
            </a:p>
          </p:txBody>
        </p:sp>
      </p:grpSp>
      <p:grpSp>
        <p:nvGrpSpPr>
          <p:cNvPr id="14" name="Group 13"/>
          <p:cNvGrpSpPr/>
          <p:nvPr/>
        </p:nvGrpSpPr>
        <p:grpSpPr>
          <a:xfrm>
            <a:off x="1821944" y="1529657"/>
            <a:ext cx="8938536" cy="830997"/>
            <a:chOff x="1571604" y="5172994"/>
            <a:chExt cx="6705648" cy="830997"/>
          </a:xfrm>
        </p:grpSpPr>
        <p:grpSp>
          <p:nvGrpSpPr>
            <p:cNvPr id="15" name="Group 10"/>
            <p:cNvGrpSpPr/>
            <p:nvPr/>
          </p:nvGrpSpPr>
          <p:grpSpPr>
            <a:xfrm>
              <a:off x="1571604" y="5214950"/>
              <a:ext cx="3857652" cy="785818"/>
              <a:chOff x="1571604" y="2948390"/>
              <a:chExt cx="3857652" cy="785818"/>
            </a:xfrm>
          </p:grpSpPr>
          <p:sp>
            <p:nvSpPr>
              <p:cNvPr id="18" name="Rectangle 17"/>
              <p:cNvSpPr/>
              <p:nvPr/>
            </p:nvSpPr>
            <p:spPr>
              <a:xfrm>
                <a:off x="3714744" y="2948390"/>
                <a:ext cx="1714512" cy="785818"/>
              </a:xfrm>
              <a:prstGeom prst="rect">
                <a:avLst/>
              </a:prstGeom>
              <a:noFill/>
              <a:ln w="158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9" name="Straight Arrow Connector 18"/>
              <p:cNvCxnSpPr/>
              <p:nvPr/>
            </p:nvCxnSpPr>
            <p:spPr>
              <a:xfrm>
                <a:off x="2643174" y="3341150"/>
                <a:ext cx="1071570" cy="0"/>
              </a:xfrm>
              <a:prstGeom prst="straightConnector1">
                <a:avLst/>
              </a:prstGeom>
              <a:ln w="158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0" name="TextBox 19"/>
              <p:cNvSpPr txBox="1"/>
              <p:nvPr/>
            </p:nvSpPr>
            <p:spPr>
              <a:xfrm>
                <a:off x="1571604" y="3087924"/>
                <a:ext cx="1143008" cy="461665"/>
              </a:xfrm>
              <a:prstGeom prst="rect">
                <a:avLst/>
              </a:prstGeom>
              <a:noFill/>
            </p:spPr>
            <p:txBody>
              <a:bodyPr wrap="square" rtlCol="0">
                <a:spAutoFit/>
              </a:bodyPr>
              <a:lstStyle/>
              <a:p>
                <a:r>
                  <a:rPr lang="en-US" sz="2400" dirty="0">
                    <a:latin typeface="Times New Roman" pitchFamily="18" charset="0"/>
                    <a:cs typeface="Times New Roman" pitchFamily="18" charset="0"/>
                  </a:rPr>
                  <a:t>INPUT</a:t>
                </a:r>
              </a:p>
            </p:txBody>
          </p:sp>
        </p:grpSp>
        <p:cxnSp>
          <p:nvCxnSpPr>
            <p:cNvPr id="16" name="Straight Arrow Connector 15"/>
            <p:cNvCxnSpPr/>
            <p:nvPr/>
          </p:nvCxnSpPr>
          <p:spPr>
            <a:xfrm>
              <a:off x="5429256" y="5611052"/>
              <a:ext cx="1071570" cy="0"/>
            </a:xfrm>
            <a:prstGeom prst="straightConnector1">
              <a:avLst/>
            </a:prstGeom>
            <a:ln w="158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7" name="TextBox 16"/>
            <p:cNvSpPr txBox="1"/>
            <p:nvPr/>
          </p:nvSpPr>
          <p:spPr>
            <a:xfrm>
              <a:off x="6611176" y="5172994"/>
              <a:ext cx="1666076" cy="830997"/>
            </a:xfrm>
            <a:prstGeom prst="rect">
              <a:avLst/>
            </a:prstGeom>
            <a:noFill/>
          </p:spPr>
          <p:txBody>
            <a:bodyPr wrap="square" rtlCol="0">
              <a:spAutoFit/>
            </a:bodyPr>
            <a:lstStyle/>
            <a:p>
              <a:r>
                <a:rPr lang="en-US" sz="2400" dirty="0">
                  <a:latin typeface="Times New Roman" pitchFamily="18" charset="0"/>
                  <a:cs typeface="Times New Roman" pitchFamily="18" charset="0"/>
                </a:rPr>
                <a:t>PROPER</a:t>
              </a:r>
            </a:p>
            <a:p>
              <a:r>
                <a:rPr lang="en-US" sz="2400" dirty="0">
                  <a:latin typeface="Times New Roman" pitchFamily="18" charset="0"/>
                  <a:cs typeface="Times New Roman" pitchFamily="18" charset="0"/>
                </a:rPr>
                <a:t>OUTPUT</a:t>
              </a:r>
            </a:p>
          </p:txBody>
        </p:sp>
      </p:grpSp>
      <p:sp>
        <p:nvSpPr>
          <p:cNvPr id="21" name="TextBox 20"/>
          <p:cNvSpPr txBox="1"/>
          <p:nvPr/>
        </p:nvSpPr>
        <p:spPr>
          <a:xfrm>
            <a:off x="4891320" y="2691823"/>
            <a:ext cx="2631480" cy="830997"/>
          </a:xfrm>
          <a:prstGeom prst="rect">
            <a:avLst/>
          </a:prstGeom>
          <a:noFill/>
        </p:spPr>
        <p:txBody>
          <a:bodyPr wrap="square" rtlCol="0">
            <a:spAutoFit/>
          </a:bodyPr>
          <a:lstStyle/>
          <a:p>
            <a:r>
              <a:rPr lang="en-US" sz="2400" dirty="0">
                <a:latin typeface="Times New Roman" pitchFamily="18" charset="0"/>
                <a:cs typeface="Times New Roman" pitchFamily="18" charset="0"/>
              </a:rPr>
              <a:t>CONTROL</a:t>
            </a:r>
          </a:p>
          <a:p>
            <a:r>
              <a:rPr lang="en-US" sz="2400" dirty="0">
                <a:latin typeface="Times New Roman" pitchFamily="18" charset="0"/>
                <a:cs typeface="Times New Roman" pitchFamily="18" charset="0"/>
              </a:rPr>
              <a:t>SYSTEM</a:t>
            </a:r>
          </a:p>
        </p:txBody>
      </p:sp>
      <p:sp>
        <p:nvSpPr>
          <p:cNvPr id="22" name="TextBox 21"/>
          <p:cNvSpPr txBox="1"/>
          <p:nvPr/>
        </p:nvSpPr>
        <p:spPr>
          <a:xfrm>
            <a:off x="4862337" y="1743673"/>
            <a:ext cx="2060125" cy="461665"/>
          </a:xfrm>
          <a:prstGeom prst="rect">
            <a:avLst/>
          </a:prstGeom>
          <a:noFill/>
        </p:spPr>
        <p:txBody>
          <a:bodyPr wrap="square" rtlCol="0">
            <a:spAutoFit/>
          </a:bodyPr>
          <a:lstStyle/>
          <a:p>
            <a:r>
              <a:rPr lang="en-US" sz="2400" dirty="0">
                <a:latin typeface="Times New Roman" pitchFamily="18" charset="0"/>
                <a:cs typeface="Times New Roman" pitchFamily="18" charset="0"/>
              </a:rPr>
              <a:t>SYSTEM</a:t>
            </a:r>
          </a:p>
        </p:txBody>
      </p:sp>
      <p:sp>
        <p:nvSpPr>
          <p:cNvPr id="23" name="Rectangle 22"/>
          <p:cNvSpPr/>
          <p:nvPr/>
        </p:nvSpPr>
        <p:spPr>
          <a:xfrm>
            <a:off x="571312" y="4115708"/>
            <a:ext cx="11141426" cy="1384995"/>
          </a:xfrm>
          <a:prstGeom prst="rect">
            <a:avLst/>
          </a:prstGeom>
        </p:spPr>
        <p:txBody>
          <a:bodyPr wrap="square">
            <a:spAutoFit/>
          </a:bodyPr>
          <a:lstStyle/>
          <a:p>
            <a:pPr>
              <a:buNone/>
            </a:pPr>
            <a:r>
              <a:rPr lang="en-IN" sz="2800" dirty="0">
                <a:solidFill>
                  <a:srgbClr val="FF0000"/>
                </a:solidFill>
                <a:latin typeface="Times New Roman" pitchFamily="18" charset="0"/>
                <a:cs typeface="Times New Roman" pitchFamily="18" charset="0"/>
              </a:rPr>
              <a:t>CONTROL  SYSTEM:  </a:t>
            </a:r>
            <a:r>
              <a:rPr lang="en-IN" sz="2800" dirty="0">
                <a:latin typeface="Times New Roman" pitchFamily="18" charset="0"/>
                <a:cs typeface="Times New Roman" pitchFamily="18" charset="0"/>
              </a:rPr>
              <a:t>A control system is a system in which the output quantity is </a:t>
            </a:r>
            <a:r>
              <a:rPr lang="en-IN" sz="2800" i="1" u="sng" dirty="0">
                <a:latin typeface="Times New Roman" pitchFamily="18" charset="0"/>
                <a:cs typeface="Times New Roman" pitchFamily="18" charset="0"/>
              </a:rPr>
              <a:t>controlled</a:t>
            </a:r>
            <a:r>
              <a:rPr lang="en-IN" sz="2800" dirty="0">
                <a:latin typeface="Times New Roman" pitchFamily="18" charset="0"/>
                <a:cs typeface="Times New Roman" pitchFamily="18" charset="0"/>
              </a:rPr>
              <a:t> by varying the input quantity to obtained desired output.</a:t>
            </a:r>
          </a:p>
        </p:txBody>
      </p:sp>
    </p:spTree>
  </p:cSld>
  <p:clrMapOvr>
    <a:masterClrMapping/>
  </p:clrMapOvr>
  <p:transition advTm="313"/>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a:xfrm>
            <a:off x="761764" y="6356351"/>
            <a:ext cx="10189167" cy="365125"/>
          </a:xfrm>
        </p:spPr>
        <p:txBody>
          <a:bodyPr/>
          <a:lstStyle/>
          <a:p>
            <a:r>
              <a:rPr lang="en-US">
                <a:solidFill>
                  <a:schemeClr val="tx1"/>
                </a:solidFill>
              </a:rPr>
              <a:t>SYED HASAN SAEED, INTEGRAL UNIVERSITY, LUCKNOW, INDIA</a:t>
            </a:r>
            <a:endParaRPr lang="en-IN" dirty="0">
              <a:solidFill>
                <a:schemeClr val="tx1"/>
              </a:solidFill>
            </a:endParaRPr>
          </a:p>
        </p:txBody>
      </p:sp>
      <p:sp>
        <p:nvSpPr>
          <p:cNvPr id="5" name="Slide Number Placeholder 4"/>
          <p:cNvSpPr>
            <a:spLocks noGrp="1"/>
          </p:cNvSpPr>
          <p:nvPr>
            <p:ph type="sldNum" sz="quarter" idx="12"/>
          </p:nvPr>
        </p:nvSpPr>
        <p:spPr/>
        <p:txBody>
          <a:bodyPr/>
          <a:lstStyle/>
          <a:p>
            <a:fld id="{794472C8-07AE-4D03-9F73-512FB105EB04}" type="slidenum">
              <a:rPr lang="en-IN" smtClean="0"/>
              <a:pPr/>
              <a:t>11</a:t>
            </a:fld>
            <a:endParaRPr lang="en-IN"/>
          </a:p>
        </p:txBody>
      </p:sp>
      <p:pic>
        <p:nvPicPr>
          <p:cNvPr id="10241" name="Picture 1"/>
          <p:cNvPicPr>
            <a:picLocks noGrp="1" noChangeAspect="1" noChangeArrowheads="1"/>
          </p:cNvPicPr>
          <p:nvPr>
            <p:ph idx="1"/>
          </p:nvPr>
        </p:nvPicPr>
        <p:blipFill>
          <a:blip r:embed="rId3"/>
          <a:srcRect/>
          <a:stretch>
            <a:fillRect/>
          </a:stretch>
        </p:blipFill>
        <p:spPr bwMode="auto">
          <a:xfrm>
            <a:off x="4094670" y="500042"/>
            <a:ext cx="2309752" cy="2177356"/>
          </a:xfrm>
          <a:prstGeom prst="rect">
            <a:avLst/>
          </a:prstGeom>
          <a:noFill/>
          <a:ln w="9525">
            <a:noFill/>
            <a:miter lim="800000"/>
            <a:headEnd/>
            <a:tailEnd/>
          </a:ln>
          <a:effectLst/>
        </p:spPr>
      </p:pic>
      <p:cxnSp>
        <p:nvCxnSpPr>
          <p:cNvPr id="6" name="Straight Arrow Connector 5"/>
          <p:cNvCxnSpPr/>
          <p:nvPr/>
        </p:nvCxnSpPr>
        <p:spPr>
          <a:xfrm>
            <a:off x="2861188" y="1564630"/>
            <a:ext cx="1999743" cy="1588"/>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7" name="TextBox 6"/>
          <p:cNvSpPr txBox="1"/>
          <p:nvPr/>
        </p:nvSpPr>
        <p:spPr>
          <a:xfrm>
            <a:off x="2765962" y="571480"/>
            <a:ext cx="1809291" cy="1569660"/>
          </a:xfrm>
          <a:prstGeom prst="rect">
            <a:avLst/>
          </a:prstGeom>
          <a:noFill/>
        </p:spPr>
        <p:txBody>
          <a:bodyPr wrap="square" rtlCol="0">
            <a:spAutoFit/>
          </a:bodyPr>
          <a:lstStyle/>
          <a:p>
            <a:r>
              <a:rPr lang="en-US" sz="2400" dirty="0">
                <a:latin typeface="Times New Roman" pitchFamily="18" charset="0"/>
                <a:cs typeface="Times New Roman" pitchFamily="18" charset="0"/>
              </a:rPr>
              <a:t>230 V / 50 Hz</a:t>
            </a:r>
          </a:p>
          <a:p>
            <a:endParaRPr lang="en-US" sz="2400" dirty="0">
              <a:latin typeface="Times New Roman" pitchFamily="18" charset="0"/>
              <a:cs typeface="Times New Roman" pitchFamily="18" charset="0"/>
            </a:endParaRPr>
          </a:p>
          <a:p>
            <a:r>
              <a:rPr lang="en-US" sz="2400" dirty="0">
                <a:latin typeface="Times New Roman" pitchFamily="18" charset="0"/>
                <a:cs typeface="Times New Roman" pitchFamily="18" charset="0"/>
              </a:rPr>
              <a:t>AC Supply</a:t>
            </a:r>
          </a:p>
        </p:txBody>
      </p:sp>
      <p:sp>
        <p:nvSpPr>
          <p:cNvPr id="8" name="TextBox 7"/>
          <p:cNvSpPr txBox="1"/>
          <p:nvPr/>
        </p:nvSpPr>
        <p:spPr>
          <a:xfrm rot="16200000">
            <a:off x="1346551" y="1087256"/>
            <a:ext cx="1350340" cy="461665"/>
          </a:xfrm>
          <a:prstGeom prst="rect">
            <a:avLst/>
          </a:prstGeom>
          <a:noFill/>
        </p:spPr>
        <p:txBody>
          <a:bodyPr wrap="square" rtlCol="0">
            <a:spAutoFit/>
          </a:bodyPr>
          <a:lstStyle/>
          <a:p>
            <a:r>
              <a:rPr lang="en-US" sz="2400" dirty="0">
                <a:latin typeface="Times New Roman" pitchFamily="18" charset="0"/>
                <a:cs typeface="Times New Roman" pitchFamily="18" charset="0"/>
              </a:rPr>
              <a:t>INPUT</a:t>
            </a:r>
          </a:p>
        </p:txBody>
      </p:sp>
      <p:cxnSp>
        <p:nvCxnSpPr>
          <p:cNvPr id="9" name="Straight Arrow Connector 8"/>
          <p:cNvCxnSpPr/>
          <p:nvPr/>
        </p:nvCxnSpPr>
        <p:spPr>
          <a:xfrm>
            <a:off x="5925838" y="1576708"/>
            <a:ext cx="1999743" cy="1588"/>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0" name="TextBox 9"/>
          <p:cNvSpPr txBox="1"/>
          <p:nvPr/>
        </p:nvSpPr>
        <p:spPr>
          <a:xfrm>
            <a:off x="6306741" y="1156472"/>
            <a:ext cx="1618840" cy="830997"/>
          </a:xfrm>
          <a:prstGeom prst="rect">
            <a:avLst/>
          </a:prstGeom>
          <a:noFill/>
        </p:spPr>
        <p:txBody>
          <a:bodyPr wrap="square" rtlCol="0">
            <a:spAutoFit/>
          </a:bodyPr>
          <a:lstStyle/>
          <a:p>
            <a:r>
              <a:rPr lang="en-US" sz="2400" dirty="0">
                <a:latin typeface="Times New Roman" pitchFamily="18" charset="0"/>
                <a:cs typeface="Times New Roman" pitchFamily="18" charset="0"/>
              </a:rPr>
              <a:t>NO AIR FLOW</a:t>
            </a:r>
          </a:p>
        </p:txBody>
      </p:sp>
      <p:sp>
        <p:nvSpPr>
          <p:cNvPr id="11" name="TextBox 10"/>
          <p:cNvSpPr txBox="1"/>
          <p:nvPr/>
        </p:nvSpPr>
        <p:spPr>
          <a:xfrm>
            <a:off x="8401313" y="1009922"/>
            <a:ext cx="2666324" cy="1200329"/>
          </a:xfrm>
          <a:prstGeom prst="rect">
            <a:avLst/>
          </a:prstGeom>
          <a:noFill/>
        </p:spPr>
        <p:txBody>
          <a:bodyPr wrap="square" rtlCol="0">
            <a:spAutoFit/>
          </a:bodyPr>
          <a:lstStyle/>
          <a:p>
            <a:r>
              <a:rPr lang="en-US" sz="2400" dirty="0">
                <a:latin typeface="Times New Roman" pitchFamily="18" charset="0"/>
                <a:cs typeface="Times New Roman" pitchFamily="18" charset="0"/>
              </a:rPr>
              <a:t>NO PROPER / DESIRED OUTPUT</a:t>
            </a:r>
          </a:p>
        </p:txBody>
      </p:sp>
      <p:sp>
        <p:nvSpPr>
          <p:cNvPr id="12" name="Right Brace 11"/>
          <p:cNvSpPr/>
          <p:nvPr/>
        </p:nvSpPr>
        <p:spPr>
          <a:xfrm>
            <a:off x="7761064" y="642918"/>
            <a:ext cx="476129" cy="1857388"/>
          </a:xfrm>
          <a:prstGeom prst="rightBrace">
            <a:avLst/>
          </a:prstGeom>
          <a:ln w="158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3" name="TextBox 12"/>
          <p:cNvSpPr txBox="1"/>
          <p:nvPr/>
        </p:nvSpPr>
        <p:spPr>
          <a:xfrm>
            <a:off x="337504" y="3418835"/>
            <a:ext cx="11522329" cy="1384995"/>
          </a:xfrm>
          <a:prstGeom prst="rect">
            <a:avLst/>
          </a:prstGeom>
          <a:noFill/>
        </p:spPr>
        <p:txBody>
          <a:bodyPr wrap="square" rtlCol="0">
            <a:spAutoFit/>
          </a:bodyPr>
          <a:lstStyle/>
          <a:p>
            <a:r>
              <a:rPr lang="en-US" sz="2800" dirty="0">
                <a:latin typeface="Times New Roman" pitchFamily="18" charset="0"/>
                <a:cs typeface="Times New Roman" pitchFamily="18" charset="0"/>
              </a:rPr>
              <a:t>Ceiling fan without blades cannot provide a proper / desired output, therefore this is </a:t>
            </a:r>
            <a:r>
              <a:rPr lang="en-US" sz="2800" b="1" dirty="0">
                <a:latin typeface="Times New Roman" pitchFamily="18" charset="0"/>
                <a:cs typeface="Times New Roman" pitchFamily="18" charset="0"/>
              </a:rPr>
              <a:t>not a system</a:t>
            </a:r>
            <a:r>
              <a:rPr lang="en-US" sz="2800" dirty="0">
                <a:latin typeface="Times New Roman" pitchFamily="18" charset="0"/>
                <a:cs typeface="Times New Roman" pitchFamily="18" charset="0"/>
              </a:rPr>
              <a:t>.</a:t>
            </a:r>
          </a:p>
          <a:p>
            <a:endParaRPr lang="en-US" sz="2800" dirty="0">
              <a:latin typeface="Times New Roman" pitchFamily="18" charset="0"/>
              <a:cs typeface="Times New Roman" pitchFamily="18" charset="0"/>
            </a:endParaRPr>
          </a:p>
        </p:txBody>
      </p:sp>
      <p:sp>
        <p:nvSpPr>
          <p:cNvPr id="14" name="TextBox 13"/>
          <p:cNvSpPr txBox="1"/>
          <p:nvPr/>
        </p:nvSpPr>
        <p:spPr>
          <a:xfrm>
            <a:off x="571312" y="6201714"/>
            <a:ext cx="11141426" cy="261610"/>
          </a:xfrm>
          <a:prstGeom prst="rect">
            <a:avLst/>
          </a:prstGeom>
          <a:noFill/>
        </p:spPr>
        <p:txBody>
          <a:bodyPr wrap="square" rtlCol="0">
            <a:spAutoFit/>
          </a:bodyPr>
          <a:lstStyle/>
          <a:p>
            <a:r>
              <a:rPr lang="en-US" sz="1100" dirty="0">
                <a:hlinkClick r:id="rId4"/>
              </a:rPr>
              <a:t>https://www.slideshare.net/AmitNevase/control-system-63615804?qid=c8d0cf53-5c3f-4ee1-8f62-0267cd6cbd84&amp;v=&amp;b=&amp;from_search=3</a:t>
            </a:r>
            <a:endParaRPr lang="en-US" sz="1100" dirty="0"/>
          </a:p>
        </p:txBody>
      </p:sp>
    </p:spTree>
  </p:cSld>
  <p:clrMapOvr>
    <a:masterClrMapping/>
  </p:clrMapOvr>
  <p:transition advTm="266"/>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0409" y="214290"/>
            <a:ext cx="11712781" cy="6500858"/>
          </a:xfrm>
        </p:spPr>
        <p:txBody>
          <a:bodyPr>
            <a:normAutofit/>
          </a:bodyPr>
          <a:lstStyle/>
          <a:p>
            <a:pPr>
              <a:buNone/>
            </a:pPr>
            <a:endParaRPr lang="en-IN" dirty="0">
              <a:solidFill>
                <a:srgbClr val="FF0000"/>
              </a:solidFill>
            </a:endParaRPr>
          </a:p>
          <a:p>
            <a:pPr marL="571500" indent="-571500">
              <a:buNone/>
            </a:pPr>
            <a:endParaRPr lang="en-IN" dirty="0">
              <a:solidFill>
                <a:srgbClr val="00B050"/>
              </a:solidFill>
            </a:endParaRPr>
          </a:p>
        </p:txBody>
      </p:sp>
      <p:sp>
        <p:nvSpPr>
          <p:cNvPr id="4" name="Footer Placeholder 3"/>
          <p:cNvSpPr>
            <a:spLocks noGrp="1"/>
          </p:cNvSpPr>
          <p:nvPr>
            <p:ph type="ftr" sz="quarter" idx="11"/>
          </p:nvPr>
        </p:nvSpPr>
        <p:spPr>
          <a:xfrm>
            <a:off x="761764" y="6356351"/>
            <a:ext cx="10189167" cy="365125"/>
          </a:xfrm>
        </p:spPr>
        <p:txBody>
          <a:bodyPr/>
          <a:lstStyle/>
          <a:p>
            <a:r>
              <a:rPr lang="en-US">
                <a:solidFill>
                  <a:schemeClr val="tx1"/>
                </a:solidFill>
              </a:rPr>
              <a:t>SYED HASAN SAEED, INTEGRAL UNIVERSITY, LUCKNOW, INDIA</a:t>
            </a:r>
            <a:endParaRPr lang="en-IN" dirty="0">
              <a:solidFill>
                <a:schemeClr val="tx1"/>
              </a:solidFill>
            </a:endParaRPr>
          </a:p>
        </p:txBody>
      </p:sp>
      <p:sp>
        <p:nvSpPr>
          <p:cNvPr id="5" name="Slide Number Placeholder 4"/>
          <p:cNvSpPr>
            <a:spLocks noGrp="1"/>
          </p:cNvSpPr>
          <p:nvPr>
            <p:ph type="sldNum" sz="quarter" idx="12"/>
          </p:nvPr>
        </p:nvSpPr>
        <p:spPr/>
        <p:txBody>
          <a:bodyPr/>
          <a:lstStyle/>
          <a:p>
            <a:fld id="{794472C8-07AE-4D03-9F73-512FB105EB04}" type="slidenum">
              <a:rPr lang="en-IN" smtClean="0"/>
              <a:pPr/>
              <a:t>12</a:t>
            </a:fld>
            <a:endParaRPr lang="en-IN"/>
          </a:p>
        </p:txBody>
      </p:sp>
      <p:sp>
        <p:nvSpPr>
          <p:cNvPr id="30722" name="AutoShape 2" descr="Image result for ceiling fan"/>
          <p:cNvSpPr>
            <a:spLocks noChangeAspect="1" noChangeArrowheads="1"/>
          </p:cNvSpPr>
          <p:nvPr/>
        </p:nvSpPr>
        <p:spPr bwMode="auto">
          <a:xfrm>
            <a:off x="207379" y="-144463"/>
            <a:ext cx="406294"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pic>
        <p:nvPicPr>
          <p:cNvPr id="6" name="Picture 5" descr="Image result for ceiling fan"/>
          <p:cNvPicPr/>
          <p:nvPr/>
        </p:nvPicPr>
        <p:blipFill>
          <a:blip r:embed="rId3"/>
          <a:srcRect/>
          <a:stretch>
            <a:fillRect/>
          </a:stretch>
        </p:blipFill>
        <p:spPr bwMode="auto">
          <a:xfrm>
            <a:off x="3332862" y="2136432"/>
            <a:ext cx="4951745" cy="2500330"/>
          </a:xfrm>
          <a:prstGeom prst="rect">
            <a:avLst/>
          </a:prstGeom>
          <a:noFill/>
          <a:ln w="9525">
            <a:noFill/>
            <a:miter lim="800000"/>
            <a:headEnd/>
            <a:tailEnd/>
          </a:ln>
        </p:spPr>
      </p:pic>
      <p:cxnSp>
        <p:nvCxnSpPr>
          <p:cNvPr id="8" name="Straight Arrow Connector 7"/>
          <p:cNvCxnSpPr/>
          <p:nvPr/>
        </p:nvCxnSpPr>
        <p:spPr>
          <a:xfrm>
            <a:off x="1904475" y="3571876"/>
            <a:ext cx="1999743" cy="1588"/>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9" name="Straight Arrow Connector 8"/>
          <p:cNvCxnSpPr/>
          <p:nvPr/>
        </p:nvCxnSpPr>
        <p:spPr>
          <a:xfrm>
            <a:off x="7713252" y="3570288"/>
            <a:ext cx="1999743" cy="1588"/>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0" name="TextBox 9"/>
          <p:cNvSpPr txBox="1"/>
          <p:nvPr/>
        </p:nvSpPr>
        <p:spPr>
          <a:xfrm>
            <a:off x="1809249" y="2578726"/>
            <a:ext cx="1809291" cy="1569660"/>
          </a:xfrm>
          <a:prstGeom prst="rect">
            <a:avLst/>
          </a:prstGeom>
          <a:noFill/>
        </p:spPr>
        <p:txBody>
          <a:bodyPr wrap="square" rtlCol="0">
            <a:spAutoFit/>
          </a:bodyPr>
          <a:lstStyle/>
          <a:p>
            <a:r>
              <a:rPr lang="en-US" sz="2400" dirty="0">
                <a:latin typeface="Times New Roman" pitchFamily="18" charset="0"/>
                <a:cs typeface="Times New Roman" pitchFamily="18" charset="0"/>
              </a:rPr>
              <a:t>230 V / 50 Hz</a:t>
            </a:r>
          </a:p>
          <a:p>
            <a:endParaRPr lang="en-US" sz="2400" dirty="0">
              <a:latin typeface="Times New Roman" pitchFamily="18" charset="0"/>
              <a:cs typeface="Times New Roman" pitchFamily="18" charset="0"/>
            </a:endParaRPr>
          </a:p>
          <a:p>
            <a:r>
              <a:rPr lang="en-US" sz="2400" dirty="0">
                <a:latin typeface="Times New Roman" pitchFamily="18" charset="0"/>
                <a:cs typeface="Times New Roman" pitchFamily="18" charset="0"/>
              </a:rPr>
              <a:t>AC Supply</a:t>
            </a:r>
          </a:p>
        </p:txBody>
      </p:sp>
      <p:sp>
        <p:nvSpPr>
          <p:cNvPr id="11" name="Left Brace 10"/>
          <p:cNvSpPr/>
          <p:nvPr/>
        </p:nvSpPr>
        <p:spPr>
          <a:xfrm>
            <a:off x="1523571" y="2500306"/>
            <a:ext cx="285678" cy="2000264"/>
          </a:xfrm>
          <a:prstGeom prst="leftBrace">
            <a:avLst/>
          </a:prstGeom>
          <a:noFill/>
          <a:ln w="158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2" name="TextBox 11"/>
          <p:cNvSpPr txBox="1"/>
          <p:nvPr/>
        </p:nvSpPr>
        <p:spPr>
          <a:xfrm>
            <a:off x="8094155" y="3150052"/>
            <a:ext cx="1618840" cy="830997"/>
          </a:xfrm>
          <a:prstGeom prst="rect">
            <a:avLst/>
          </a:prstGeom>
          <a:noFill/>
        </p:spPr>
        <p:txBody>
          <a:bodyPr wrap="square" rtlCol="0">
            <a:spAutoFit/>
          </a:bodyPr>
          <a:lstStyle/>
          <a:p>
            <a:r>
              <a:rPr lang="en-US" sz="2400" dirty="0">
                <a:latin typeface="Times New Roman" pitchFamily="18" charset="0"/>
                <a:cs typeface="Times New Roman" pitchFamily="18" charset="0"/>
              </a:rPr>
              <a:t>AIR FLOW</a:t>
            </a:r>
          </a:p>
        </p:txBody>
      </p:sp>
      <p:sp>
        <p:nvSpPr>
          <p:cNvPr id="13" name="TextBox 12"/>
          <p:cNvSpPr txBox="1"/>
          <p:nvPr/>
        </p:nvSpPr>
        <p:spPr>
          <a:xfrm>
            <a:off x="10072022" y="3110510"/>
            <a:ext cx="1926394" cy="769441"/>
          </a:xfrm>
          <a:prstGeom prst="rect">
            <a:avLst/>
          </a:prstGeom>
          <a:noFill/>
        </p:spPr>
        <p:txBody>
          <a:bodyPr wrap="square" rtlCol="0">
            <a:spAutoFit/>
          </a:bodyPr>
          <a:lstStyle/>
          <a:p>
            <a:r>
              <a:rPr lang="en-US" sz="2200" dirty="0">
                <a:latin typeface="Times New Roman" pitchFamily="18" charset="0"/>
                <a:cs typeface="Times New Roman" pitchFamily="18" charset="0"/>
              </a:rPr>
              <a:t>PROPER</a:t>
            </a:r>
          </a:p>
          <a:p>
            <a:r>
              <a:rPr lang="en-US" sz="2200" dirty="0">
                <a:latin typeface="Times New Roman" pitchFamily="18" charset="0"/>
                <a:cs typeface="Times New Roman" pitchFamily="18" charset="0"/>
              </a:rPr>
              <a:t>OUTPUT</a:t>
            </a:r>
          </a:p>
        </p:txBody>
      </p:sp>
      <p:sp>
        <p:nvSpPr>
          <p:cNvPr id="14" name="Right Brace 13"/>
          <p:cNvSpPr/>
          <p:nvPr/>
        </p:nvSpPr>
        <p:spPr>
          <a:xfrm>
            <a:off x="9548478" y="2636498"/>
            <a:ext cx="476129" cy="1857388"/>
          </a:xfrm>
          <a:prstGeom prst="rightBrace">
            <a:avLst/>
          </a:prstGeom>
          <a:ln w="158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5" name="TextBox 14"/>
          <p:cNvSpPr txBox="1"/>
          <p:nvPr/>
        </p:nvSpPr>
        <p:spPr>
          <a:xfrm rot="16200000">
            <a:off x="422066" y="3126730"/>
            <a:ext cx="1285884" cy="461665"/>
          </a:xfrm>
          <a:prstGeom prst="rect">
            <a:avLst/>
          </a:prstGeom>
          <a:noFill/>
        </p:spPr>
        <p:txBody>
          <a:bodyPr wrap="square" rtlCol="0">
            <a:spAutoFit/>
          </a:bodyPr>
          <a:lstStyle/>
          <a:p>
            <a:r>
              <a:rPr lang="en-US" sz="2400" dirty="0">
                <a:latin typeface="Times New Roman" pitchFamily="18" charset="0"/>
                <a:cs typeface="Times New Roman" pitchFamily="18" charset="0"/>
              </a:rPr>
              <a:t>INPUT</a:t>
            </a:r>
          </a:p>
        </p:txBody>
      </p:sp>
      <p:sp>
        <p:nvSpPr>
          <p:cNvPr id="16" name="TextBox 15"/>
          <p:cNvSpPr txBox="1"/>
          <p:nvPr/>
        </p:nvSpPr>
        <p:spPr>
          <a:xfrm>
            <a:off x="4761250" y="4143381"/>
            <a:ext cx="2190195" cy="461665"/>
          </a:xfrm>
          <a:prstGeom prst="rect">
            <a:avLst/>
          </a:prstGeom>
          <a:noFill/>
        </p:spPr>
        <p:txBody>
          <a:bodyPr wrap="square" rtlCol="0">
            <a:spAutoFit/>
          </a:bodyPr>
          <a:lstStyle/>
          <a:p>
            <a:r>
              <a:rPr lang="en-US" sz="2400" dirty="0">
                <a:latin typeface="Times New Roman" pitchFamily="18" charset="0"/>
                <a:cs typeface="Times New Roman" pitchFamily="18" charset="0"/>
              </a:rPr>
              <a:t>SYSTEM</a:t>
            </a:r>
          </a:p>
        </p:txBody>
      </p:sp>
      <p:sp>
        <p:nvSpPr>
          <p:cNvPr id="17" name="TextBox 16"/>
          <p:cNvSpPr txBox="1"/>
          <p:nvPr/>
        </p:nvSpPr>
        <p:spPr>
          <a:xfrm>
            <a:off x="571312" y="6201714"/>
            <a:ext cx="11141426" cy="261610"/>
          </a:xfrm>
          <a:prstGeom prst="rect">
            <a:avLst/>
          </a:prstGeom>
          <a:noFill/>
        </p:spPr>
        <p:txBody>
          <a:bodyPr wrap="square" rtlCol="0">
            <a:spAutoFit/>
          </a:bodyPr>
          <a:lstStyle/>
          <a:p>
            <a:r>
              <a:rPr lang="en-US" sz="1100" dirty="0">
                <a:hlinkClick r:id="rId4"/>
              </a:rPr>
              <a:t>https://www.slideshare.net/AmitNevase/control-system-63615804?qid=c8d0cf53-5c3f-4ee1-8f62-0267cd6cbd84&amp;v=&amp;b=&amp;from_search=3</a:t>
            </a:r>
            <a:endParaRPr lang="en-US" sz="1100" dirty="0"/>
          </a:p>
        </p:txBody>
      </p:sp>
      <p:sp>
        <p:nvSpPr>
          <p:cNvPr id="19" name="Rectangle 18"/>
          <p:cNvSpPr/>
          <p:nvPr/>
        </p:nvSpPr>
        <p:spPr>
          <a:xfrm>
            <a:off x="285635" y="357167"/>
            <a:ext cx="11427103" cy="1384995"/>
          </a:xfrm>
          <a:prstGeom prst="rect">
            <a:avLst/>
          </a:prstGeom>
        </p:spPr>
        <p:txBody>
          <a:bodyPr wrap="square">
            <a:spAutoFit/>
          </a:bodyPr>
          <a:lstStyle/>
          <a:p>
            <a:r>
              <a:rPr lang="en-US" sz="2800" dirty="0">
                <a:latin typeface="Times New Roman" pitchFamily="18" charset="0"/>
                <a:cs typeface="Times New Roman" pitchFamily="18" charset="0"/>
              </a:rPr>
              <a:t>A fan with blades and without regulator (controlling element) is a system because it provides </a:t>
            </a:r>
            <a:r>
              <a:rPr lang="en-US" sz="2800" b="1" dirty="0">
                <a:latin typeface="Times New Roman" pitchFamily="18" charset="0"/>
                <a:cs typeface="Times New Roman" pitchFamily="18" charset="0"/>
              </a:rPr>
              <a:t>proper output </a:t>
            </a:r>
            <a:r>
              <a:rPr lang="en-US" sz="2800" dirty="0">
                <a:latin typeface="Times New Roman" pitchFamily="18" charset="0"/>
                <a:cs typeface="Times New Roman" pitchFamily="18" charset="0"/>
              </a:rPr>
              <a:t>i.e. airflow but it cannot be a control system.</a:t>
            </a:r>
          </a:p>
        </p:txBody>
      </p:sp>
    </p:spTree>
  </p:cSld>
  <p:clrMapOvr>
    <a:masterClrMapping/>
  </p:clrMapOvr>
  <p:transition advTm="281"/>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a:xfrm>
            <a:off x="761764" y="6356351"/>
            <a:ext cx="10189167" cy="365125"/>
          </a:xfrm>
        </p:spPr>
        <p:txBody>
          <a:bodyPr/>
          <a:lstStyle/>
          <a:p>
            <a:r>
              <a:rPr lang="en-US">
                <a:solidFill>
                  <a:schemeClr val="tx1"/>
                </a:solidFill>
              </a:rPr>
              <a:t>SYED HASAN SAEED, INTEGRAL UNIVERSITY, LUCKNOW, INDIA</a:t>
            </a:r>
            <a:endParaRPr lang="en-IN" dirty="0">
              <a:solidFill>
                <a:schemeClr val="tx1"/>
              </a:solidFill>
            </a:endParaRPr>
          </a:p>
        </p:txBody>
      </p:sp>
      <p:sp>
        <p:nvSpPr>
          <p:cNvPr id="5" name="Slide Number Placeholder 4"/>
          <p:cNvSpPr>
            <a:spLocks noGrp="1"/>
          </p:cNvSpPr>
          <p:nvPr>
            <p:ph type="sldNum" sz="quarter" idx="12"/>
          </p:nvPr>
        </p:nvSpPr>
        <p:spPr/>
        <p:txBody>
          <a:bodyPr/>
          <a:lstStyle/>
          <a:p>
            <a:fld id="{794472C8-07AE-4D03-9F73-512FB105EB04}" type="slidenum">
              <a:rPr lang="en-IN" smtClean="0"/>
              <a:pPr/>
              <a:t>13</a:t>
            </a:fld>
            <a:endParaRPr lang="en-IN"/>
          </a:p>
        </p:txBody>
      </p:sp>
      <p:pic>
        <p:nvPicPr>
          <p:cNvPr id="16" name="Picture 15" descr="Image result for ceiling fan"/>
          <p:cNvPicPr/>
          <p:nvPr/>
        </p:nvPicPr>
        <p:blipFill>
          <a:blip r:embed="rId3"/>
          <a:srcRect/>
          <a:stretch>
            <a:fillRect/>
          </a:stretch>
        </p:blipFill>
        <p:spPr bwMode="auto">
          <a:xfrm>
            <a:off x="4580503" y="2214554"/>
            <a:ext cx="4275460" cy="2207894"/>
          </a:xfrm>
          <a:prstGeom prst="rect">
            <a:avLst/>
          </a:prstGeom>
          <a:noFill/>
          <a:ln w="9525">
            <a:noFill/>
            <a:miter lim="800000"/>
            <a:headEnd/>
            <a:tailEnd/>
          </a:ln>
        </p:spPr>
      </p:pic>
      <p:cxnSp>
        <p:nvCxnSpPr>
          <p:cNvPr id="17" name="Straight Arrow Connector 16"/>
          <p:cNvCxnSpPr/>
          <p:nvPr/>
        </p:nvCxnSpPr>
        <p:spPr>
          <a:xfrm>
            <a:off x="1432800" y="3571876"/>
            <a:ext cx="1340771" cy="1588"/>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8" name="TextBox 17"/>
          <p:cNvSpPr txBox="1"/>
          <p:nvPr/>
        </p:nvSpPr>
        <p:spPr>
          <a:xfrm>
            <a:off x="1337574" y="2578726"/>
            <a:ext cx="1809291" cy="1569660"/>
          </a:xfrm>
          <a:prstGeom prst="rect">
            <a:avLst/>
          </a:prstGeom>
          <a:noFill/>
        </p:spPr>
        <p:txBody>
          <a:bodyPr wrap="square" rtlCol="0">
            <a:spAutoFit/>
          </a:bodyPr>
          <a:lstStyle/>
          <a:p>
            <a:r>
              <a:rPr lang="en-US" sz="2400" dirty="0">
                <a:latin typeface="Times New Roman" pitchFamily="18" charset="0"/>
                <a:cs typeface="Times New Roman" pitchFamily="18" charset="0"/>
              </a:rPr>
              <a:t>230 V / 50 Hz</a:t>
            </a:r>
          </a:p>
          <a:p>
            <a:endParaRPr lang="en-US" sz="2400" dirty="0">
              <a:latin typeface="Times New Roman" pitchFamily="18" charset="0"/>
              <a:cs typeface="Times New Roman" pitchFamily="18" charset="0"/>
            </a:endParaRPr>
          </a:p>
          <a:p>
            <a:r>
              <a:rPr lang="en-US" sz="2400" dirty="0">
                <a:latin typeface="Times New Roman" pitchFamily="18" charset="0"/>
                <a:cs typeface="Times New Roman" pitchFamily="18" charset="0"/>
              </a:rPr>
              <a:t>AC Supply</a:t>
            </a:r>
          </a:p>
        </p:txBody>
      </p:sp>
      <p:sp>
        <p:nvSpPr>
          <p:cNvPr id="19" name="Left Brace 18"/>
          <p:cNvSpPr/>
          <p:nvPr/>
        </p:nvSpPr>
        <p:spPr>
          <a:xfrm>
            <a:off x="1051896" y="2500306"/>
            <a:ext cx="285678" cy="2000264"/>
          </a:xfrm>
          <a:prstGeom prst="leftBrace">
            <a:avLst/>
          </a:prstGeom>
          <a:noFill/>
          <a:ln w="158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0" name="TextBox 19"/>
          <p:cNvSpPr txBox="1"/>
          <p:nvPr/>
        </p:nvSpPr>
        <p:spPr>
          <a:xfrm rot="16200000">
            <a:off x="93266" y="3084939"/>
            <a:ext cx="1000132" cy="830997"/>
          </a:xfrm>
          <a:prstGeom prst="rect">
            <a:avLst/>
          </a:prstGeom>
          <a:noFill/>
        </p:spPr>
        <p:txBody>
          <a:bodyPr wrap="square" rtlCol="0">
            <a:spAutoFit/>
          </a:bodyPr>
          <a:lstStyle/>
          <a:p>
            <a:r>
              <a:rPr lang="en-US" sz="2400" dirty="0">
                <a:latin typeface="Times New Roman" pitchFamily="18" charset="0"/>
                <a:cs typeface="Times New Roman" pitchFamily="18" charset="0"/>
              </a:rPr>
              <a:t>INPUT</a:t>
            </a:r>
          </a:p>
        </p:txBody>
      </p:sp>
      <p:cxnSp>
        <p:nvCxnSpPr>
          <p:cNvPr id="21" name="Straight Arrow Connector 20"/>
          <p:cNvCxnSpPr/>
          <p:nvPr/>
        </p:nvCxnSpPr>
        <p:spPr>
          <a:xfrm>
            <a:off x="7903704" y="3570288"/>
            <a:ext cx="1999743" cy="1588"/>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2" name="TextBox 21"/>
          <p:cNvSpPr txBox="1"/>
          <p:nvPr/>
        </p:nvSpPr>
        <p:spPr>
          <a:xfrm>
            <a:off x="7618026" y="3214686"/>
            <a:ext cx="2571098" cy="707886"/>
          </a:xfrm>
          <a:prstGeom prst="rect">
            <a:avLst/>
          </a:prstGeom>
          <a:noFill/>
        </p:spPr>
        <p:txBody>
          <a:bodyPr wrap="square" rtlCol="0">
            <a:spAutoFit/>
          </a:bodyPr>
          <a:lstStyle/>
          <a:p>
            <a:r>
              <a:rPr lang="en-US" sz="2000" dirty="0">
                <a:latin typeface="Times New Roman" pitchFamily="18" charset="0"/>
                <a:cs typeface="Times New Roman" pitchFamily="18" charset="0"/>
              </a:rPr>
              <a:t>CONTROLLED AIR FLOW</a:t>
            </a:r>
          </a:p>
        </p:txBody>
      </p:sp>
      <p:sp>
        <p:nvSpPr>
          <p:cNvPr id="23" name="TextBox 22"/>
          <p:cNvSpPr txBox="1"/>
          <p:nvPr/>
        </p:nvSpPr>
        <p:spPr>
          <a:xfrm>
            <a:off x="10258416" y="3143248"/>
            <a:ext cx="1714066" cy="707886"/>
          </a:xfrm>
          <a:prstGeom prst="rect">
            <a:avLst/>
          </a:prstGeom>
          <a:noFill/>
        </p:spPr>
        <p:txBody>
          <a:bodyPr wrap="square" rtlCol="0">
            <a:spAutoFit/>
          </a:bodyPr>
          <a:lstStyle/>
          <a:p>
            <a:r>
              <a:rPr lang="en-US" sz="2000" dirty="0">
                <a:latin typeface="Times New Roman" pitchFamily="18" charset="0"/>
                <a:cs typeface="Times New Roman" pitchFamily="18" charset="0"/>
              </a:rPr>
              <a:t>DESIRED</a:t>
            </a:r>
          </a:p>
          <a:p>
            <a:r>
              <a:rPr lang="en-US" sz="2000" dirty="0">
                <a:latin typeface="Times New Roman" pitchFamily="18" charset="0"/>
                <a:cs typeface="Times New Roman" pitchFamily="18" charset="0"/>
              </a:rPr>
              <a:t>OUTPUT</a:t>
            </a:r>
          </a:p>
        </p:txBody>
      </p:sp>
      <p:sp>
        <p:nvSpPr>
          <p:cNvPr id="24" name="Right Brace 23"/>
          <p:cNvSpPr/>
          <p:nvPr/>
        </p:nvSpPr>
        <p:spPr>
          <a:xfrm>
            <a:off x="9808221" y="2636498"/>
            <a:ext cx="476129" cy="1857388"/>
          </a:xfrm>
          <a:prstGeom prst="rightBrace">
            <a:avLst/>
          </a:prstGeom>
          <a:ln w="158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5" name="TextBox 24"/>
          <p:cNvSpPr txBox="1"/>
          <p:nvPr/>
        </p:nvSpPr>
        <p:spPr>
          <a:xfrm>
            <a:off x="5713509" y="4324658"/>
            <a:ext cx="1999743" cy="461665"/>
          </a:xfrm>
          <a:prstGeom prst="rect">
            <a:avLst/>
          </a:prstGeom>
          <a:noFill/>
        </p:spPr>
        <p:txBody>
          <a:bodyPr wrap="square" rtlCol="0">
            <a:spAutoFit/>
          </a:bodyPr>
          <a:lstStyle/>
          <a:p>
            <a:r>
              <a:rPr lang="en-US" sz="2400" dirty="0">
                <a:latin typeface="Times New Roman" pitchFamily="18" charset="0"/>
                <a:cs typeface="Times New Roman" pitchFamily="18" charset="0"/>
              </a:rPr>
              <a:t>SYSTEM</a:t>
            </a:r>
          </a:p>
        </p:txBody>
      </p:sp>
      <p:pic>
        <p:nvPicPr>
          <p:cNvPr id="26" name="Content Placeholder 25" descr="http://t0.gstatic.com/images?q=tbn%3AANd9GcTUdMcnVPPyAthaEKMrWuslhHujH4O-2JuF8eKU-RVRJzDSM88kAbUhWF3ADu2QOy2qO_1O5v6r&amp;usqp=CAc"/>
          <p:cNvPicPr>
            <a:picLocks noGrp="1"/>
          </p:cNvPicPr>
          <p:nvPr>
            <p:ph idx="1"/>
          </p:nvPr>
        </p:nvPicPr>
        <p:blipFill>
          <a:blip r:embed="rId4">
            <a:lum bright="10000" contrast="40000"/>
          </a:blip>
          <a:srcRect l="28572" t="20000" r="28571" b="20000"/>
          <a:stretch>
            <a:fillRect/>
          </a:stretch>
        </p:blipFill>
        <p:spPr bwMode="auto">
          <a:xfrm>
            <a:off x="3237637" y="3286124"/>
            <a:ext cx="571355" cy="428628"/>
          </a:xfrm>
          <a:prstGeom prst="rect">
            <a:avLst/>
          </a:prstGeom>
          <a:noFill/>
          <a:ln w="9525">
            <a:noFill/>
            <a:miter lim="800000"/>
            <a:headEnd/>
            <a:tailEnd/>
          </a:ln>
        </p:spPr>
      </p:pic>
      <p:sp>
        <p:nvSpPr>
          <p:cNvPr id="27" name="TextBox 26"/>
          <p:cNvSpPr txBox="1"/>
          <p:nvPr/>
        </p:nvSpPr>
        <p:spPr>
          <a:xfrm>
            <a:off x="2856733" y="4098202"/>
            <a:ext cx="3047228" cy="707886"/>
          </a:xfrm>
          <a:prstGeom prst="rect">
            <a:avLst/>
          </a:prstGeom>
          <a:noFill/>
        </p:spPr>
        <p:txBody>
          <a:bodyPr wrap="square" rtlCol="0">
            <a:spAutoFit/>
          </a:bodyPr>
          <a:lstStyle/>
          <a:p>
            <a:r>
              <a:rPr lang="en-US" sz="2000" dirty="0">
                <a:latin typeface="Times New Roman" pitchFamily="18" charset="0"/>
                <a:cs typeface="Times New Roman" pitchFamily="18" charset="0"/>
              </a:rPr>
              <a:t>CONTROL ELEMENT</a:t>
            </a:r>
          </a:p>
          <a:p>
            <a:r>
              <a:rPr lang="en-US" sz="2000" dirty="0">
                <a:latin typeface="Times New Roman" pitchFamily="18" charset="0"/>
                <a:cs typeface="Times New Roman" pitchFamily="18" charset="0"/>
              </a:rPr>
              <a:t>(REGULATOR)</a:t>
            </a:r>
          </a:p>
        </p:txBody>
      </p:sp>
      <p:cxnSp>
        <p:nvCxnSpPr>
          <p:cNvPr id="29" name="Straight Arrow Connector 28"/>
          <p:cNvCxnSpPr/>
          <p:nvPr/>
        </p:nvCxnSpPr>
        <p:spPr>
          <a:xfrm>
            <a:off x="4380347" y="3539350"/>
            <a:ext cx="857033" cy="1588"/>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30" name="TextBox 29"/>
          <p:cNvSpPr txBox="1"/>
          <p:nvPr/>
        </p:nvSpPr>
        <p:spPr>
          <a:xfrm>
            <a:off x="380861" y="472370"/>
            <a:ext cx="11522329" cy="954107"/>
          </a:xfrm>
          <a:prstGeom prst="rect">
            <a:avLst/>
          </a:prstGeom>
          <a:noFill/>
        </p:spPr>
        <p:txBody>
          <a:bodyPr wrap="square" rtlCol="0">
            <a:spAutoFit/>
          </a:bodyPr>
          <a:lstStyle/>
          <a:p>
            <a:r>
              <a:rPr lang="en-US" sz="2800" dirty="0">
                <a:latin typeface="Times New Roman" pitchFamily="18" charset="0"/>
                <a:cs typeface="Times New Roman" pitchFamily="18" charset="0"/>
              </a:rPr>
              <a:t>A ceiling fan with blades and regulator can be a control system because it provides the DESIRED OUTPUT i.e. controlled air flow. </a:t>
            </a:r>
          </a:p>
        </p:txBody>
      </p:sp>
    </p:spTree>
  </p:cSld>
  <p:clrMapOvr>
    <a:masterClrMapping/>
  </p:clrMapOvr>
  <p:transition advTm="281"/>
</p:sld>
</file>

<file path=ppt/slides/slide1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1531515E-1058-40E4-F7DF-CD92BE9955BF}"/>
              </a:ext>
            </a:extLst>
          </p:cNvPr>
          <p:cNvSpPr>
            <a:spLocks noGrp="1"/>
          </p:cNvSpPr>
          <p:nvPr>
            <p:ph type="ftr" sz="quarter" idx="11"/>
          </p:nvPr>
        </p:nvSpPr>
        <p:spPr/>
        <p:txBody>
          <a:bodyPr/>
          <a:lstStyle/>
          <a:p>
            <a:r>
              <a:rPr lang="en-US"/>
              <a:t>SYED HASAN SAEED, INTEGRAL UNIVERSITY, LUCKNOW, INDIA</a:t>
            </a:r>
            <a:endParaRPr lang="en-IN"/>
          </a:p>
        </p:txBody>
      </p:sp>
      <p:sp>
        <p:nvSpPr>
          <p:cNvPr id="3" name="Slide Number Placeholder 2">
            <a:extLst>
              <a:ext uri="{FF2B5EF4-FFF2-40B4-BE49-F238E27FC236}">
                <a16:creationId xmlns:a16="http://schemas.microsoft.com/office/drawing/2014/main" id="{E4A9813D-2F24-64B1-3055-DC06F0A0234D}"/>
              </a:ext>
            </a:extLst>
          </p:cNvPr>
          <p:cNvSpPr>
            <a:spLocks noGrp="1"/>
          </p:cNvSpPr>
          <p:nvPr>
            <p:ph type="sldNum" sz="quarter" idx="12"/>
          </p:nvPr>
        </p:nvSpPr>
        <p:spPr/>
        <p:txBody>
          <a:bodyPr/>
          <a:lstStyle/>
          <a:p>
            <a:fld id="{794472C8-07AE-4D03-9F73-512FB105EB04}" type="slidenum">
              <a:rPr lang="en-IN" smtClean="0"/>
              <a:pPr/>
              <a:t>14</a:t>
            </a:fld>
            <a:endParaRPr lang="en-IN"/>
          </a:p>
        </p:txBody>
      </p:sp>
      <p:sp>
        <p:nvSpPr>
          <p:cNvPr id="4" name="Rectangle 3">
            <a:extLst>
              <a:ext uri="{FF2B5EF4-FFF2-40B4-BE49-F238E27FC236}">
                <a16:creationId xmlns:a16="http://schemas.microsoft.com/office/drawing/2014/main" id="{B8AFE951-C942-B30F-13FD-7A3EC71019D5}"/>
              </a:ext>
              <a:ext uri="{C183D7F6-B498-43B3-948B-1728B52AA6E4}">
                <adec:decorative xmlns:adec="http://schemas.microsoft.com/office/drawing/2017/decorative" val="1"/>
              </a:ext>
            </a:extLst>
          </p:cNvPr>
          <p:cNvSpPr/>
          <p:nvPr>
            <p:custDataLst>
              <p:tags r:id="rId2"/>
            </p:custDataLst>
          </p:nvPr>
        </p:nvSpPr>
        <p:spPr>
          <a:xfrm>
            <a:off x="444577" y="1743012"/>
            <a:ext cx="2371079" cy="2371079"/>
          </a:xfrm>
          <a:prstGeom prst="rect">
            <a:avLst/>
          </a:prstGeom>
          <a:blipFill>
            <a:blip>
              <a:extLst>
                <a:ext uri="{96DAC541-7B7A-43D3-8B79-37D633B846F1}">
                  <asvg:svgBlip xmlns:asvg="http://schemas.microsoft.com/office/drawing/2016/SVG/main" r:embed="rId5"/>
                </a:ext>
              </a:extLst>
            </a:blip>
            <a:stretch>
              <a:fillRect/>
            </a:stretch>
          </a:blipFill>
          <a:ln>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Rectangle 4" descr="Which fan setup is a control system?">
            <a:extLst>
              <a:ext uri="{FF2B5EF4-FFF2-40B4-BE49-F238E27FC236}">
                <a16:creationId xmlns:a16="http://schemas.microsoft.com/office/drawing/2014/main" id="{2C5FD670-FE74-B197-2823-717549A89630}"/>
              </a:ext>
            </a:extLst>
          </p:cNvPr>
          <p:cNvSpPr/>
          <p:nvPr>
            <p:custDataLst>
              <p:tags r:id="rId3"/>
            </p:custDataLst>
          </p:nvPr>
        </p:nvSpPr>
        <p:spPr>
          <a:xfrm>
            <a:off x="3112040" y="1000897"/>
            <a:ext cx="8484015" cy="3855308"/>
          </a:xfrm>
          <a:prstGeom prst="rect">
            <a:avLst/>
          </a:prstGeom>
          <a:noFill/>
          <a:ln w="25400" cap="flat" cmpd="sng" algn="ctr">
            <a:solidFill>
              <a:srgbClr val="FFFFFF"/>
            </a:solidFill>
            <a:prstDash val="solid"/>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4000" b="1">
                <a:solidFill>
                  <a:srgbClr val="000000"/>
                </a:solidFill>
              </a:rPr>
              <a:t>Which fan setup is a control system?</a:t>
            </a:r>
            <a:endParaRPr lang="en-IN" sz="4000" b="1">
              <a:solidFill>
                <a:srgbClr val="000000"/>
              </a:solidFill>
            </a:endParaRPr>
          </a:p>
        </p:txBody>
      </p:sp>
      <p:sp>
        <p:nvSpPr>
          <p:cNvPr id="6" name="Rectangle 5" descr="The Slido app must be installed on every computer you’re presenting from">
            <a:extLst>
              <a:ext uri="{FF2B5EF4-FFF2-40B4-BE49-F238E27FC236}">
                <a16:creationId xmlns:a16="http://schemas.microsoft.com/office/drawing/2014/main" id="{BD88617D-EA3B-9F06-10CC-C58A08977AB1}"/>
              </a:ext>
            </a:extLst>
          </p:cNvPr>
          <p:cNvSpPr/>
          <p:nvPr/>
        </p:nvSpPr>
        <p:spPr>
          <a:xfrm>
            <a:off x="0" y="5820032"/>
            <a:ext cx="12188824" cy="1037968"/>
          </a:xfrm>
          <a:prstGeom prst="rect">
            <a:avLst/>
          </a:prstGeom>
          <a:solidFill>
            <a:srgbClr val="198038"/>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lIns="740962" tIns="259337" rIns="1852405" bIns="203765" rtlCol="0" anchor="ctr">
            <a:normAutofit fontScale="92500"/>
          </a:bodyPr>
          <a:lstStyle/>
          <a:p>
            <a:r>
              <a:rPr lang="en-US" sz="2600">
                <a:solidFill>
                  <a:srgbClr val="FFFFFF"/>
                </a:solidFill>
              </a:rPr>
              <a:t>The </a:t>
            </a:r>
            <a:r>
              <a:rPr lang="en-US" sz="2600">
                <a:solidFill>
                  <a:srgbClr val="FFFFFF"/>
                </a:solidFill>
                <a:hlinkClick r:id="rId6">
                  <a:extLst>
                    <a:ext uri="{A12FA001-AC4F-418D-AE19-62706E023703}">
                      <ahyp:hlinkClr xmlns:ahyp="http://schemas.microsoft.com/office/drawing/2018/hyperlinkcolor" val="tx"/>
                    </a:ext>
                  </a:extLst>
                </a:hlinkClick>
              </a:rPr>
              <a:t>Slido app</a:t>
            </a:r>
            <a:r>
              <a:rPr lang="en-US" sz="2600">
                <a:solidFill>
                  <a:srgbClr val="FFFFFF"/>
                </a:solidFill>
              </a:rPr>
              <a:t> must be installed on every computer you’re presenting from</a:t>
            </a:r>
            <a:endParaRPr lang="en-IN" sz="2600">
              <a:solidFill>
                <a:srgbClr val="FFFFFF"/>
              </a:solidFill>
            </a:endParaRPr>
          </a:p>
        </p:txBody>
      </p:sp>
      <p:pic>
        <p:nvPicPr>
          <p:cNvPr id="8" name="Graphic 7">
            <a:extLst>
              <a:ext uri="{FF2B5EF4-FFF2-40B4-BE49-F238E27FC236}">
                <a16:creationId xmlns:a16="http://schemas.microsoft.com/office/drawing/2014/main" id="{D7D080A0-FA21-F6F9-81F9-47E4B741C0D9}"/>
              </a:ext>
              <a:ext uri="{C183D7F6-B498-43B3-948B-1728B52AA6E4}">
                <adec:decorative xmlns:adec="http://schemas.microsoft.com/office/drawing/2017/decorative" val="1"/>
              </a:ext>
            </a:extLst>
          </p:cNvPr>
          <p:cNvPicPr>
            <a:picLocks/>
          </p:cNvPicPr>
          <p:nvPr/>
        </p:nvPicPr>
        <p:blipFill>
          <a:blip>
            <a:extLst>
              <a:ext uri="{96DAC541-7B7A-43D3-8B79-37D633B846F1}">
                <asvg:svgBlip xmlns:asvg="http://schemas.microsoft.com/office/drawing/2016/SVG/main" r:embed="rId7"/>
              </a:ext>
            </a:extLst>
          </a:blip>
          <a:stretch>
            <a:fillRect/>
          </a:stretch>
        </p:blipFill>
        <p:spPr>
          <a:xfrm>
            <a:off x="296385" y="6190824"/>
            <a:ext cx="296385" cy="296385"/>
          </a:xfrm>
          <a:prstGeom prst="rect">
            <a:avLst/>
          </a:prstGeom>
        </p:spPr>
      </p:pic>
      <p:sp>
        <p:nvSpPr>
          <p:cNvPr id="9" name="Trapezoid 8" descr="Do not edit&#10;How to change the design">
            <a:extLst>
              <a:ext uri="{FF2B5EF4-FFF2-40B4-BE49-F238E27FC236}">
                <a16:creationId xmlns:a16="http://schemas.microsoft.com/office/drawing/2014/main" id="{FE0280F3-7CB0-6606-6F67-A65CD44EF416}"/>
              </a:ext>
            </a:extLst>
          </p:cNvPr>
          <p:cNvSpPr/>
          <p:nvPr/>
        </p:nvSpPr>
        <p:spPr>
          <a:xfrm rot="2700000">
            <a:off x="9617865" y="514790"/>
            <a:ext cx="3334329" cy="778010"/>
          </a:xfrm>
          <a:prstGeom prst="trapezoid">
            <a:avLst>
              <a:gd name="adj" fmla="val 100000"/>
            </a:avLst>
          </a:prstGeom>
          <a:solidFill>
            <a:srgbClr val="EDFAF2"/>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tIns="0" bIns="0" rtlCol="0" anchor="t">
            <a:normAutofit fontScale="70000" lnSpcReduction="20000"/>
          </a:bodyPr>
          <a:lstStyle/>
          <a:p>
            <a:pPr algn="ctr"/>
            <a:r>
              <a:rPr lang="en-US" sz="2600" b="1">
                <a:solidFill>
                  <a:srgbClr val="198038"/>
                </a:solidFill>
              </a:rPr>
              <a:t>Do not edit
</a:t>
            </a:r>
            <a:r>
              <a:rPr lang="en-US" sz="2200">
                <a:solidFill>
                  <a:srgbClr val="198038"/>
                </a:solidFill>
                <a:hlinkClick r:id="rId8">
                  <a:extLst>
                    <a:ext uri="{A12FA001-AC4F-418D-AE19-62706E023703}">
                      <ahyp:hlinkClr xmlns:ahyp="http://schemas.microsoft.com/office/drawing/2018/hyperlinkcolor" val="tx"/>
                    </a:ext>
                  </a:extLst>
                </a:hlinkClick>
              </a:rPr>
              <a:t>How to change the design</a:t>
            </a:r>
            <a:endParaRPr lang="en-IN" sz="2200">
              <a:solidFill>
                <a:srgbClr val="198038"/>
              </a:solidFill>
            </a:endParaRPr>
          </a:p>
        </p:txBody>
      </p:sp>
      <p:pic>
        <p:nvPicPr>
          <p:cNvPr id="11" name="Graphic 10">
            <a:extLst>
              <a:ext uri="{FF2B5EF4-FFF2-40B4-BE49-F238E27FC236}">
                <a16:creationId xmlns:a16="http://schemas.microsoft.com/office/drawing/2014/main" id="{7F718A40-8B89-C587-6018-BBEC4CE1C52B}"/>
              </a:ext>
              <a:ext uri="{C183D7F6-B498-43B3-948B-1728B52AA6E4}">
                <adec:decorative xmlns:adec="http://schemas.microsoft.com/office/drawing/2017/decorative" val="1"/>
              </a:ext>
            </a:extLst>
          </p:cNvPr>
          <p:cNvPicPr>
            <a:picLocks/>
          </p:cNvPicPr>
          <p:nvPr/>
        </p:nvPicPr>
        <p:blipFill>
          <a:blip>
            <a:extLst>
              <a:ext uri="{96DAC541-7B7A-43D3-8B79-37D633B846F1}">
                <asvg:svgBlip xmlns:asvg="http://schemas.microsoft.com/office/drawing/2016/SVG/main" r:embed="rId9"/>
              </a:ext>
            </a:extLst>
          </a:blip>
          <a:stretch>
            <a:fillRect/>
          </a:stretch>
        </p:blipFill>
        <p:spPr>
          <a:xfrm>
            <a:off x="10743949" y="6153776"/>
            <a:ext cx="1111443" cy="370481"/>
          </a:xfrm>
          <a:prstGeom prst="rect">
            <a:avLst/>
          </a:prstGeom>
        </p:spPr>
      </p:pic>
    </p:spTree>
    <p:custDataLst>
      <p:tags r:id="rId1"/>
    </p:custDataLst>
    <p:extLst>
      <p:ext uri="{BB962C8B-B14F-4D97-AF65-F5344CB8AC3E}">
        <p14:creationId xmlns:p14="http://schemas.microsoft.com/office/powerpoint/2010/main" val="288693140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0409" y="214290"/>
            <a:ext cx="11712781" cy="6500858"/>
          </a:xfrm>
        </p:spPr>
        <p:txBody>
          <a:bodyPr>
            <a:normAutofit/>
          </a:bodyPr>
          <a:lstStyle/>
          <a:p>
            <a:pPr>
              <a:buNone/>
            </a:pPr>
            <a:r>
              <a:rPr lang="en-IN" sz="2800" dirty="0">
                <a:solidFill>
                  <a:srgbClr val="FF0000"/>
                </a:solidFill>
                <a:latin typeface="Times New Roman" pitchFamily="18" charset="0"/>
                <a:cs typeface="Times New Roman" pitchFamily="18" charset="0"/>
              </a:rPr>
              <a:t>REQUIREMENT OF A GOOD CONTROL SYSTEM:</a:t>
            </a:r>
          </a:p>
          <a:p>
            <a:pPr marL="571500" indent="-571500">
              <a:buAutoNum type="romanLcParenBoth"/>
            </a:pPr>
            <a:r>
              <a:rPr lang="en-IN" sz="2800" dirty="0">
                <a:solidFill>
                  <a:srgbClr val="00B050"/>
                </a:solidFill>
                <a:latin typeface="Times New Roman" pitchFamily="18" charset="0"/>
                <a:cs typeface="Times New Roman" pitchFamily="18" charset="0"/>
              </a:rPr>
              <a:t>Accuracy: </a:t>
            </a:r>
            <a:r>
              <a:rPr lang="en-IN" sz="2800" dirty="0">
                <a:latin typeface="Times New Roman" pitchFamily="18" charset="0"/>
                <a:cs typeface="Times New Roman" pitchFamily="18" charset="0"/>
              </a:rPr>
              <a:t>Accuracy is high as any error arising should be corrected. Accuracy can be improved by using feedback element. To increase accuracy error detector should be present in control system.</a:t>
            </a:r>
          </a:p>
          <a:p>
            <a:pPr marL="571500" indent="-571500">
              <a:buAutoNum type="romanLcParenBoth"/>
            </a:pPr>
            <a:r>
              <a:rPr lang="en-IN" sz="2800" dirty="0">
                <a:solidFill>
                  <a:srgbClr val="00B050"/>
                </a:solidFill>
                <a:latin typeface="Times New Roman" pitchFamily="18" charset="0"/>
                <a:cs typeface="Times New Roman" pitchFamily="18" charset="0"/>
              </a:rPr>
              <a:t>Sensitivity: </a:t>
            </a:r>
            <a:r>
              <a:rPr lang="en-IN" sz="2800" dirty="0">
                <a:latin typeface="Times New Roman" pitchFamily="18" charset="0"/>
                <a:cs typeface="Times New Roman" pitchFamily="18" charset="0"/>
              </a:rPr>
              <a:t>Control system should be insensitive to environmental changes, internal disturbances or any other parameters.</a:t>
            </a:r>
          </a:p>
          <a:p>
            <a:pPr marL="571500" indent="-571500">
              <a:buFont typeface="Arial" pitchFamily="34" charset="0"/>
              <a:buAutoNum type="romanLcParenBoth"/>
            </a:pPr>
            <a:r>
              <a:rPr lang="en-IN" sz="2800" dirty="0">
                <a:solidFill>
                  <a:srgbClr val="00B050"/>
                </a:solidFill>
                <a:latin typeface="Times New Roman" pitchFamily="18" charset="0"/>
                <a:cs typeface="Times New Roman" pitchFamily="18" charset="0"/>
              </a:rPr>
              <a:t> Noise: </a:t>
            </a:r>
            <a:r>
              <a:rPr lang="en-IN" sz="2800" dirty="0">
                <a:latin typeface="Times New Roman" pitchFamily="18" charset="0"/>
                <a:cs typeface="Times New Roman" pitchFamily="18" charset="0"/>
              </a:rPr>
              <a:t>Noise is an undesirable input signal. Control system should be insensitive to such input signals.</a:t>
            </a:r>
          </a:p>
          <a:p>
            <a:pPr marL="571500" indent="-571500">
              <a:buFont typeface="Arial" pitchFamily="34" charset="0"/>
              <a:buAutoNum type="romanLcParenBoth"/>
            </a:pPr>
            <a:r>
              <a:rPr lang="en-IN" sz="2800" dirty="0">
                <a:solidFill>
                  <a:srgbClr val="00B050"/>
                </a:solidFill>
                <a:latin typeface="Times New Roman" pitchFamily="18" charset="0"/>
                <a:cs typeface="Times New Roman" pitchFamily="18" charset="0"/>
              </a:rPr>
              <a:t> Stability: </a:t>
            </a:r>
            <a:r>
              <a:rPr lang="en-IN" sz="2800" dirty="0">
                <a:latin typeface="Times New Roman" pitchFamily="18" charset="0"/>
                <a:cs typeface="Times New Roman" pitchFamily="18" charset="0"/>
              </a:rPr>
              <a:t>In the absence of the inputs, the output should tend to zero as time increases. A good control system should be stable.</a:t>
            </a:r>
          </a:p>
          <a:p>
            <a:pPr marL="571500" indent="-571500">
              <a:buFont typeface="Arial" pitchFamily="34" charset="0"/>
              <a:buAutoNum type="romanLcParenBoth"/>
            </a:pPr>
            <a:endParaRPr lang="en-IN" sz="2800" dirty="0">
              <a:latin typeface="Times New Roman" pitchFamily="18" charset="0"/>
              <a:cs typeface="Times New Roman" pitchFamily="18" charset="0"/>
            </a:endParaRPr>
          </a:p>
          <a:p>
            <a:pPr marL="571500" indent="-571500">
              <a:buAutoNum type="romanLcParenBoth"/>
            </a:pPr>
            <a:endParaRPr lang="en-IN" sz="2800" dirty="0">
              <a:latin typeface="Times New Roman" pitchFamily="18" charset="0"/>
              <a:cs typeface="Times New Roman" pitchFamily="18" charset="0"/>
            </a:endParaRPr>
          </a:p>
          <a:p>
            <a:pPr marL="571500" indent="-571500">
              <a:buNone/>
            </a:pPr>
            <a:endParaRPr lang="en-IN" sz="2800" dirty="0">
              <a:solidFill>
                <a:srgbClr val="00B050"/>
              </a:solidFill>
              <a:latin typeface="Times New Roman" pitchFamily="18" charset="0"/>
              <a:cs typeface="Times New Roman" pitchFamily="18" charset="0"/>
            </a:endParaRPr>
          </a:p>
        </p:txBody>
      </p:sp>
      <p:sp>
        <p:nvSpPr>
          <p:cNvPr id="4" name="Footer Placeholder 3"/>
          <p:cNvSpPr>
            <a:spLocks noGrp="1"/>
          </p:cNvSpPr>
          <p:nvPr>
            <p:ph type="ftr" sz="quarter" idx="11"/>
          </p:nvPr>
        </p:nvSpPr>
        <p:spPr>
          <a:xfrm>
            <a:off x="761764" y="6356351"/>
            <a:ext cx="10189167" cy="365125"/>
          </a:xfrm>
        </p:spPr>
        <p:txBody>
          <a:bodyPr/>
          <a:lstStyle/>
          <a:p>
            <a:r>
              <a:rPr lang="en-US">
                <a:solidFill>
                  <a:schemeClr val="tx1"/>
                </a:solidFill>
              </a:rPr>
              <a:t>SYED HASAN SAEED, INTEGRAL UNIVERSITY, LUCKNOW, INDIA</a:t>
            </a:r>
            <a:endParaRPr lang="en-IN" dirty="0">
              <a:solidFill>
                <a:schemeClr val="tx1"/>
              </a:solidFill>
            </a:endParaRPr>
          </a:p>
        </p:txBody>
      </p:sp>
      <p:sp>
        <p:nvSpPr>
          <p:cNvPr id="5" name="Slide Number Placeholder 4"/>
          <p:cNvSpPr>
            <a:spLocks noGrp="1"/>
          </p:cNvSpPr>
          <p:nvPr>
            <p:ph type="sldNum" sz="quarter" idx="12"/>
          </p:nvPr>
        </p:nvSpPr>
        <p:spPr/>
        <p:txBody>
          <a:bodyPr/>
          <a:lstStyle/>
          <a:p>
            <a:fld id="{794472C8-07AE-4D03-9F73-512FB105EB04}" type="slidenum">
              <a:rPr lang="en-IN" smtClean="0"/>
              <a:pPr/>
              <a:t>15</a:t>
            </a:fld>
            <a:endParaRPr lang="en-IN"/>
          </a:p>
        </p:txBody>
      </p:sp>
    </p:spTree>
  </p:cSld>
  <p:clrMapOvr>
    <a:masterClrMapping/>
  </p:clrMapOvr>
  <p:transition advTm="313"/>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85635" y="214290"/>
            <a:ext cx="11617555" cy="6215106"/>
          </a:xfrm>
        </p:spPr>
        <p:txBody>
          <a:bodyPr>
            <a:normAutofit/>
          </a:bodyPr>
          <a:lstStyle/>
          <a:p>
            <a:r>
              <a:rPr lang="en-IN" sz="2800" dirty="0">
                <a:solidFill>
                  <a:srgbClr val="00B050"/>
                </a:solidFill>
                <a:latin typeface="Times New Roman" pitchFamily="18" charset="0"/>
                <a:cs typeface="Times New Roman" pitchFamily="18" charset="0"/>
              </a:rPr>
              <a:t>(v) Bandwidth: </a:t>
            </a:r>
            <a:r>
              <a:rPr lang="en-IN" sz="2800" dirty="0">
                <a:latin typeface="Times New Roman" pitchFamily="18" charset="0"/>
                <a:cs typeface="Times New Roman" pitchFamily="18" charset="0"/>
              </a:rPr>
              <a:t>The range of operating frequency decides the bandwidth. For frequency response bandwidth should be large.</a:t>
            </a:r>
          </a:p>
          <a:p>
            <a:endParaRPr lang="en-IN" sz="2800" dirty="0">
              <a:latin typeface="Times New Roman" pitchFamily="18" charset="0"/>
              <a:cs typeface="Times New Roman" pitchFamily="18" charset="0"/>
            </a:endParaRPr>
          </a:p>
          <a:p>
            <a:r>
              <a:rPr lang="en-IN" sz="2800" dirty="0">
                <a:solidFill>
                  <a:srgbClr val="00B050"/>
                </a:solidFill>
                <a:latin typeface="Times New Roman" pitchFamily="18" charset="0"/>
                <a:cs typeface="Times New Roman" pitchFamily="18" charset="0"/>
              </a:rPr>
              <a:t>(vi) Speed: </a:t>
            </a:r>
            <a:r>
              <a:rPr lang="en-IN" sz="2800" dirty="0">
                <a:latin typeface="Times New Roman" pitchFamily="18" charset="0"/>
                <a:cs typeface="Times New Roman" pitchFamily="18" charset="0"/>
              </a:rPr>
              <a:t>The speed of control system should be high.</a:t>
            </a:r>
          </a:p>
          <a:p>
            <a:pPr>
              <a:buNone/>
            </a:pPr>
            <a:endParaRPr lang="en-IN" sz="2800" dirty="0">
              <a:latin typeface="Times New Roman" pitchFamily="18" charset="0"/>
              <a:cs typeface="Times New Roman" pitchFamily="18" charset="0"/>
            </a:endParaRPr>
          </a:p>
          <a:p>
            <a:pPr algn="just"/>
            <a:r>
              <a:rPr lang="en-IN" sz="2800" dirty="0">
                <a:solidFill>
                  <a:srgbClr val="00B050"/>
                </a:solidFill>
                <a:latin typeface="Times New Roman" pitchFamily="18" charset="0"/>
                <a:cs typeface="Times New Roman" pitchFamily="18" charset="0"/>
              </a:rPr>
              <a:t>(vii) Oscillations: </a:t>
            </a:r>
            <a:r>
              <a:rPr lang="en-IN" sz="2800" dirty="0">
                <a:latin typeface="Times New Roman" pitchFamily="18" charset="0"/>
                <a:cs typeface="Times New Roman" pitchFamily="18" charset="0"/>
              </a:rPr>
              <a:t>For good control system, oscillation should be constant or sustained oscillation which follows the </a:t>
            </a:r>
            <a:r>
              <a:rPr lang="en-IN" sz="2800" dirty="0" err="1">
                <a:latin typeface="Times New Roman" pitchFamily="18" charset="0"/>
                <a:cs typeface="Times New Roman" pitchFamily="18" charset="0"/>
              </a:rPr>
              <a:t>Barkhausein’s</a:t>
            </a:r>
            <a:r>
              <a:rPr lang="en-IN" sz="2800" dirty="0">
                <a:latin typeface="Times New Roman" pitchFamily="18" charset="0"/>
                <a:cs typeface="Times New Roman" pitchFamily="18" charset="0"/>
              </a:rPr>
              <a:t> criteria.</a:t>
            </a:r>
            <a:endParaRPr lang="en-IN" sz="2800" dirty="0">
              <a:solidFill>
                <a:srgbClr val="00B050"/>
              </a:solidFill>
              <a:latin typeface="Times New Roman" pitchFamily="18" charset="0"/>
              <a:cs typeface="Times New Roman" pitchFamily="18" charset="0"/>
            </a:endParaRPr>
          </a:p>
          <a:p>
            <a:pPr>
              <a:buNone/>
            </a:pPr>
            <a:endParaRPr lang="en-IN" sz="2800" dirty="0">
              <a:solidFill>
                <a:srgbClr val="00B050"/>
              </a:solidFill>
              <a:latin typeface="Times New Roman" pitchFamily="18" charset="0"/>
              <a:cs typeface="Times New Roman" pitchFamily="18" charset="0"/>
            </a:endParaRPr>
          </a:p>
        </p:txBody>
      </p:sp>
      <p:sp>
        <p:nvSpPr>
          <p:cNvPr id="4" name="Footer Placeholder 3"/>
          <p:cNvSpPr>
            <a:spLocks noGrp="1"/>
          </p:cNvSpPr>
          <p:nvPr>
            <p:ph type="ftr" sz="quarter" idx="11"/>
          </p:nvPr>
        </p:nvSpPr>
        <p:spPr>
          <a:xfrm>
            <a:off x="1999700" y="6429396"/>
            <a:ext cx="7808521" cy="428604"/>
          </a:xfrm>
        </p:spPr>
        <p:txBody>
          <a:bodyPr/>
          <a:lstStyle/>
          <a:p>
            <a:r>
              <a:rPr lang="en-US">
                <a:solidFill>
                  <a:schemeClr val="tx1"/>
                </a:solidFill>
              </a:rPr>
              <a:t>SYED HASAN SAEED, INTEGRAL UNIVERSITY, LUCKNOW, INDIA</a:t>
            </a:r>
            <a:endParaRPr lang="en-IN" dirty="0">
              <a:solidFill>
                <a:schemeClr val="tx1"/>
              </a:solidFill>
            </a:endParaRPr>
          </a:p>
        </p:txBody>
      </p:sp>
      <p:sp>
        <p:nvSpPr>
          <p:cNvPr id="5" name="Slide Number Placeholder 4"/>
          <p:cNvSpPr>
            <a:spLocks noGrp="1"/>
          </p:cNvSpPr>
          <p:nvPr>
            <p:ph type="sldNum" sz="quarter" idx="12"/>
          </p:nvPr>
        </p:nvSpPr>
        <p:spPr/>
        <p:txBody>
          <a:bodyPr/>
          <a:lstStyle/>
          <a:p>
            <a:fld id="{794472C8-07AE-4D03-9F73-512FB105EB04}" type="slidenum">
              <a:rPr lang="en-IN" smtClean="0"/>
              <a:pPr/>
              <a:t>16</a:t>
            </a:fld>
            <a:endParaRPr lang="en-IN"/>
          </a:p>
        </p:txBody>
      </p:sp>
    </p:spTree>
  </p:cSld>
  <p:clrMapOvr>
    <a:masterClrMapping/>
  </p:clrMapOvr>
  <p:transition advTm="266"/>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85635" y="214290"/>
            <a:ext cx="11712781" cy="6215106"/>
          </a:xfrm>
        </p:spPr>
        <p:txBody>
          <a:bodyPr>
            <a:normAutofit/>
          </a:bodyPr>
          <a:lstStyle/>
          <a:p>
            <a:pPr algn="ctr">
              <a:buNone/>
            </a:pPr>
            <a:r>
              <a:rPr lang="en-IN" sz="2800" u="sng" dirty="0">
                <a:solidFill>
                  <a:srgbClr val="FF0000"/>
                </a:solidFill>
                <a:latin typeface="Times New Roman" pitchFamily="18" charset="0"/>
                <a:cs typeface="Times New Roman" pitchFamily="18" charset="0"/>
              </a:rPr>
              <a:t>CLASSIFICATION OF CONTROL SYSTEMS</a:t>
            </a:r>
          </a:p>
          <a:p>
            <a:pPr algn="just">
              <a:buNone/>
            </a:pPr>
            <a:r>
              <a:rPr lang="en-IN" sz="2800" dirty="0">
                <a:latin typeface="Times New Roman" pitchFamily="18" charset="0"/>
                <a:cs typeface="Times New Roman" pitchFamily="18" charset="0"/>
              </a:rPr>
              <a:t>Depending upon the purpose control system can be classified as </a:t>
            </a:r>
            <a:r>
              <a:rPr lang="en-IN" sz="2400" dirty="0">
                <a:latin typeface="Times New Roman" pitchFamily="18" charset="0"/>
                <a:cs typeface="Times New Roman" pitchFamily="18" charset="0"/>
              </a:rPr>
              <a:t>follow               </a:t>
            </a:r>
            <a:r>
              <a:rPr lang="en-IN" sz="2000" i="1" dirty="0">
                <a:solidFill>
                  <a:schemeClr val="bg1">
                    <a:lumMod val="65000"/>
                  </a:schemeClr>
                </a:solidFill>
                <a:latin typeface="Times New Roman" pitchFamily="18" charset="0"/>
                <a:cs typeface="Times New Roman" pitchFamily="18" charset="0"/>
              </a:rPr>
              <a:t>(ref. Control systems by A. </a:t>
            </a:r>
            <a:r>
              <a:rPr lang="en-IN" sz="2000" i="1" dirty="0" err="1">
                <a:solidFill>
                  <a:schemeClr val="bg1">
                    <a:lumMod val="65000"/>
                  </a:schemeClr>
                </a:solidFill>
                <a:latin typeface="Times New Roman" pitchFamily="18" charset="0"/>
                <a:cs typeface="Times New Roman" pitchFamily="18" charset="0"/>
              </a:rPr>
              <a:t>Anand</a:t>
            </a:r>
            <a:r>
              <a:rPr lang="en-IN" sz="2000" i="1" dirty="0">
                <a:solidFill>
                  <a:schemeClr val="bg1">
                    <a:lumMod val="65000"/>
                  </a:schemeClr>
                </a:solidFill>
                <a:latin typeface="Times New Roman" pitchFamily="18" charset="0"/>
                <a:cs typeface="Times New Roman" pitchFamily="18" charset="0"/>
              </a:rPr>
              <a:t> Kumar)</a:t>
            </a:r>
          </a:p>
          <a:p>
            <a:pPr marL="514350" indent="-514350" algn="just">
              <a:buAutoNum type="arabicPeriod"/>
            </a:pPr>
            <a:r>
              <a:rPr lang="en-IN" sz="2800" dirty="0">
                <a:solidFill>
                  <a:srgbClr val="00B050"/>
                </a:solidFill>
                <a:latin typeface="Times New Roman" pitchFamily="18" charset="0"/>
                <a:cs typeface="Times New Roman" pitchFamily="18" charset="0"/>
              </a:rPr>
              <a:t>Depending on hierarchy</a:t>
            </a:r>
            <a:r>
              <a:rPr lang="en-IN" sz="2800" dirty="0">
                <a:latin typeface="Times New Roman" pitchFamily="18" charset="0"/>
                <a:cs typeface="Times New Roman" pitchFamily="18" charset="0"/>
              </a:rPr>
              <a:t>:</a:t>
            </a:r>
          </a:p>
          <a:p>
            <a:pPr marL="514350" indent="-514350" algn="just">
              <a:buNone/>
            </a:pPr>
            <a:r>
              <a:rPr lang="en-IN" sz="2800" dirty="0">
                <a:latin typeface="Times New Roman" pitchFamily="18" charset="0"/>
                <a:cs typeface="Times New Roman" pitchFamily="18" charset="0"/>
              </a:rPr>
              <a:t>(</a:t>
            </a:r>
            <a:r>
              <a:rPr lang="en-IN" sz="2800" dirty="0" err="1">
                <a:latin typeface="Times New Roman" pitchFamily="18" charset="0"/>
                <a:cs typeface="Times New Roman" pitchFamily="18" charset="0"/>
              </a:rPr>
              <a:t>i</a:t>
            </a:r>
            <a:r>
              <a:rPr lang="en-IN" sz="2800" dirty="0">
                <a:latin typeface="Times New Roman" pitchFamily="18" charset="0"/>
                <a:cs typeface="Times New Roman" pitchFamily="18" charset="0"/>
              </a:rPr>
              <a:t>) Open loop control systems</a:t>
            </a:r>
          </a:p>
          <a:p>
            <a:pPr marL="514350" indent="-514350" algn="just">
              <a:buNone/>
            </a:pPr>
            <a:r>
              <a:rPr lang="en-IN" sz="2800" dirty="0">
                <a:latin typeface="Times New Roman" pitchFamily="18" charset="0"/>
                <a:cs typeface="Times New Roman" pitchFamily="18" charset="0"/>
              </a:rPr>
              <a:t>(ii) Closed loop control systems</a:t>
            </a:r>
          </a:p>
          <a:p>
            <a:pPr marL="514350" indent="-514350" algn="just">
              <a:buNone/>
            </a:pPr>
            <a:r>
              <a:rPr lang="en-IN" sz="2800" dirty="0">
                <a:latin typeface="Times New Roman" pitchFamily="18" charset="0"/>
                <a:cs typeface="Times New Roman" pitchFamily="18" charset="0"/>
              </a:rPr>
              <a:t>(iii) Adaptive control systems</a:t>
            </a:r>
          </a:p>
          <a:p>
            <a:pPr marL="514350" indent="-514350" algn="just">
              <a:buNone/>
            </a:pPr>
            <a:r>
              <a:rPr lang="en-IN" sz="2800" dirty="0">
                <a:latin typeface="Times New Roman" pitchFamily="18" charset="0"/>
                <a:cs typeface="Times New Roman" pitchFamily="18" charset="0"/>
              </a:rPr>
              <a:t>(iv) Learning control systems</a:t>
            </a:r>
          </a:p>
          <a:p>
            <a:pPr marL="514350" indent="-514350" algn="just">
              <a:buNone/>
            </a:pPr>
            <a:r>
              <a:rPr lang="en-IN" sz="2800" dirty="0">
                <a:solidFill>
                  <a:srgbClr val="00B050"/>
                </a:solidFill>
                <a:latin typeface="Times New Roman" pitchFamily="18" charset="0"/>
                <a:cs typeface="Times New Roman" pitchFamily="18" charset="0"/>
              </a:rPr>
              <a:t>2. Depending on the presence of Human being as apart of the control system</a:t>
            </a:r>
          </a:p>
          <a:p>
            <a:pPr marL="514350" indent="-514350" algn="just">
              <a:buNone/>
            </a:pPr>
            <a:r>
              <a:rPr lang="en-IN" sz="2800" dirty="0">
                <a:latin typeface="Times New Roman" pitchFamily="18" charset="0"/>
                <a:cs typeface="Times New Roman" pitchFamily="18" charset="0"/>
              </a:rPr>
              <a:t>(</a:t>
            </a:r>
            <a:r>
              <a:rPr lang="en-IN" sz="2800" dirty="0" err="1">
                <a:latin typeface="Times New Roman" pitchFamily="18" charset="0"/>
                <a:cs typeface="Times New Roman" pitchFamily="18" charset="0"/>
              </a:rPr>
              <a:t>i</a:t>
            </a:r>
            <a:r>
              <a:rPr lang="en-IN" sz="2800" dirty="0">
                <a:latin typeface="Times New Roman" pitchFamily="18" charset="0"/>
                <a:cs typeface="Times New Roman" pitchFamily="18" charset="0"/>
              </a:rPr>
              <a:t>) Manually control systems (ii) Automatic control systems</a:t>
            </a:r>
          </a:p>
        </p:txBody>
      </p:sp>
      <p:sp>
        <p:nvSpPr>
          <p:cNvPr id="4" name="Footer Placeholder 3"/>
          <p:cNvSpPr>
            <a:spLocks noGrp="1"/>
          </p:cNvSpPr>
          <p:nvPr>
            <p:ph type="ftr" sz="quarter" idx="11"/>
          </p:nvPr>
        </p:nvSpPr>
        <p:spPr>
          <a:xfrm>
            <a:off x="1904475" y="6356351"/>
            <a:ext cx="9713038" cy="365125"/>
          </a:xfrm>
        </p:spPr>
        <p:txBody>
          <a:bodyPr/>
          <a:lstStyle/>
          <a:p>
            <a:r>
              <a:rPr lang="en-US">
                <a:solidFill>
                  <a:schemeClr val="tx1"/>
                </a:solidFill>
              </a:rPr>
              <a:t>SYED HASAN SAEED, INTEGRAL UNIVERSITY, LUCKNOW, INDIA</a:t>
            </a:r>
            <a:endParaRPr lang="en-IN" dirty="0">
              <a:solidFill>
                <a:schemeClr val="tx1"/>
              </a:solidFill>
            </a:endParaRPr>
          </a:p>
        </p:txBody>
      </p:sp>
      <p:sp>
        <p:nvSpPr>
          <p:cNvPr id="5" name="Slide Number Placeholder 4"/>
          <p:cNvSpPr>
            <a:spLocks noGrp="1"/>
          </p:cNvSpPr>
          <p:nvPr>
            <p:ph type="sldNum" sz="quarter" idx="12"/>
          </p:nvPr>
        </p:nvSpPr>
        <p:spPr/>
        <p:txBody>
          <a:bodyPr/>
          <a:lstStyle/>
          <a:p>
            <a:fld id="{794472C8-07AE-4D03-9F73-512FB105EB04}" type="slidenum">
              <a:rPr lang="en-IN" smtClean="0"/>
              <a:pPr/>
              <a:t>17</a:t>
            </a:fld>
            <a:endParaRPr lang="en-IN"/>
          </a:p>
        </p:txBody>
      </p:sp>
    </p:spTree>
  </p:cSld>
  <p:clrMapOvr>
    <a:masterClrMapping/>
  </p:clrMapOvr>
  <p:transition advTm="313"/>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0409" y="142852"/>
            <a:ext cx="11808007" cy="6286544"/>
          </a:xfrm>
        </p:spPr>
        <p:txBody>
          <a:bodyPr>
            <a:normAutofit/>
          </a:bodyPr>
          <a:lstStyle/>
          <a:p>
            <a:pPr>
              <a:buNone/>
            </a:pPr>
            <a:r>
              <a:rPr lang="en-IN" sz="2800" dirty="0">
                <a:solidFill>
                  <a:srgbClr val="00B050"/>
                </a:solidFill>
                <a:latin typeface="Times New Roman" pitchFamily="18" charset="0"/>
                <a:cs typeface="Times New Roman" pitchFamily="18" charset="0"/>
              </a:rPr>
              <a:t>3. Depending on the presence of feedback</a:t>
            </a:r>
          </a:p>
          <a:p>
            <a:pPr marL="514350" indent="-514350" algn="just">
              <a:buNone/>
            </a:pPr>
            <a:r>
              <a:rPr lang="en-IN" sz="2800" dirty="0">
                <a:latin typeface="Times New Roman" pitchFamily="18" charset="0"/>
                <a:cs typeface="Times New Roman" pitchFamily="18" charset="0"/>
              </a:rPr>
              <a:t>(</a:t>
            </a:r>
            <a:r>
              <a:rPr lang="en-IN" sz="2800" dirty="0" err="1">
                <a:latin typeface="Times New Roman" pitchFamily="18" charset="0"/>
                <a:cs typeface="Times New Roman" pitchFamily="18" charset="0"/>
              </a:rPr>
              <a:t>i</a:t>
            </a:r>
            <a:r>
              <a:rPr lang="en-IN" sz="2800" dirty="0">
                <a:latin typeface="Times New Roman" pitchFamily="18" charset="0"/>
                <a:cs typeface="Times New Roman" pitchFamily="18" charset="0"/>
              </a:rPr>
              <a:t>) Open loop control systems</a:t>
            </a:r>
          </a:p>
          <a:p>
            <a:pPr marL="514350" indent="-514350" algn="just">
              <a:buNone/>
            </a:pPr>
            <a:r>
              <a:rPr lang="en-IN" sz="2800" dirty="0">
                <a:latin typeface="Times New Roman" pitchFamily="18" charset="0"/>
                <a:cs typeface="Times New Roman" pitchFamily="18" charset="0"/>
              </a:rPr>
              <a:t>(ii) Closed loop control systems or feedback control systems.</a:t>
            </a:r>
          </a:p>
          <a:p>
            <a:pPr marL="514350" indent="-514350" algn="just">
              <a:buNone/>
            </a:pPr>
            <a:r>
              <a:rPr lang="en-IN" sz="2800" dirty="0">
                <a:solidFill>
                  <a:srgbClr val="00B050"/>
                </a:solidFill>
                <a:latin typeface="Times New Roman" pitchFamily="18" charset="0"/>
                <a:cs typeface="Times New Roman" pitchFamily="18" charset="0"/>
              </a:rPr>
              <a:t>4. According to the main purpose of the system</a:t>
            </a:r>
          </a:p>
          <a:p>
            <a:pPr marL="571500" indent="-571500" algn="just">
              <a:buAutoNum type="romanLcParenBoth"/>
            </a:pPr>
            <a:r>
              <a:rPr lang="en-IN" sz="2800" dirty="0">
                <a:latin typeface="Times New Roman" pitchFamily="18" charset="0"/>
                <a:cs typeface="Times New Roman" pitchFamily="18" charset="0"/>
              </a:rPr>
              <a:t>Position control systems</a:t>
            </a:r>
          </a:p>
          <a:p>
            <a:pPr marL="571500" indent="-571500" algn="just">
              <a:buAutoNum type="romanLcParenBoth"/>
            </a:pPr>
            <a:r>
              <a:rPr lang="en-IN" sz="2800" dirty="0">
                <a:latin typeface="Times New Roman" pitchFamily="18" charset="0"/>
                <a:cs typeface="Times New Roman" pitchFamily="18" charset="0"/>
              </a:rPr>
              <a:t>Velocity control systems</a:t>
            </a:r>
          </a:p>
          <a:p>
            <a:pPr marL="571500" indent="-571500" algn="just">
              <a:buAutoNum type="romanLcParenBoth"/>
            </a:pPr>
            <a:r>
              <a:rPr lang="en-IN" sz="2800" dirty="0">
                <a:latin typeface="Times New Roman" pitchFamily="18" charset="0"/>
                <a:cs typeface="Times New Roman" pitchFamily="18" charset="0"/>
              </a:rPr>
              <a:t>Process control systems</a:t>
            </a:r>
          </a:p>
          <a:p>
            <a:pPr marL="571500" indent="-571500" algn="just">
              <a:buAutoNum type="romanLcParenBoth"/>
            </a:pPr>
            <a:r>
              <a:rPr lang="en-IN" sz="2800" dirty="0">
                <a:latin typeface="Times New Roman" pitchFamily="18" charset="0"/>
                <a:cs typeface="Times New Roman" pitchFamily="18" charset="0"/>
              </a:rPr>
              <a:t>Temperature control systems</a:t>
            </a:r>
          </a:p>
          <a:p>
            <a:pPr marL="571500" indent="-571500" algn="just">
              <a:buAutoNum type="romanLcParenBoth"/>
            </a:pPr>
            <a:r>
              <a:rPr lang="en-IN" sz="2800" dirty="0">
                <a:latin typeface="Times New Roman" pitchFamily="18" charset="0"/>
                <a:cs typeface="Times New Roman" pitchFamily="18" charset="0"/>
              </a:rPr>
              <a:t>Traffic control systems etc.</a:t>
            </a:r>
          </a:p>
          <a:p>
            <a:pPr>
              <a:buNone/>
            </a:pPr>
            <a:endParaRPr lang="en-IN" sz="2800" dirty="0">
              <a:latin typeface="Times New Roman" pitchFamily="18" charset="0"/>
              <a:cs typeface="Times New Roman" pitchFamily="18" charset="0"/>
            </a:endParaRPr>
          </a:p>
        </p:txBody>
      </p:sp>
      <p:sp>
        <p:nvSpPr>
          <p:cNvPr id="4" name="Footer Placeholder 3"/>
          <p:cNvSpPr>
            <a:spLocks noGrp="1"/>
          </p:cNvSpPr>
          <p:nvPr>
            <p:ph type="ftr" sz="quarter" idx="11"/>
          </p:nvPr>
        </p:nvSpPr>
        <p:spPr>
          <a:xfrm>
            <a:off x="2094927" y="6356351"/>
            <a:ext cx="7998972" cy="365125"/>
          </a:xfrm>
        </p:spPr>
        <p:txBody>
          <a:bodyPr/>
          <a:lstStyle/>
          <a:p>
            <a:r>
              <a:rPr lang="en-US">
                <a:solidFill>
                  <a:schemeClr val="tx1"/>
                </a:solidFill>
              </a:rPr>
              <a:t>SYED HASAN SAEED, INTEGRAL UNIVERSITY, LUCKNOW, INDIA</a:t>
            </a:r>
            <a:endParaRPr lang="en-IN" dirty="0">
              <a:solidFill>
                <a:schemeClr val="tx1"/>
              </a:solidFill>
            </a:endParaRPr>
          </a:p>
        </p:txBody>
      </p:sp>
      <p:sp>
        <p:nvSpPr>
          <p:cNvPr id="5" name="Slide Number Placeholder 4"/>
          <p:cNvSpPr>
            <a:spLocks noGrp="1"/>
          </p:cNvSpPr>
          <p:nvPr>
            <p:ph type="sldNum" sz="quarter" idx="12"/>
          </p:nvPr>
        </p:nvSpPr>
        <p:spPr/>
        <p:txBody>
          <a:bodyPr/>
          <a:lstStyle/>
          <a:p>
            <a:fld id="{794472C8-07AE-4D03-9F73-512FB105EB04}" type="slidenum">
              <a:rPr lang="en-IN" smtClean="0"/>
              <a:pPr/>
              <a:t>18</a:t>
            </a:fld>
            <a:endParaRPr lang="en-IN"/>
          </a:p>
        </p:txBody>
      </p:sp>
    </p:spTree>
  </p:cSld>
  <p:clrMapOvr>
    <a:masterClrMapping/>
  </p:clrMapOvr>
  <p:transition advTm="281"/>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85635" y="142852"/>
            <a:ext cx="11522329" cy="6572296"/>
          </a:xfrm>
        </p:spPr>
        <p:txBody>
          <a:bodyPr>
            <a:normAutofit/>
          </a:bodyPr>
          <a:lstStyle/>
          <a:p>
            <a:pPr>
              <a:buNone/>
            </a:pPr>
            <a:r>
              <a:rPr lang="en-IN" sz="2800" dirty="0">
                <a:solidFill>
                  <a:srgbClr val="FF0000"/>
                </a:solidFill>
                <a:latin typeface="Times New Roman" pitchFamily="18" charset="0"/>
                <a:cs typeface="Times New Roman" pitchFamily="18" charset="0"/>
              </a:rPr>
              <a:t>Feedback control systems may be classified as</a:t>
            </a:r>
          </a:p>
          <a:p>
            <a:pPr marL="571500" indent="-571500">
              <a:buAutoNum type="romanLcParenBoth"/>
            </a:pPr>
            <a:r>
              <a:rPr lang="en-IN" sz="2800" dirty="0">
                <a:latin typeface="Times New Roman" pitchFamily="18" charset="0"/>
                <a:cs typeface="Times New Roman" pitchFamily="18" charset="0"/>
              </a:rPr>
              <a:t>linear control systems and nonlinear control systems.</a:t>
            </a:r>
          </a:p>
          <a:p>
            <a:pPr marL="571500" indent="-571500">
              <a:buAutoNum type="romanLcParenBoth"/>
            </a:pPr>
            <a:r>
              <a:rPr lang="en-IN" sz="2800" dirty="0">
                <a:latin typeface="Times New Roman" pitchFamily="18" charset="0"/>
                <a:cs typeface="Times New Roman" pitchFamily="18" charset="0"/>
              </a:rPr>
              <a:t>Continuous data control systems  and discrete data control systems , ac (modulated) control systems  and dc (unmodulated) control systems. </a:t>
            </a:r>
          </a:p>
          <a:p>
            <a:pPr marL="571500" indent="-571500">
              <a:buAutoNum type="romanLcParenBoth"/>
            </a:pPr>
            <a:r>
              <a:rPr lang="en-IN" sz="2800" dirty="0">
                <a:latin typeface="Times New Roman" pitchFamily="18" charset="0"/>
                <a:cs typeface="Times New Roman" pitchFamily="18" charset="0"/>
              </a:rPr>
              <a:t>Multi input multi output(MIMO) system and single input single output (SISO) systems.</a:t>
            </a:r>
          </a:p>
          <a:p>
            <a:pPr marL="571500" indent="-571500">
              <a:buAutoNum type="romanLcParenBoth"/>
            </a:pPr>
            <a:r>
              <a:rPr lang="en-IN" sz="2800" dirty="0">
                <a:latin typeface="Times New Roman" pitchFamily="18" charset="0"/>
                <a:cs typeface="Times New Roman" pitchFamily="18" charset="0"/>
              </a:rPr>
              <a:t>Depending upon the number of poles of the transfer function at the origin, systems may be classified as Type-0, Type-1, Type-2 systems etc.</a:t>
            </a:r>
          </a:p>
          <a:p>
            <a:pPr marL="571500" indent="-571500">
              <a:buAutoNum type="romanLcParenBoth"/>
            </a:pPr>
            <a:endParaRPr lang="en-IN" sz="2800" dirty="0">
              <a:latin typeface="Times New Roman" pitchFamily="18" charset="0"/>
              <a:cs typeface="Times New Roman" pitchFamily="18" charset="0"/>
            </a:endParaRPr>
          </a:p>
          <a:p>
            <a:pPr marL="571500" indent="-571500">
              <a:buAutoNum type="romanLcParenBoth"/>
            </a:pPr>
            <a:endParaRPr lang="en-IN" sz="2800" dirty="0">
              <a:latin typeface="Times New Roman" pitchFamily="18" charset="0"/>
              <a:cs typeface="Times New Roman" pitchFamily="18" charset="0"/>
            </a:endParaRPr>
          </a:p>
        </p:txBody>
      </p:sp>
      <p:sp>
        <p:nvSpPr>
          <p:cNvPr id="4" name="Footer Placeholder 3"/>
          <p:cNvSpPr>
            <a:spLocks noGrp="1"/>
          </p:cNvSpPr>
          <p:nvPr>
            <p:ph type="ftr" sz="quarter" idx="11"/>
          </p:nvPr>
        </p:nvSpPr>
        <p:spPr>
          <a:xfrm>
            <a:off x="2190152" y="6356351"/>
            <a:ext cx="7522843" cy="365125"/>
          </a:xfrm>
        </p:spPr>
        <p:txBody>
          <a:bodyPr/>
          <a:lstStyle/>
          <a:p>
            <a:r>
              <a:rPr lang="en-US">
                <a:solidFill>
                  <a:schemeClr val="tx1"/>
                </a:solidFill>
              </a:rPr>
              <a:t>SYED HASAN SAEED, INTEGRAL UNIVERSITY, LUCKNOW, INDIA</a:t>
            </a:r>
            <a:endParaRPr lang="en-IN" dirty="0">
              <a:solidFill>
                <a:schemeClr val="tx1"/>
              </a:solidFill>
            </a:endParaRPr>
          </a:p>
        </p:txBody>
      </p:sp>
      <p:sp>
        <p:nvSpPr>
          <p:cNvPr id="5" name="Slide Number Placeholder 4"/>
          <p:cNvSpPr>
            <a:spLocks noGrp="1"/>
          </p:cNvSpPr>
          <p:nvPr>
            <p:ph type="sldNum" sz="quarter" idx="12"/>
          </p:nvPr>
        </p:nvSpPr>
        <p:spPr/>
        <p:txBody>
          <a:bodyPr/>
          <a:lstStyle/>
          <a:p>
            <a:fld id="{794472C8-07AE-4D03-9F73-512FB105EB04}" type="slidenum">
              <a:rPr lang="en-IN" smtClean="0"/>
              <a:pPr/>
              <a:t>19</a:t>
            </a:fld>
            <a:endParaRPr lang="en-IN"/>
          </a:p>
        </p:txBody>
      </p:sp>
    </p:spTree>
  </p:cSld>
  <p:clrMapOvr>
    <a:masterClrMapping/>
  </p:clrMapOvr>
  <p:transition advTm="281"/>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85635" y="142852"/>
            <a:ext cx="11617555" cy="6572296"/>
          </a:xfrm>
        </p:spPr>
        <p:txBody>
          <a:bodyPr>
            <a:normAutofit/>
          </a:bodyPr>
          <a:lstStyle/>
          <a:p>
            <a:pPr algn="just">
              <a:buNone/>
            </a:pPr>
            <a:r>
              <a:rPr lang="en-IN" sz="2800" dirty="0">
                <a:latin typeface="Times New Roman" pitchFamily="18" charset="0"/>
                <a:cs typeface="Times New Roman" pitchFamily="18" charset="0"/>
              </a:rPr>
              <a:t>(v) Depending on the order of the differential equation, control systems  may be classified as first order system, second order system etc.</a:t>
            </a:r>
          </a:p>
          <a:p>
            <a:pPr algn="just">
              <a:buNone/>
            </a:pPr>
            <a:r>
              <a:rPr lang="en-IN" sz="2800" dirty="0">
                <a:latin typeface="Times New Roman" pitchFamily="18" charset="0"/>
                <a:cs typeface="Times New Roman" pitchFamily="18" charset="0"/>
              </a:rPr>
              <a:t>(vi) According to type of damping control systems may be classified as Undamped control systems, damped control systems, Critically damped control systems  and Overdamped control systems. </a:t>
            </a:r>
          </a:p>
          <a:p>
            <a:pPr algn="just">
              <a:buNone/>
            </a:pPr>
            <a:endParaRPr lang="en-IN" sz="2800" dirty="0">
              <a:latin typeface="Times New Roman" pitchFamily="18" charset="0"/>
              <a:cs typeface="Times New Roman" pitchFamily="18" charset="0"/>
            </a:endParaRPr>
          </a:p>
        </p:txBody>
      </p:sp>
      <p:sp>
        <p:nvSpPr>
          <p:cNvPr id="4" name="Footer Placeholder 3"/>
          <p:cNvSpPr>
            <a:spLocks noGrp="1"/>
          </p:cNvSpPr>
          <p:nvPr>
            <p:ph type="ftr" sz="quarter" idx="11"/>
          </p:nvPr>
        </p:nvSpPr>
        <p:spPr>
          <a:xfrm>
            <a:off x="2856733" y="6492876"/>
            <a:ext cx="7237165" cy="365125"/>
          </a:xfrm>
        </p:spPr>
        <p:txBody>
          <a:bodyPr/>
          <a:lstStyle/>
          <a:p>
            <a:r>
              <a:rPr lang="en-US">
                <a:solidFill>
                  <a:schemeClr val="tx1"/>
                </a:solidFill>
              </a:rPr>
              <a:t>SYED HASAN SAEED, INTEGRAL UNIVERSITY, LUCKNOW, INDIA</a:t>
            </a:r>
            <a:endParaRPr lang="en-IN" dirty="0">
              <a:solidFill>
                <a:schemeClr val="tx1"/>
              </a:solidFill>
            </a:endParaRPr>
          </a:p>
        </p:txBody>
      </p:sp>
      <p:sp>
        <p:nvSpPr>
          <p:cNvPr id="5" name="Slide Number Placeholder 4"/>
          <p:cNvSpPr>
            <a:spLocks noGrp="1"/>
          </p:cNvSpPr>
          <p:nvPr>
            <p:ph type="sldNum" sz="quarter" idx="12"/>
          </p:nvPr>
        </p:nvSpPr>
        <p:spPr/>
        <p:txBody>
          <a:bodyPr/>
          <a:lstStyle/>
          <a:p>
            <a:fld id="{794472C8-07AE-4D03-9F73-512FB105EB04}" type="slidenum">
              <a:rPr lang="en-IN" smtClean="0"/>
              <a:pPr/>
              <a:t>20</a:t>
            </a:fld>
            <a:endParaRPr lang="en-IN"/>
          </a:p>
        </p:txBody>
      </p:sp>
    </p:spTree>
  </p:cSld>
  <p:clrMapOvr>
    <a:masterClrMapping/>
  </p:clrMapOvr>
  <p:transition advTm="187"/>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85635" y="214290"/>
            <a:ext cx="11617555" cy="6500858"/>
          </a:xfrm>
        </p:spPr>
        <p:txBody>
          <a:bodyPr>
            <a:normAutofit/>
          </a:bodyPr>
          <a:lstStyle/>
          <a:p>
            <a:pPr>
              <a:buNone/>
            </a:pPr>
            <a:r>
              <a:rPr lang="en-IN" sz="2800" u="sng" dirty="0">
                <a:solidFill>
                  <a:srgbClr val="FF0000"/>
                </a:solidFill>
                <a:latin typeface="Times New Roman" pitchFamily="18" charset="0"/>
                <a:cs typeface="Times New Roman" pitchFamily="18" charset="0"/>
              </a:rPr>
              <a:t>OPEN LOOP CONTROL SYSTEMS: </a:t>
            </a:r>
            <a:r>
              <a:rPr lang="en-IN" sz="2800" dirty="0">
                <a:latin typeface="Times New Roman" pitchFamily="18" charset="0"/>
                <a:cs typeface="Times New Roman" pitchFamily="18" charset="0"/>
              </a:rPr>
              <a:t>Those systems in which the output has no effect on the control action, i.e. on the input are called open loop control systems. In any open loop control system, the output is not compared with reference input.</a:t>
            </a:r>
          </a:p>
          <a:p>
            <a:pPr>
              <a:buNone/>
            </a:pPr>
            <a:endParaRPr lang="en-IN" sz="2800" dirty="0">
              <a:latin typeface="Times New Roman" pitchFamily="18" charset="0"/>
              <a:cs typeface="Times New Roman" pitchFamily="18" charset="0"/>
            </a:endParaRPr>
          </a:p>
          <a:p>
            <a:pPr>
              <a:buNone/>
            </a:pPr>
            <a:endParaRPr lang="en-IN" sz="2800" dirty="0">
              <a:latin typeface="Times New Roman" pitchFamily="18" charset="0"/>
              <a:cs typeface="Times New Roman" pitchFamily="18" charset="0"/>
            </a:endParaRPr>
          </a:p>
          <a:p>
            <a:pPr>
              <a:buNone/>
            </a:pPr>
            <a:endParaRPr lang="en-IN" sz="2800" dirty="0">
              <a:solidFill>
                <a:srgbClr val="FF0000"/>
              </a:solidFill>
              <a:latin typeface="Times New Roman" pitchFamily="18" charset="0"/>
              <a:cs typeface="Times New Roman" pitchFamily="18" charset="0"/>
            </a:endParaRPr>
          </a:p>
          <a:p>
            <a:pPr algn="ctr">
              <a:buNone/>
            </a:pPr>
            <a:endParaRPr lang="en-IN" sz="2800" dirty="0">
              <a:solidFill>
                <a:srgbClr val="00B050"/>
              </a:solidFill>
              <a:latin typeface="Times New Roman" pitchFamily="18" charset="0"/>
              <a:cs typeface="Times New Roman" pitchFamily="18" charset="0"/>
            </a:endParaRPr>
          </a:p>
          <a:p>
            <a:pPr algn="ctr">
              <a:buNone/>
            </a:pPr>
            <a:r>
              <a:rPr lang="en-IN" sz="2800" dirty="0">
                <a:solidFill>
                  <a:srgbClr val="00B050"/>
                </a:solidFill>
                <a:latin typeface="Times New Roman" pitchFamily="18" charset="0"/>
                <a:cs typeface="Times New Roman" pitchFamily="18" charset="0"/>
              </a:rPr>
              <a:t>Block Diagram of an open loop system</a:t>
            </a:r>
          </a:p>
          <a:p>
            <a:pPr algn="just">
              <a:buNone/>
            </a:pPr>
            <a:endParaRPr lang="en-IN" sz="2800" dirty="0">
              <a:latin typeface="Times New Roman" pitchFamily="18" charset="0"/>
              <a:cs typeface="Times New Roman" pitchFamily="18" charset="0"/>
            </a:endParaRPr>
          </a:p>
          <a:p>
            <a:pPr algn="just">
              <a:buNone/>
            </a:pPr>
            <a:r>
              <a:rPr lang="en-IN" sz="2800" dirty="0">
                <a:latin typeface="Times New Roman" pitchFamily="18" charset="0"/>
                <a:cs typeface="Times New Roman" pitchFamily="18" charset="0"/>
              </a:rPr>
              <a:t>Example of open loop system is washing machine-soaking, washing and rinsing in the washer operate on a time basis.</a:t>
            </a:r>
          </a:p>
        </p:txBody>
      </p:sp>
      <p:sp>
        <p:nvSpPr>
          <p:cNvPr id="4" name="Footer Placeholder 3"/>
          <p:cNvSpPr>
            <a:spLocks noGrp="1"/>
          </p:cNvSpPr>
          <p:nvPr>
            <p:ph type="ftr" sz="quarter" idx="11"/>
          </p:nvPr>
        </p:nvSpPr>
        <p:spPr>
          <a:xfrm>
            <a:off x="2285378" y="6356351"/>
            <a:ext cx="8284650" cy="365125"/>
          </a:xfrm>
        </p:spPr>
        <p:txBody>
          <a:bodyPr/>
          <a:lstStyle/>
          <a:p>
            <a:r>
              <a:rPr lang="en-US">
                <a:solidFill>
                  <a:schemeClr val="tx1"/>
                </a:solidFill>
              </a:rPr>
              <a:t>SYED HASAN SAEED, INTEGRAL UNIVERSITY, LUCKNOW, INDIA</a:t>
            </a:r>
            <a:endParaRPr lang="en-IN" dirty="0">
              <a:solidFill>
                <a:schemeClr val="tx1"/>
              </a:solidFill>
            </a:endParaRPr>
          </a:p>
        </p:txBody>
      </p:sp>
      <p:grpSp>
        <p:nvGrpSpPr>
          <p:cNvPr id="21" name="Group 20"/>
          <p:cNvGrpSpPr/>
          <p:nvPr/>
        </p:nvGrpSpPr>
        <p:grpSpPr>
          <a:xfrm>
            <a:off x="642496" y="2395959"/>
            <a:ext cx="11191121" cy="1071569"/>
            <a:chOff x="642496" y="2395959"/>
            <a:chExt cx="11191121" cy="1071569"/>
          </a:xfrm>
        </p:grpSpPr>
        <p:sp>
          <p:nvSpPr>
            <p:cNvPr id="16" name="TextBox 15"/>
            <p:cNvSpPr txBox="1"/>
            <p:nvPr/>
          </p:nvSpPr>
          <p:spPr>
            <a:xfrm>
              <a:off x="3047185" y="2857496"/>
              <a:ext cx="1261277" cy="369332"/>
            </a:xfrm>
            <a:prstGeom prst="rect">
              <a:avLst/>
            </a:prstGeom>
            <a:noFill/>
          </p:spPr>
          <p:txBody>
            <a:bodyPr wrap="square" rtlCol="0">
              <a:spAutoFit/>
            </a:bodyPr>
            <a:lstStyle/>
            <a:p>
              <a:r>
                <a:rPr lang="en-IN" dirty="0"/>
                <a:t>Controller</a:t>
              </a:r>
            </a:p>
          </p:txBody>
        </p:sp>
        <p:grpSp>
          <p:nvGrpSpPr>
            <p:cNvPr id="17" name="Group 16"/>
            <p:cNvGrpSpPr/>
            <p:nvPr/>
          </p:nvGrpSpPr>
          <p:grpSpPr>
            <a:xfrm>
              <a:off x="642496" y="2395959"/>
              <a:ext cx="11191121" cy="1071569"/>
              <a:chOff x="761764" y="3071811"/>
              <a:chExt cx="11191121" cy="1071569"/>
            </a:xfrm>
          </p:grpSpPr>
          <p:sp>
            <p:nvSpPr>
              <p:cNvPr id="6" name="Rectangle 5"/>
              <p:cNvSpPr/>
              <p:nvPr/>
            </p:nvSpPr>
            <p:spPr>
              <a:xfrm>
                <a:off x="2571056" y="3286124"/>
                <a:ext cx="2475872" cy="857256"/>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Rectangle 7"/>
              <p:cNvSpPr/>
              <p:nvPr/>
            </p:nvSpPr>
            <p:spPr>
              <a:xfrm>
                <a:off x="7618026" y="3286124"/>
                <a:ext cx="2094969" cy="857256"/>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0" name="Straight Arrow Connector 9"/>
              <p:cNvCxnSpPr>
                <a:stCxn id="6" idx="3"/>
                <a:endCxn id="8" idx="1"/>
              </p:cNvCxnSpPr>
              <p:nvPr/>
            </p:nvCxnSpPr>
            <p:spPr>
              <a:xfrm>
                <a:off x="5046928" y="3714752"/>
                <a:ext cx="2571098"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a:stCxn id="8" idx="3"/>
              </p:cNvCxnSpPr>
              <p:nvPr/>
            </p:nvCxnSpPr>
            <p:spPr>
              <a:xfrm>
                <a:off x="9712995" y="3714752"/>
                <a:ext cx="1904517"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a:endCxn id="6" idx="1"/>
              </p:cNvCxnSpPr>
              <p:nvPr/>
            </p:nvCxnSpPr>
            <p:spPr>
              <a:xfrm>
                <a:off x="952216" y="3714752"/>
                <a:ext cx="161884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8" name="TextBox 17"/>
              <p:cNvSpPr txBox="1"/>
              <p:nvPr/>
            </p:nvSpPr>
            <p:spPr>
              <a:xfrm>
                <a:off x="7808478" y="3413466"/>
                <a:ext cx="1809291" cy="646331"/>
              </a:xfrm>
              <a:prstGeom prst="rect">
                <a:avLst/>
              </a:prstGeom>
              <a:noFill/>
            </p:spPr>
            <p:txBody>
              <a:bodyPr wrap="square" rtlCol="0">
                <a:spAutoFit/>
              </a:bodyPr>
              <a:lstStyle/>
              <a:p>
                <a:r>
                  <a:rPr lang="en-IN" dirty="0"/>
                  <a:t>Controlled process (plant)</a:t>
                </a:r>
              </a:p>
            </p:txBody>
          </p:sp>
          <p:sp>
            <p:nvSpPr>
              <p:cNvPr id="19" name="TextBox 18"/>
              <p:cNvSpPr txBox="1"/>
              <p:nvPr/>
            </p:nvSpPr>
            <p:spPr>
              <a:xfrm>
                <a:off x="5618283" y="3330225"/>
                <a:ext cx="2094969" cy="369332"/>
              </a:xfrm>
              <a:prstGeom prst="rect">
                <a:avLst/>
              </a:prstGeom>
              <a:noFill/>
            </p:spPr>
            <p:txBody>
              <a:bodyPr wrap="square" rtlCol="0">
                <a:spAutoFit/>
              </a:bodyPr>
              <a:lstStyle/>
              <a:p>
                <a:r>
                  <a:rPr lang="en-IN" dirty="0"/>
                  <a:t>Actuating signal</a:t>
                </a:r>
              </a:p>
            </p:txBody>
          </p:sp>
          <p:sp>
            <p:nvSpPr>
              <p:cNvPr id="20" name="TextBox 19"/>
              <p:cNvSpPr txBox="1"/>
              <p:nvPr/>
            </p:nvSpPr>
            <p:spPr>
              <a:xfrm>
                <a:off x="761764" y="3071811"/>
                <a:ext cx="1523614" cy="646331"/>
              </a:xfrm>
              <a:prstGeom prst="rect">
                <a:avLst/>
              </a:prstGeom>
              <a:noFill/>
            </p:spPr>
            <p:txBody>
              <a:bodyPr wrap="square" rtlCol="0">
                <a:spAutoFit/>
              </a:bodyPr>
              <a:lstStyle/>
              <a:p>
                <a:r>
                  <a:rPr lang="en-IN" dirty="0"/>
                  <a:t>Reference Input</a:t>
                </a:r>
              </a:p>
            </p:txBody>
          </p:sp>
          <p:sp>
            <p:nvSpPr>
              <p:cNvPr id="23" name="TextBox 22"/>
              <p:cNvSpPr txBox="1"/>
              <p:nvPr/>
            </p:nvSpPr>
            <p:spPr>
              <a:xfrm>
                <a:off x="9762690" y="3103492"/>
                <a:ext cx="2190195" cy="646331"/>
              </a:xfrm>
              <a:prstGeom prst="rect">
                <a:avLst/>
              </a:prstGeom>
              <a:noFill/>
            </p:spPr>
            <p:txBody>
              <a:bodyPr wrap="square" rtlCol="0">
                <a:spAutoFit/>
              </a:bodyPr>
              <a:lstStyle/>
              <a:p>
                <a:r>
                  <a:rPr lang="en-IN" dirty="0"/>
                  <a:t>Controlled  Variable (output)</a:t>
                </a:r>
              </a:p>
            </p:txBody>
          </p:sp>
        </p:grpSp>
      </p:grpSp>
      <p:sp>
        <p:nvSpPr>
          <p:cNvPr id="15" name="Slide Number Placeholder 14"/>
          <p:cNvSpPr>
            <a:spLocks noGrp="1"/>
          </p:cNvSpPr>
          <p:nvPr>
            <p:ph type="sldNum" sz="quarter" idx="12"/>
          </p:nvPr>
        </p:nvSpPr>
        <p:spPr/>
        <p:txBody>
          <a:bodyPr/>
          <a:lstStyle/>
          <a:p>
            <a:fld id="{794472C8-07AE-4D03-9F73-512FB105EB04}" type="slidenum">
              <a:rPr lang="en-IN" smtClean="0"/>
              <a:pPr/>
              <a:t>21</a:t>
            </a:fld>
            <a:endParaRPr lang="en-IN"/>
          </a:p>
        </p:txBody>
      </p:sp>
    </p:spTree>
  </p:cSld>
  <p:clrMapOvr>
    <a:masterClrMapping/>
  </p:clrMapOvr>
  <p:transition advTm="156"/>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0409" y="142852"/>
            <a:ext cx="11808007" cy="6572296"/>
          </a:xfrm>
        </p:spPr>
        <p:txBody>
          <a:bodyPr/>
          <a:lstStyle/>
          <a:p>
            <a:pPr algn="just">
              <a:buNone/>
            </a:pPr>
            <a:r>
              <a:rPr lang="en-IN" sz="2800" dirty="0">
                <a:solidFill>
                  <a:srgbClr val="FF0000"/>
                </a:solidFill>
                <a:latin typeface="Times New Roman" pitchFamily="18" charset="0"/>
                <a:cs typeface="Times New Roman" pitchFamily="18" charset="0"/>
              </a:rPr>
              <a:t>EXAMPLES OF OPEN LOOP SYSTEMS: </a:t>
            </a:r>
          </a:p>
          <a:p>
            <a:pPr algn="just">
              <a:buNone/>
            </a:pPr>
            <a:r>
              <a:rPr lang="en-IN" sz="2800" dirty="0">
                <a:solidFill>
                  <a:srgbClr val="FF0000"/>
                </a:solidFill>
                <a:latin typeface="Times New Roman" pitchFamily="18" charset="0"/>
                <a:cs typeface="Times New Roman" pitchFamily="18" charset="0"/>
              </a:rPr>
              <a:t> </a:t>
            </a:r>
          </a:p>
          <a:p>
            <a:pPr algn="just">
              <a:buNone/>
            </a:pPr>
            <a:endParaRPr lang="en-IN" dirty="0">
              <a:solidFill>
                <a:srgbClr val="FF0000"/>
              </a:solidFill>
              <a:latin typeface="Times New Roman" pitchFamily="18" charset="0"/>
              <a:cs typeface="Times New Roman" pitchFamily="18" charset="0"/>
            </a:endParaRPr>
          </a:p>
        </p:txBody>
      </p:sp>
      <p:sp>
        <p:nvSpPr>
          <p:cNvPr id="4" name="Footer Placeholder 3"/>
          <p:cNvSpPr>
            <a:spLocks noGrp="1"/>
          </p:cNvSpPr>
          <p:nvPr>
            <p:ph type="ftr" sz="quarter" idx="11"/>
          </p:nvPr>
        </p:nvSpPr>
        <p:spPr>
          <a:xfrm>
            <a:off x="2475830" y="6356351"/>
            <a:ext cx="7237165" cy="365125"/>
          </a:xfrm>
        </p:spPr>
        <p:txBody>
          <a:bodyPr/>
          <a:lstStyle/>
          <a:p>
            <a:r>
              <a:rPr lang="en-US">
                <a:solidFill>
                  <a:schemeClr val="tx1"/>
                </a:solidFill>
              </a:rPr>
              <a:t>SYED HASAN SAEED, INTEGRAL UNIVERSITY, LUCKNOW, INDIA</a:t>
            </a:r>
            <a:endParaRPr lang="en-IN" dirty="0">
              <a:solidFill>
                <a:schemeClr val="tx1"/>
              </a:solidFill>
            </a:endParaRPr>
          </a:p>
        </p:txBody>
      </p:sp>
      <p:sp>
        <p:nvSpPr>
          <p:cNvPr id="5" name="Slide Number Placeholder 4"/>
          <p:cNvSpPr>
            <a:spLocks noGrp="1"/>
          </p:cNvSpPr>
          <p:nvPr>
            <p:ph type="sldNum" sz="quarter" idx="12"/>
          </p:nvPr>
        </p:nvSpPr>
        <p:spPr/>
        <p:txBody>
          <a:bodyPr/>
          <a:lstStyle/>
          <a:p>
            <a:fld id="{794472C8-07AE-4D03-9F73-512FB105EB04}" type="slidenum">
              <a:rPr lang="en-IN" smtClean="0"/>
              <a:pPr/>
              <a:t>22</a:t>
            </a:fld>
            <a:endParaRPr lang="en-IN"/>
          </a:p>
        </p:txBody>
      </p:sp>
      <p:pic>
        <p:nvPicPr>
          <p:cNvPr id="6" name="Picture 5" descr="Image result for picture of immersion rod"/>
          <p:cNvPicPr/>
          <p:nvPr/>
        </p:nvPicPr>
        <p:blipFill>
          <a:blip r:embed="rId2" cstate="print"/>
          <a:srcRect/>
          <a:stretch>
            <a:fillRect/>
          </a:stretch>
        </p:blipFill>
        <p:spPr bwMode="auto">
          <a:xfrm>
            <a:off x="856990" y="857232"/>
            <a:ext cx="4951745" cy="2357454"/>
          </a:xfrm>
          <a:prstGeom prst="rect">
            <a:avLst/>
          </a:prstGeom>
          <a:noFill/>
          <a:ln w="9525">
            <a:noFill/>
            <a:miter lim="800000"/>
            <a:headEnd/>
            <a:tailEnd/>
          </a:ln>
        </p:spPr>
      </p:pic>
      <p:pic>
        <p:nvPicPr>
          <p:cNvPr id="7" name="Picture 6" descr="Image result for picture of sprinkler"/>
          <p:cNvPicPr/>
          <p:nvPr/>
        </p:nvPicPr>
        <p:blipFill>
          <a:blip r:embed="rId3" cstate="print"/>
          <a:srcRect/>
          <a:stretch>
            <a:fillRect/>
          </a:stretch>
        </p:blipFill>
        <p:spPr bwMode="auto">
          <a:xfrm>
            <a:off x="6189638" y="857232"/>
            <a:ext cx="5713552" cy="2643206"/>
          </a:xfrm>
          <a:prstGeom prst="rect">
            <a:avLst/>
          </a:prstGeom>
          <a:noFill/>
          <a:ln w="9525">
            <a:noFill/>
            <a:miter lim="800000"/>
            <a:headEnd/>
            <a:tailEnd/>
          </a:ln>
        </p:spPr>
      </p:pic>
      <p:pic>
        <p:nvPicPr>
          <p:cNvPr id="8" name="Picture 7" descr="C:\Users\HOD ECE\Desktop\traffic light 2.jpg"/>
          <p:cNvPicPr/>
          <p:nvPr/>
        </p:nvPicPr>
        <p:blipFill>
          <a:blip r:embed="rId4" cstate="print"/>
          <a:srcRect/>
          <a:stretch>
            <a:fillRect/>
          </a:stretch>
        </p:blipFill>
        <p:spPr bwMode="auto">
          <a:xfrm>
            <a:off x="2571056" y="3786190"/>
            <a:ext cx="6951488" cy="2071702"/>
          </a:xfrm>
          <a:prstGeom prst="rect">
            <a:avLst/>
          </a:prstGeom>
          <a:noFill/>
          <a:ln w="9525">
            <a:noFill/>
            <a:miter lim="800000"/>
            <a:headEnd/>
            <a:tailEnd/>
          </a:ln>
        </p:spPr>
      </p:pic>
      <p:sp>
        <p:nvSpPr>
          <p:cNvPr id="9" name="TextBox 8"/>
          <p:cNvSpPr txBox="1"/>
          <p:nvPr/>
        </p:nvSpPr>
        <p:spPr>
          <a:xfrm>
            <a:off x="2761508" y="2428868"/>
            <a:ext cx="3142453" cy="400110"/>
          </a:xfrm>
          <a:prstGeom prst="rect">
            <a:avLst/>
          </a:prstGeom>
          <a:noFill/>
        </p:spPr>
        <p:txBody>
          <a:bodyPr wrap="square" rtlCol="0">
            <a:spAutoFit/>
          </a:bodyPr>
          <a:lstStyle/>
          <a:p>
            <a:r>
              <a:rPr lang="en-US" sz="2000" dirty="0">
                <a:latin typeface="Times New Roman" pitchFamily="18" charset="0"/>
                <a:cs typeface="Times New Roman" pitchFamily="18" charset="0"/>
              </a:rPr>
              <a:t>IMMERSION ROD</a:t>
            </a:r>
          </a:p>
        </p:txBody>
      </p:sp>
      <p:sp>
        <p:nvSpPr>
          <p:cNvPr id="10" name="TextBox 9"/>
          <p:cNvSpPr txBox="1"/>
          <p:nvPr/>
        </p:nvSpPr>
        <p:spPr>
          <a:xfrm>
            <a:off x="7808478" y="3110211"/>
            <a:ext cx="2380647" cy="400110"/>
          </a:xfrm>
          <a:prstGeom prst="rect">
            <a:avLst/>
          </a:prstGeom>
          <a:noFill/>
        </p:spPr>
        <p:txBody>
          <a:bodyPr wrap="square" rtlCol="0">
            <a:spAutoFit/>
          </a:bodyPr>
          <a:lstStyle/>
          <a:p>
            <a:r>
              <a:rPr lang="en-US" sz="2000" dirty="0">
                <a:latin typeface="Times New Roman" pitchFamily="18" charset="0"/>
                <a:cs typeface="Times New Roman" pitchFamily="18" charset="0"/>
              </a:rPr>
              <a:t>SPRANKLE</a:t>
            </a:r>
          </a:p>
        </p:txBody>
      </p:sp>
      <p:sp>
        <p:nvSpPr>
          <p:cNvPr id="11" name="TextBox 10"/>
          <p:cNvSpPr txBox="1"/>
          <p:nvPr/>
        </p:nvSpPr>
        <p:spPr>
          <a:xfrm>
            <a:off x="3713766" y="5896293"/>
            <a:ext cx="4951745" cy="400110"/>
          </a:xfrm>
          <a:prstGeom prst="rect">
            <a:avLst/>
          </a:prstGeom>
          <a:noFill/>
        </p:spPr>
        <p:txBody>
          <a:bodyPr wrap="square" rtlCol="0">
            <a:spAutoFit/>
          </a:bodyPr>
          <a:lstStyle/>
          <a:p>
            <a:r>
              <a:rPr lang="en-US" sz="2000" dirty="0">
                <a:latin typeface="Times New Roman" pitchFamily="18" charset="0"/>
                <a:cs typeface="Times New Roman" pitchFamily="18" charset="0"/>
              </a:rPr>
              <a:t>TRAFFIC LIGHT (</a:t>
            </a:r>
            <a:r>
              <a:rPr lang="az-Cyrl-AZ" sz="2000" dirty="0">
                <a:latin typeface="Times New Roman" pitchFamily="18" charset="0"/>
                <a:cs typeface="Times New Roman" pitchFamily="18" charset="0"/>
              </a:rPr>
              <a:t>СВЕТОФОР</a:t>
            </a:r>
            <a:r>
              <a:rPr lang="en-US" sz="2000" dirty="0">
                <a:latin typeface="Times New Roman" pitchFamily="18" charset="0"/>
                <a:cs typeface="Times New Roman" pitchFamily="18" charset="0"/>
              </a:rPr>
              <a:t>) </a:t>
            </a:r>
          </a:p>
        </p:txBody>
      </p:sp>
    </p:spTree>
  </p:cSld>
  <p:clrMapOvr>
    <a:masterClrMapping/>
  </p:clrMapOvr>
  <p:transition advTm="187"/>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BBCCE3-80BB-2FE7-9BE9-AA56EAF2AA51}"/>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CC29FF0-EDB8-641E-2A04-46A97AA5FB66}"/>
              </a:ext>
            </a:extLst>
          </p:cNvPr>
          <p:cNvSpPr>
            <a:spLocks noGrp="1"/>
          </p:cNvSpPr>
          <p:nvPr>
            <p:ph idx="1"/>
          </p:nvPr>
        </p:nvSpPr>
        <p:spPr>
          <a:xfrm>
            <a:off x="190409" y="142852"/>
            <a:ext cx="11808007" cy="6572296"/>
          </a:xfrm>
        </p:spPr>
        <p:txBody>
          <a:bodyPr/>
          <a:lstStyle/>
          <a:p>
            <a:pPr algn="just">
              <a:buNone/>
            </a:pPr>
            <a:r>
              <a:rPr lang="en-IN" sz="2800" dirty="0">
                <a:solidFill>
                  <a:srgbClr val="FF0000"/>
                </a:solidFill>
                <a:latin typeface="Times New Roman" pitchFamily="18" charset="0"/>
                <a:cs typeface="Times New Roman" pitchFamily="18" charset="0"/>
              </a:rPr>
              <a:t>EXAMPLES OF OPEN LOOP SYSTEMS: </a:t>
            </a:r>
          </a:p>
          <a:p>
            <a:pPr algn="just">
              <a:buNone/>
            </a:pPr>
            <a:r>
              <a:rPr lang="en-IN" sz="2800" dirty="0">
                <a:solidFill>
                  <a:srgbClr val="FF0000"/>
                </a:solidFill>
                <a:latin typeface="Times New Roman" pitchFamily="18" charset="0"/>
                <a:cs typeface="Times New Roman" pitchFamily="18" charset="0"/>
              </a:rPr>
              <a:t> </a:t>
            </a:r>
          </a:p>
          <a:p>
            <a:pPr algn="just">
              <a:buNone/>
            </a:pPr>
            <a:endParaRPr lang="en-IN" dirty="0">
              <a:solidFill>
                <a:srgbClr val="FF0000"/>
              </a:solidFill>
              <a:latin typeface="Times New Roman" pitchFamily="18" charset="0"/>
              <a:cs typeface="Times New Roman" pitchFamily="18" charset="0"/>
            </a:endParaRPr>
          </a:p>
        </p:txBody>
      </p:sp>
      <p:sp>
        <p:nvSpPr>
          <p:cNvPr id="4" name="Footer Placeholder 3">
            <a:extLst>
              <a:ext uri="{FF2B5EF4-FFF2-40B4-BE49-F238E27FC236}">
                <a16:creationId xmlns:a16="http://schemas.microsoft.com/office/drawing/2014/main" id="{92B2B4BE-845B-CE35-3310-BF84C90E4E17}"/>
              </a:ext>
            </a:extLst>
          </p:cNvPr>
          <p:cNvSpPr>
            <a:spLocks noGrp="1"/>
          </p:cNvSpPr>
          <p:nvPr>
            <p:ph type="ftr" sz="quarter" idx="11"/>
          </p:nvPr>
        </p:nvSpPr>
        <p:spPr>
          <a:xfrm>
            <a:off x="2475830" y="6356351"/>
            <a:ext cx="7237165" cy="365125"/>
          </a:xfrm>
        </p:spPr>
        <p:txBody>
          <a:bodyPr/>
          <a:lstStyle/>
          <a:p>
            <a:r>
              <a:rPr lang="en-US">
                <a:solidFill>
                  <a:schemeClr val="tx1"/>
                </a:solidFill>
              </a:rPr>
              <a:t>SYED HASAN SAEED, INTEGRAL UNIVERSITY, LUCKNOW, INDIA</a:t>
            </a:r>
            <a:endParaRPr lang="en-IN" dirty="0">
              <a:solidFill>
                <a:schemeClr val="tx1"/>
              </a:solidFill>
            </a:endParaRPr>
          </a:p>
        </p:txBody>
      </p:sp>
      <p:sp>
        <p:nvSpPr>
          <p:cNvPr id="5" name="Slide Number Placeholder 4">
            <a:extLst>
              <a:ext uri="{FF2B5EF4-FFF2-40B4-BE49-F238E27FC236}">
                <a16:creationId xmlns:a16="http://schemas.microsoft.com/office/drawing/2014/main" id="{99AB1035-E290-5B50-0A7F-D244BB82D662}"/>
              </a:ext>
            </a:extLst>
          </p:cNvPr>
          <p:cNvSpPr>
            <a:spLocks noGrp="1"/>
          </p:cNvSpPr>
          <p:nvPr>
            <p:ph type="sldNum" sz="quarter" idx="12"/>
          </p:nvPr>
        </p:nvSpPr>
        <p:spPr/>
        <p:txBody>
          <a:bodyPr/>
          <a:lstStyle/>
          <a:p>
            <a:fld id="{794472C8-07AE-4D03-9F73-512FB105EB04}" type="slidenum">
              <a:rPr lang="en-IN" smtClean="0"/>
              <a:pPr/>
              <a:t>23</a:t>
            </a:fld>
            <a:endParaRPr lang="en-IN"/>
          </a:p>
        </p:txBody>
      </p:sp>
      <p:pic>
        <p:nvPicPr>
          <p:cNvPr id="12" name="Picture 11">
            <a:extLst>
              <a:ext uri="{FF2B5EF4-FFF2-40B4-BE49-F238E27FC236}">
                <a16:creationId xmlns:a16="http://schemas.microsoft.com/office/drawing/2014/main" id="{A750F971-D020-73CD-0D3D-367AF63C62FB}"/>
              </a:ext>
            </a:extLst>
          </p:cNvPr>
          <p:cNvPicPr>
            <a:picLocks noChangeAspect="1"/>
          </p:cNvPicPr>
          <p:nvPr/>
        </p:nvPicPr>
        <p:blipFill>
          <a:blip r:embed="rId2"/>
          <a:stretch>
            <a:fillRect/>
          </a:stretch>
        </p:blipFill>
        <p:spPr>
          <a:xfrm>
            <a:off x="1053853" y="980728"/>
            <a:ext cx="2016223" cy="2600809"/>
          </a:xfrm>
          <a:prstGeom prst="rect">
            <a:avLst/>
          </a:prstGeom>
        </p:spPr>
      </p:pic>
      <p:sp>
        <p:nvSpPr>
          <p:cNvPr id="13" name="TextBox 12">
            <a:extLst>
              <a:ext uri="{FF2B5EF4-FFF2-40B4-BE49-F238E27FC236}">
                <a16:creationId xmlns:a16="http://schemas.microsoft.com/office/drawing/2014/main" id="{E07F728F-8988-B07E-DE15-DDE6B441C9FD}"/>
              </a:ext>
            </a:extLst>
          </p:cNvPr>
          <p:cNvSpPr txBox="1"/>
          <p:nvPr/>
        </p:nvSpPr>
        <p:spPr>
          <a:xfrm>
            <a:off x="837828" y="3581537"/>
            <a:ext cx="3474566" cy="2120068"/>
          </a:xfrm>
          <a:prstGeom prst="rect">
            <a:avLst/>
          </a:prstGeom>
          <a:noFill/>
        </p:spPr>
        <p:txBody>
          <a:bodyPr wrap="square" rtlCol="0">
            <a:spAutoFit/>
          </a:bodyPr>
          <a:lstStyle/>
          <a:p>
            <a:pPr algn="just">
              <a:lnSpc>
                <a:spcPct val="150000"/>
              </a:lnSpc>
            </a:pPr>
            <a:r>
              <a:rPr lang="en-US" b="1" dirty="0">
                <a:latin typeface="Times New Roman" panose="02020603050405020304" pitchFamily="18" charset="0"/>
                <a:cs typeface="Times New Roman" panose="02020603050405020304" pitchFamily="18" charset="0"/>
              </a:rPr>
              <a:t>Electric Hand Drier</a:t>
            </a:r>
          </a:p>
          <a:p>
            <a:pPr algn="just">
              <a:lnSpc>
                <a:spcPct val="150000"/>
              </a:lnSpc>
            </a:pPr>
            <a:r>
              <a:rPr lang="en-US" dirty="0">
                <a:latin typeface="Times New Roman" panose="02020603050405020304" pitchFamily="18" charset="0"/>
                <a:cs typeface="Times New Roman" panose="02020603050405020304" pitchFamily="18" charset="0"/>
              </a:rPr>
              <a:t>Hot air comes out as long as you keep your hand under the machine irrespective of how much your hand dried.</a:t>
            </a:r>
            <a:endParaRPr lang="en-IN" dirty="0">
              <a:latin typeface="Times New Roman" panose="02020603050405020304" pitchFamily="18" charset="0"/>
              <a:cs typeface="Times New Roman" panose="02020603050405020304" pitchFamily="18" charset="0"/>
            </a:endParaRPr>
          </a:p>
        </p:txBody>
      </p:sp>
      <p:pic>
        <p:nvPicPr>
          <p:cNvPr id="15" name="Picture 14">
            <a:extLst>
              <a:ext uri="{FF2B5EF4-FFF2-40B4-BE49-F238E27FC236}">
                <a16:creationId xmlns:a16="http://schemas.microsoft.com/office/drawing/2014/main" id="{82BAC743-B56A-6516-35C1-90229C6F13BC}"/>
              </a:ext>
            </a:extLst>
          </p:cNvPr>
          <p:cNvPicPr>
            <a:picLocks noChangeAspect="1"/>
          </p:cNvPicPr>
          <p:nvPr/>
        </p:nvPicPr>
        <p:blipFill>
          <a:blip r:embed="rId3"/>
          <a:stretch>
            <a:fillRect/>
          </a:stretch>
        </p:blipFill>
        <p:spPr>
          <a:xfrm>
            <a:off x="4654252" y="965904"/>
            <a:ext cx="2074219" cy="2505656"/>
          </a:xfrm>
          <a:prstGeom prst="rect">
            <a:avLst/>
          </a:prstGeom>
        </p:spPr>
      </p:pic>
      <p:sp>
        <p:nvSpPr>
          <p:cNvPr id="16" name="TextBox 15">
            <a:extLst>
              <a:ext uri="{FF2B5EF4-FFF2-40B4-BE49-F238E27FC236}">
                <a16:creationId xmlns:a16="http://schemas.microsoft.com/office/drawing/2014/main" id="{FF5EAC52-2920-A706-A02A-FCB852E12395}"/>
              </a:ext>
            </a:extLst>
          </p:cNvPr>
          <p:cNvSpPr txBox="1"/>
          <p:nvPr/>
        </p:nvSpPr>
        <p:spPr>
          <a:xfrm>
            <a:off x="4870276" y="3717032"/>
            <a:ext cx="2448272"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Washing Machine</a:t>
            </a:r>
            <a:endParaRPr lang="en-IN" b="1" dirty="0">
              <a:latin typeface="Times New Roman" panose="02020603050405020304" pitchFamily="18" charset="0"/>
              <a:cs typeface="Times New Roman" panose="02020603050405020304" pitchFamily="18" charset="0"/>
            </a:endParaRPr>
          </a:p>
        </p:txBody>
      </p:sp>
      <p:pic>
        <p:nvPicPr>
          <p:cNvPr id="18" name="Picture 17">
            <a:extLst>
              <a:ext uri="{FF2B5EF4-FFF2-40B4-BE49-F238E27FC236}">
                <a16:creationId xmlns:a16="http://schemas.microsoft.com/office/drawing/2014/main" id="{CE6B0884-07AA-A5D6-553B-C74C4383FAA0}"/>
              </a:ext>
            </a:extLst>
          </p:cNvPr>
          <p:cNvPicPr>
            <a:picLocks noChangeAspect="1"/>
          </p:cNvPicPr>
          <p:nvPr/>
        </p:nvPicPr>
        <p:blipFill>
          <a:blip r:embed="rId4">
            <a:extLst>
              <a:ext uri="{BEBA8EAE-BF5A-486C-A8C5-ECC9F3942E4B}">
                <a14:imgProps xmlns:a14="http://schemas.microsoft.com/office/drawing/2010/main">
                  <a14:imgLayer r:embed="rId5">
                    <a14:imgEffect>
                      <a14:brightnessContrast bright="40000" contrast="-20000"/>
                    </a14:imgEffect>
                  </a14:imgLayer>
                </a14:imgProps>
              </a:ext>
            </a:extLst>
          </a:blip>
          <a:stretch>
            <a:fillRect/>
          </a:stretch>
        </p:blipFill>
        <p:spPr>
          <a:xfrm>
            <a:off x="7712797" y="965905"/>
            <a:ext cx="3422175" cy="2603507"/>
          </a:xfrm>
          <a:prstGeom prst="rect">
            <a:avLst/>
          </a:prstGeom>
        </p:spPr>
      </p:pic>
      <p:sp>
        <p:nvSpPr>
          <p:cNvPr id="19" name="TextBox 18">
            <a:extLst>
              <a:ext uri="{FF2B5EF4-FFF2-40B4-BE49-F238E27FC236}">
                <a16:creationId xmlns:a16="http://schemas.microsoft.com/office/drawing/2014/main" id="{AEB668E1-417D-BDB2-767D-A10C333A3540}"/>
              </a:ext>
            </a:extLst>
          </p:cNvPr>
          <p:cNvSpPr txBox="1"/>
          <p:nvPr/>
        </p:nvSpPr>
        <p:spPr>
          <a:xfrm>
            <a:off x="8434346" y="3717032"/>
            <a:ext cx="1836530"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Bread Toaster</a:t>
            </a:r>
            <a:endParaRPr lang="en-IN"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54901553"/>
      </p:ext>
    </p:extLst>
  </p:cSld>
  <p:clrMapOvr>
    <a:masterClrMapping/>
  </p:clrMapOvr>
  <p:transition advTm="187"/>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0409" y="214290"/>
            <a:ext cx="11808007" cy="6500858"/>
          </a:xfrm>
        </p:spPr>
        <p:txBody>
          <a:bodyPr>
            <a:normAutofit/>
          </a:bodyPr>
          <a:lstStyle/>
          <a:p>
            <a:pPr algn="just">
              <a:buNone/>
            </a:pPr>
            <a:r>
              <a:rPr lang="en-IN" sz="2800" u="sng" dirty="0">
                <a:solidFill>
                  <a:srgbClr val="FF0000"/>
                </a:solidFill>
                <a:latin typeface="Times New Roman" pitchFamily="18" charset="0"/>
                <a:cs typeface="Times New Roman" pitchFamily="18" charset="0"/>
              </a:rPr>
              <a:t>CLOSED LOOP CONTROL SYSTEM: </a:t>
            </a:r>
            <a:r>
              <a:rPr lang="en-IN" sz="2800" dirty="0">
                <a:latin typeface="Times New Roman" pitchFamily="18" charset="0"/>
                <a:cs typeface="Times New Roman" pitchFamily="18" charset="0"/>
              </a:rPr>
              <a:t>Closed loop control systems are also known as feedback control systems. A system that maintains a prescribed relationship between the output and reference input by comparing them and using the difference as a mean of control is called feedback control system. </a:t>
            </a:r>
          </a:p>
          <a:p>
            <a:pPr algn="just">
              <a:buNone/>
            </a:pPr>
            <a:r>
              <a:rPr lang="en-IN" sz="2800" dirty="0">
                <a:latin typeface="Times New Roman" pitchFamily="18" charset="0"/>
                <a:cs typeface="Times New Roman" pitchFamily="18" charset="0"/>
              </a:rPr>
              <a:t>Example of feedback control system is a room temperature control system. By measuring the room temperature and comparing it with the desired temperature, the thermostat turns the cooling or heating equipment on or off.</a:t>
            </a:r>
            <a:endParaRPr lang="en-IN" sz="2800" b="1" dirty="0">
              <a:latin typeface="Times New Roman" pitchFamily="18" charset="0"/>
              <a:cs typeface="Times New Roman" pitchFamily="18" charset="0"/>
            </a:endParaRPr>
          </a:p>
        </p:txBody>
      </p:sp>
      <p:sp>
        <p:nvSpPr>
          <p:cNvPr id="4" name="Footer Placeholder 3"/>
          <p:cNvSpPr>
            <a:spLocks noGrp="1"/>
          </p:cNvSpPr>
          <p:nvPr>
            <p:ph type="ftr" sz="quarter" idx="11"/>
          </p:nvPr>
        </p:nvSpPr>
        <p:spPr>
          <a:xfrm>
            <a:off x="2475830" y="6356351"/>
            <a:ext cx="7237165" cy="365125"/>
          </a:xfrm>
        </p:spPr>
        <p:txBody>
          <a:bodyPr/>
          <a:lstStyle/>
          <a:p>
            <a:r>
              <a:rPr lang="en-US">
                <a:solidFill>
                  <a:schemeClr val="tx1"/>
                </a:solidFill>
              </a:rPr>
              <a:t>SYED HASAN SAEED, INTEGRAL UNIVERSITY, LUCKNOW, INDIA</a:t>
            </a:r>
            <a:endParaRPr lang="en-IN" dirty="0">
              <a:solidFill>
                <a:schemeClr val="tx1"/>
              </a:solidFill>
            </a:endParaRPr>
          </a:p>
        </p:txBody>
      </p:sp>
      <p:sp>
        <p:nvSpPr>
          <p:cNvPr id="5" name="Slide Number Placeholder 4"/>
          <p:cNvSpPr>
            <a:spLocks noGrp="1"/>
          </p:cNvSpPr>
          <p:nvPr>
            <p:ph type="sldNum" sz="quarter" idx="12"/>
          </p:nvPr>
        </p:nvSpPr>
        <p:spPr/>
        <p:txBody>
          <a:bodyPr/>
          <a:lstStyle/>
          <a:p>
            <a:fld id="{794472C8-07AE-4D03-9F73-512FB105EB04}" type="slidenum">
              <a:rPr lang="en-IN" smtClean="0"/>
              <a:pPr/>
              <a:t>24</a:t>
            </a:fld>
            <a:endParaRPr lang="en-IN"/>
          </a:p>
        </p:txBody>
      </p:sp>
    </p:spTree>
  </p:cSld>
  <p:clrMapOvr>
    <a:masterClrMapping/>
  </p:clrMapOvr>
  <p:transition advTm="313"/>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0409" y="214290"/>
            <a:ext cx="11712781" cy="6500858"/>
          </a:xfrm>
        </p:spPr>
        <p:txBody>
          <a:bodyPr/>
          <a:lstStyle/>
          <a:p>
            <a:pPr>
              <a:buNone/>
            </a:pPr>
            <a:endParaRPr lang="en-IN" dirty="0"/>
          </a:p>
          <a:p>
            <a:pPr>
              <a:buNone/>
            </a:pPr>
            <a:endParaRPr lang="en-IN" dirty="0"/>
          </a:p>
          <a:p>
            <a:pPr>
              <a:buNone/>
            </a:pPr>
            <a:endParaRPr lang="en-IN" dirty="0"/>
          </a:p>
          <a:p>
            <a:pPr>
              <a:buNone/>
            </a:pPr>
            <a:r>
              <a:rPr lang="en-IN" dirty="0"/>
              <a:t>                                                                                      </a:t>
            </a:r>
          </a:p>
          <a:p>
            <a:pPr>
              <a:buNone/>
            </a:pPr>
            <a:endParaRPr lang="en-IN" dirty="0"/>
          </a:p>
          <a:p>
            <a:pPr>
              <a:buNone/>
            </a:pPr>
            <a:endParaRPr lang="en-IN" dirty="0"/>
          </a:p>
          <a:p>
            <a:pPr>
              <a:buNone/>
            </a:pPr>
            <a:endParaRPr lang="en-IN" dirty="0"/>
          </a:p>
          <a:p>
            <a:pPr>
              <a:buNone/>
            </a:pPr>
            <a:endParaRPr lang="en-IN" dirty="0"/>
          </a:p>
          <a:p>
            <a:pPr>
              <a:buNone/>
            </a:pPr>
            <a:r>
              <a:rPr lang="en-IN" dirty="0">
                <a:solidFill>
                  <a:srgbClr val="00B050"/>
                </a:solidFill>
              </a:rPr>
              <a:t>                            </a:t>
            </a:r>
            <a:r>
              <a:rPr lang="en-IN" sz="2000" dirty="0">
                <a:solidFill>
                  <a:srgbClr val="00B050"/>
                </a:solidFill>
              </a:rPr>
              <a:t>Block Diagram of a Closed Loop System</a:t>
            </a:r>
          </a:p>
          <a:p>
            <a:pPr>
              <a:buNone/>
            </a:pPr>
            <a:endParaRPr lang="en-IN" dirty="0"/>
          </a:p>
          <a:p>
            <a:pPr>
              <a:buNone/>
            </a:pPr>
            <a:endParaRPr lang="en-IN" dirty="0"/>
          </a:p>
          <a:p>
            <a:pPr>
              <a:buNone/>
            </a:pPr>
            <a:endParaRPr lang="en-IN" dirty="0"/>
          </a:p>
          <a:p>
            <a:pPr>
              <a:buNone/>
            </a:pPr>
            <a:endParaRPr lang="en-IN" dirty="0"/>
          </a:p>
          <a:p>
            <a:pPr>
              <a:buNone/>
            </a:pPr>
            <a:endParaRPr lang="en-IN" dirty="0"/>
          </a:p>
          <a:p>
            <a:pPr>
              <a:buNone/>
            </a:pPr>
            <a:endParaRPr lang="en-IN" dirty="0"/>
          </a:p>
          <a:p>
            <a:pPr>
              <a:buNone/>
            </a:pPr>
            <a:endParaRPr lang="en-IN" dirty="0"/>
          </a:p>
          <a:p>
            <a:pPr>
              <a:buNone/>
            </a:pPr>
            <a:endParaRPr lang="en-IN" dirty="0"/>
          </a:p>
        </p:txBody>
      </p:sp>
      <p:sp>
        <p:nvSpPr>
          <p:cNvPr id="4" name="Footer Placeholder 3"/>
          <p:cNvSpPr>
            <a:spLocks noGrp="1"/>
          </p:cNvSpPr>
          <p:nvPr>
            <p:ph type="ftr" sz="quarter" idx="11"/>
          </p:nvPr>
        </p:nvSpPr>
        <p:spPr>
          <a:xfrm>
            <a:off x="1714023" y="6356351"/>
            <a:ext cx="8284650" cy="365125"/>
          </a:xfrm>
        </p:spPr>
        <p:txBody>
          <a:bodyPr/>
          <a:lstStyle/>
          <a:p>
            <a:r>
              <a:rPr lang="en-US">
                <a:solidFill>
                  <a:schemeClr val="tx1"/>
                </a:solidFill>
              </a:rPr>
              <a:t>SYED HASAN SAEED, INTEGRAL UNIVERSITY, LUCKNOW, INDIA</a:t>
            </a:r>
            <a:endParaRPr lang="en-IN" dirty="0">
              <a:solidFill>
                <a:schemeClr val="tx1"/>
              </a:solidFill>
            </a:endParaRPr>
          </a:p>
        </p:txBody>
      </p:sp>
      <p:sp>
        <p:nvSpPr>
          <p:cNvPr id="5" name="Oval 4"/>
          <p:cNvSpPr/>
          <p:nvPr/>
        </p:nvSpPr>
        <p:spPr>
          <a:xfrm>
            <a:off x="1714023" y="1928802"/>
            <a:ext cx="1047484" cy="71438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solidFill>
                <a:schemeClr val="tx1"/>
              </a:solidFill>
            </a:endParaRPr>
          </a:p>
        </p:txBody>
      </p:sp>
      <p:cxnSp>
        <p:nvCxnSpPr>
          <p:cNvPr id="7" name="Straight Connector 6"/>
          <p:cNvCxnSpPr>
            <a:stCxn id="5" idx="1"/>
            <a:endCxn id="5" idx="5"/>
          </p:cNvCxnSpPr>
          <p:nvPr/>
        </p:nvCxnSpPr>
        <p:spPr>
          <a:xfrm rot="16200000" flipH="1">
            <a:off x="1985193" y="1915650"/>
            <a:ext cx="505144" cy="74068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p:nvPr/>
        </p:nvCxnSpPr>
        <p:spPr>
          <a:xfrm>
            <a:off x="2761508" y="2285992"/>
            <a:ext cx="1142710" cy="1588"/>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2" name="Rectangle 21"/>
          <p:cNvSpPr/>
          <p:nvPr/>
        </p:nvSpPr>
        <p:spPr>
          <a:xfrm>
            <a:off x="3904218" y="1857364"/>
            <a:ext cx="1523614" cy="78581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3" name="Rectangle 22"/>
          <p:cNvSpPr/>
          <p:nvPr/>
        </p:nvSpPr>
        <p:spPr>
          <a:xfrm>
            <a:off x="7046671" y="1857364"/>
            <a:ext cx="1523614" cy="78581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34" name="Straight Connector 33"/>
          <p:cNvCxnSpPr>
            <a:stCxn id="5" idx="7"/>
            <a:endCxn id="5" idx="3"/>
          </p:cNvCxnSpPr>
          <p:nvPr/>
        </p:nvCxnSpPr>
        <p:spPr>
          <a:xfrm rot="16200000" flipH="1" flipV="1">
            <a:off x="1985193" y="1915650"/>
            <a:ext cx="505144" cy="74068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 name="Straight Arrow Connector 38"/>
          <p:cNvCxnSpPr>
            <a:stCxn id="22" idx="3"/>
            <a:endCxn id="23" idx="1"/>
          </p:cNvCxnSpPr>
          <p:nvPr/>
        </p:nvCxnSpPr>
        <p:spPr>
          <a:xfrm>
            <a:off x="5427831" y="2250273"/>
            <a:ext cx="1618840" cy="1588"/>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3" name="Straight Arrow Connector 42"/>
          <p:cNvCxnSpPr>
            <a:endCxn id="5" idx="2"/>
          </p:cNvCxnSpPr>
          <p:nvPr/>
        </p:nvCxnSpPr>
        <p:spPr>
          <a:xfrm>
            <a:off x="571313" y="2285992"/>
            <a:ext cx="1142710" cy="1588"/>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7" name="Straight Arrow Connector 46"/>
          <p:cNvCxnSpPr>
            <a:stCxn id="23" idx="3"/>
          </p:cNvCxnSpPr>
          <p:nvPr/>
        </p:nvCxnSpPr>
        <p:spPr>
          <a:xfrm>
            <a:off x="8570285" y="2250273"/>
            <a:ext cx="1904517" cy="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48" name="Rectangle 47"/>
          <p:cNvSpPr/>
          <p:nvPr/>
        </p:nvSpPr>
        <p:spPr>
          <a:xfrm>
            <a:off x="4666025" y="3500438"/>
            <a:ext cx="3142453" cy="92869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60" name="Straight Connector 59"/>
          <p:cNvCxnSpPr/>
          <p:nvPr/>
        </p:nvCxnSpPr>
        <p:spPr>
          <a:xfrm rot="5400000" flipH="1" flipV="1">
            <a:off x="8631004" y="3134853"/>
            <a:ext cx="1783080" cy="211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2" name="Straight Arrow Connector 61"/>
          <p:cNvCxnSpPr/>
          <p:nvPr/>
        </p:nvCxnSpPr>
        <p:spPr>
          <a:xfrm rot="10800000">
            <a:off x="7808478" y="4020382"/>
            <a:ext cx="1714066" cy="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76" name="TextBox 75"/>
          <p:cNvSpPr txBox="1"/>
          <p:nvPr/>
        </p:nvSpPr>
        <p:spPr>
          <a:xfrm>
            <a:off x="3904218" y="2071678"/>
            <a:ext cx="1523614" cy="369332"/>
          </a:xfrm>
          <a:prstGeom prst="rect">
            <a:avLst/>
          </a:prstGeom>
          <a:noFill/>
        </p:spPr>
        <p:txBody>
          <a:bodyPr wrap="square" rtlCol="0">
            <a:spAutoFit/>
          </a:bodyPr>
          <a:lstStyle/>
          <a:p>
            <a:r>
              <a:rPr lang="en-IN" dirty="0"/>
              <a:t>Controller</a:t>
            </a:r>
          </a:p>
        </p:txBody>
      </p:sp>
      <p:sp>
        <p:nvSpPr>
          <p:cNvPr id="77" name="TextBox 76"/>
          <p:cNvSpPr txBox="1"/>
          <p:nvPr/>
        </p:nvSpPr>
        <p:spPr>
          <a:xfrm>
            <a:off x="7332349" y="2071678"/>
            <a:ext cx="1333162" cy="369332"/>
          </a:xfrm>
          <a:prstGeom prst="rect">
            <a:avLst/>
          </a:prstGeom>
          <a:noFill/>
        </p:spPr>
        <p:txBody>
          <a:bodyPr wrap="square" rtlCol="0">
            <a:spAutoFit/>
          </a:bodyPr>
          <a:lstStyle/>
          <a:p>
            <a:r>
              <a:rPr lang="en-IN" dirty="0"/>
              <a:t>Plant</a:t>
            </a:r>
          </a:p>
        </p:txBody>
      </p:sp>
      <p:sp>
        <p:nvSpPr>
          <p:cNvPr id="78" name="TextBox 77"/>
          <p:cNvSpPr txBox="1"/>
          <p:nvPr/>
        </p:nvSpPr>
        <p:spPr>
          <a:xfrm>
            <a:off x="5142154" y="3643315"/>
            <a:ext cx="2856776" cy="369332"/>
          </a:xfrm>
          <a:prstGeom prst="rect">
            <a:avLst/>
          </a:prstGeom>
          <a:noFill/>
        </p:spPr>
        <p:txBody>
          <a:bodyPr wrap="square" rtlCol="0">
            <a:spAutoFit/>
          </a:bodyPr>
          <a:lstStyle/>
          <a:p>
            <a:r>
              <a:rPr lang="en-IN" dirty="0"/>
              <a:t>Feedback Path Element</a:t>
            </a:r>
          </a:p>
        </p:txBody>
      </p:sp>
      <p:sp>
        <p:nvSpPr>
          <p:cNvPr id="80" name="TextBox 79"/>
          <p:cNvSpPr txBox="1"/>
          <p:nvPr/>
        </p:nvSpPr>
        <p:spPr>
          <a:xfrm>
            <a:off x="1523571" y="-428652"/>
            <a:ext cx="1618840" cy="369332"/>
          </a:xfrm>
          <a:prstGeom prst="rect">
            <a:avLst/>
          </a:prstGeom>
          <a:noFill/>
        </p:spPr>
        <p:txBody>
          <a:bodyPr wrap="square" rtlCol="0">
            <a:spAutoFit/>
          </a:bodyPr>
          <a:lstStyle/>
          <a:p>
            <a:endParaRPr lang="en-IN" dirty="0"/>
          </a:p>
        </p:txBody>
      </p:sp>
      <p:sp>
        <p:nvSpPr>
          <p:cNvPr id="81" name="TextBox 80"/>
          <p:cNvSpPr txBox="1"/>
          <p:nvPr/>
        </p:nvSpPr>
        <p:spPr>
          <a:xfrm>
            <a:off x="2761508" y="1955231"/>
            <a:ext cx="1047484" cy="646331"/>
          </a:xfrm>
          <a:prstGeom prst="rect">
            <a:avLst/>
          </a:prstGeom>
          <a:noFill/>
        </p:spPr>
        <p:txBody>
          <a:bodyPr wrap="square" rtlCol="0">
            <a:spAutoFit/>
          </a:bodyPr>
          <a:lstStyle/>
          <a:p>
            <a:r>
              <a:rPr lang="en-IN" dirty="0"/>
              <a:t>Error Signal</a:t>
            </a:r>
          </a:p>
        </p:txBody>
      </p:sp>
      <p:cxnSp>
        <p:nvCxnSpPr>
          <p:cNvPr id="27" name="Straight Arrow Connector 26"/>
          <p:cNvCxnSpPr>
            <a:stCxn id="48" idx="1"/>
          </p:cNvCxnSpPr>
          <p:nvPr/>
        </p:nvCxnSpPr>
        <p:spPr>
          <a:xfrm rot="10800000" flipV="1">
            <a:off x="2190152" y="4000502"/>
            <a:ext cx="2475872" cy="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3" name="Straight Arrow Connector 32"/>
          <p:cNvCxnSpPr/>
          <p:nvPr/>
        </p:nvCxnSpPr>
        <p:spPr>
          <a:xfrm rot="5400000" flipH="1" flipV="1">
            <a:off x="1532606" y="3321843"/>
            <a:ext cx="1357322" cy="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35" name="TextBox 34"/>
          <p:cNvSpPr txBox="1"/>
          <p:nvPr/>
        </p:nvSpPr>
        <p:spPr>
          <a:xfrm>
            <a:off x="5523057" y="1643051"/>
            <a:ext cx="1618840" cy="646331"/>
          </a:xfrm>
          <a:prstGeom prst="rect">
            <a:avLst/>
          </a:prstGeom>
          <a:noFill/>
        </p:spPr>
        <p:txBody>
          <a:bodyPr wrap="square" rtlCol="0">
            <a:spAutoFit/>
          </a:bodyPr>
          <a:lstStyle/>
          <a:p>
            <a:r>
              <a:rPr lang="en-US" dirty="0"/>
              <a:t>Actuating signal</a:t>
            </a:r>
          </a:p>
        </p:txBody>
      </p:sp>
      <p:sp>
        <p:nvSpPr>
          <p:cNvPr id="36" name="TextBox 35"/>
          <p:cNvSpPr txBox="1"/>
          <p:nvPr/>
        </p:nvSpPr>
        <p:spPr>
          <a:xfrm>
            <a:off x="9141640" y="1857364"/>
            <a:ext cx="1618840" cy="369332"/>
          </a:xfrm>
          <a:prstGeom prst="rect">
            <a:avLst/>
          </a:prstGeom>
          <a:noFill/>
        </p:spPr>
        <p:txBody>
          <a:bodyPr wrap="square" rtlCol="0">
            <a:spAutoFit/>
          </a:bodyPr>
          <a:lstStyle/>
          <a:p>
            <a:r>
              <a:rPr lang="en-US" dirty="0"/>
              <a:t>Output</a:t>
            </a:r>
          </a:p>
        </p:txBody>
      </p:sp>
      <p:sp>
        <p:nvSpPr>
          <p:cNvPr id="37" name="TextBox 36"/>
          <p:cNvSpPr txBox="1"/>
          <p:nvPr/>
        </p:nvSpPr>
        <p:spPr>
          <a:xfrm>
            <a:off x="380861" y="1928803"/>
            <a:ext cx="952259" cy="646331"/>
          </a:xfrm>
          <a:prstGeom prst="rect">
            <a:avLst/>
          </a:prstGeom>
          <a:noFill/>
        </p:spPr>
        <p:txBody>
          <a:bodyPr wrap="square" rtlCol="0">
            <a:spAutoFit/>
          </a:bodyPr>
          <a:lstStyle/>
          <a:p>
            <a:r>
              <a:rPr lang="en-US" dirty="0"/>
              <a:t>Ref. Input</a:t>
            </a:r>
          </a:p>
        </p:txBody>
      </p:sp>
      <p:sp>
        <p:nvSpPr>
          <p:cNvPr id="38" name="TextBox 37"/>
          <p:cNvSpPr txBox="1"/>
          <p:nvPr/>
        </p:nvSpPr>
        <p:spPr>
          <a:xfrm>
            <a:off x="856990" y="3071811"/>
            <a:ext cx="1428388" cy="646331"/>
          </a:xfrm>
          <a:prstGeom prst="rect">
            <a:avLst/>
          </a:prstGeom>
          <a:noFill/>
        </p:spPr>
        <p:txBody>
          <a:bodyPr wrap="square" rtlCol="0">
            <a:spAutoFit/>
          </a:bodyPr>
          <a:lstStyle/>
          <a:p>
            <a:r>
              <a:rPr lang="en-US" dirty="0"/>
              <a:t>Feedback</a:t>
            </a:r>
          </a:p>
          <a:p>
            <a:r>
              <a:rPr lang="en-US" dirty="0"/>
              <a:t>Signal</a:t>
            </a:r>
          </a:p>
        </p:txBody>
      </p:sp>
      <p:sp>
        <p:nvSpPr>
          <p:cNvPr id="40" name="TextBox 39"/>
          <p:cNvSpPr txBox="1"/>
          <p:nvPr/>
        </p:nvSpPr>
        <p:spPr>
          <a:xfrm>
            <a:off x="1714023" y="2143116"/>
            <a:ext cx="666581" cy="369332"/>
          </a:xfrm>
          <a:prstGeom prst="rect">
            <a:avLst/>
          </a:prstGeom>
          <a:noFill/>
        </p:spPr>
        <p:txBody>
          <a:bodyPr wrap="square" rtlCol="0">
            <a:spAutoFit/>
          </a:bodyPr>
          <a:lstStyle/>
          <a:p>
            <a:r>
              <a:rPr lang="en-US" dirty="0"/>
              <a:t>+</a:t>
            </a:r>
          </a:p>
        </p:txBody>
      </p:sp>
      <p:sp>
        <p:nvSpPr>
          <p:cNvPr id="41" name="TextBox 40"/>
          <p:cNvSpPr txBox="1"/>
          <p:nvPr/>
        </p:nvSpPr>
        <p:spPr>
          <a:xfrm>
            <a:off x="2094926" y="2285992"/>
            <a:ext cx="857033" cy="369332"/>
          </a:xfrm>
          <a:prstGeom prst="rect">
            <a:avLst/>
          </a:prstGeom>
          <a:noFill/>
        </p:spPr>
        <p:txBody>
          <a:bodyPr wrap="square" rtlCol="0">
            <a:spAutoFit/>
          </a:bodyPr>
          <a:lstStyle/>
          <a:p>
            <a:r>
              <a:rPr lang="en-US" dirty="0"/>
              <a:t>-</a:t>
            </a:r>
          </a:p>
        </p:txBody>
      </p:sp>
      <p:sp>
        <p:nvSpPr>
          <p:cNvPr id="29" name="Slide Number Placeholder 28"/>
          <p:cNvSpPr>
            <a:spLocks noGrp="1"/>
          </p:cNvSpPr>
          <p:nvPr>
            <p:ph type="sldNum" sz="quarter" idx="12"/>
          </p:nvPr>
        </p:nvSpPr>
        <p:spPr/>
        <p:txBody>
          <a:bodyPr/>
          <a:lstStyle/>
          <a:p>
            <a:fld id="{794472C8-07AE-4D03-9F73-512FB105EB04}" type="slidenum">
              <a:rPr lang="en-IN" smtClean="0"/>
              <a:pPr/>
              <a:t>25</a:t>
            </a:fld>
            <a:endParaRPr lang="en-IN"/>
          </a:p>
        </p:txBody>
      </p:sp>
    </p:spTree>
  </p:cSld>
  <p:clrMapOvr>
    <a:masterClrMapping/>
  </p:clrMapOvr>
  <p:transition advTm="359"/>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0409" y="214290"/>
            <a:ext cx="11808007" cy="6500858"/>
          </a:xfrm>
        </p:spPr>
        <p:txBody>
          <a:bodyPr>
            <a:normAutofit/>
          </a:bodyPr>
          <a:lstStyle/>
          <a:p>
            <a:pPr algn="just">
              <a:buNone/>
            </a:pPr>
            <a:r>
              <a:rPr lang="en-IN" sz="2800" dirty="0">
                <a:solidFill>
                  <a:srgbClr val="FF0000"/>
                </a:solidFill>
                <a:latin typeface="Times New Roman" pitchFamily="18" charset="0"/>
                <a:cs typeface="Times New Roman" pitchFamily="18" charset="0"/>
              </a:rPr>
              <a:t>EXAMPLE OF CLOSED LOOP SYSTEM: </a:t>
            </a:r>
          </a:p>
          <a:p>
            <a:pPr algn="just">
              <a:buNone/>
            </a:pPr>
            <a:endParaRPr lang="en-IN" sz="2800" dirty="0">
              <a:solidFill>
                <a:srgbClr val="FF0000"/>
              </a:solidFill>
              <a:latin typeface="Times New Roman" pitchFamily="18" charset="0"/>
              <a:cs typeface="Times New Roman" pitchFamily="18" charset="0"/>
            </a:endParaRPr>
          </a:p>
          <a:p>
            <a:pPr algn="just">
              <a:buNone/>
            </a:pPr>
            <a:endParaRPr lang="en-IN" sz="2800" dirty="0">
              <a:solidFill>
                <a:srgbClr val="FF0000"/>
              </a:solidFill>
              <a:latin typeface="Times New Roman" pitchFamily="18" charset="0"/>
              <a:cs typeface="Times New Roman" pitchFamily="18" charset="0"/>
            </a:endParaRPr>
          </a:p>
          <a:p>
            <a:pPr algn="just">
              <a:buNone/>
            </a:pPr>
            <a:endParaRPr lang="en-IN" sz="2800" dirty="0">
              <a:solidFill>
                <a:srgbClr val="FF0000"/>
              </a:solidFill>
              <a:latin typeface="Times New Roman" pitchFamily="18" charset="0"/>
              <a:cs typeface="Times New Roman" pitchFamily="18" charset="0"/>
            </a:endParaRPr>
          </a:p>
          <a:p>
            <a:pPr algn="just">
              <a:buNone/>
            </a:pPr>
            <a:endParaRPr lang="en-IN" sz="2800" dirty="0">
              <a:solidFill>
                <a:srgbClr val="FF0000"/>
              </a:solidFill>
              <a:latin typeface="Times New Roman" pitchFamily="18" charset="0"/>
              <a:cs typeface="Times New Roman" pitchFamily="18" charset="0"/>
            </a:endParaRPr>
          </a:p>
          <a:p>
            <a:pPr algn="just">
              <a:buNone/>
            </a:pPr>
            <a:endParaRPr lang="en-IN" sz="2800" dirty="0">
              <a:solidFill>
                <a:srgbClr val="FF0000"/>
              </a:solidFill>
              <a:latin typeface="Times New Roman" pitchFamily="18" charset="0"/>
              <a:cs typeface="Times New Roman" pitchFamily="18" charset="0"/>
            </a:endParaRPr>
          </a:p>
          <a:p>
            <a:pPr algn="just">
              <a:buNone/>
            </a:pPr>
            <a:endParaRPr lang="en-IN" sz="2800" dirty="0">
              <a:solidFill>
                <a:srgbClr val="FF0000"/>
              </a:solidFill>
              <a:latin typeface="Times New Roman" pitchFamily="18" charset="0"/>
              <a:cs typeface="Times New Roman" pitchFamily="18" charset="0"/>
            </a:endParaRPr>
          </a:p>
          <a:p>
            <a:pPr algn="just">
              <a:buNone/>
            </a:pPr>
            <a:r>
              <a:rPr lang="en-IN" sz="2800" dirty="0">
                <a:solidFill>
                  <a:srgbClr val="FF0000"/>
                </a:solidFill>
                <a:latin typeface="Times New Roman" pitchFamily="18" charset="0"/>
                <a:cs typeface="Times New Roman" pitchFamily="18" charset="0"/>
              </a:rPr>
              <a:t> </a:t>
            </a:r>
          </a:p>
          <a:p>
            <a:pPr algn="just">
              <a:buNone/>
            </a:pPr>
            <a:endParaRPr lang="en-IN" sz="2800" dirty="0">
              <a:latin typeface="Times New Roman" pitchFamily="18" charset="0"/>
              <a:cs typeface="Times New Roman" pitchFamily="18" charset="0"/>
            </a:endParaRPr>
          </a:p>
        </p:txBody>
      </p:sp>
      <p:sp>
        <p:nvSpPr>
          <p:cNvPr id="4" name="Footer Placeholder 3"/>
          <p:cNvSpPr>
            <a:spLocks noGrp="1"/>
          </p:cNvSpPr>
          <p:nvPr>
            <p:ph type="ftr" sz="quarter" idx="11"/>
          </p:nvPr>
        </p:nvSpPr>
        <p:spPr>
          <a:xfrm>
            <a:off x="2475830" y="6356351"/>
            <a:ext cx="7237165" cy="365125"/>
          </a:xfrm>
        </p:spPr>
        <p:txBody>
          <a:bodyPr/>
          <a:lstStyle/>
          <a:p>
            <a:r>
              <a:rPr lang="en-US">
                <a:solidFill>
                  <a:schemeClr val="tx1"/>
                </a:solidFill>
              </a:rPr>
              <a:t>SYED HASAN SAEED, INTEGRAL UNIVERSITY, LUCKNOW, INDIA</a:t>
            </a:r>
            <a:endParaRPr lang="en-IN" dirty="0">
              <a:solidFill>
                <a:schemeClr val="tx1"/>
              </a:solidFill>
            </a:endParaRPr>
          </a:p>
        </p:txBody>
      </p:sp>
      <p:sp>
        <p:nvSpPr>
          <p:cNvPr id="5" name="Slide Number Placeholder 4"/>
          <p:cNvSpPr>
            <a:spLocks noGrp="1"/>
          </p:cNvSpPr>
          <p:nvPr>
            <p:ph type="sldNum" sz="quarter" idx="12"/>
          </p:nvPr>
        </p:nvSpPr>
        <p:spPr/>
        <p:txBody>
          <a:bodyPr/>
          <a:lstStyle/>
          <a:p>
            <a:fld id="{794472C8-07AE-4D03-9F73-512FB105EB04}" type="slidenum">
              <a:rPr lang="en-IN" smtClean="0"/>
              <a:pPr/>
              <a:t>26</a:t>
            </a:fld>
            <a:endParaRPr lang="en-IN"/>
          </a:p>
        </p:txBody>
      </p:sp>
      <p:pic>
        <p:nvPicPr>
          <p:cNvPr id="6" name="Picture 5" descr="Image result for picture of air conditioner"/>
          <p:cNvPicPr/>
          <p:nvPr/>
        </p:nvPicPr>
        <p:blipFill>
          <a:blip r:embed="rId2" cstate="print"/>
          <a:srcRect/>
          <a:stretch>
            <a:fillRect/>
          </a:stretch>
        </p:blipFill>
        <p:spPr bwMode="auto">
          <a:xfrm>
            <a:off x="2285378" y="721040"/>
            <a:ext cx="6856262" cy="2095510"/>
          </a:xfrm>
          <a:prstGeom prst="rect">
            <a:avLst/>
          </a:prstGeom>
          <a:noFill/>
          <a:ln w="9525">
            <a:noFill/>
            <a:miter lim="800000"/>
            <a:headEnd/>
            <a:tailEnd/>
          </a:ln>
        </p:spPr>
      </p:pic>
      <p:sp>
        <p:nvSpPr>
          <p:cNvPr id="7" name="TextBox 6"/>
          <p:cNvSpPr txBox="1"/>
          <p:nvPr/>
        </p:nvSpPr>
        <p:spPr>
          <a:xfrm>
            <a:off x="4285121" y="2776629"/>
            <a:ext cx="3047228" cy="461665"/>
          </a:xfrm>
          <a:prstGeom prst="rect">
            <a:avLst/>
          </a:prstGeom>
          <a:noFill/>
        </p:spPr>
        <p:txBody>
          <a:bodyPr wrap="square" rtlCol="0">
            <a:spAutoFit/>
          </a:bodyPr>
          <a:lstStyle/>
          <a:p>
            <a:r>
              <a:rPr lang="en-US" sz="2400" dirty="0"/>
              <a:t>AIR CONDITION</a:t>
            </a:r>
          </a:p>
        </p:txBody>
      </p:sp>
      <p:pic>
        <p:nvPicPr>
          <p:cNvPr id="8" name="Picture 7" descr="Image result for AUTOMATIC ELECTRIC IRON"/>
          <p:cNvPicPr/>
          <p:nvPr/>
        </p:nvPicPr>
        <p:blipFill>
          <a:blip r:embed="rId3"/>
          <a:srcRect/>
          <a:stretch>
            <a:fillRect/>
          </a:stretch>
        </p:blipFill>
        <p:spPr bwMode="auto">
          <a:xfrm>
            <a:off x="856990" y="3286124"/>
            <a:ext cx="4638525" cy="2214420"/>
          </a:xfrm>
          <a:prstGeom prst="rect">
            <a:avLst/>
          </a:prstGeom>
          <a:noFill/>
          <a:ln w="9525">
            <a:noFill/>
            <a:miter lim="800000"/>
            <a:headEnd/>
            <a:tailEnd/>
          </a:ln>
        </p:spPr>
      </p:pic>
      <p:sp>
        <p:nvSpPr>
          <p:cNvPr id="9" name="TextBox 8"/>
          <p:cNvSpPr txBox="1"/>
          <p:nvPr/>
        </p:nvSpPr>
        <p:spPr>
          <a:xfrm>
            <a:off x="571312" y="5357826"/>
            <a:ext cx="4856519" cy="400110"/>
          </a:xfrm>
          <a:prstGeom prst="rect">
            <a:avLst/>
          </a:prstGeom>
          <a:noFill/>
        </p:spPr>
        <p:txBody>
          <a:bodyPr wrap="square" rtlCol="0">
            <a:spAutoFit/>
          </a:bodyPr>
          <a:lstStyle/>
          <a:p>
            <a:r>
              <a:rPr lang="en-US" sz="2000" dirty="0"/>
              <a:t>AUTOMATIC ELECTRIC IRON</a:t>
            </a:r>
          </a:p>
        </p:txBody>
      </p:sp>
      <p:pic>
        <p:nvPicPr>
          <p:cNvPr id="10" name="Picture 9" descr="Image result for voltage stabilizer"/>
          <p:cNvPicPr/>
          <p:nvPr/>
        </p:nvPicPr>
        <p:blipFill>
          <a:blip r:embed="rId4"/>
          <a:srcRect/>
          <a:stretch>
            <a:fillRect/>
          </a:stretch>
        </p:blipFill>
        <p:spPr bwMode="auto">
          <a:xfrm>
            <a:off x="6475316" y="3357562"/>
            <a:ext cx="5237422" cy="1928826"/>
          </a:xfrm>
          <a:prstGeom prst="rect">
            <a:avLst/>
          </a:prstGeom>
          <a:noFill/>
          <a:ln w="9525">
            <a:noFill/>
            <a:miter lim="800000"/>
            <a:headEnd/>
            <a:tailEnd/>
          </a:ln>
        </p:spPr>
      </p:pic>
      <p:sp>
        <p:nvSpPr>
          <p:cNvPr id="11" name="TextBox 10"/>
          <p:cNvSpPr txBox="1"/>
          <p:nvPr/>
        </p:nvSpPr>
        <p:spPr>
          <a:xfrm>
            <a:off x="6094412" y="5214950"/>
            <a:ext cx="5618326" cy="400110"/>
          </a:xfrm>
          <a:prstGeom prst="rect">
            <a:avLst/>
          </a:prstGeom>
          <a:noFill/>
        </p:spPr>
        <p:txBody>
          <a:bodyPr wrap="square" rtlCol="0">
            <a:spAutoFit/>
          </a:bodyPr>
          <a:lstStyle/>
          <a:p>
            <a:r>
              <a:rPr lang="en-US" sz="2000" dirty="0"/>
              <a:t>AUTOMATIC VOLTAGE STABLIZER</a:t>
            </a:r>
          </a:p>
        </p:txBody>
      </p:sp>
    </p:spTree>
  </p:cSld>
  <p:clrMapOvr>
    <a:masterClrMapping/>
  </p:clrMapOvr>
  <p:transition advTm="297"/>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0409" y="142852"/>
            <a:ext cx="11808007" cy="6215106"/>
          </a:xfrm>
        </p:spPr>
        <p:txBody>
          <a:bodyPr>
            <a:normAutofit/>
          </a:bodyPr>
          <a:lstStyle/>
          <a:p>
            <a:pPr>
              <a:buNone/>
            </a:pPr>
            <a:r>
              <a:rPr lang="en-US" sz="2800" dirty="0">
                <a:solidFill>
                  <a:srgbClr val="FF0000"/>
                </a:solidFill>
              </a:rPr>
              <a:t>BLOCK DIAGRAM:  </a:t>
            </a:r>
          </a:p>
          <a:p>
            <a:pPr>
              <a:buNone/>
            </a:pPr>
            <a:endParaRPr lang="en-US" sz="2800" dirty="0">
              <a:solidFill>
                <a:srgbClr val="FF0000"/>
              </a:solidFill>
            </a:endParaRPr>
          </a:p>
          <a:p>
            <a:pPr>
              <a:buNone/>
            </a:pPr>
            <a:endParaRPr lang="en-US" sz="2800" dirty="0">
              <a:solidFill>
                <a:srgbClr val="FF0000"/>
              </a:solidFill>
            </a:endParaRPr>
          </a:p>
        </p:txBody>
      </p:sp>
      <p:sp>
        <p:nvSpPr>
          <p:cNvPr id="4" name="Footer Placeholder 3"/>
          <p:cNvSpPr>
            <a:spLocks noGrp="1"/>
          </p:cNvSpPr>
          <p:nvPr>
            <p:ph type="ftr" sz="quarter" idx="11"/>
          </p:nvPr>
        </p:nvSpPr>
        <p:spPr/>
        <p:txBody>
          <a:bodyPr/>
          <a:lstStyle/>
          <a:p>
            <a:r>
              <a:rPr lang="en-US"/>
              <a:t>SYED HASAN SAEED, INTEGRAL UNIVERSITY, LUCKNOW, INDIA</a:t>
            </a:r>
            <a:endParaRPr lang="en-IN"/>
          </a:p>
        </p:txBody>
      </p:sp>
      <p:sp>
        <p:nvSpPr>
          <p:cNvPr id="5" name="Slide Number Placeholder 4"/>
          <p:cNvSpPr>
            <a:spLocks noGrp="1"/>
          </p:cNvSpPr>
          <p:nvPr>
            <p:ph type="sldNum" sz="quarter" idx="12"/>
          </p:nvPr>
        </p:nvSpPr>
        <p:spPr/>
        <p:txBody>
          <a:bodyPr/>
          <a:lstStyle/>
          <a:p>
            <a:fld id="{794472C8-07AE-4D03-9F73-512FB105EB04}" type="slidenum">
              <a:rPr lang="en-IN" smtClean="0"/>
              <a:pPr/>
              <a:t>27</a:t>
            </a:fld>
            <a:endParaRPr lang="en-IN"/>
          </a:p>
        </p:txBody>
      </p:sp>
      <p:sp>
        <p:nvSpPr>
          <p:cNvPr id="6" name="Rectangle 5"/>
          <p:cNvSpPr/>
          <p:nvPr/>
        </p:nvSpPr>
        <p:spPr>
          <a:xfrm>
            <a:off x="1809249" y="2428868"/>
            <a:ext cx="1904517" cy="857256"/>
          </a:xfrm>
          <a:prstGeom prst="rect">
            <a:avLst/>
          </a:prstGeom>
          <a:noFill/>
          <a:ln w="158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p:nvSpPr>
        <p:spPr>
          <a:xfrm>
            <a:off x="4666025" y="2428868"/>
            <a:ext cx="1904517" cy="857256"/>
          </a:xfrm>
          <a:prstGeom prst="rect">
            <a:avLst/>
          </a:prstGeom>
          <a:noFill/>
          <a:ln w="158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7332349" y="2428868"/>
            <a:ext cx="1904517" cy="857256"/>
          </a:xfrm>
          <a:prstGeom prst="rect">
            <a:avLst/>
          </a:prstGeom>
          <a:noFill/>
          <a:ln w="158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descr="Image result for AUTOMATIC ELECTRIC IRON"/>
          <p:cNvPicPr/>
          <p:nvPr/>
        </p:nvPicPr>
        <p:blipFill>
          <a:blip r:embed="rId2" cstate="print"/>
          <a:srcRect/>
          <a:stretch>
            <a:fillRect/>
          </a:stretch>
        </p:blipFill>
        <p:spPr bwMode="auto">
          <a:xfrm>
            <a:off x="10570028" y="2500306"/>
            <a:ext cx="1237936" cy="714380"/>
          </a:xfrm>
          <a:prstGeom prst="rect">
            <a:avLst/>
          </a:prstGeom>
          <a:noFill/>
          <a:ln w="9525">
            <a:noFill/>
            <a:miter lim="800000"/>
            <a:headEnd/>
            <a:tailEnd/>
          </a:ln>
        </p:spPr>
      </p:pic>
      <p:sp>
        <p:nvSpPr>
          <p:cNvPr id="10" name="Rectangle 9"/>
          <p:cNvSpPr/>
          <p:nvPr/>
        </p:nvSpPr>
        <p:spPr>
          <a:xfrm>
            <a:off x="4666025" y="3643314"/>
            <a:ext cx="1904517" cy="857256"/>
          </a:xfrm>
          <a:prstGeom prst="rect">
            <a:avLst/>
          </a:prstGeom>
          <a:noFill/>
          <a:ln w="158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p:cNvSpPr txBox="1"/>
          <p:nvPr/>
        </p:nvSpPr>
        <p:spPr>
          <a:xfrm>
            <a:off x="2190152" y="2702478"/>
            <a:ext cx="1047484" cy="369332"/>
          </a:xfrm>
          <a:prstGeom prst="rect">
            <a:avLst/>
          </a:prstGeom>
          <a:noFill/>
        </p:spPr>
        <p:txBody>
          <a:bodyPr wrap="square" rtlCol="0">
            <a:spAutoFit/>
          </a:bodyPr>
          <a:lstStyle/>
          <a:p>
            <a:r>
              <a:rPr lang="en-US" dirty="0"/>
              <a:t>TIMER</a:t>
            </a:r>
          </a:p>
        </p:txBody>
      </p:sp>
      <p:sp>
        <p:nvSpPr>
          <p:cNvPr id="12" name="TextBox 11"/>
          <p:cNvSpPr txBox="1"/>
          <p:nvPr/>
        </p:nvSpPr>
        <p:spPr>
          <a:xfrm>
            <a:off x="4856476" y="2571745"/>
            <a:ext cx="1523614" cy="646331"/>
          </a:xfrm>
          <a:prstGeom prst="rect">
            <a:avLst/>
          </a:prstGeom>
          <a:noFill/>
        </p:spPr>
        <p:txBody>
          <a:bodyPr wrap="square" rtlCol="0">
            <a:spAutoFit/>
          </a:bodyPr>
          <a:lstStyle/>
          <a:p>
            <a:r>
              <a:rPr lang="en-US" dirty="0"/>
              <a:t>HEATING </a:t>
            </a:r>
          </a:p>
          <a:p>
            <a:r>
              <a:rPr lang="en-US" dirty="0"/>
              <a:t>ELEMENT</a:t>
            </a:r>
          </a:p>
        </p:txBody>
      </p:sp>
      <p:sp>
        <p:nvSpPr>
          <p:cNvPr id="13" name="TextBox 12"/>
          <p:cNvSpPr txBox="1"/>
          <p:nvPr/>
        </p:nvSpPr>
        <p:spPr>
          <a:xfrm>
            <a:off x="7579124" y="2702478"/>
            <a:ext cx="1428388" cy="369332"/>
          </a:xfrm>
          <a:prstGeom prst="rect">
            <a:avLst/>
          </a:prstGeom>
          <a:noFill/>
        </p:spPr>
        <p:txBody>
          <a:bodyPr wrap="square" rtlCol="0">
            <a:spAutoFit/>
          </a:bodyPr>
          <a:lstStyle/>
          <a:p>
            <a:r>
              <a:rPr lang="en-US" dirty="0"/>
              <a:t>CLOTHES</a:t>
            </a:r>
          </a:p>
        </p:txBody>
      </p:sp>
      <p:sp>
        <p:nvSpPr>
          <p:cNvPr id="14" name="TextBox 13"/>
          <p:cNvSpPr txBox="1"/>
          <p:nvPr/>
        </p:nvSpPr>
        <p:spPr>
          <a:xfrm>
            <a:off x="4826087" y="3601060"/>
            <a:ext cx="1999743" cy="923330"/>
          </a:xfrm>
          <a:prstGeom prst="rect">
            <a:avLst/>
          </a:prstGeom>
          <a:noFill/>
        </p:spPr>
        <p:txBody>
          <a:bodyPr wrap="square" rtlCol="0">
            <a:spAutoFit/>
          </a:bodyPr>
          <a:lstStyle/>
          <a:p>
            <a:r>
              <a:rPr lang="en-US" dirty="0"/>
              <a:t>FEEDBACK</a:t>
            </a:r>
          </a:p>
          <a:p>
            <a:r>
              <a:rPr lang="en-US" dirty="0"/>
              <a:t>ELEMENT</a:t>
            </a:r>
          </a:p>
          <a:p>
            <a:r>
              <a:rPr lang="en-US" dirty="0"/>
              <a:t>(SENSOR)</a:t>
            </a:r>
          </a:p>
        </p:txBody>
      </p:sp>
      <p:cxnSp>
        <p:nvCxnSpPr>
          <p:cNvPr id="16" name="Straight Arrow Connector 15"/>
          <p:cNvCxnSpPr>
            <a:endCxn id="6" idx="1"/>
          </p:cNvCxnSpPr>
          <p:nvPr/>
        </p:nvCxnSpPr>
        <p:spPr>
          <a:xfrm>
            <a:off x="761764" y="2857496"/>
            <a:ext cx="1047484" cy="1588"/>
          </a:xfrm>
          <a:prstGeom prst="straightConnector1">
            <a:avLst/>
          </a:prstGeom>
          <a:ln w="158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a:endCxn id="6" idx="0"/>
          </p:cNvCxnSpPr>
          <p:nvPr/>
        </p:nvCxnSpPr>
        <p:spPr>
          <a:xfrm rot="5400000">
            <a:off x="2440036" y="2107133"/>
            <a:ext cx="642942" cy="2117"/>
          </a:xfrm>
          <a:prstGeom prst="straightConnector1">
            <a:avLst/>
          </a:prstGeom>
          <a:ln w="158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a:stCxn id="6" idx="3"/>
            <a:endCxn id="7" idx="1"/>
          </p:cNvCxnSpPr>
          <p:nvPr/>
        </p:nvCxnSpPr>
        <p:spPr>
          <a:xfrm>
            <a:off x="3713766" y="2857496"/>
            <a:ext cx="952259" cy="1588"/>
          </a:xfrm>
          <a:prstGeom prst="straightConnector1">
            <a:avLst/>
          </a:prstGeom>
          <a:ln w="158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p:nvPr/>
        </p:nvCxnSpPr>
        <p:spPr>
          <a:xfrm>
            <a:off x="6570542" y="2899750"/>
            <a:ext cx="731330" cy="1588"/>
          </a:xfrm>
          <a:prstGeom prst="straightConnector1">
            <a:avLst/>
          </a:prstGeom>
          <a:ln w="158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2" name="Straight Arrow Connector 21"/>
          <p:cNvCxnSpPr/>
          <p:nvPr/>
        </p:nvCxnSpPr>
        <p:spPr>
          <a:xfrm>
            <a:off x="9241321" y="2873704"/>
            <a:ext cx="952259" cy="1588"/>
          </a:xfrm>
          <a:prstGeom prst="straightConnector1">
            <a:avLst/>
          </a:prstGeom>
          <a:ln w="158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a:off x="6570542" y="4071942"/>
            <a:ext cx="3047228" cy="1588"/>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a:xfrm rot="5400000" flipH="1" flipV="1">
            <a:off x="9010546" y="3464455"/>
            <a:ext cx="1214446" cy="2117"/>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Straight Connector 27"/>
          <p:cNvCxnSpPr>
            <a:stCxn id="10" idx="1"/>
          </p:cNvCxnSpPr>
          <p:nvPr/>
        </p:nvCxnSpPr>
        <p:spPr>
          <a:xfrm rot="10800000">
            <a:off x="2776757" y="4071942"/>
            <a:ext cx="1889268" cy="1588"/>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Straight Arrow Connector 29"/>
          <p:cNvCxnSpPr/>
          <p:nvPr/>
        </p:nvCxnSpPr>
        <p:spPr>
          <a:xfrm rot="16200000" flipV="1">
            <a:off x="2381566" y="3679033"/>
            <a:ext cx="785818" cy="0"/>
          </a:xfrm>
          <a:prstGeom prst="straightConnector1">
            <a:avLst/>
          </a:prstGeom>
          <a:ln w="158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31" name="TextBox 30"/>
          <p:cNvSpPr txBox="1"/>
          <p:nvPr/>
        </p:nvSpPr>
        <p:spPr>
          <a:xfrm>
            <a:off x="2285378" y="1142984"/>
            <a:ext cx="1999743" cy="400110"/>
          </a:xfrm>
          <a:prstGeom prst="rect">
            <a:avLst/>
          </a:prstGeom>
          <a:noFill/>
        </p:spPr>
        <p:txBody>
          <a:bodyPr wrap="square" rtlCol="0">
            <a:spAutoFit/>
          </a:bodyPr>
          <a:lstStyle/>
          <a:p>
            <a:r>
              <a:rPr lang="en-US" sz="2000" dirty="0"/>
              <a:t>DESIRED TIME</a:t>
            </a:r>
          </a:p>
        </p:txBody>
      </p:sp>
      <p:sp>
        <p:nvSpPr>
          <p:cNvPr id="32" name="TextBox 31"/>
          <p:cNvSpPr txBox="1"/>
          <p:nvPr/>
        </p:nvSpPr>
        <p:spPr>
          <a:xfrm>
            <a:off x="95183" y="2214555"/>
            <a:ext cx="1809291" cy="646331"/>
          </a:xfrm>
          <a:prstGeom prst="rect">
            <a:avLst/>
          </a:prstGeom>
          <a:noFill/>
        </p:spPr>
        <p:txBody>
          <a:bodyPr wrap="square" rtlCol="0">
            <a:spAutoFit/>
          </a:bodyPr>
          <a:lstStyle/>
          <a:p>
            <a:r>
              <a:rPr lang="en-US" dirty="0"/>
              <a:t>ELECTRICAL ENERGY</a:t>
            </a:r>
          </a:p>
        </p:txBody>
      </p:sp>
      <p:sp>
        <p:nvSpPr>
          <p:cNvPr id="33" name="TextBox 32"/>
          <p:cNvSpPr txBox="1"/>
          <p:nvPr/>
        </p:nvSpPr>
        <p:spPr>
          <a:xfrm>
            <a:off x="9267255" y="2223938"/>
            <a:ext cx="2285421" cy="369332"/>
          </a:xfrm>
          <a:prstGeom prst="rect">
            <a:avLst/>
          </a:prstGeom>
          <a:noFill/>
        </p:spPr>
        <p:txBody>
          <a:bodyPr wrap="square" rtlCol="0">
            <a:spAutoFit/>
          </a:bodyPr>
          <a:lstStyle/>
          <a:p>
            <a:r>
              <a:rPr lang="en-US" dirty="0"/>
              <a:t>DESIRED DRYNESS</a:t>
            </a:r>
          </a:p>
        </p:txBody>
      </p:sp>
      <p:sp>
        <p:nvSpPr>
          <p:cNvPr id="34" name="TextBox 33"/>
          <p:cNvSpPr txBox="1"/>
          <p:nvPr/>
        </p:nvSpPr>
        <p:spPr>
          <a:xfrm>
            <a:off x="791757" y="3571876"/>
            <a:ext cx="1237936" cy="369332"/>
          </a:xfrm>
          <a:prstGeom prst="rect">
            <a:avLst/>
          </a:prstGeom>
          <a:noFill/>
        </p:spPr>
        <p:txBody>
          <a:bodyPr wrap="square" rtlCol="0">
            <a:spAutoFit/>
          </a:bodyPr>
          <a:lstStyle/>
          <a:p>
            <a:r>
              <a:rPr lang="en-US" dirty="0"/>
              <a:t>INPUT</a:t>
            </a:r>
          </a:p>
        </p:txBody>
      </p:sp>
      <p:sp>
        <p:nvSpPr>
          <p:cNvPr id="35" name="TextBox 34"/>
          <p:cNvSpPr txBox="1"/>
          <p:nvPr/>
        </p:nvSpPr>
        <p:spPr>
          <a:xfrm>
            <a:off x="10379576" y="3571876"/>
            <a:ext cx="1428388" cy="369332"/>
          </a:xfrm>
          <a:prstGeom prst="rect">
            <a:avLst/>
          </a:prstGeom>
          <a:noFill/>
        </p:spPr>
        <p:txBody>
          <a:bodyPr wrap="square" rtlCol="0">
            <a:spAutoFit/>
          </a:bodyPr>
          <a:lstStyle/>
          <a:p>
            <a:r>
              <a:rPr lang="en-US" dirty="0"/>
              <a:t>OUTPUT</a:t>
            </a:r>
          </a:p>
        </p:txBody>
      </p:sp>
      <p:sp>
        <p:nvSpPr>
          <p:cNvPr id="36" name="Freeform 35"/>
          <p:cNvSpPr/>
          <p:nvPr/>
        </p:nvSpPr>
        <p:spPr>
          <a:xfrm>
            <a:off x="1309651" y="3813244"/>
            <a:ext cx="8856348" cy="1528863"/>
          </a:xfrm>
          <a:custGeom>
            <a:avLst/>
            <a:gdLst>
              <a:gd name="connsiteX0" fmla="*/ 6643991 w 6643991"/>
              <a:gd name="connsiteY0" fmla="*/ 223736 h 1528863"/>
              <a:gd name="connsiteX1" fmla="*/ 5048655 w 6643991"/>
              <a:gd name="connsiteY1" fmla="*/ 1352144 h 1528863"/>
              <a:gd name="connsiteX2" fmla="*/ 739302 w 6643991"/>
              <a:gd name="connsiteY2" fmla="*/ 1284051 h 1528863"/>
              <a:gd name="connsiteX3" fmla="*/ 612842 w 6643991"/>
              <a:gd name="connsiteY3" fmla="*/ 0 h 1528863"/>
              <a:gd name="connsiteX4" fmla="*/ 612842 w 6643991"/>
              <a:gd name="connsiteY4" fmla="*/ 0 h 15288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43991" h="1528863">
                <a:moveTo>
                  <a:pt x="6643991" y="223736"/>
                </a:moveTo>
                <a:cubicBezTo>
                  <a:pt x="6338380" y="699580"/>
                  <a:pt x="6032770" y="1175425"/>
                  <a:pt x="5048655" y="1352144"/>
                </a:cubicBezTo>
                <a:cubicBezTo>
                  <a:pt x="4064540" y="1528863"/>
                  <a:pt x="1478604" y="1509408"/>
                  <a:pt x="739302" y="1284051"/>
                </a:cubicBezTo>
                <a:cubicBezTo>
                  <a:pt x="0" y="1058694"/>
                  <a:pt x="612842" y="0"/>
                  <a:pt x="612842" y="0"/>
                </a:cubicBezTo>
                <a:lnTo>
                  <a:pt x="612842" y="0"/>
                </a:lnTo>
              </a:path>
            </a:pathLst>
          </a:custGeom>
          <a:ln w="12700">
            <a:solidFill>
              <a:srgbClr val="00B050"/>
            </a:solidFill>
            <a:tailEnd type="arrow"/>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7" name="TextBox 36"/>
          <p:cNvSpPr txBox="1"/>
          <p:nvPr/>
        </p:nvSpPr>
        <p:spPr>
          <a:xfrm>
            <a:off x="4094669" y="5357826"/>
            <a:ext cx="2666324" cy="369332"/>
          </a:xfrm>
          <a:prstGeom prst="rect">
            <a:avLst/>
          </a:prstGeom>
          <a:noFill/>
        </p:spPr>
        <p:txBody>
          <a:bodyPr wrap="square" rtlCol="0">
            <a:spAutoFit/>
          </a:bodyPr>
          <a:lstStyle/>
          <a:p>
            <a:r>
              <a:rPr lang="en-US" dirty="0"/>
              <a:t>FEEDBACK LOOP</a:t>
            </a:r>
          </a:p>
        </p:txBody>
      </p:sp>
      <p:sp>
        <p:nvSpPr>
          <p:cNvPr id="38" name="TextBox 37"/>
          <p:cNvSpPr txBox="1"/>
          <p:nvPr/>
        </p:nvSpPr>
        <p:spPr>
          <a:xfrm>
            <a:off x="571312" y="6065522"/>
            <a:ext cx="11141426" cy="261610"/>
          </a:xfrm>
          <a:prstGeom prst="rect">
            <a:avLst/>
          </a:prstGeom>
          <a:noFill/>
        </p:spPr>
        <p:txBody>
          <a:bodyPr wrap="square" rtlCol="0">
            <a:spAutoFit/>
          </a:bodyPr>
          <a:lstStyle/>
          <a:p>
            <a:r>
              <a:rPr lang="en-US" sz="1100" dirty="0">
                <a:hlinkClick r:id="rId3"/>
              </a:rPr>
              <a:t>https://www.slideshare.net/AmitNevase/control-system-63615804?qid=c8d0cf53-5c3f-4ee1-8f62-0267cd6cbd84&amp;v=&amp;b=&amp;from_search=3</a:t>
            </a:r>
            <a:endParaRPr lang="en-US" sz="1100" dirty="0"/>
          </a:p>
        </p:txBody>
      </p:sp>
    </p:spTree>
  </p:cSld>
  <p:clrMapOvr>
    <a:masterClrMapping/>
  </p:clrMapOvr>
  <p:transition advTm="313"/>
</p:sld>
</file>

<file path=ppt/slides/slide2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B15617FF-52B2-6F54-1D91-BE1311C6BB61}"/>
              </a:ext>
            </a:extLst>
          </p:cNvPr>
          <p:cNvSpPr>
            <a:spLocks noGrp="1"/>
          </p:cNvSpPr>
          <p:nvPr>
            <p:ph type="ftr" sz="quarter" idx="11"/>
          </p:nvPr>
        </p:nvSpPr>
        <p:spPr/>
        <p:txBody>
          <a:bodyPr/>
          <a:lstStyle/>
          <a:p>
            <a:r>
              <a:rPr lang="en-US"/>
              <a:t>SYED HASAN SAEED, INTEGRAL UNIVERSITY, LUCKNOW, INDIA</a:t>
            </a:r>
            <a:endParaRPr lang="en-IN"/>
          </a:p>
        </p:txBody>
      </p:sp>
      <p:sp>
        <p:nvSpPr>
          <p:cNvPr id="3" name="Slide Number Placeholder 2">
            <a:extLst>
              <a:ext uri="{FF2B5EF4-FFF2-40B4-BE49-F238E27FC236}">
                <a16:creationId xmlns:a16="http://schemas.microsoft.com/office/drawing/2014/main" id="{40BD6DFF-37A0-2082-89F0-91334C2CDD30}"/>
              </a:ext>
            </a:extLst>
          </p:cNvPr>
          <p:cNvSpPr>
            <a:spLocks noGrp="1"/>
          </p:cNvSpPr>
          <p:nvPr>
            <p:ph type="sldNum" sz="quarter" idx="12"/>
          </p:nvPr>
        </p:nvSpPr>
        <p:spPr/>
        <p:txBody>
          <a:bodyPr/>
          <a:lstStyle/>
          <a:p>
            <a:fld id="{794472C8-07AE-4D03-9F73-512FB105EB04}" type="slidenum">
              <a:rPr lang="en-IN" smtClean="0"/>
              <a:pPr/>
              <a:t>28</a:t>
            </a:fld>
            <a:endParaRPr lang="en-IN"/>
          </a:p>
        </p:txBody>
      </p:sp>
      <p:sp>
        <p:nvSpPr>
          <p:cNvPr id="4" name="Rectangle 3">
            <a:extLst>
              <a:ext uri="{FF2B5EF4-FFF2-40B4-BE49-F238E27FC236}">
                <a16:creationId xmlns:a16="http://schemas.microsoft.com/office/drawing/2014/main" id="{9CD52103-5A4F-0B00-1AB5-C829EB318818}"/>
              </a:ext>
              <a:ext uri="{C183D7F6-B498-43B3-948B-1728B52AA6E4}">
                <adec:decorative xmlns:adec="http://schemas.microsoft.com/office/drawing/2017/decorative" val="1"/>
              </a:ext>
            </a:extLst>
          </p:cNvPr>
          <p:cNvSpPr/>
          <p:nvPr>
            <p:custDataLst>
              <p:tags r:id="rId2"/>
            </p:custDataLst>
          </p:nvPr>
        </p:nvSpPr>
        <p:spPr>
          <a:xfrm>
            <a:off x="444577" y="1743012"/>
            <a:ext cx="2371079" cy="2371079"/>
          </a:xfrm>
          <a:prstGeom prst="rect">
            <a:avLst/>
          </a:prstGeom>
          <a:blipFill>
            <a:blip>
              <a:extLst>
                <a:ext uri="{96DAC541-7B7A-43D3-8B79-37D633B846F1}">
                  <asvg:svgBlip xmlns:asvg="http://schemas.microsoft.com/office/drawing/2016/SVG/main" r:embed="rId5"/>
                </a:ext>
              </a:extLst>
            </a:blip>
            <a:stretch>
              <a:fillRect/>
            </a:stretch>
          </a:blipFill>
          <a:ln>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Rectangle 4" descr="Open loop control systems are&#10;">
            <a:extLst>
              <a:ext uri="{FF2B5EF4-FFF2-40B4-BE49-F238E27FC236}">
                <a16:creationId xmlns:a16="http://schemas.microsoft.com/office/drawing/2014/main" id="{1878B0DB-77FD-0B2A-CDBC-A4A57E484D80}"/>
              </a:ext>
            </a:extLst>
          </p:cNvPr>
          <p:cNvSpPr/>
          <p:nvPr>
            <p:custDataLst>
              <p:tags r:id="rId3"/>
            </p:custDataLst>
          </p:nvPr>
        </p:nvSpPr>
        <p:spPr>
          <a:xfrm>
            <a:off x="3112040" y="1000897"/>
            <a:ext cx="8484015" cy="3855308"/>
          </a:xfrm>
          <a:prstGeom prst="rect">
            <a:avLst/>
          </a:prstGeom>
          <a:noFill/>
          <a:ln w="25400" cap="flat" cmpd="sng" algn="ctr">
            <a:solidFill>
              <a:srgbClr val="FFFFFF"/>
            </a:solidFill>
            <a:prstDash val="solid"/>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4000" b="1">
                <a:solidFill>
                  <a:srgbClr val="000000"/>
                </a:solidFill>
              </a:rPr>
              <a:t>Open loop control systems are
</a:t>
            </a:r>
            <a:endParaRPr lang="en-IN" sz="4000" b="1">
              <a:solidFill>
                <a:srgbClr val="000000"/>
              </a:solidFill>
            </a:endParaRPr>
          </a:p>
        </p:txBody>
      </p:sp>
      <p:sp>
        <p:nvSpPr>
          <p:cNvPr id="6" name="Rectangle 5" descr="The Slido app must be installed on every computer you’re presenting from">
            <a:extLst>
              <a:ext uri="{FF2B5EF4-FFF2-40B4-BE49-F238E27FC236}">
                <a16:creationId xmlns:a16="http://schemas.microsoft.com/office/drawing/2014/main" id="{B7527D83-B488-C44F-7C84-4EAA59B9ADCD}"/>
              </a:ext>
            </a:extLst>
          </p:cNvPr>
          <p:cNvSpPr/>
          <p:nvPr/>
        </p:nvSpPr>
        <p:spPr>
          <a:xfrm>
            <a:off x="0" y="5820032"/>
            <a:ext cx="12188824" cy="1037968"/>
          </a:xfrm>
          <a:prstGeom prst="rect">
            <a:avLst/>
          </a:prstGeom>
          <a:solidFill>
            <a:srgbClr val="198038"/>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lIns="740962" tIns="259337" rIns="1852405" bIns="203765" rtlCol="0" anchor="ctr">
            <a:normAutofit fontScale="92500"/>
          </a:bodyPr>
          <a:lstStyle/>
          <a:p>
            <a:r>
              <a:rPr lang="en-US" sz="2600">
                <a:solidFill>
                  <a:srgbClr val="FFFFFF"/>
                </a:solidFill>
              </a:rPr>
              <a:t>The </a:t>
            </a:r>
            <a:r>
              <a:rPr lang="en-US" sz="2600">
                <a:solidFill>
                  <a:srgbClr val="FFFFFF"/>
                </a:solidFill>
                <a:hlinkClick r:id="rId6">
                  <a:extLst>
                    <a:ext uri="{A12FA001-AC4F-418D-AE19-62706E023703}">
                      <ahyp:hlinkClr xmlns:ahyp="http://schemas.microsoft.com/office/drawing/2018/hyperlinkcolor" val="tx"/>
                    </a:ext>
                  </a:extLst>
                </a:hlinkClick>
              </a:rPr>
              <a:t>Slido app</a:t>
            </a:r>
            <a:r>
              <a:rPr lang="en-US" sz="2600">
                <a:solidFill>
                  <a:srgbClr val="FFFFFF"/>
                </a:solidFill>
              </a:rPr>
              <a:t> must be installed on every computer you’re presenting from</a:t>
            </a:r>
            <a:endParaRPr lang="en-IN" sz="2600">
              <a:solidFill>
                <a:srgbClr val="FFFFFF"/>
              </a:solidFill>
            </a:endParaRPr>
          </a:p>
        </p:txBody>
      </p:sp>
      <p:pic>
        <p:nvPicPr>
          <p:cNvPr id="8" name="Graphic 7">
            <a:extLst>
              <a:ext uri="{FF2B5EF4-FFF2-40B4-BE49-F238E27FC236}">
                <a16:creationId xmlns:a16="http://schemas.microsoft.com/office/drawing/2014/main" id="{FDA03C6D-B5DA-684D-80C4-E6E4377938D9}"/>
              </a:ext>
              <a:ext uri="{C183D7F6-B498-43B3-948B-1728B52AA6E4}">
                <adec:decorative xmlns:adec="http://schemas.microsoft.com/office/drawing/2017/decorative" val="1"/>
              </a:ext>
            </a:extLst>
          </p:cNvPr>
          <p:cNvPicPr>
            <a:picLocks/>
          </p:cNvPicPr>
          <p:nvPr/>
        </p:nvPicPr>
        <p:blipFill>
          <a:blip>
            <a:extLst>
              <a:ext uri="{96DAC541-7B7A-43D3-8B79-37D633B846F1}">
                <asvg:svgBlip xmlns:asvg="http://schemas.microsoft.com/office/drawing/2016/SVG/main" r:embed="rId7"/>
              </a:ext>
            </a:extLst>
          </a:blip>
          <a:stretch>
            <a:fillRect/>
          </a:stretch>
        </p:blipFill>
        <p:spPr>
          <a:xfrm>
            <a:off x="296385" y="6190824"/>
            <a:ext cx="296385" cy="296385"/>
          </a:xfrm>
          <a:prstGeom prst="rect">
            <a:avLst/>
          </a:prstGeom>
        </p:spPr>
      </p:pic>
      <p:sp>
        <p:nvSpPr>
          <p:cNvPr id="9" name="Trapezoid 8" descr="Do not edit&#10;How to change the design">
            <a:extLst>
              <a:ext uri="{FF2B5EF4-FFF2-40B4-BE49-F238E27FC236}">
                <a16:creationId xmlns:a16="http://schemas.microsoft.com/office/drawing/2014/main" id="{DFDD5ED3-991D-35E7-7C9F-142BD0D9E59F}"/>
              </a:ext>
            </a:extLst>
          </p:cNvPr>
          <p:cNvSpPr/>
          <p:nvPr/>
        </p:nvSpPr>
        <p:spPr>
          <a:xfrm rot="2700000">
            <a:off x="9617865" y="514790"/>
            <a:ext cx="3334329" cy="778010"/>
          </a:xfrm>
          <a:prstGeom prst="trapezoid">
            <a:avLst>
              <a:gd name="adj" fmla="val 100000"/>
            </a:avLst>
          </a:prstGeom>
          <a:solidFill>
            <a:srgbClr val="EDFAF2"/>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tIns="0" bIns="0" rtlCol="0" anchor="t">
            <a:normAutofit fontScale="70000" lnSpcReduction="20000"/>
          </a:bodyPr>
          <a:lstStyle/>
          <a:p>
            <a:pPr algn="ctr"/>
            <a:r>
              <a:rPr lang="en-US" sz="2600" b="1">
                <a:solidFill>
                  <a:srgbClr val="198038"/>
                </a:solidFill>
              </a:rPr>
              <a:t>Do not edit
</a:t>
            </a:r>
            <a:r>
              <a:rPr lang="en-US" sz="2200">
                <a:solidFill>
                  <a:srgbClr val="198038"/>
                </a:solidFill>
                <a:hlinkClick r:id="rId8">
                  <a:extLst>
                    <a:ext uri="{A12FA001-AC4F-418D-AE19-62706E023703}">
                      <ahyp:hlinkClr xmlns:ahyp="http://schemas.microsoft.com/office/drawing/2018/hyperlinkcolor" val="tx"/>
                    </a:ext>
                  </a:extLst>
                </a:hlinkClick>
              </a:rPr>
              <a:t>How to change the design</a:t>
            </a:r>
            <a:endParaRPr lang="en-IN" sz="2200">
              <a:solidFill>
                <a:srgbClr val="198038"/>
              </a:solidFill>
            </a:endParaRPr>
          </a:p>
        </p:txBody>
      </p:sp>
      <p:pic>
        <p:nvPicPr>
          <p:cNvPr id="11" name="Graphic 10">
            <a:extLst>
              <a:ext uri="{FF2B5EF4-FFF2-40B4-BE49-F238E27FC236}">
                <a16:creationId xmlns:a16="http://schemas.microsoft.com/office/drawing/2014/main" id="{F8D09FEF-90FD-0FB8-AD0D-370FFC1CE17E}"/>
              </a:ext>
              <a:ext uri="{C183D7F6-B498-43B3-948B-1728B52AA6E4}">
                <adec:decorative xmlns:adec="http://schemas.microsoft.com/office/drawing/2017/decorative" val="1"/>
              </a:ext>
            </a:extLst>
          </p:cNvPr>
          <p:cNvPicPr>
            <a:picLocks/>
          </p:cNvPicPr>
          <p:nvPr/>
        </p:nvPicPr>
        <p:blipFill>
          <a:blip>
            <a:extLst>
              <a:ext uri="{96DAC541-7B7A-43D3-8B79-37D633B846F1}">
                <asvg:svgBlip xmlns:asvg="http://schemas.microsoft.com/office/drawing/2016/SVG/main" r:embed="rId9"/>
              </a:ext>
            </a:extLst>
          </a:blip>
          <a:stretch>
            <a:fillRect/>
          </a:stretch>
        </p:blipFill>
        <p:spPr>
          <a:xfrm>
            <a:off x="10743949" y="6153776"/>
            <a:ext cx="1111443" cy="370481"/>
          </a:xfrm>
          <a:prstGeom prst="rect">
            <a:avLst/>
          </a:prstGeom>
        </p:spPr>
      </p:pic>
    </p:spTree>
    <p:custDataLst>
      <p:tags r:id="rId1"/>
    </p:custDataLst>
    <p:extLst>
      <p:ext uri="{BB962C8B-B14F-4D97-AF65-F5344CB8AC3E}">
        <p14:creationId xmlns:p14="http://schemas.microsoft.com/office/powerpoint/2010/main" val="10793404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 tmFilter="0, 0; .2, .5; .8, .5; 1, 0"/>
                                        <p:tgtEl>
                                          <p:spTgt spid="5"/>
                                        </p:tgtEl>
                                      </p:cBhvr>
                                    </p:animEffect>
                                    <p:animScale>
                                      <p:cBhvr>
                                        <p:cTn id="7" dur="25" autoRev="1" fill="hold"/>
                                        <p:tgtEl>
                                          <p:spTgt spid="5"/>
                                        </p:tgtEl>
                                      </p:cBhvr>
                                      <p:by x="105000" y="105000"/>
                                    </p:animScale>
                                  </p:childTnLst>
                                </p:cTn>
                              </p:par>
                            </p:childTnLst>
                          </p:cTn>
                        </p:par>
                      </p:childTnLst>
                    </p:cTn>
                  </p:par>
                  <p:par>
                    <p:cTn id="8" fill="hold">
                      <p:stCondLst>
                        <p:cond delay="indefinite"/>
                      </p:stCondLst>
                      <p:childTnLst>
                        <p:par>
                          <p:cTn id="9" fill="hold">
                            <p:stCondLst>
                              <p:cond delay="0"/>
                            </p:stCondLst>
                            <p:childTnLst>
                              <p:par>
                                <p:cTn id="10" presetID="26" presetClass="emph" presetSubtype="0" fill="hold" grpId="1" nodeType="clickEffect">
                                  <p:stCondLst>
                                    <p:cond delay="0"/>
                                  </p:stCondLst>
                                  <p:childTnLst>
                                    <p:animEffect transition="out" filter="fade">
                                      <p:cBhvr>
                                        <p:cTn id="11" dur="50" tmFilter="0, 0; .2, .5; .8, .5; 1, 0"/>
                                        <p:tgtEl>
                                          <p:spTgt spid="5"/>
                                        </p:tgtEl>
                                      </p:cBhvr>
                                    </p:animEffect>
                                    <p:animScale>
                                      <p:cBhvr>
                                        <p:cTn id="12" dur="25" autoRev="1" fill="hold"/>
                                        <p:tgtEl>
                                          <p:spTgt spid="5"/>
                                        </p:tgtEl>
                                      </p:cBhvr>
                                      <p:by x="105000" y="105000"/>
                                    </p:animScale>
                                  </p:childTnLst>
                                </p:cTn>
                              </p:par>
                            </p:childTnLst>
                          </p:cTn>
                        </p:par>
                      </p:childTnLst>
                    </p:cTn>
                  </p:par>
                  <p:par>
                    <p:cTn id="13" fill="hold">
                      <p:stCondLst>
                        <p:cond delay="indefinite"/>
                      </p:stCondLst>
                      <p:childTnLst>
                        <p:par>
                          <p:cTn id="14" fill="hold">
                            <p:stCondLst>
                              <p:cond delay="0"/>
                            </p:stCondLst>
                            <p:childTnLst>
                              <p:par>
                                <p:cTn id="15" presetID="26" presetClass="emph" presetSubtype="0" fill="hold" grpId="2" nodeType="clickEffect">
                                  <p:stCondLst>
                                    <p:cond delay="0"/>
                                  </p:stCondLst>
                                  <p:childTnLst>
                                    <p:animEffect transition="out" filter="fade">
                                      <p:cBhvr>
                                        <p:cTn id="16" dur="50" tmFilter="0, 0; .2, .5; .8, .5; 1, 0"/>
                                        <p:tgtEl>
                                          <p:spTgt spid="5"/>
                                        </p:tgtEl>
                                      </p:cBhvr>
                                    </p:animEffect>
                                    <p:animScale>
                                      <p:cBhvr>
                                        <p:cTn id="17" dur="25" autoRev="1" fill="hold"/>
                                        <p:tgtEl>
                                          <p:spTgt spid="5"/>
                                        </p:tgtEl>
                                      </p:cBhvr>
                                      <p:by x="105000" y="105000"/>
                                    </p:animScale>
                                  </p:childTnLst>
                                </p:cTn>
                              </p:par>
                            </p:childTnLst>
                          </p:cTn>
                        </p:par>
                      </p:childTnLst>
                    </p:cTn>
                  </p:par>
                  <p:par>
                    <p:cTn id="18" fill="hold">
                      <p:stCondLst>
                        <p:cond delay="indefinite"/>
                      </p:stCondLst>
                      <p:childTnLst>
                        <p:par>
                          <p:cTn id="19" fill="hold">
                            <p:stCondLst>
                              <p:cond delay="0"/>
                            </p:stCondLst>
                            <p:childTnLst>
                              <p:par>
                                <p:cTn id="20" presetID="26" presetClass="emph" presetSubtype="0" fill="hold" grpId="3" nodeType="clickEffect">
                                  <p:stCondLst>
                                    <p:cond delay="0"/>
                                  </p:stCondLst>
                                  <p:childTnLst>
                                    <p:animEffect transition="out" filter="fade">
                                      <p:cBhvr>
                                        <p:cTn id="21" dur="50" tmFilter="0, 0; .2, .5; .8, .5; 1, 0"/>
                                        <p:tgtEl>
                                          <p:spTgt spid="5"/>
                                        </p:tgtEl>
                                      </p:cBhvr>
                                    </p:animEffect>
                                    <p:animScale>
                                      <p:cBhvr>
                                        <p:cTn id="22" dur="25" autoRev="1" fill="hold"/>
                                        <p:tgtEl>
                                          <p:spTgt spid="5"/>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5" grpId="1" animBg="1"/>
      <p:bldP spid="5" grpId="2" animBg="1"/>
      <p:bldP spid="5" grpId="3" animBg="1"/>
    </p:bldLst>
  </p:timing>
</p:sld>
</file>

<file path=ppt/slides/slide2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C2D21F3A-FD18-BDDD-8C67-F2B48B82B89C}"/>
              </a:ext>
            </a:extLst>
          </p:cNvPr>
          <p:cNvSpPr>
            <a:spLocks noGrp="1"/>
          </p:cNvSpPr>
          <p:nvPr>
            <p:ph type="ftr" sz="quarter" idx="11"/>
          </p:nvPr>
        </p:nvSpPr>
        <p:spPr/>
        <p:txBody>
          <a:bodyPr/>
          <a:lstStyle/>
          <a:p>
            <a:r>
              <a:rPr lang="en-US"/>
              <a:t>SYED HASAN SAEED, INTEGRAL UNIVERSITY, LUCKNOW, INDIA</a:t>
            </a:r>
            <a:endParaRPr lang="en-IN"/>
          </a:p>
        </p:txBody>
      </p:sp>
      <p:sp>
        <p:nvSpPr>
          <p:cNvPr id="3" name="Slide Number Placeholder 2">
            <a:extLst>
              <a:ext uri="{FF2B5EF4-FFF2-40B4-BE49-F238E27FC236}">
                <a16:creationId xmlns:a16="http://schemas.microsoft.com/office/drawing/2014/main" id="{96914D46-2FAF-5175-AE46-B2CB36C29045}"/>
              </a:ext>
            </a:extLst>
          </p:cNvPr>
          <p:cNvSpPr>
            <a:spLocks noGrp="1"/>
          </p:cNvSpPr>
          <p:nvPr>
            <p:ph type="sldNum" sz="quarter" idx="12"/>
          </p:nvPr>
        </p:nvSpPr>
        <p:spPr/>
        <p:txBody>
          <a:bodyPr/>
          <a:lstStyle/>
          <a:p>
            <a:fld id="{794472C8-07AE-4D03-9F73-512FB105EB04}" type="slidenum">
              <a:rPr lang="en-IN" smtClean="0"/>
              <a:pPr/>
              <a:t>29</a:t>
            </a:fld>
            <a:endParaRPr lang="en-IN"/>
          </a:p>
        </p:txBody>
      </p:sp>
      <p:sp>
        <p:nvSpPr>
          <p:cNvPr id="4" name="Rectangle 3">
            <a:extLst>
              <a:ext uri="{FF2B5EF4-FFF2-40B4-BE49-F238E27FC236}">
                <a16:creationId xmlns:a16="http://schemas.microsoft.com/office/drawing/2014/main" id="{E9B1B148-CA87-456A-8484-2661A47EE9C2}"/>
              </a:ext>
              <a:ext uri="{C183D7F6-B498-43B3-948B-1728B52AA6E4}">
                <adec:decorative xmlns:adec="http://schemas.microsoft.com/office/drawing/2017/decorative" val="1"/>
              </a:ext>
            </a:extLst>
          </p:cNvPr>
          <p:cNvSpPr/>
          <p:nvPr>
            <p:custDataLst>
              <p:tags r:id="rId2"/>
            </p:custDataLst>
          </p:nvPr>
        </p:nvSpPr>
        <p:spPr>
          <a:xfrm>
            <a:off x="444577" y="1743012"/>
            <a:ext cx="2371079" cy="2371079"/>
          </a:xfrm>
          <a:prstGeom prst="rect">
            <a:avLst/>
          </a:prstGeom>
          <a:blipFill>
            <a:blip>
              <a:extLst>
                <a:ext uri="{96DAC541-7B7A-43D3-8B79-37D633B846F1}">
                  <asvg:svgBlip xmlns:asvg="http://schemas.microsoft.com/office/drawing/2016/SVG/main" r:embed="rId5"/>
                </a:ext>
              </a:extLst>
            </a:blip>
            <a:stretch>
              <a:fillRect/>
            </a:stretch>
          </a:blipFill>
          <a:ln>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Rectangle 4" descr="Human being is also a system?">
            <a:extLst>
              <a:ext uri="{FF2B5EF4-FFF2-40B4-BE49-F238E27FC236}">
                <a16:creationId xmlns:a16="http://schemas.microsoft.com/office/drawing/2014/main" id="{851C885B-ED09-5B19-AD32-E62AC39090E4}"/>
              </a:ext>
            </a:extLst>
          </p:cNvPr>
          <p:cNvSpPr/>
          <p:nvPr>
            <p:custDataLst>
              <p:tags r:id="rId3"/>
            </p:custDataLst>
          </p:nvPr>
        </p:nvSpPr>
        <p:spPr>
          <a:xfrm>
            <a:off x="3112040" y="1000897"/>
            <a:ext cx="8484015" cy="3855308"/>
          </a:xfrm>
          <a:prstGeom prst="rect">
            <a:avLst/>
          </a:prstGeom>
          <a:noFill/>
          <a:ln w="25400" cap="flat" cmpd="sng" algn="ctr">
            <a:solidFill>
              <a:srgbClr val="FFFFFF"/>
            </a:solidFill>
            <a:prstDash val="solid"/>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4000" b="1">
                <a:solidFill>
                  <a:srgbClr val="000000"/>
                </a:solidFill>
              </a:rPr>
              <a:t>Human being is also a system?</a:t>
            </a:r>
            <a:endParaRPr lang="en-IN" sz="4000" b="1">
              <a:solidFill>
                <a:srgbClr val="000000"/>
              </a:solidFill>
            </a:endParaRPr>
          </a:p>
        </p:txBody>
      </p:sp>
      <p:sp>
        <p:nvSpPr>
          <p:cNvPr id="6" name="Rectangle 5" descr="The Slido app must be installed on every computer you’re presenting from">
            <a:extLst>
              <a:ext uri="{FF2B5EF4-FFF2-40B4-BE49-F238E27FC236}">
                <a16:creationId xmlns:a16="http://schemas.microsoft.com/office/drawing/2014/main" id="{6EF44DEA-1C7D-EDB3-3177-2DE56B9ACC27}"/>
              </a:ext>
            </a:extLst>
          </p:cNvPr>
          <p:cNvSpPr/>
          <p:nvPr/>
        </p:nvSpPr>
        <p:spPr>
          <a:xfrm>
            <a:off x="0" y="5820032"/>
            <a:ext cx="12188824" cy="1037968"/>
          </a:xfrm>
          <a:prstGeom prst="rect">
            <a:avLst/>
          </a:prstGeom>
          <a:solidFill>
            <a:srgbClr val="198038"/>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lIns="740962" tIns="259337" rIns="1852405" bIns="203765" rtlCol="0" anchor="ctr">
            <a:normAutofit fontScale="92500"/>
          </a:bodyPr>
          <a:lstStyle/>
          <a:p>
            <a:r>
              <a:rPr lang="en-US" sz="2600">
                <a:solidFill>
                  <a:srgbClr val="FFFFFF"/>
                </a:solidFill>
              </a:rPr>
              <a:t>The </a:t>
            </a:r>
            <a:r>
              <a:rPr lang="en-US" sz="2600">
                <a:solidFill>
                  <a:srgbClr val="FFFFFF"/>
                </a:solidFill>
                <a:hlinkClick r:id="rId6">
                  <a:extLst>
                    <a:ext uri="{A12FA001-AC4F-418D-AE19-62706E023703}">
                      <ahyp:hlinkClr xmlns:ahyp="http://schemas.microsoft.com/office/drawing/2018/hyperlinkcolor" val="tx"/>
                    </a:ext>
                  </a:extLst>
                </a:hlinkClick>
              </a:rPr>
              <a:t>Slido app</a:t>
            </a:r>
            <a:r>
              <a:rPr lang="en-US" sz="2600">
                <a:solidFill>
                  <a:srgbClr val="FFFFFF"/>
                </a:solidFill>
              </a:rPr>
              <a:t> must be installed on every computer you’re presenting from</a:t>
            </a:r>
            <a:endParaRPr lang="en-IN" sz="2600">
              <a:solidFill>
                <a:srgbClr val="FFFFFF"/>
              </a:solidFill>
            </a:endParaRPr>
          </a:p>
        </p:txBody>
      </p:sp>
      <p:pic>
        <p:nvPicPr>
          <p:cNvPr id="8" name="Graphic 7">
            <a:extLst>
              <a:ext uri="{FF2B5EF4-FFF2-40B4-BE49-F238E27FC236}">
                <a16:creationId xmlns:a16="http://schemas.microsoft.com/office/drawing/2014/main" id="{0C3FF820-5D60-2B7F-828E-CDCA2364F721}"/>
              </a:ext>
              <a:ext uri="{C183D7F6-B498-43B3-948B-1728B52AA6E4}">
                <adec:decorative xmlns:adec="http://schemas.microsoft.com/office/drawing/2017/decorative" val="1"/>
              </a:ext>
            </a:extLst>
          </p:cNvPr>
          <p:cNvPicPr>
            <a:picLocks/>
          </p:cNvPicPr>
          <p:nvPr/>
        </p:nvPicPr>
        <p:blipFill>
          <a:blip>
            <a:extLst>
              <a:ext uri="{96DAC541-7B7A-43D3-8B79-37D633B846F1}">
                <asvg:svgBlip xmlns:asvg="http://schemas.microsoft.com/office/drawing/2016/SVG/main" r:embed="rId7"/>
              </a:ext>
            </a:extLst>
          </a:blip>
          <a:stretch>
            <a:fillRect/>
          </a:stretch>
        </p:blipFill>
        <p:spPr>
          <a:xfrm>
            <a:off x="296385" y="6190824"/>
            <a:ext cx="296385" cy="296385"/>
          </a:xfrm>
          <a:prstGeom prst="rect">
            <a:avLst/>
          </a:prstGeom>
        </p:spPr>
      </p:pic>
      <p:sp>
        <p:nvSpPr>
          <p:cNvPr id="9" name="Trapezoid 8" descr="Do not edit&#10;How to change the design">
            <a:extLst>
              <a:ext uri="{FF2B5EF4-FFF2-40B4-BE49-F238E27FC236}">
                <a16:creationId xmlns:a16="http://schemas.microsoft.com/office/drawing/2014/main" id="{30F950DC-0E4A-88A3-B52F-5FBBA87B8D9D}"/>
              </a:ext>
            </a:extLst>
          </p:cNvPr>
          <p:cNvSpPr/>
          <p:nvPr/>
        </p:nvSpPr>
        <p:spPr>
          <a:xfrm rot="2700000">
            <a:off x="9617865" y="514790"/>
            <a:ext cx="3334329" cy="778010"/>
          </a:xfrm>
          <a:prstGeom prst="trapezoid">
            <a:avLst>
              <a:gd name="adj" fmla="val 100000"/>
            </a:avLst>
          </a:prstGeom>
          <a:solidFill>
            <a:srgbClr val="EDFAF2"/>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tIns="0" bIns="0" rtlCol="0" anchor="t">
            <a:normAutofit fontScale="70000" lnSpcReduction="20000"/>
          </a:bodyPr>
          <a:lstStyle/>
          <a:p>
            <a:pPr algn="ctr"/>
            <a:r>
              <a:rPr lang="en-US" sz="2600" b="1">
                <a:solidFill>
                  <a:srgbClr val="198038"/>
                </a:solidFill>
              </a:rPr>
              <a:t>Do not edit
</a:t>
            </a:r>
            <a:r>
              <a:rPr lang="en-US" sz="2200">
                <a:solidFill>
                  <a:srgbClr val="198038"/>
                </a:solidFill>
                <a:hlinkClick r:id="rId8">
                  <a:extLst>
                    <a:ext uri="{A12FA001-AC4F-418D-AE19-62706E023703}">
                      <ahyp:hlinkClr xmlns:ahyp="http://schemas.microsoft.com/office/drawing/2018/hyperlinkcolor" val="tx"/>
                    </a:ext>
                  </a:extLst>
                </a:hlinkClick>
              </a:rPr>
              <a:t>How to change the design</a:t>
            </a:r>
            <a:endParaRPr lang="en-IN" sz="2200">
              <a:solidFill>
                <a:srgbClr val="198038"/>
              </a:solidFill>
            </a:endParaRPr>
          </a:p>
        </p:txBody>
      </p:sp>
      <p:pic>
        <p:nvPicPr>
          <p:cNvPr id="11" name="Graphic 10">
            <a:extLst>
              <a:ext uri="{FF2B5EF4-FFF2-40B4-BE49-F238E27FC236}">
                <a16:creationId xmlns:a16="http://schemas.microsoft.com/office/drawing/2014/main" id="{1F44E73F-9F46-77DF-4B14-CE15250654E3}"/>
              </a:ext>
              <a:ext uri="{C183D7F6-B498-43B3-948B-1728B52AA6E4}">
                <adec:decorative xmlns:adec="http://schemas.microsoft.com/office/drawing/2017/decorative" val="1"/>
              </a:ext>
            </a:extLst>
          </p:cNvPr>
          <p:cNvPicPr>
            <a:picLocks/>
          </p:cNvPicPr>
          <p:nvPr/>
        </p:nvPicPr>
        <p:blipFill>
          <a:blip>
            <a:extLst>
              <a:ext uri="{96DAC541-7B7A-43D3-8B79-37D633B846F1}">
                <asvg:svgBlip xmlns:asvg="http://schemas.microsoft.com/office/drawing/2016/SVG/main" r:embed="rId9"/>
              </a:ext>
            </a:extLst>
          </a:blip>
          <a:stretch>
            <a:fillRect/>
          </a:stretch>
        </p:blipFill>
        <p:spPr>
          <a:xfrm>
            <a:off x="10743949" y="6153776"/>
            <a:ext cx="1111443" cy="370481"/>
          </a:xfrm>
          <a:prstGeom prst="rect">
            <a:avLst/>
          </a:prstGeom>
        </p:spPr>
      </p:pic>
    </p:spTree>
    <p:custDataLst>
      <p:tags r:id="rId1"/>
    </p:custDataLst>
    <p:extLst>
      <p:ext uri="{BB962C8B-B14F-4D97-AF65-F5344CB8AC3E}">
        <p14:creationId xmlns:p14="http://schemas.microsoft.com/office/powerpoint/2010/main" val="7602257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 tmFilter="0, 0; .2, .5; .8, .5; 1, 0"/>
                                        <p:tgtEl>
                                          <p:spTgt spid="5"/>
                                        </p:tgtEl>
                                      </p:cBhvr>
                                    </p:animEffect>
                                    <p:animScale>
                                      <p:cBhvr>
                                        <p:cTn id="7" dur="25" autoRev="1" fill="hold"/>
                                        <p:tgtEl>
                                          <p:spTgt spid="5"/>
                                        </p:tgtEl>
                                      </p:cBhvr>
                                      <p:by x="105000" y="105000"/>
                                    </p:animScale>
                                  </p:childTnLst>
                                </p:cTn>
                              </p:par>
                            </p:childTnLst>
                          </p:cTn>
                        </p:par>
                      </p:childTnLst>
                    </p:cTn>
                  </p:par>
                  <p:par>
                    <p:cTn id="8" fill="hold">
                      <p:stCondLst>
                        <p:cond delay="indefinite"/>
                      </p:stCondLst>
                      <p:childTnLst>
                        <p:par>
                          <p:cTn id="9" fill="hold">
                            <p:stCondLst>
                              <p:cond delay="0"/>
                            </p:stCondLst>
                            <p:childTnLst>
                              <p:par>
                                <p:cTn id="10" presetID="26" presetClass="emph" presetSubtype="0" fill="hold" grpId="1" nodeType="clickEffect">
                                  <p:stCondLst>
                                    <p:cond delay="0"/>
                                  </p:stCondLst>
                                  <p:childTnLst>
                                    <p:animEffect transition="out" filter="fade">
                                      <p:cBhvr>
                                        <p:cTn id="11" dur="50" tmFilter="0, 0; .2, .5; .8, .5; 1, 0"/>
                                        <p:tgtEl>
                                          <p:spTgt spid="5"/>
                                        </p:tgtEl>
                                      </p:cBhvr>
                                    </p:animEffect>
                                    <p:animScale>
                                      <p:cBhvr>
                                        <p:cTn id="12" dur="25" autoRev="1" fill="hold"/>
                                        <p:tgtEl>
                                          <p:spTgt spid="5"/>
                                        </p:tgtEl>
                                      </p:cBhvr>
                                      <p:by x="105000" y="105000"/>
                                    </p:animScale>
                                  </p:childTnLst>
                                </p:cTn>
                              </p:par>
                            </p:childTnLst>
                          </p:cTn>
                        </p:par>
                      </p:childTnLst>
                    </p:cTn>
                  </p:par>
                  <p:par>
                    <p:cTn id="13" fill="hold">
                      <p:stCondLst>
                        <p:cond delay="indefinite"/>
                      </p:stCondLst>
                      <p:childTnLst>
                        <p:par>
                          <p:cTn id="14" fill="hold">
                            <p:stCondLst>
                              <p:cond delay="0"/>
                            </p:stCondLst>
                            <p:childTnLst>
                              <p:par>
                                <p:cTn id="15" presetID="26" presetClass="emph" presetSubtype="0" fill="hold" grpId="2" nodeType="clickEffect">
                                  <p:stCondLst>
                                    <p:cond delay="0"/>
                                  </p:stCondLst>
                                  <p:childTnLst>
                                    <p:animEffect transition="out" filter="fade">
                                      <p:cBhvr>
                                        <p:cTn id="16" dur="50" tmFilter="0, 0; .2, .5; .8, .5; 1, 0"/>
                                        <p:tgtEl>
                                          <p:spTgt spid="5"/>
                                        </p:tgtEl>
                                      </p:cBhvr>
                                    </p:animEffect>
                                    <p:animScale>
                                      <p:cBhvr>
                                        <p:cTn id="17" dur="25" autoRev="1" fill="hold"/>
                                        <p:tgtEl>
                                          <p:spTgt spid="5"/>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5" grpId="1" animBg="1"/>
      <p:bldP spid="5" grpId="2" animBg="1"/>
    </p:bldLst>
  </p:timing>
</p:sld>
</file>

<file path=ppt/slides/slide30.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AF286119-25BC-D650-967F-32B30B361519}"/>
              </a:ext>
            </a:extLst>
          </p:cNvPr>
          <p:cNvSpPr>
            <a:spLocks noGrp="1"/>
          </p:cNvSpPr>
          <p:nvPr>
            <p:ph type="ftr" sz="quarter" idx="11"/>
          </p:nvPr>
        </p:nvSpPr>
        <p:spPr/>
        <p:txBody>
          <a:bodyPr/>
          <a:lstStyle/>
          <a:p>
            <a:r>
              <a:rPr lang="en-US"/>
              <a:t>SYED HASAN SAEED, INTEGRAL UNIVERSITY, LUCKNOW, INDIA</a:t>
            </a:r>
            <a:endParaRPr lang="en-IN"/>
          </a:p>
        </p:txBody>
      </p:sp>
      <p:sp>
        <p:nvSpPr>
          <p:cNvPr id="3" name="Slide Number Placeholder 2">
            <a:extLst>
              <a:ext uri="{FF2B5EF4-FFF2-40B4-BE49-F238E27FC236}">
                <a16:creationId xmlns:a16="http://schemas.microsoft.com/office/drawing/2014/main" id="{4D3392EA-B473-1D8A-FFC3-6E8500E32BB4}"/>
              </a:ext>
            </a:extLst>
          </p:cNvPr>
          <p:cNvSpPr>
            <a:spLocks noGrp="1"/>
          </p:cNvSpPr>
          <p:nvPr>
            <p:ph type="sldNum" sz="quarter" idx="12"/>
          </p:nvPr>
        </p:nvSpPr>
        <p:spPr/>
        <p:txBody>
          <a:bodyPr/>
          <a:lstStyle/>
          <a:p>
            <a:fld id="{794472C8-07AE-4D03-9F73-512FB105EB04}" type="slidenum">
              <a:rPr lang="en-IN" smtClean="0"/>
              <a:pPr/>
              <a:t>30</a:t>
            </a:fld>
            <a:endParaRPr lang="en-IN"/>
          </a:p>
        </p:txBody>
      </p:sp>
      <p:sp>
        <p:nvSpPr>
          <p:cNvPr id="4" name="Rectangle 3">
            <a:extLst>
              <a:ext uri="{FF2B5EF4-FFF2-40B4-BE49-F238E27FC236}">
                <a16:creationId xmlns:a16="http://schemas.microsoft.com/office/drawing/2014/main" id="{D477CEE4-EC68-E5D0-4375-8C6B986B3A7C}"/>
              </a:ext>
              <a:ext uri="{C183D7F6-B498-43B3-948B-1728B52AA6E4}">
                <adec:decorative xmlns:adec="http://schemas.microsoft.com/office/drawing/2017/decorative" val="1"/>
              </a:ext>
            </a:extLst>
          </p:cNvPr>
          <p:cNvSpPr/>
          <p:nvPr>
            <p:custDataLst>
              <p:tags r:id="rId2"/>
            </p:custDataLst>
          </p:nvPr>
        </p:nvSpPr>
        <p:spPr>
          <a:xfrm>
            <a:off x="444577" y="1743012"/>
            <a:ext cx="2371079" cy="2371079"/>
          </a:xfrm>
          <a:prstGeom prst="rect">
            <a:avLst/>
          </a:prstGeom>
          <a:blipFill>
            <a:blip>
              <a:extLst>
                <a:ext uri="{96DAC541-7B7A-43D3-8B79-37D633B846F1}">
                  <asvg:svgBlip xmlns:asvg="http://schemas.microsoft.com/office/drawing/2016/SVG/main" r:embed="rId5"/>
                </a:ext>
              </a:extLst>
            </a:blip>
            <a:stretch>
              <a:fillRect/>
            </a:stretch>
          </a:blipFill>
          <a:ln>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Rectangle 4" descr="Major type of control system are&#10;">
            <a:extLst>
              <a:ext uri="{FF2B5EF4-FFF2-40B4-BE49-F238E27FC236}">
                <a16:creationId xmlns:a16="http://schemas.microsoft.com/office/drawing/2014/main" id="{8EAB4A52-5217-5279-0982-D8BAD87836F2}"/>
              </a:ext>
            </a:extLst>
          </p:cNvPr>
          <p:cNvSpPr/>
          <p:nvPr>
            <p:custDataLst>
              <p:tags r:id="rId3"/>
            </p:custDataLst>
          </p:nvPr>
        </p:nvSpPr>
        <p:spPr>
          <a:xfrm>
            <a:off x="3112040" y="1000897"/>
            <a:ext cx="8484015" cy="3855308"/>
          </a:xfrm>
          <a:prstGeom prst="rect">
            <a:avLst/>
          </a:prstGeom>
          <a:noFill/>
          <a:ln w="25400" cap="flat" cmpd="sng" algn="ctr">
            <a:solidFill>
              <a:srgbClr val="FFFFFF"/>
            </a:solidFill>
            <a:prstDash val="solid"/>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4000" b="1">
                <a:solidFill>
                  <a:srgbClr val="000000"/>
                </a:solidFill>
              </a:rPr>
              <a:t>Major type of control system are
</a:t>
            </a:r>
            <a:endParaRPr lang="en-IN" sz="4000" b="1">
              <a:solidFill>
                <a:srgbClr val="000000"/>
              </a:solidFill>
            </a:endParaRPr>
          </a:p>
        </p:txBody>
      </p:sp>
      <p:sp>
        <p:nvSpPr>
          <p:cNvPr id="6" name="Rectangle 5" descr="The Slido app must be installed on every computer you’re presenting from">
            <a:extLst>
              <a:ext uri="{FF2B5EF4-FFF2-40B4-BE49-F238E27FC236}">
                <a16:creationId xmlns:a16="http://schemas.microsoft.com/office/drawing/2014/main" id="{09D5BAB9-2F88-C0CD-44A6-AD9A580914A8}"/>
              </a:ext>
            </a:extLst>
          </p:cNvPr>
          <p:cNvSpPr/>
          <p:nvPr/>
        </p:nvSpPr>
        <p:spPr>
          <a:xfrm>
            <a:off x="0" y="5820032"/>
            <a:ext cx="12188824" cy="1037968"/>
          </a:xfrm>
          <a:prstGeom prst="rect">
            <a:avLst/>
          </a:prstGeom>
          <a:solidFill>
            <a:srgbClr val="198038"/>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lIns="740962" tIns="259337" rIns="1852405" bIns="203765" rtlCol="0" anchor="ctr">
            <a:normAutofit fontScale="92500"/>
          </a:bodyPr>
          <a:lstStyle/>
          <a:p>
            <a:r>
              <a:rPr lang="en-US" sz="2600">
                <a:solidFill>
                  <a:srgbClr val="FFFFFF"/>
                </a:solidFill>
              </a:rPr>
              <a:t>The </a:t>
            </a:r>
            <a:r>
              <a:rPr lang="en-US" sz="2600">
                <a:solidFill>
                  <a:srgbClr val="FFFFFF"/>
                </a:solidFill>
                <a:hlinkClick r:id="rId6">
                  <a:extLst>
                    <a:ext uri="{A12FA001-AC4F-418D-AE19-62706E023703}">
                      <ahyp:hlinkClr xmlns:ahyp="http://schemas.microsoft.com/office/drawing/2018/hyperlinkcolor" val="tx"/>
                    </a:ext>
                  </a:extLst>
                </a:hlinkClick>
              </a:rPr>
              <a:t>Slido app</a:t>
            </a:r>
            <a:r>
              <a:rPr lang="en-US" sz="2600">
                <a:solidFill>
                  <a:srgbClr val="FFFFFF"/>
                </a:solidFill>
              </a:rPr>
              <a:t> must be installed on every computer you’re presenting from</a:t>
            </a:r>
            <a:endParaRPr lang="en-IN" sz="2600">
              <a:solidFill>
                <a:srgbClr val="FFFFFF"/>
              </a:solidFill>
            </a:endParaRPr>
          </a:p>
        </p:txBody>
      </p:sp>
      <p:pic>
        <p:nvPicPr>
          <p:cNvPr id="8" name="Graphic 7">
            <a:extLst>
              <a:ext uri="{FF2B5EF4-FFF2-40B4-BE49-F238E27FC236}">
                <a16:creationId xmlns:a16="http://schemas.microsoft.com/office/drawing/2014/main" id="{A4C514F3-A6B4-AD9C-9996-46983150A530}"/>
              </a:ext>
              <a:ext uri="{C183D7F6-B498-43B3-948B-1728B52AA6E4}">
                <adec:decorative xmlns:adec="http://schemas.microsoft.com/office/drawing/2017/decorative" val="1"/>
              </a:ext>
            </a:extLst>
          </p:cNvPr>
          <p:cNvPicPr>
            <a:picLocks/>
          </p:cNvPicPr>
          <p:nvPr/>
        </p:nvPicPr>
        <p:blipFill>
          <a:blip>
            <a:extLst>
              <a:ext uri="{96DAC541-7B7A-43D3-8B79-37D633B846F1}">
                <asvg:svgBlip xmlns:asvg="http://schemas.microsoft.com/office/drawing/2016/SVG/main" r:embed="rId7"/>
              </a:ext>
            </a:extLst>
          </a:blip>
          <a:stretch>
            <a:fillRect/>
          </a:stretch>
        </p:blipFill>
        <p:spPr>
          <a:xfrm>
            <a:off x="296385" y="6190824"/>
            <a:ext cx="296385" cy="296385"/>
          </a:xfrm>
          <a:prstGeom prst="rect">
            <a:avLst/>
          </a:prstGeom>
        </p:spPr>
      </p:pic>
      <p:sp>
        <p:nvSpPr>
          <p:cNvPr id="9" name="Trapezoid 8" descr="Do not edit&#10;How to change the design">
            <a:extLst>
              <a:ext uri="{FF2B5EF4-FFF2-40B4-BE49-F238E27FC236}">
                <a16:creationId xmlns:a16="http://schemas.microsoft.com/office/drawing/2014/main" id="{73F40B1F-153B-BAAF-0F92-BF43F40C6EA6}"/>
              </a:ext>
            </a:extLst>
          </p:cNvPr>
          <p:cNvSpPr/>
          <p:nvPr/>
        </p:nvSpPr>
        <p:spPr>
          <a:xfrm rot="2700000">
            <a:off x="9617865" y="514790"/>
            <a:ext cx="3334329" cy="778010"/>
          </a:xfrm>
          <a:prstGeom prst="trapezoid">
            <a:avLst>
              <a:gd name="adj" fmla="val 100000"/>
            </a:avLst>
          </a:prstGeom>
          <a:solidFill>
            <a:srgbClr val="EDFAF2"/>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tIns="0" bIns="0" rtlCol="0" anchor="t">
            <a:normAutofit fontScale="70000" lnSpcReduction="20000"/>
          </a:bodyPr>
          <a:lstStyle/>
          <a:p>
            <a:pPr algn="ctr"/>
            <a:r>
              <a:rPr lang="en-US" sz="2600" b="1">
                <a:solidFill>
                  <a:srgbClr val="198038"/>
                </a:solidFill>
              </a:rPr>
              <a:t>Do not edit
</a:t>
            </a:r>
            <a:r>
              <a:rPr lang="en-US" sz="2200">
                <a:solidFill>
                  <a:srgbClr val="198038"/>
                </a:solidFill>
                <a:hlinkClick r:id="rId8">
                  <a:extLst>
                    <a:ext uri="{A12FA001-AC4F-418D-AE19-62706E023703}">
                      <ahyp:hlinkClr xmlns:ahyp="http://schemas.microsoft.com/office/drawing/2018/hyperlinkcolor" val="tx"/>
                    </a:ext>
                  </a:extLst>
                </a:hlinkClick>
              </a:rPr>
              <a:t>How to change the design</a:t>
            </a:r>
            <a:endParaRPr lang="en-IN" sz="2200">
              <a:solidFill>
                <a:srgbClr val="198038"/>
              </a:solidFill>
            </a:endParaRPr>
          </a:p>
        </p:txBody>
      </p:sp>
      <p:pic>
        <p:nvPicPr>
          <p:cNvPr id="11" name="Graphic 10">
            <a:extLst>
              <a:ext uri="{FF2B5EF4-FFF2-40B4-BE49-F238E27FC236}">
                <a16:creationId xmlns:a16="http://schemas.microsoft.com/office/drawing/2014/main" id="{0BDEB66D-D6D1-2BF8-4B19-5659288545A5}"/>
              </a:ext>
              <a:ext uri="{C183D7F6-B498-43B3-948B-1728B52AA6E4}">
                <adec:decorative xmlns:adec="http://schemas.microsoft.com/office/drawing/2017/decorative" val="1"/>
              </a:ext>
            </a:extLst>
          </p:cNvPr>
          <p:cNvPicPr>
            <a:picLocks/>
          </p:cNvPicPr>
          <p:nvPr/>
        </p:nvPicPr>
        <p:blipFill>
          <a:blip>
            <a:extLst>
              <a:ext uri="{96DAC541-7B7A-43D3-8B79-37D633B846F1}">
                <asvg:svgBlip xmlns:asvg="http://schemas.microsoft.com/office/drawing/2016/SVG/main" r:embed="rId9"/>
              </a:ext>
            </a:extLst>
          </a:blip>
          <a:stretch>
            <a:fillRect/>
          </a:stretch>
        </p:blipFill>
        <p:spPr>
          <a:xfrm>
            <a:off x="10743949" y="6153776"/>
            <a:ext cx="1111443" cy="370481"/>
          </a:xfrm>
          <a:prstGeom prst="rect">
            <a:avLst/>
          </a:prstGeom>
        </p:spPr>
      </p:pic>
    </p:spTree>
    <p:custDataLst>
      <p:tags r:id="rId1"/>
    </p:custDataLst>
    <p:extLst>
      <p:ext uri="{BB962C8B-B14F-4D97-AF65-F5344CB8AC3E}">
        <p14:creationId xmlns:p14="http://schemas.microsoft.com/office/powerpoint/2010/main" val="39740638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 tmFilter="0, 0; .2, .5; .8, .5; 1, 0"/>
                                        <p:tgtEl>
                                          <p:spTgt spid="5"/>
                                        </p:tgtEl>
                                      </p:cBhvr>
                                    </p:animEffect>
                                    <p:animScale>
                                      <p:cBhvr>
                                        <p:cTn id="7" dur="25" autoRev="1" fill="hold"/>
                                        <p:tgtEl>
                                          <p:spTgt spid="5"/>
                                        </p:tgtEl>
                                      </p:cBhvr>
                                      <p:by x="105000" y="105000"/>
                                    </p:animScale>
                                  </p:childTnLst>
                                </p:cTn>
                              </p:par>
                            </p:childTnLst>
                          </p:cTn>
                        </p:par>
                      </p:childTnLst>
                    </p:cTn>
                  </p:par>
                  <p:par>
                    <p:cTn id="8" fill="hold">
                      <p:stCondLst>
                        <p:cond delay="indefinite"/>
                      </p:stCondLst>
                      <p:childTnLst>
                        <p:par>
                          <p:cTn id="9" fill="hold">
                            <p:stCondLst>
                              <p:cond delay="0"/>
                            </p:stCondLst>
                            <p:childTnLst>
                              <p:par>
                                <p:cTn id="10" presetID="26" presetClass="emph" presetSubtype="0" fill="hold" grpId="1" nodeType="clickEffect">
                                  <p:stCondLst>
                                    <p:cond delay="0"/>
                                  </p:stCondLst>
                                  <p:childTnLst>
                                    <p:animEffect transition="out" filter="fade">
                                      <p:cBhvr>
                                        <p:cTn id="11" dur="50" tmFilter="0, 0; .2, .5; .8, .5; 1, 0"/>
                                        <p:tgtEl>
                                          <p:spTgt spid="5"/>
                                        </p:tgtEl>
                                      </p:cBhvr>
                                    </p:animEffect>
                                    <p:animScale>
                                      <p:cBhvr>
                                        <p:cTn id="12" dur="25" autoRev="1" fill="hold"/>
                                        <p:tgtEl>
                                          <p:spTgt spid="5"/>
                                        </p:tgtEl>
                                      </p:cBhvr>
                                      <p:by x="105000" y="105000"/>
                                    </p:animScale>
                                  </p:childTnLst>
                                </p:cTn>
                              </p:par>
                            </p:childTnLst>
                          </p:cTn>
                        </p:par>
                      </p:childTnLst>
                    </p:cTn>
                  </p:par>
                  <p:par>
                    <p:cTn id="13" fill="hold">
                      <p:stCondLst>
                        <p:cond delay="indefinite"/>
                      </p:stCondLst>
                      <p:childTnLst>
                        <p:par>
                          <p:cTn id="14" fill="hold">
                            <p:stCondLst>
                              <p:cond delay="0"/>
                            </p:stCondLst>
                            <p:childTnLst>
                              <p:par>
                                <p:cTn id="15" presetID="26" presetClass="emph" presetSubtype="0" fill="hold" grpId="2" nodeType="clickEffect">
                                  <p:stCondLst>
                                    <p:cond delay="0"/>
                                  </p:stCondLst>
                                  <p:childTnLst>
                                    <p:animEffect transition="out" filter="fade">
                                      <p:cBhvr>
                                        <p:cTn id="16" dur="50" tmFilter="0, 0; .2, .5; .8, .5; 1, 0"/>
                                        <p:tgtEl>
                                          <p:spTgt spid="5"/>
                                        </p:tgtEl>
                                      </p:cBhvr>
                                    </p:animEffect>
                                    <p:animScale>
                                      <p:cBhvr>
                                        <p:cTn id="17" dur="25" autoRev="1" fill="hold"/>
                                        <p:tgtEl>
                                          <p:spTgt spid="5"/>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5" grpId="1" animBg="1"/>
      <p:bldP spid="5" grpId="2"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0409" y="142852"/>
            <a:ext cx="11808007" cy="6572296"/>
          </a:xfrm>
        </p:spPr>
        <p:txBody>
          <a:bodyPr/>
          <a:lstStyle/>
          <a:p>
            <a:pPr algn="ctr">
              <a:buNone/>
            </a:pPr>
            <a:r>
              <a:rPr lang="en-IN" u="sng" dirty="0">
                <a:solidFill>
                  <a:srgbClr val="FF0000"/>
                </a:solidFill>
                <a:latin typeface="Times New Roman" pitchFamily="18" charset="0"/>
                <a:cs typeface="Times New Roman" pitchFamily="18" charset="0"/>
              </a:rPr>
              <a:t>OPEN LOOP SYSTEM  v/s  CLOSED LOOP SYSTEM</a:t>
            </a:r>
          </a:p>
          <a:p>
            <a:pPr algn="ctr">
              <a:buNone/>
            </a:pPr>
            <a:endParaRPr lang="en-IN" u="sng" dirty="0">
              <a:solidFill>
                <a:srgbClr val="FF0000"/>
              </a:solidFill>
            </a:endParaRPr>
          </a:p>
        </p:txBody>
      </p:sp>
      <p:sp>
        <p:nvSpPr>
          <p:cNvPr id="4" name="Footer Placeholder 3"/>
          <p:cNvSpPr>
            <a:spLocks noGrp="1"/>
          </p:cNvSpPr>
          <p:nvPr>
            <p:ph type="ftr" sz="quarter" idx="11"/>
          </p:nvPr>
        </p:nvSpPr>
        <p:spPr>
          <a:xfrm>
            <a:off x="2475830" y="6356351"/>
            <a:ext cx="7522843" cy="365125"/>
          </a:xfrm>
        </p:spPr>
        <p:txBody>
          <a:bodyPr/>
          <a:lstStyle/>
          <a:p>
            <a:r>
              <a:rPr lang="en-US">
                <a:solidFill>
                  <a:schemeClr val="tx1"/>
                </a:solidFill>
              </a:rPr>
              <a:t>SYED HASAN SAEED, INTEGRAL UNIVERSITY, LUCKNOW, INDIA</a:t>
            </a:r>
            <a:endParaRPr lang="en-IN" dirty="0">
              <a:solidFill>
                <a:schemeClr val="tx1"/>
              </a:solidFill>
            </a:endParaRPr>
          </a:p>
        </p:txBody>
      </p:sp>
      <p:graphicFrame>
        <p:nvGraphicFramePr>
          <p:cNvPr id="6" name="Table 5"/>
          <p:cNvGraphicFramePr>
            <a:graphicFrameLocks noGrp="1"/>
          </p:cNvGraphicFramePr>
          <p:nvPr/>
        </p:nvGraphicFramePr>
        <p:xfrm>
          <a:off x="476087" y="857233"/>
          <a:ext cx="11331916" cy="5429288"/>
        </p:xfrm>
        <a:graphic>
          <a:graphicData uri="http://schemas.openxmlformats.org/drawingml/2006/table">
            <a:tbl>
              <a:tblPr firstRow="1" bandRow="1">
                <a:tableStyleId>{5C22544A-7EE6-4342-B048-85BDC9FD1C3A}</a:tableStyleId>
              </a:tblPr>
              <a:tblGrid>
                <a:gridCol w="1474068">
                  <a:extLst>
                    <a:ext uri="{9D8B030D-6E8A-4147-A177-3AD203B41FA5}">
                      <a16:colId xmlns:a16="http://schemas.microsoft.com/office/drawing/2014/main" val="20000"/>
                    </a:ext>
                  </a:extLst>
                </a:gridCol>
                <a:gridCol w="4514343">
                  <a:extLst>
                    <a:ext uri="{9D8B030D-6E8A-4147-A177-3AD203B41FA5}">
                      <a16:colId xmlns:a16="http://schemas.microsoft.com/office/drawing/2014/main" val="20001"/>
                    </a:ext>
                  </a:extLst>
                </a:gridCol>
                <a:gridCol w="5343505">
                  <a:extLst>
                    <a:ext uri="{9D8B030D-6E8A-4147-A177-3AD203B41FA5}">
                      <a16:colId xmlns:a16="http://schemas.microsoft.com/office/drawing/2014/main" val="20002"/>
                    </a:ext>
                  </a:extLst>
                </a:gridCol>
              </a:tblGrid>
              <a:tr h="883551">
                <a:tc>
                  <a:txBody>
                    <a:bodyPr/>
                    <a:lstStyle/>
                    <a:p>
                      <a:pPr algn="ctr"/>
                      <a:r>
                        <a:rPr lang="en-US" sz="2800" dirty="0">
                          <a:latin typeface="Times New Roman" pitchFamily="18" charset="0"/>
                          <a:cs typeface="Times New Roman" pitchFamily="18" charset="0"/>
                        </a:rPr>
                        <a:t>S.NO.</a:t>
                      </a:r>
                    </a:p>
                  </a:txBody>
                  <a:tcPr marL="121888" marR="121888"/>
                </a:tc>
                <a:tc>
                  <a:txBody>
                    <a:bodyPr/>
                    <a:lstStyle/>
                    <a:p>
                      <a:pPr algn="l"/>
                      <a:r>
                        <a:rPr lang="en-US" sz="2800" dirty="0">
                          <a:latin typeface="Times New Roman" pitchFamily="18" charset="0"/>
                          <a:cs typeface="Times New Roman" pitchFamily="18" charset="0"/>
                        </a:rPr>
                        <a:t>OPEN LOOP SYSTEM</a:t>
                      </a:r>
                    </a:p>
                  </a:txBody>
                  <a:tcPr marL="121888" marR="121888"/>
                </a:tc>
                <a:tc>
                  <a:txBody>
                    <a:bodyPr/>
                    <a:lstStyle/>
                    <a:p>
                      <a:pPr algn="l"/>
                      <a:r>
                        <a:rPr lang="en-US" sz="2800" dirty="0">
                          <a:latin typeface="Times New Roman" pitchFamily="18" charset="0"/>
                          <a:cs typeface="Times New Roman" pitchFamily="18" charset="0"/>
                        </a:rPr>
                        <a:t>CLOSED LOOP SYSTEM</a:t>
                      </a:r>
                    </a:p>
                  </a:txBody>
                  <a:tcPr marL="121888" marR="121888"/>
                </a:tc>
                <a:extLst>
                  <a:ext uri="{0D108BD9-81ED-4DB2-BD59-A6C34878D82A}">
                    <a16:rowId xmlns:a16="http://schemas.microsoft.com/office/drawing/2014/main" val="10000"/>
                  </a:ext>
                </a:extLst>
              </a:tr>
              <a:tr h="883551">
                <a:tc>
                  <a:txBody>
                    <a:bodyPr/>
                    <a:lstStyle/>
                    <a:p>
                      <a:pPr algn="ctr"/>
                      <a:r>
                        <a:rPr lang="en-US" sz="2800" dirty="0">
                          <a:latin typeface="Times New Roman" pitchFamily="18" charset="0"/>
                          <a:cs typeface="Times New Roman" pitchFamily="18" charset="0"/>
                        </a:rPr>
                        <a:t>1.</a:t>
                      </a:r>
                    </a:p>
                  </a:txBody>
                  <a:tcPr marL="121888" marR="121888"/>
                </a:tc>
                <a:tc>
                  <a:txBody>
                    <a:bodyPr/>
                    <a:lstStyle/>
                    <a:p>
                      <a:pPr algn="ctr"/>
                      <a:r>
                        <a:rPr lang="en-US" sz="2800" dirty="0">
                          <a:latin typeface="Times New Roman" pitchFamily="18" charset="0"/>
                          <a:cs typeface="Times New Roman" pitchFamily="18" charset="0"/>
                        </a:rPr>
                        <a:t>These are not reliable</a:t>
                      </a:r>
                    </a:p>
                  </a:txBody>
                  <a:tcPr marL="121888" marR="121888"/>
                </a:tc>
                <a:tc>
                  <a:txBody>
                    <a:bodyPr/>
                    <a:lstStyle/>
                    <a:p>
                      <a:pPr algn="ctr"/>
                      <a:r>
                        <a:rPr lang="en-US" sz="2800" dirty="0">
                          <a:latin typeface="Times New Roman" pitchFamily="18" charset="0"/>
                          <a:cs typeface="Times New Roman" pitchFamily="18" charset="0"/>
                        </a:rPr>
                        <a:t>These</a:t>
                      </a:r>
                      <a:r>
                        <a:rPr lang="en-US" sz="2800" baseline="0" dirty="0">
                          <a:latin typeface="Times New Roman" pitchFamily="18" charset="0"/>
                          <a:cs typeface="Times New Roman" pitchFamily="18" charset="0"/>
                        </a:rPr>
                        <a:t> are reliable</a:t>
                      </a:r>
                      <a:endParaRPr lang="en-US" sz="2800" dirty="0">
                        <a:latin typeface="Times New Roman" pitchFamily="18" charset="0"/>
                        <a:cs typeface="Times New Roman" pitchFamily="18" charset="0"/>
                      </a:endParaRPr>
                    </a:p>
                  </a:txBody>
                  <a:tcPr marL="121888" marR="121888"/>
                </a:tc>
                <a:extLst>
                  <a:ext uri="{0D108BD9-81ED-4DB2-BD59-A6C34878D82A}">
                    <a16:rowId xmlns:a16="http://schemas.microsoft.com/office/drawing/2014/main" val="10001"/>
                  </a:ext>
                </a:extLst>
              </a:tr>
              <a:tr h="883551">
                <a:tc>
                  <a:txBody>
                    <a:bodyPr/>
                    <a:lstStyle/>
                    <a:p>
                      <a:pPr algn="ctr"/>
                      <a:r>
                        <a:rPr lang="en-US" sz="2800" dirty="0">
                          <a:latin typeface="Times New Roman" pitchFamily="18" charset="0"/>
                          <a:cs typeface="Times New Roman" pitchFamily="18" charset="0"/>
                        </a:rPr>
                        <a:t>2.</a:t>
                      </a:r>
                    </a:p>
                  </a:txBody>
                  <a:tcPr marL="121888" marR="121888"/>
                </a:tc>
                <a:tc>
                  <a:txBody>
                    <a:bodyPr/>
                    <a:lstStyle/>
                    <a:p>
                      <a:pPr algn="ctr"/>
                      <a:r>
                        <a:rPr lang="en-US" sz="2800" dirty="0">
                          <a:latin typeface="Times New Roman" pitchFamily="18" charset="0"/>
                          <a:cs typeface="Times New Roman" pitchFamily="18" charset="0"/>
                        </a:rPr>
                        <a:t>It is easier to build</a:t>
                      </a:r>
                    </a:p>
                  </a:txBody>
                  <a:tcPr marL="121888" marR="121888"/>
                </a:tc>
                <a:tc>
                  <a:txBody>
                    <a:bodyPr/>
                    <a:lstStyle/>
                    <a:p>
                      <a:pPr algn="ctr"/>
                      <a:r>
                        <a:rPr lang="en-US" sz="2800" dirty="0">
                          <a:latin typeface="Times New Roman" pitchFamily="18" charset="0"/>
                          <a:cs typeface="Times New Roman" pitchFamily="18" charset="0"/>
                        </a:rPr>
                        <a:t>It is difficult to build</a:t>
                      </a:r>
                    </a:p>
                  </a:txBody>
                  <a:tcPr marL="121888" marR="121888"/>
                </a:tc>
                <a:extLst>
                  <a:ext uri="{0D108BD9-81ED-4DB2-BD59-A6C34878D82A}">
                    <a16:rowId xmlns:a16="http://schemas.microsoft.com/office/drawing/2014/main" val="10002"/>
                  </a:ext>
                </a:extLst>
              </a:tr>
              <a:tr h="947542">
                <a:tc>
                  <a:txBody>
                    <a:bodyPr/>
                    <a:lstStyle/>
                    <a:p>
                      <a:pPr algn="ctr"/>
                      <a:r>
                        <a:rPr lang="en-US" sz="2800" dirty="0">
                          <a:latin typeface="Times New Roman" pitchFamily="18" charset="0"/>
                          <a:cs typeface="Times New Roman" pitchFamily="18" charset="0"/>
                        </a:rPr>
                        <a:t>3.</a:t>
                      </a:r>
                    </a:p>
                  </a:txBody>
                  <a:tcPr marL="121888" marR="121888"/>
                </a:tc>
                <a:tc>
                  <a:txBody>
                    <a:bodyPr/>
                    <a:lstStyle/>
                    <a:p>
                      <a:pPr algn="ctr"/>
                      <a:r>
                        <a:rPr lang="en-US" sz="2800" dirty="0">
                          <a:latin typeface="Times New Roman" pitchFamily="18" charset="0"/>
                          <a:cs typeface="Times New Roman" pitchFamily="18" charset="0"/>
                        </a:rPr>
                        <a:t>They Consume less power (in</a:t>
                      </a:r>
                      <a:r>
                        <a:rPr lang="en-US" sz="2800" baseline="0" dirty="0">
                          <a:latin typeface="Times New Roman" pitchFamily="18" charset="0"/>
                          <a:cs typeface="Times New Roman" pitchFamily="18" charset="0"/>
                        </a:rPr>
                        <a:t> control circuit)</a:t>
                      </a:r>
                      <a:endParaRPr lang="en-US" sz="2800" dirty="0">
                        <a:latin typeface="Times New Roman" pitchFamily="18" charset="0"/>
                        <a:cs typeface="Times New Roman" pitchFamily="18" charset="0"/>
                      </a:endParaRPr>
                    </a:p>
                  </a:txBody>
                  <a:tcPr marL="121888" marR="121888"/>
                </a:tc>
                <a:tc>
                  <a:txBody>
                    <a:bodyPr/>
                    <a:lstStyle/>
                    <a:p>
                      <a:pPr algn="ctr"/>
                      <a:r>
                        <a:rPr lang="en-US" sz="2800" dirty="0">
                          <a:latin typeface="Times New Roman" pitchFamily="18" charset="0"/>
                          <a:cs typeface="Times New Roman" pitchFamily="18" charset="0"/>
                        </a:rPr>
                        <a:t>They Consume more power</a:t>
                      </a:r>
                    </a:p>
                  </a:txBody>
                  <a:tcPr marL="121888" marR="121888"/>
                </a:tc>
                <a:extLst>
                  <a:ext uri="{0D108BD9-81ED-4DB2-BD59-A6C34878D82A}">
                    <a16:rowId xmlns:a16="http://schemas.microsoft.com/office/drawing/2014/main" val="10003"/>
                  </a:ext>
                </a:extLst>
              </a:tr>
              <a:tr h="883551">
                <a:tc>
                  <a:txBody>
                    <a:bodyPr/>
                    <a:lstStyle/>
                    <a:p>
                      <a:pPr algn="ctr"/>
                      <a:r>
                        <a:rPr lang="en-US" sz="2800" dirty="0">
                          <a:latin typeface="Times New Roman" pitchFamily="18" charset="0"/>
                          <a:cs typeface="Times New Roman" pitchFamily="18" charset="0"/>
                        </a:rPr>
                        <a:t>4.</a:t>
                      </a:r>
                    </a:p>
                  </a:txBody>
                  <a:tcPr marL="121888" marR="121888"/>
                </a:tc>
                <a:tc>
                  <a:txBody>
                    <a:bodyPr/>
                    <a:lstStyle/>
                    <a:p>
                      <a:pPr algn="ctr"/>
                      <a:r>
                        <a:rPr lang="en-US" sz="2800" dirty="0">
                          <a:latin typeface="Times New Roman" pitchFamily="18" charset="0"/>
                          <a:cs typeface="Times New Roman" pitchFamily="18" charset="0"/>
                        </a:rPr>
                        <a:t>They are more stable</a:t>
                      </a:r>
                    </a:p>
                  </a:txBody>
                  <a:tcPr marL="121888" marR="121888"/>
                </a:tc>
                <a:tc>
                  <a:txBody>
                    <a:bodyPr/>
                    <a:lstStyle/>
                    <a:p>
                      <a:pPr algn="ctr"/>
                      <a:r>
                        <a:rPr lang="en-US" sz="2800" dirty="0">
                          <a:latin typeface="Times New Roman" pitchFamily="18" charset="0"/>
                          <a:cs typeface="Times New Roman" pitchFamily="18" charset="0"/>
                        </a:rPr>
                        <a:t>These are less stable</a:t>
                      </a:r>
                    </a:p>
                  </a:txBody>
                  <a:tcPr marL="121888" marR="121888"/>
                </a:tc>
                <a:extLst>
                  <a:ext uri="{0D108BD9-81ED-4DB2-BD59-A6C34878D82A}">
                    <a16:rowId xmlns:a16="http://schemas.microsoft.com/office/drawing/2014/main" val="10004"/>
                  </a:ext>
                </a:extLst>
              </a:tr>
              <a:tr h="947542">
                <a:tc>
                  <a:txBody>
                    <a:bodyPr/>
                    <a:lstStyle/>
                    <a:p>
                      <a:pPr algn="ctr"/>
                      <a:r>
                        <a:rPr lang="en-US" sz="2800" dirty="0">
                          <a:latin typeface="Times New Roman" pitchFamily="18" charset="0"/>
                          <a:cs typeface="Times New Roman" pitchFamily="18" charset="0"/>
                        </a:rPr>
                        <a:t>5.</a:t>
                      </a:r>
                    </a:p>
                  </a:txBody>
                  <a:tcPr marL="121888" marR="121888"/>
                </a:tc>
                <a:tc>
                  <a:txBody>
                    <a:bodyPr/>
                    <a:lstStyle/>
                    <a:p>
                      <a:pPr algn="ctr"/>
                      <a:r>
                        <a:rPr lang="en-US" sz="2800" dirty="0">
                          <a:latin typeface="Times New Roman" pitchFamily="18" charset="0"/>
                          <a:cs typeface="Times New Roman" pitchFamily="18" charset="0"/>
                        </a:rPr>
                        <a:t>Optimization is not possible</a:t>
                      </a:r>
                    </a:p>
                  </a:txBody>
                  <a:tcPr marL="121888" marR="121888"/>
                </a:tc>
                <a:tc>
                  <a:txBody>
                    <a:bodyPr/>
                    <a:lstStyle/>
                    <a:p>
                      <a:pPr algn="ctr"/>
                      <a:r>
                        <a:rPr lang="en-US" sz="2800" dirty="0">
                          <a:latin typeface="Times New Roman" pitchFamily="18" charset="0"/>
                          <a:cs typeface="Times New Roman" pitchFamily="18" charset="0"/>
                        </a:rPr>
                        <a:t>Optimization is possible</a:t>
                      </a:r>
                    </a:p>
                  </a:txBody>
                  <a:tcPr marL="121888" marR="121888"/>
                </a:tc>
                <a:extLst>
                  <a:ext uri="{0D108BD9-81ED-4DB2-BD59-A6C34878D82A}">
                    <a16:rowId xmlns:a16="http://schemas.microsoft.com/office/drawing/2014/main" val="10005"/>
                  </a:ext>
                </a:extLst>
              </a:tr>
            </a:tbl>
          </a:graphicData>
        </a:graphic>
      </p:graphicFrame>
      <p:sp>
        <p:nvSpPr>
          <p:cNvPr id="5" name="Slide Number Placeholder 4"/>
          <p:cNvSpPr>
            <a:spLocks noGrp="1"/>
          </p:cNvSpPr>
          <p:nvPr>
            <p:ph type="sldNum" sz="quarter" idx="12"/>
          </p:nvPr>
        </p:nvSpPr>
        <p:spPr/>
        <p:txBody>
          <a:bodyPr/>
          <a:lstStyle/>
          <a:p>
            <a:fld id="{794472C8-07AE-4D03-9F73-512FB105EB04}" type="slidenum">
              <a:rPr lang="en-IN" smtClean="0"/>
              <a:pPr/>
              <a:t>31</a:t>
            </a:fld>
            <a:endParaRPr lang="en-IN"/>
          </a:p>
        </p:txBody>
      </p:sp>
    </p:spTree>
  </p:cSld>
  <p:clrMapOvr>
    <a:masterClrMapping/>
  </p:clrMapOvr>
  <p:transition advTm="203"/>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5635" y="214290"/>
            <a:ext cx="11617555" cy="1071570"/>
          </a:xfrm>
        </p:spPr>
        <p:txBody>
          <a:bodyPr>
            <a:normAutofit/>
          </a:bodyPr>
          <a:lstStyle/>
          <a:p>
            <a:r>
              <a:rPr lang="en-US" sz="2800" u="sng" dirty="0">
                <a:solidFill>
                  <a:srgbClr val="FF0000"/>
                </a:solidFill>
                <a:latin typeface="Times New Roman" pitchFamily="18" charset="0"/>
                <a:cs typeface="Times New Roman" pitchFamily="18" charset="0"/>
              </a:rPr>
              <a:t>COMPONENTS OF CLOSED LOOP SYSTEMS</a:t>
            </a:r>
          </a:p>
        </p:txBody>
      </p:sp>
      <p:sp>
        <p:nvSpPr>
          <p:cNvPr id="3" name="Content Placeholder 2"/>
          <p:cNvSpPr>
            <a:spLocks noGrp="1"/>
          </p:cNvSpPr>
          <p:nvPr>
            <p:ph idx="1"/>
          </p:nvPr>
        </p:nvSpPr>
        <p:spPr>
          <a:xfrm>
            <a:off x="285635" y="1285860"/>
            <a:ext cx="11712781" cy="5072098"/>
          </a:xfrm>
        </p:spPr>
        <p:txBody>
          <a:bodyPr/>
          <a:lstStyle/>
          <a:p>
            <a:pPr>
              <a:buNone/>
            </a:pPr>
            <a:endParaRPr lang="en-US" dirty="0"/>
          </a:p>
          <a:p>
            <a:pPr>
              <a:buNone/>
            </a:pPr>
            <a:endParaRPr lang="en-US" dirty="0"/>
          </a:p>
          <a:p>
            <a:pPr>
              <a:buNone/>
            </a:pPr>
            <a:r>
              <a:rPr lang="en-US" dirty="0"/>
              <a:t>                             </a:t>
            </a:r>
          </a:p>
          <a:p>
            <a:pPr>
              <a:buNone/>
            </a:pPr>
            <a:endParaRPr lang="en-US" dirty="0"/>
          </a:p>
        </p:txBody>
      </p:sp>
      <p:sp>
        <p:nvSpPr>
          <p:cNvPr id="4" name="Footer Placeholder 3"/>
          <p:cNvSpPr>
            <a:spLocks noGrp="1"/>
          </p:cNvSpPr>
          <p:nvPr>
            <p:ph type="ftr" sz="quarter" idx="11"/>
          </p:nvPr>
        </p:nvSpPr>
        <p:spPr/>
        <p:txBody>
          <a:bodyPr/>
          <a:lstStyle/>
          <a:p>
            <a:r>
              <a:rPr lang="en-US">
                <a:solidFill>
                  <a:schemeClr val="tx1"/>
                </a:solidFill>
              </a:rPr>
              <a:t>SYED HASAN SAEED, INTEGRAL UNIVERSITY, LUCKNOW, INDIA</a:t>
            </a:r>
            <a:endParaRPr lang="en-IN" dirty="0">
              <a:solidFill>
                <a:schemeClr val="tx1"/>
              </a:solidFill>
            </a:endParaRPr>
          </a:p>
        </p:txBody>
      </p:sp>
      <p:sp>
        <p:nvSpPr>
          <p:cNvPr id="5" name="Rectangle 4"/>
          <p:cNvSpPr/>
          <p:nvPr/>
        </p:nvSpPr>
        <p:spPr>
          <a:xfrm>
            <a:off x="7427575" y="2357430"/>
            <a:ext cx="2475872" cy="1057276"/>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7618026" y="2500307"/>
            <a:ext cx="2094969" cy="830997"/>
          </a:xfrm>
          <a:prstGeom prst="rect">
            <a:avLst/>
          </a:prstGeom>
          <a:noFill/>
        </p:spPr>
        <p:txBody>
          <a:bodyPr wrap="square" rtlCol="0">
            <a:spAutoFit/>
          </a:bodyPr>
          <a:lstStyle/>
          <a:p>
            <a:r>
              <a:rPr lang="en-US" sz="2400" dirty="0"/>
              <a:t>Controlled system</a:t>
            </a:r>
          </a:p>
        </p:txBody>
      </p:sp>
      <p:cxnSp>
        <p:nvCxnSpPr>
          <p:cNvPr id="8" name="Straight Arrow Connector 7"/>
          <p:cNvCxnSpPr>
            <a:stCxn id="5" idx="3"/>
          </p:cNvCxnSpPr>
          <p:nvPr/>
        </p:nvCxnSpPr>
        <p:spPr>
          <a:xfrm>
            <a:off x="9903447" y="2886068"/>
            <a:ext cx="1618840"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9" name="Rectangle 8"/>
          <p:cNvSpPr/>
          <p:nvPr/>
        </p:nvSpPr>
        <p:spPr>
          <a:xfrm>
            <a:off x="5237380" y="2357430"/>
            <a:ext cx="1809291" cy="107157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p:cNvSpPr txBox="1"/>
          <p:nvPr/>
        </p:nvSpPr>
        <p:spPr>
          <a:xfrm>
            <a:off x="5450263" y="2500306"/>
            <a:ext cx="1999743" cy="785818"/>
          </a:xfrm>
          <a:prstGeom prst="rect">
            <a:avLst/>
          </a:prstGeom>
          <a:noFill/>
        </p:spPr>
        <p:txBody>
          <a:bodyPr wrap="square" rtlCol="0">
            <a:spAutoFit/>
          </a:bodyPr>
          <a:lstStyle/>
          <a:p>
            <a:r>
              <a:rPr lang="en-US" sz="2200" dirty="0"/>
              <a:t>Controlled</a:t>
            </a:r>
          </a:p>
          <a:p>
            <a:r>
              <a:rPr lang="en-US" sz="2200" dirty="0"/>
              <a:t>Element</a:t>
            </a:r>
          </a:p>
        </p:txBody>
      </p:sp>
      <p:cxnSp>
        <p:nvCxnSpPr>
          <p:cNvPr id="12" name="Straight Arrow Connector 11"/>
          <p:cNvCxnSpPr/>
          <p:nvPr/>
        </p:nvCxnSpPr>
        <p:spPr>
          <a:xfrm flipV="1">
            <a:off x="7046671" y="2928934"/>
            <a:ext cx="365665"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3" name="Oval 12"/>
          <p:cNvSpPr/>
          <p:nvPr/>
        </p:nvSpPr>
        <p:spPr>
          <a:xfrm>
            <a:off x="3808992" y="2571744"/>
            <a:ext cx="952259" cy="71438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7" name="Straight Connector 16"/>
          <p:cNvCxnSpPr>
            <a:stCxn id="13" idx="1"/>
            <a:endCxn id="13" idx="5"/>
          </p:cNvCxnSpPr>
          <p:nvPr/>
        </p:nvCxnSpPr>
        <p:spPr>
          <a:xfrm rot="16200000" flipH="1">
            <a:off x="4032549" y="2592261"/>
            <a:ext cx="505144" cy="673347"/>
          </a:xfrm>
          <a:prstGeom prst="line">
            <a:avLst/>
          </a:prstGeom>
        </p:spPr>
        <p:style>
          <a:lnRef idx="1">
            <a:schemeClr val="accent1"/>
          </a:lnRef>
          <a:fillRef idx="0">
            <a:schemeClr val="accent1"/>
          </a:fillRef>
          <a:effectRef idx="0">
            <a:schemeClr val="accent1"/>
          </a:effectRef>
          <a:fontRef idx="minor">
            <a:schemeClr val="tx1"/>
          </a:fontRef>
        </p:style>
      </p:cxnSp>
      <p:cxnSp>
        <p:nvCxnSpPr>
          <p:cNvPr id="19" name="Straight Connector 18"/>
          <p:cNvCxnSpPr>
            <a:stCxn id="13" idx="3"/>
            <a:endCxn id="13" idx="7"/>
          </p:cNvCxnSpPr>
          <p:nvPr/>
        </p:nvCxnSpPr>
        <p:spPr>
          <a:xfrm rot="5400000" flipH="1" flipV="1">
            <a:off x="4032549" y="2592261"/>
            <a:ext cx="505144" cy="673347"/>
          </a:xfrm>
          <a:prstGeom prst="line">
            <a:avLst/>
          </a:prstGeom>
        </p:spPr>
        <p:style>
          <a:lnRef idx="1">
            <a:schemeClr val="accent1"/>
          </a:lnRef>
          <a:fillRef idx="0">
            <a:schemeClr val="accent1"/>
          </a:fillRef>
          <a:effectRef idx="0">
            <a:schemeClr val="accent1"/>
          </a:effectRef>
          <a:fontRef idx="minor">
            <a:schemeClr val="tx1"/>
          </a:fontRef>
        </p:style>
      </p:cxnSp>
      <p:cxnSp>
        <p:nvCxnSpPr>
          <p:cNvPr id="29" name="Straight Arrow Connector 28"/>
          <p:cNvCxnSpPr>
            <a:stCxn id="13" idx="6"/>
          </p:cNvCxnSpPr>
          <p:nvPr/>
        </p:nvCxnSpPr>
        <p:spPr>
          <a:xfrm>
            <a:off x="4761250" y="2928934"/>
            <a:ext cx="487553"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31" name="Rectangle 30"/>
          <p:cNvSpPr/>
          <p:nvPr/>
        </p:nvSpPr>
        <p:spPr>
          <a:xfrm>
            <a:off x="5713509" y="3786190"/>
            <a:ext cx="2761550" cy="100013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3" name="Straight Arrow Connector 32"/>
          <p:cNvCxnSpPr>
            <a:endCxn id="31" idx="3"/>
          </p:cNvCxnSpPr>
          <p:nvPr/>
        </p:nvCxnSpPr>
        <p:spPr>
          <a:xfrm rot="10800000">
            <a:off x="8475059" y="4286256"/>
            <a:ext cx="1999743"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5" name="Straight Connector 34"/>
          <p:cNvCxnSpPr/>
          <p:nvPr/>
        </p:nvCxnSpPr>
        <p:spPr>
          <a:xfrm rot="5400000" flipH="1" flipV="1">
            <a:off x="9760422" y="3571611"/>
            <a:ext cx="1428760" cy="2117"/>
          </a:xfrm>
          <a:prstGeom prst="line">
            <a:avLst/>
          </a:prstGeom>
        </p:spPr>
        <p:style>
          <a:lnRef idx="1">
            <a:schemeClr val="accent1"/>
          </a:lnRef>
          <a:fillRef idx="0">
            <a:schemeClr val="accent1"/>
          </a:fillRef>
          <a:effectRef idx="0">
            <a:schemeClr val="accent1"/>
          </a:effectRef>
          <a:fontRef idx="minor">
            <a:schemeClr val="tx1"/>
          </a:fontRef>
        </p:style>
      </p:cxnSp>
      <p:cxnSp>
        <p:nvCxnSpPr>
          <p:cNvPr id="39" name="Straight Arrow Connector 38"/>
          <p:cNvCxnSpPr>
            <a:endCxn id="13" idx="4"/>
          </p:cNvCxnSpPr>
          <p:nvPr/>
        </p:nvCxnSpPr>
        <p:spPr>
          <a:xfrm rot="16200000" flipV="1">
            <a:off x="3785055" y="3786190"/>
            <a:ext cx="1000132"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1" name="Straight Connector 40"/>
          <p:cNvCxnSpPr>
            <a:endCxn id="31" idx="1"/>
          </p:cNvCxnSpPr>
          <p:nvPr/>
        </p:nvCxnSpPr>
        <p:spPr>
          <a:xfrm>
            <a:off x="4285121" y="4286256"/>
            <a:ext cx="1428388" cy="1588"/>
          </a:xfrm>
          <a:prstGeom prst="line">
            <a:avLst/>
          </a:prstGeom>
        </p:spPr>
        <p:style>
          <a:lnRef idx="1">
            <a:schemeClr val="accent1"/>
          </a:lnRef>
          <a:fillRef idx="0">
            <a:schemeClr val="accent1"/>
          </a:fillRef>
          <a:effectRef idx="0">
            <a:schemeClr val="accent1"/>
          </a:effectRef>
          <a:fontRef idx="minor">
            <a:schemeClr val="tx1"/>
          </a:fontRef>
        </p:style>
      </p:cxnSp>
      <p:sp>
        <p:nvSpPr>
          <p:cNvPr id="42" name="TextBox 41"/>
          <p:cNvSpPr txBox="1"/>
          <p:nvPr/>
        </p:nvSpPr>
        <p:spPr>
          <a:xfrm>
            <a:off x="6094412" y="3857629"/>
            <a:ext cx="2380647" cy="830997"/>
          </a:xfrm>
          <a:prstGeom prst="rect">
            <a:avLst/>
          </a:prstGeom>
          <a:noFill/>
        </p:spPr>
        <p:txBody>
          <a:bodyPr wrap="square" rtlCol="0">
            <a:spAutoFit/>
          </a:bodyPr>
          <a:lstStyle/>
          <a:p>
            <a:r>
              <a:rPr lang="en-US" sz="2400" dirty="0"/>
              <a:t>Feedback Element</a:t>
            </a:r>
          </a:p>
        </p:txBody>
      </p:sp>
      <p:sp>
        <p:nvSpPr>
          <p:cNvPr id="44" name="Rectangle 43"/>
          <p:cNvSpPr/>
          <p:nvPr/>
        </p:nvSpPr>
        <p:spPr>
          <a:xfrm>
            <a:off x="1809248" y="2428868"/>
            <a:ext cx="1714066" cy="92869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6" name="Straight Arrow Connector 45"/>
          <p:cNvCxnSpPr>
            <a:stCxn id="44" idx="3"/>
            <a:endCxn id="13" idx="2"/>
          </p:cNvCxnSpPr>
          <p:nvPr/>
        </p:nvCxnSpPr>
        <p:spPr>
          <a:xfrm>
            <a:off x="3523314" y="2893215"/>
            <a:ext cx="285678"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9" name="Straight Arrow Connector 48"/>
          <p:cNvCxnSpPr>
            <a:endCxn id="44" idx="1"/>
          </p:cNvCxnSpPr>
          <p:nvPr/>
        </p:nvCxnSpPr>
        <p:spPr>
          <a:xfrm>
            <a:off x="380861" y="2857496"/>
            <a:ext cx="1428388"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51" name="TextBox 50"/>
          <p:cNvSpPr txBox="1"/>
          <p:nvPr/>
        </p:nvSpPr>
        <p:spPr>
          <a:xfrm>
            <a:off x="0" y="2500306"/>
            <a:ext cx="1809249" cy="707886"/>
          </a:xfrm>
          <a:prstGeom prst="rect">
            <a:avLst/>
          </a:prstGeom>
          <a:noFill/>
        </p:spPr>
        <p:txBody>
          <a:bodyPr wrap="square" rtlCol="0">
            <a:spAutoFit/>
          </a:bodyPr>
          <a:lstStyle/>
          <a:p>
            <a:r>
              <a:rPr lang="en-US" sz="2000" dirty="0"/>
              <a:t>Command</a:t>
            </a:r>
          </a:p>
          <a:p>
            <a:r>
              <a:rPr lang="en-US" sz="2000" dirty="0"/>
              <a:t>Input</a:t>
            </a:r>
          </a:p>
        </p:txBody>
      </p:sp>
      <p:sp>
        <p:nvSpPr>
          <p:cNvPr id="52" name="TextBox 51"/>
          <p:cNvSpPr txBox="1"/>
          <p:nvPr/>
        </p:nvSpPr>
        <p:spPr>
          <a:xfrm>
            <a:off x="1999700" y="2536333"/>
            <a:ext cx="1428388" cy="707886"/>
          </a:xfrm>
          <a:prstGeom prst="rect">
            <a:avLst/>
          </a:prstGeom>
          <a:noFill/>
        </p:spPr>
        <p:txBody>
          <a:bodyPr wrap="square" rtlCol="0">
            <a:spAutoFit/>
          </a:bodyPr>
          <a:lstStyle/>
          <a:p>
            <a:r>
              <a:rPr lang="en-US" sz="2000" dirty="0"/>
              <a:t>Ref. Input </a:t>
            </a:r>
          </a:p>
          <a:p>
            <a:r>
              <a:rPr lang="en-US" sz="2000" dirty="0"/>
              <a:t>Element</a:t>
            </a:r>
          </a:p>
        </p:txBody>
      </p:sp>
      <p:sp>
        <p:nvSpPr>
          <p:cNvPr id="53" name="TextBox 52"/>
          <p:cNvSpPr txBox="1"/>
          <p:nvPr/>
        </p:nvSpPr>
        <p:spPr>
          <a:xfrm>
            <a:off x="3808992" y="2714620"/>
            <a:ext cx="571355" cy="369332"/>
          </a:xfrm>
          <a:prstGeom prst="rect">
            <a:avLst/>
          </a:prstGeom>
          <a:noFill/>
        </p:spPr>
        <p:txBody>
          <a:bodyPr wrap="square" rtlCol="0">
            <a:spAutoFit/>
          </a:bodyPr>
          <a:lstStyle/>
          <a:p>
            <a:r>
              <a:rPr lang="en-US" dirty="0"/>
              <a:t>+</a:t>
            </a:r>
          </a:p>
        </p:txBody>
      </p:sp>
      <p:sp>
        <p:nvSpPr>
          <p:cNvPr id="54" name="TextBox 53"/>
          <p:cNvSpPr txBox="1"/>
          <p:nvPr/>
        </p:nvSpPr>
        <p:spPr>
          <a:xfrm>
            <a:off x="4157512" y="2927069"/>
            <a:ext cx="642942" cy="646331"/>
          </a:xfrm>
          <a:prstGeom prst="rect">
            <a:avLst/>
          </a:prstGeom>
          <a:noFill/>
        </p:spPr>
        <p:txBody>
          <a:bodyPr wrap="square" rtlCol="0">
            <a:spAutoFit/>
          </a:bodyPr>
          <a:lstStyle/>
          <a:p>
            <a:r>
              <a:rPr lang="en-US" dirty="0"/>
              <a:t>-</a:t>
            </a:r>
          </a:p>
          <a:p>
            <a:endParaRPr lang="en-US" dirty="0"/>
          </a:p>
        </p:txBody>
      </p:sp>
      <p:sp>
        <p:nvSpPr>
          <p:cNvPr id="55" name="Slide Number Placeholder 54"/>
          <p:cNvSpPr>
            <a:spLocks noGrp="1"/>
          </p:cNvSpPr>
          <p:nvPr>
            <p:ph type="sldNum" sz="quarter" idx="12"/>
          </p:nvPr>
        </p:nvSpPr>
        <p:spPr/>
        <p:txBody>
          <a:bodyPr/>
          <a:lstStyle/>
          <a:p>
            <a:fld id="{794472C8-07AE-4D03-9F73-512FB105EB04}" type="slidenum">
              <a:rPr lang="en-IN" smtClean="0"/>
              <a:pPr/>
              <a:t>32</a:t>
            </a:fld>
            <a:endParaRPr lang="en-IN"/>
          </a:p>
        </p:txBody>
      </p:sp>
    </p:spTree>
  </p:cSld>
  <p:clrMapOvr>
    <a:masterClrMapping/>
  </p:clrMapOvr>
  <p:transition advTm="203"/>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85635" y="214290"/>
            <a:ext cx="11617555" cy="6143668"/>
          </a:xfrm>
        </p:spPr>
        <p:txBody>
          <a:bodyPr>
            <a:normAutofit/>
          </a:bodyPr>
          <a:lstStyle/>
          <a:p>
            <a:pPr algn="just">
              <a:buFont typeface="Wingdings" pitchFamily="2" charset="2"/>
              <a:buChar char="§"/>
            </a:pPr>
            <a:r>
              <a:rPr lang="en-US" sz="2800" dirty="0">
                <a:solidFill>
                  <a:srgbClr val="00B050"/>
                </a:solidFill>
                <a:latin typeface="Times New Roman" pitchFamily="18" charset="0"/>
                <a:cs typeface="Times New Roman" pitchFamily="18" charset="0"/>
              </a:rPr>
              <a:t>Command: </a:t>
            </a:r>
            <a:r>
              <a:rPr lang="en-US" sz="2800" dirty="0">
                <a:latin typeface="Times New Roman" pitchFamily="18" charset="0"/>
                <a:cs typeface="Times New Roman" pitchFamily="18" charset="0"/>
              </a:rPr>
              <a:t>The command is the externally produced input and independent of the feedback.</a:t>
            </a:r>
          </a:p>
          <a:p>
            <a:pPr algn="just">
              <a:buFont typeface="Wingdings" pitchFamily="2" charset="2"/>
              <a:buChar char="§"/>
            </a:pPr>
            <a:r>
              <a:rPr lang="en-US" sz="2800" dirty="0">
                <a:solidFill>
                  <a:srgbClr val="00B050"/>
                </a:solidFill>
                <a:latin typeface="Times New Roman" pitchFamily="18" charset="0"/>
                <a:cs typeface="Times New Roman" pitchFamily="18" charset="0"/>
              </a:rPr>
              <a:t>Reference input element: </a:t>
            </a:r>
            <a:r>
              <a:rPr lang="en-US" sz="2800" dirty="0">
                <a:latin typeface="Times New Roman" pitchFamily="18" charset="0"/>
                <a:cs typeface="Times New Roman" pitchFamily="18" charset="0"/>
              </a:rPr>
              <a:t>This produces the standard signals proportional to the command.</a:t>
            </a:r>
          </a:p>
          <a:p>
            <a:pPr algn="just">
              <a:buFont typeface="Wingdings" pitchFamily="2" charset="2"/>
              <a:buChar char="§"/>
            </a:pPr>
            <a:r>
              <a:rPr lang="en-US" sz="2800" dirty="0">
                <a:solidFill>
                  <a:srgbClr val="00B050"/>
                </a:solidFill>
                <a:latin typeface="Times New Roman" pitchFamily="18" charset="0"/>
                <a:cs typeface="Times New Roman" pitchFamily="18" charset="0"/>
              </a:rPr>
              <a:t>Control element: </a:t>
            </a:r>
            <a:r>
              <a:rPr lang="en-US" sz="2800" dirty="0">
                <a:latin typeface="Times New Roman" pitchFamily="18" charset="0"/>
                <a:cs typeface="Times New Roman" pitchFamily="18" charset="0"/>
              </a:rPr>
              <a:t>This regulate the output according to the signal obtained from error detector.</a:t>
            </a:r>
          </a:p>
          <a:p>
            <a:pPr algn="just">
              <a:buFont typeface="Wingdings" pitchFamily="2" charset="2"/>
              <a:buChar char="§"/>
            </a:pPr>
            <a:r>
              <a:rPr lang="en-US" sz="2800" dirty="0">
                <a:solidFill>
                  <a:srgbClr val="00B050"/>
                </a:solidFill>
                <a:latin typeface="Times New Roman" pitchFamily="18" charset="0"/>
                <a:cs typeface="Times New Roman" pitchFamily="18" charset="0"/>
              </a:rPr>
              <a:t>Controlled System: </a:t>
            </a:r>
            <a:r>
              <a:rPr lang="en-US" sz="2800" dirty="0">
                <a:latin typeface="Times New Roman" pitchFamily="18" charset="0"/>
                <a:cs typeface="Times New Roman" pitchFamily="18" charset="0"/>
              </a:rPr>
              <a:t>This represents what we are controlling by the feedback loop.</a:t>
            </a:r>
          </a:p>
          <a:p>
            <a:pPr algn="just">
              <a:buFont typeface="Wingdings" pitchFamily="2" charset="2"/>
              <a:buChar char="§"/>
            </a:pPr>
            <a:r>
              <a:rPr lang="en-US" sz="2800" dirty="0">
                <a:solidFill>
                  <a:srgbClr val="00B050"/>
                </a:solidFill>
                <a:latin typeface="Times New Roman" pitchFamily="18" charset="0"/>
                <a:cs typeface="Times New Roman" pitchFamily="18" charset="0"/>
              </a:rPr>
              <a:t>Feedback Element: </a:t>
            </a:r>
            <a:r>
              <a:rPr lang="en-US" sz="2800" dirty="0">
                <a:latin typeface="Times New Roman" pitchFamily="18" charset="0"/>
                <a:cs typeface="Times New Roman" pitchFamily="18" charset="0"/>
              </a:rPr>
              <a:t>This element fed back the output to the error detector for comparison with the reference input.</a:t>
            </a:r>
          </a:p>
        </p:txBody>
      </p:sp>
      <p:sp>
        <p:nvSpPr>
          <p:cNvPr id="4" name="Footer Placeholder 3"/>
          <p:cNvSpPr>
            <a:spLocks noGrp="1"/>
          </p:cNvSpPr>
          <p:nvPr>
            <p:ph type="ftr" sz="quarter" idx="11"/>
          </p:nvPr>
        </p:nvSpPr>
        <p:spPr/>
        <p:txBody>
          <a:bodyPr/>
          <a:lstStyle/>
          <a:p>
            <a:r>
              <a:rPr lang="en-US">
                <a:solidFill>
                  <a:schemeClr val="tx1"/>
                </a:solidFill>
              </a:rPr>
              <a:t>SYED HASAN SAEED, INTEGRAL UNIVERSITY, LUCKNOW, INDIA</a:t>
            </a:r>
            <a:endParaRPr lang="en-IN" dirty="0">
              <a:solidFill>
                <a:schemeClr val="tx1"/>
              </a:solidFill>
            </a:endParaRPr>
          </a:p>
        </p:txBody>
      </p:sp>
      <p:sp>
        <p:nvSpPr>
          <p:cNvPr id="5" name="Slide Number Placeholder 4"/>
          <p:cNvSpPr>
            <a:spLocks noGrp="1"/>
          </p:cNvSpPr>
          <p:nvPr>
            <p:ph type="sldNum" sz="quarter" idx="12"/>
          </p:nvPr>
        </p:nvSpPr>
        <p:spPr/>
        <p:txBody>
          <a:bodyPr/>
          <a:lstStyle/>
          <a:p>
            <a:fld id="{794472C8-07AE-4D03-9F73-512FB105EB04}" type="slidenum">
              <a:rPr lang="en-IN" smtClean="0"/>
              <a:pPr/>
              <a:t>33</a:t>
            </a:fld>
            <a:endParaRPr lang="en-IN"/>
          </a:p>
        </p:txBody>
      </p:sp>
    </p:spTree>
  </p:cSld>
  <p:clrMapOvr>
    <a:masterClrMapping/>
  </p:clrMapOvr>
  <p:transition advTm="156"/>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en-US">
                <a:solidFill>
                  <a:schemeClr val="tx1"/>
                </a:solidFill>
              </a:rPr>
              <a:t>SYED HASAN SAEED, INTEGRAL UNIVERSITY, LUCKNOW, INDIA</a:t>
            </a:r>
            <a:endParaRPr lang="en-IN" dirty="0">
              <a:solidFill>
                <a:schemeClr val="tx1"/>
              </a:solidFill>
            </a:endParaRPr>
          </a:p>
        </p:txBody>
      </p:sp>
      <p:sp>
        <p:nvSpPr>
          <p:cNvPr id="5" name="Slide Number Placeholder 4"/>
          <p:cNvSpPr>
            <a:spLocks noGrp="1"/>
          </p:cNvSpPr>
          <p:nvPr>
            <p:ph type="sldNum" sz="quarter" idx="12"/>
          </p:nvPr>
        </p:nvSpPr>
        <p:spPr/>
        <p:txBody>
          <a:bodyPr/>
          <a:lstStyle/>
          <a:p>
            <a:fld id="{794472C8-07AE-4D03-9F73-512FB105EB04}" type="slidenum">
              <a:rPr lang="en-IN" smtClean="0"/>
              <a:pPr/>
              <a:t>34</a:t>
            </a:fld>
            <a:endParaRPr lang="en-IN"/>
          </a:p>
        </p:txBody>
      </p:sp>
      <p:sp>
        <p:nvSpPr>
          <p:cNvPr id="6" name="Content Placeholder 5"/>
          <p:cNvSpPr>
            <a:spLocks noGrp="1"/>
          </p:cNvSpPr>
          <p:nvPr>
            <p:ph idx="1"/>
          </p:nvPr>
        </p:nvSpPr>
        <p:spPr>
          <a:xfrm>
            <a:off x="132743" y="214290"/>
            <a:ext cx="11865675" cy="6072230"/>
          </a:xfrm>
        </p:spPr>
        <p:txBody>
          <a:bodyPr>
            <a:noAutofit/>
          </a:bodyPr>
          <a:lstStyle/>
          <a:p>
            <a:pPr>
              <a:buNone/>
            </a:pPr>
            <a:r>
              <a:rPr lang="en-US" sz="2800" dirty="0">
                <a:solidFill>
                  <a:srgbClr val="FF0000"/>
                </a:solidFill>
                <a:latin typeface="Times New Roman" pitchFamily="18" charset="0"/>
                <a:cs typeface="Times New Roman" pitchFamily="18" charset="0"/>
              </a:rPr>
              <a:t>EXAMPLE: </a:t>
            </a:r>
            <a:r>
              <a:rPr lang="en-US" sz="2800" dirty="0">
                <a:latin typeface="Times New Roman" pitchFamily="18" charset="0"/>
                <a:cs typeface="Times New Roman" pitchFamily="18" charset="0"/>
              </a:rPr>
              <a:t>The human eye has a biological control system that varies the pupil diameter to maintain constant light intensity to the retina. As the light intensity increases, the optical nerves send a signal to the brain, which commands internal eye muscles to decrease the pupil’s eye diameter. When the light intensity decreases, the pupil diameter increases.</a:t>
            </a:r>
          </a:p>
          <a:p>
            <a:pPr>
              <a:buNone/>
            </a:pPr>
            <a:r>
              <a:rPr lang="en-US" sz="2800" dirty="0">
                <a:latin typeface="Times New Roman" pitchFamily="18" charset="0"/>
                <a:cs typeface="Times New Roman" pitchFamily="18" charset="0"/>
              </a:rPr>
              <a:t>Draw a block diagram of the light-pupil system indicating the input, output. </a:t>
            </a:r>
          </a:p>
          <a:p>
            <a:pPr>
              <a:buNone/>
            </a:pPr>
            <a:endParaRPr lang="en-US" sz="2800" dirty="0">
              <a:latin typeface="Times New Roman" pitchFamily="18" charset="0"/>
              <a:cs typeface="Times New Roman" pitchFamily="18" charset="0"/>
            </a:endParaRPr>
          </a:p>
          <a:p>
            <a:pPr>
              <a:buNone/>
            </a:pPr>
            <a:endParaRPr lang="en-US" sz="2800" dirty="0">
              <a:latin typeface="Times New Roman" pitchFamily="18" charset="0"/>
              <a:cs typeface="Times New Roman" pitchFamily="18" charset="0"/>
            </a:endParaRPr>
          </a:p>
          <a:p>
            <a:pPr>
              <a:buNone/>
            </a:pPr>
            <a:endParaRPr lang="en-US" sz="2800" dirty="0">
              <a:latin typeface="Times New Roman" pitchFamily="18" charset="0"/>
              <a:cs typeface="Times New Roman" pitchFamily="18" charset="0"/>
            </a:endParaRPr>
          </a:p>
          <a:p>
            <a:pPr>
              <a:buNone/>
            </a:pPr>
            <a:endParaRPr lang="en-US" sz="2800" dirty="0">
              <a:latin typeface="Times New Roman" pitchFamily="18" charset="0"/>
              <a:cs typeface="Times New Roman" pitchFamily="18" charset="0"/>
            </a:endParaRPr>
          </a:p>
          <a:p>
            <a:pPr>
              <a:buNone/>
            </a:pPr>
            <a:endParaRPr lang="en-US" sz="2800" dirty="0">
              <a:latin typeface="Times New Roman" pitchFamily="18" charset="0"/>
              <a:cs typeface="Times New Roman" pitchFamily="18" charset="0"/>
            </a:endParaRPr>
          </a:p>
          <a:p>
            <a:pPr>
              <a:buNone/>
            </a:pPr>
            <a:endParaRPr lang="en-US" sz="2800" dirty="0">
              <a:latin typeface="Times New Roman" pitchFamily="18" charset="0"/>
              <a:cs typeface="Times New Roman" pitchFamily="18" charset="0"/>
            </a:endParaRPr>
          </a:p>
          <a:p>
            <a:pPr>
              <a:buNone/>
            </a:pPr>
            <a:r>
              <a:rPr lang="en-US" sz="1050" dirty="0">
                <a:latin typeface="Times New Roman" pitchFamily="18" charset="0"/>
                <a:cs typeface="Times New Roman" pitchFamily="18" charset="0"/>
              </a:rPr>
              <a:t>Reference: NISE’s Control Systems Engineering, Dr. Rajeev Gupta,  Wiley India Pvt. Ltd., New Delhi, Edition 2011</a:t>
            </a:r>
          </a:p>
          <a:p>
            <a:pPr>
              <a:buNone/>
            </a:pPr>
            <a:endParaRPr lang="en-US" sz="2800" dirty="0">
              <a:latin typeface="Times New Roman" pitchFamily="18" charset="0"/>
              <a:cs typeface="Times New Roman" pitchFamily="18" charset="0"/>
            </a:endParaRPr>
          </a:p>
        </p:txBody>
      </p:sp>
    </p:spTree>
  </p:cSld>
  <p:clrMapOvr>
    <a:masterClrMapping/>
  </p:clrMapOvr>
  <p:transition advTm="344"/>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en-US">
                <a:solidFill>
                  <a:schemeClr val="tx1"/>
                </a:solidFill>
              </a:rPr>
              <a:t>SYED HASAN SAEED, INTEGRAL UNIVERSITY, LUCKNOW, INDIA</a:t>
            </a:r>
            <a:endParaRPr lang="en-IN" dirty="0">
              <a:solidFill>
                <a:schemeClr val="tx1"/>
              </a:solidFill>
            </a:endParaRPr>
          </a:p>
        </p:txBody>
      </p:sp>
      <p:sp>
        <p:nvSpPr>
          <p:cNvPr id="5" name="Slide Number Placeholder 4"/>
          <p:cNvSpPr>
            <a:spLocks noGrp="1"/>
          </p:cNvSpPr>
          <p:nvPr>
            <p:ph type="sldNum" sz="quarter" idx="12"/>
          </p:nvPr>
        </p:nvSpPr>
        <p:spPr/>
        <p:txBody>
          <a:bodyPr/>
          <a:lstStyle/>
          <a:p>
            <a:fld id="{794472C8-07AE-4D03-9F73-512FB105EB04}" type="slidenum">
              <a:rPr lang="en-IN" smtClean="0"/>
              <a:pPr/>
              <a:t>35</a:t>
            </a:fld>
            <a:endParaRPr lang="en-IN"/>
          </a:p>
        </p:txBody>
      </p:sp>
      <p:sp>
        <p:nvSpPr>
          <p:cNvPr id="6" name="Content Placeholder 5"/>
          <p:cNvSpPr>
            <a:spLocks noGrp="1"/>
          </p:cNvSpPr>
          <p:nvPr>
            <p:ph idx="1"/>
          </p:nvPr>
        </p:nvSpPr>
        <p:spPr>
          <a:xfrm>
            <a:off x="190409" y="214290"/>
            <a:ext cx="11998416" cy="6143668"/>
          </a:xfrm>
        </p:spPr>
        <p:txBody>
          <a:bodyPr>
            <a:normAutofit/>
          </a:bodyPr>
          <a:lstStyle/>
          <a:p>
            <a:pPr>
              <a:buNone/>
            </a:pPr>
            <a:r>
              <a:rPr lang="en-US" sz="2800" dirty="0">
                <a:solidFill>
                  <a:srgbClr val="FF0000"/>
                </a:solidFill>
              </a:rPr>
              <a:t>SOLUTION:</a:t>
            </a:r>
          </a:p>
        </p:txBody>
      </p:sp>
      <p:sp>
        <p:nvSpPr>
          <p:cNvPr id="7" name="Rectangle 6"/>
          <p:cNvSpPr/>
          <p:nvPr/>
        </p:nvSpPr>
        <p:spPr>
          <a:xfrm>
            <a:off x="3142411" y="2500306"/>
            <a:ext cx="1714066" cy="822960"/>
          </a:xfrm>
          <a:prstGeom prst="rect">
            <a:avLst/>
          </a:prstGeom>
          <a:noFill/>
          <a:ln w="158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6951445" y="2500306"/>
            <a:ext cx="2856776" cy="82296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4094670" y="3929066"/>
            <a:ext cx="3904260" cy="1357322"/>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p:cNvSpPr/>
          <p:nvPr/>
        </p:nvSpPr>
        <p:spPr>
          <a:xfrm>
            <a:off x="1618797" y="2672678"/>
            <a:ext cx="761807" cy="500066"/>
          </a:xfrm>
          <a:prstGeom prst="ellipse">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Straight Connector 11"/>
          <p:cNvCxnSpPr>
            <a:stCxn id="10" idx="1"/>
            <a:endCxn id="10" idx="5"/>
          </p:cNvCxnSpPr>
          <p:nvPr/>
        </p:nvCxnSpPr>
        <p:spPr>
          <a:xfrm rot="16200000" flipH="1">
            <a:off x="1822900" y="2653372"/>
            <a:ext cx="353600" cy="53867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a:stCxn id="10" idx="3"/>
            <a:endCxn id="10" idx="7"/>
          </p:cNvCxnSpPr>
          <p:nvPr/>
        </p:nvCxnSpPr>
        <p:spPr>
          <a:xfrm rot="5400000" flipH="1" flipV="1">
            <a:off x="1822900" y="2653372"/>
            <a:ext cx="353600" cy="53867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a:stCxn id="10" idx="6"/>
            <a:endCxn id="7" idx="1"/>
          </p:cNvCxnSpPr>
          <p:nvPr/>
        </p:nvCxnSpPr>
        <p:spPr>
          <a:xfrm flipV="1">
            <a:off x="2380604" y="2911787"/>
            <a:ext cx="761807" cy="10925"/>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a:stCxn id="7" idx="3"/>
            <a:endCxn id="8" idx="1"/>
          </p:cNvCxnSpPr>
          <p:nvPr/>
        </p:nvCxnSpPr>
        <p:spPr>
          <a:xfrm>
            <a:off x="4856476" y="2911786"/>
            <a:ext cx="2094969" cy="158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a:stCxn id="8" idx="3"/>
          </p:cNvCxnSpPr>
          <p:nvPr/>
        </p:nvCxnSpPr>
        <p:spPr>
          <a:xfrm>
            <a:off x="9808221" y="2911786"/>
            <a:ext cx="476129"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a:xfrm rot="5400000">
            <a:off x="9420242" y="3776450"/>
            <a:ext cx="1728216" cy="211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p:nvPr/>
        </p:nvCxnSpPr>
        <p:spPr>
          <a:xfrm rot="10800000">
            <a:off x="8000126" y="4643446"/>
            <a:ext cx="2279310" cy="0"/>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6" name="Straight Connector 25"/>
          <p:cNvCxnSpPr>
            <a:stCxn id="9" idx="1"/>
          </p:cNvCxnSpPr>
          <p:nvPr/>
        </p:nvCxnSpPr>
        <p:spPr>
          <a:xfrm rot="10800000">
            <a:off x="1998191" y="4607727"/>
            <a:ext cx="2096478"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Straight Arrow Connector 27"/>
          <p:cNvCxnSpPr>
            <a:endCxn id="10" idx="4"/>
          </p:cNvCxnSpPr>
          <p:nvPr/>
        </p:nvCxnSpPr>
        <p:spPr>
          <a:xfrm rot="5400000" flipH="1" flipV="1">
            <a:off x="1281896" y="3890548"/>
            <a:ext cx="1435608" cy="0"/>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0" name="Straight Arrow Connector 29"/>
          <p:cNvCxnSpPr/>
          <p:nvPr/>
        </p:nvCxnSpPr>
        <p:spPr>
          <a:xfrm flipV="1">
            <a:off x="399909" y="2922711"/>
            <a:ext cx="1218883" cy="0"/>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31" name="TextBox 30"/>
          <p:cNvSpPr txBox="1"/>
          <p:nvPr/>
        </p:nvSpPr>
        <p:spPr>
          <a:xfrm>
            <a:off x="3430805" y="2730948"/>
            <a:ext cx="1333162" cy="400110"/>
          </a:xfrm>
          <a:prstGeom prst="rect">
            <a:avLst/>
          </a:prstGeom>
          <a:noFill/>
        </p:spPr>
        <p:txBody>
          <a:bodyPr wrap="square" rtlCol="0">
            <a:spAutoFit/>
          </a:bodyPr>
          <a:lstStyle/>
          <a:p>
            <a:r>
              <a:rPr lang="en-US" sz="2000" dirty="0"/>
              <a:t>BRAIN</a:t>
            </a:r>
          </a:p>
        </p:txBody>
      </p:sp>
      <p:sp>
        <p:nvSpPr>
          <p:cNvPr id="32" name="TextBox 31"/>
          <p:cNvSpPr txBox="1"/>
          <p:nvPr/>
        </p:nvSpPr>
        <p:spPr>
          <a:xfrm>
            <a:off x="7046671" y="2553378"/>
            <a:ext cx="2666324" cy="707886"/>
          </a:xfrm>
          <a:prstGeom prst="rect">
            <a:avLst/>
          </a:prstGeom>
          <a:noFill/>
        </p:spPr>
        <p:txBody>
          <a:bodyPr wrap="square" rtlCol="0">
            <a:spAutoFit/>
          </a:bodyPr>
          <a:lstStyle/>
          <a:p>
            <a:r>
              <a:rPr lang="en-US" sz="2000" dirty="0"/>
              <a:t>INTERNAL EYE MUSCLES</a:t>
            </a:r>
          </a:p>
        </p:txBody>
      </p:sp>
      <p:sp>
        <p:nvSpPr>
          <p:cNvPr id="33" name="TextBox 32"/>
          <p:cNvSpPr txBox="1"/>
          <p:nvPr/>
        </p:nvSpPr>
        <p:spPr>
          <a:xfrm>
            <a:off x="4709539" y="4265840"/>
            <a:ext cx="2840460" cy="707886"/>
          </a:xfrm>
          <a:prstGeom prst="rect">
            <a:avLst/>
          </a:prstGeom>
          <a:noFill/>
        </p:spPr>
        <p:txBody>
          <a:bodyPr wrap="square" rtlCol="0">
            <a:spAutoFit/>
          </a:bodyPr>
          <a:lstStyle/>
          <a:p>
            <a:r>
              <a:rPr lang="en-US" sz="2000" dirty="0"/>
              <a:t>RETINA + OPTICAL NERVES</a:t>
            </a:r>
          </a:p>
        </p:txBody>
      </p:sp>
      <p:sp>
        <p:nvSpPr>
          <p:cNvPr id="34" name="TextBox 33"/>
          <p:cNvSpPr txBox="1"/>
          <p:nvPr/>
        </p:nvSpPr>
        <p:spPr>
          <a:xfrm>
            <a:off x="10259869" y="3294289"/>
            <a:ext cx="1809249" cy="707886"/>
          </a:xfrm>
          <a:prstGeom prst="rect">
            <a:avLst/>
          </a:prstGeom>
          <a:noFill/>
        </p:spPr>
        <p:txBody>
          <a:bodyPr wrap="square" rtlCol="0">
            <a:spAutoFit/>
          </a:bodyPr>
          <a:lstStyle/>
          <a:p>
            <a:r>
              <a:rPr lang="en-US" sz="2000" dirty="0"/>
              <a:t>RETINA’S LIGHT INTENSITY</a:t>
            </a:r>
          </a:p>
        </p:txBody>
      </p:sp>
      <p:sp>
        <p:nvSpPr>
          <p:cNvPr id="35" name="TextBox 34"/>
          <p:cNvSpPr txBox="1"/>
          <p:nvPr/>
        </p:nvSpPr>
        <p:spPr>
          <a:xfrm>
            <a:off x="285635" y="2442986"/>
            <a:ext cx="1618797" cy="1200329"/>
          </a:xfrm>
          <a:prstGeom prst="rect">
            <a:avLst/>
          </a:prstGeom>
          <a:noFill/>
        </p:spPr>
        <p:txBody>
          <a:bodyPr wrap="square" rtlCol="0">
            <a:spAutoFit/>
          </a:bodyPr>
          <a:lstStyle/>
          <a:p>
            <a:r>
              <a:rPr lang="en-US" dirty="0"/>
              <a:t>DESIRED</a:t>
            </a:r>
          </a:p>
          <a:p>
            <a:endParaRPr lang="en-US" dirty="0"/>
          </a:p>
          <a:p>
            <a:r>
              <a:rPr lang="en-US" dirty="0"/>
              <a:t> LIGHT INTNSITY</a:t>
            </a:r>
          </a:p>
        </p:txBody>
      </p:sp>
      <p:sp>
        <p:nvSpPr>
          <p:cNvPr id="36" name="TextBox 35"/>
          <p:cNvSpPr txBox="1"/>
          <p:nvPr/>
        </p:nvSpPr>
        <p:spPr>
          <a:xfrm>
            <a:off x="5095891" y="1214423"/>
            <a:ext cx="1809291" cy="1200329"/>
          </a:xfrm>
          <a:prstGeom prst="rect">
            <a:avLst/>
          </a:prstGeom>
          <a:noFill/>
        </p:spPr>
        <p:txBody>
          <a:bodyPr wrap="square" rtlCol="0">
            <a:spAutoFit/>
          </a:bodyPr>
          <a:lstStyle/>
          <a:p>
            <a:r>
              <a:rPr lang="en-US" dirty="0"/>
              <a:t>NERVOUS SYSTEM ELECTRICAL IMPULSES</a:t>
            </a:r>
          </a:p>
        </p:txBody>
      </p:sp>
    </p:spTree>
  </p:cSld>
  <p:clrMapOvr>
    <a:masterClrMapping/>
  </p:clrMapOvr>
  <p:transition advTm="375"/>
</p:sld>
</file>

<file path=ppt/slides/slide36.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D6B10E67-FDA6-B958-3220-FF9D6984C845}"/>
              </a:ext>
            </a:extLst>
          </p:cNvPr>
          <p:cNvSpPr>
            <a:spLocks noGrp="1"/>
          </p:cNvSpPr>
          <p:nvPr>
            <p:ph type="ftr" sz="quarter" idx="11"/>
          </p:nvPr>
        </p:nvSpPr>
        <p:spPr/>
        <p:txBody>
          <a:bodyPr/>
          <a:lstStyle/>
          <a:p>
            <a:r>
              <a:rPr lang="en-US"/>
              <a:t>SYED HASAN SAEED, INTEGRAL UNIVERSITY, LUCKNOW, INDIA</a:t>
            </a:r>
            <a:endParaRPr lang="en-IN"/>
          </a:p>
        </p:txBody>
      </p:sp>
      <p:sp>
        <p:nvSpPr>
          <p:cNvPr id="3" name="Slide Number Placeholder 2">
            <a:extLst>
              <a:ext uri="{FF2B5EF4-FFF2-40B4-BE49-F238E27FC236}">
                <a16:creationId xmlns:a16="http://schemas.microsoft.com/office/drawing/2014/main" id="{578FE2D8-C231-4038-72AA-7354C5C9DC50}"/>
              </a:ext>
            </a:extLst>
          </p:cNvPr>
          <p:cNvSpPr>
            <a:spLocks noGrp="1"/>
          </p:cNvSpPr>
          <p:nvPr>
            <p:ph type="sldNum" sz="quarter" idx="12"/>
          </p:nvPr>
        </p:nvSpPr>
        <p:spPr/>
        <p:txBody>
          <a:bodyPr/>
          <a:lstStyle/>
          <a:p>
            <a:fld id="{794472C8-07AE-4D03-9F73-512FB105EB04}" type="slidenum">
              <a:rPr lang="en-IN" smtClean="0"/>
              <a:pPr/>
              <a:t>36</a:t>
            </a:fld>
            <a:endParaRPr lang="en-IN"/>
          </a:p>
        </p:txBody>
      </p:sp>
      <p:sp>
        <p:nvSpPr>
          <p:cNvPr id="4" name="Rectangle 3">
            <a:extLst>
              <a:ext uri="{FF2B5EF4-FFF2-40B4-BE49-F238E27FC236}">
                <a16:creationId xmlns:a16="http://schemas.microsoft.com/office/drawing/2014/main" id="{CE659B53-99D0-E350-3DAB-F55491C047EA}"/>
              </a:ext>
              <a:ext uri="{C183D7F6-B498-43B3-948B-1728B52AA6E4}">
                <adec:decorative xmlns:adec="http://schemas.microsoft.com/office/drawing/2017/decorative" val="1"/>
              </a:ext>
            </a:extLst>
          </p:cNvPr>
          <p:cNvSpPr/>
          <p:nvPr>
            <p:custDataLst>
              <p:tags r:id="rId2"/>
            </p:custDataLst>
          </p:nvPr>
        </p:nvSpPr>
        <p:spPr>
          <a:xfrm>
            <a:off x="444577" y="1743012"/>
            <a:ext cx="2371079" cy="2371079"/>
          </a:xfrm>
          <a:prstGeom prst="rect">
            <a:avLst/>
          </a:prstGeom>
          <a:blipFill>
            <a:blip>
              <a:extLst>
                <a:ext uri="{96DAC541-7B7A-43D3-8B79-37D633B846F1}">
                  <asvg:svgBlip xmlns:asvg="http://schemas.microsoft.com/office/drawing/2016/SVG/main" r:embed="rId5"/>
                </a:ext>
              </a:extLst>
            </a:blip>
            <a:stretch>
              <a:fillRect/>
            </a:stretch>
          </a:blipFill>
          <a:ln>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Rectangle 4" descr="Rate this lecture">
            <a:extLst>
              <a:ext uri="{FF2B5EF4-FFF2-40B4-BE49-F238E27FC236}">
                <a16:creationId xmlns:a16="http://schemas.microsoft.com/office/drawing/2014/main" id="{3805C470-D575-6DE9-3E35-2888101DD8DC}"/>
              </a:ext>
            </a:extLst>
          </p:cNvPr>
          <p:cNvSpPr/>
          <p:nvPr>
            <p:custDataLst>
              <p:tags r:id="rId3"/>
            </p:custDataLst>
          </p:nvPr>
        </p:nvSpPr>
        <p:spPr>
          <a:xfrm>
            <a:off x="3112040" y="1000897"/>
            <a:ext cx="8484015" cy="3855308"/>
          </a:xfrm>
          <a:prstGeom prst="rect">
            <a:avLst/>
          </a:prstGeom>
          <a:noFill/>
          <a:ln w="25400" cap="flat" cmpd="sng" algn="ctr">
            <a:solidFill>
              <a:srgbClr val="FFFFFF"/>
            </a:solidFill>
            <a:prstDash val="solid"/>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4000" b="1">
                <a:solidFill>
                  <a:srgbClr val="000000"/>
                </a:solidFill>
              </a:rPr>
              <a:t>Rate this lecture</a:t>
            </a:r>
          </a:p>
        </p:txBody>
      </p:sp>
      <p:sp>
        <p:nvSpPr>
          <p:cNvPr id="6" name="Rectangle 5" descr="The Slido app must be installed on every computer you’re presenting from">
            <a:extLst>
              <a:ext uri="{FF2B5EF4-FFF2-40B4-BE49-F238E27FC236}">
                <a16:creationId xmlns:a16="http://schemas.microsoft.com/office/drawing/2014/main" id="{BE10EC58-7FCA-D128-A099-E6DE4328B68F}"/>
              </a:ext>
            </a:extLst>
          </p:cNvPr>
          <p:cNvSpPr/>
          <p:nvPr/>
        </p:nvSpPr>
        <p:spPr>
          <a:xfrm>
            <a:off x="0" y="5820032"/>
            <a:ext cx="12188824" cy="1037968"/>
          </a:xfrm>
          <a:prstGeom prst="rect">
            <a:avLst/>
          </a:prstGeom>
          <a:solidFill>
            <a:srgbClr val="198038"/>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lIns="740962" tIns="259337" rIns="1852405" bIns="203765" rtlCol="0" anchor="ctr">
            <a:normAutofit fontScale="92500"/>
          </a:bodyPr>
          <a:lstStyle/>
          <a:p>
            <a:r>
              <a:rPr lang="en-US" sz="2600">
                <a:solidFill>
                  <a:srgbClr val="FFFFFF"/>
                </a:solidFill>
              </a:rPr>
              <a:t>The </a:t>
            </a:r>
            <a:r>
              <a:rPr lang="en-US" sz="2600">
                <a:solidFill>
                  <a:srgbClr val="FFFFFF"/>
                </a:solidFill>
                <a:hlinkClick r:id="rId6">
                  <a:extLst>
                    <a:ext uri="{A12FA001-AC4F-418D-AE19-62706E023703}">
                      <ahyp:hlinkClr xmlns:ahyp="http://schemas.microsoft.com/office/drawing/2018/hyperlinkcolor" val="tx"/>
                    </a:ext>
                  </a:extLst>
                </a:hlinkClick>
              </a:rPr>
              <a:t>Slido app</a:t>
            </a:r>
            <a:r>
              <a:rPr lang="en-US" sz="2600">
                <a:solidFill>
                  <a:srgbClr val="FFFFFF"/>
                </a:solidFill>
              </a:rPr>
              <a:t> must be installed on every computer you’re presenting from</a:t>
            </a:r>
            <a:endParaRPr lang="en-IN" sz="2600">
              <a:solidFill>
                <a:srgbClr val="FFFFFF"/>
              </a:solidFill>
            </a:endParaRPr>
          </a:p>
        </p:txBody>
      </p:sp>
      <p:pic>
        <p:nvPicPr>
          <p:cNvPr id="8" name="Graphic 7">
            <a:extLst>
              <a:ext uri="{FF2B5EF4-FFF2-40B4-BE49-F238E27FC236}">
                <a16:creationId xmlns:a16="http://schemas.microsoft.com/office/drawing/2014/main" id="{83167D85-A7A4-BA1A-E325-0DCE4D70628D}"/>
              </a:ext>
              <a:ext uri="{C183D7F6-B498-43B3-948B-1728B52AA6E4}">
                <adec:decorative xmlns:adec="http://schemas.microsoft.com/office/drawing/2017/decorative" val="1"/>
              </a:ext>
            </a:extLst>
          </p:cNvPr>
          <p:cNvPicPr>
            <a:picLocks/>
          </p:cNvPicPr>
          <p:nvPr/>
        </p:nvPicPr>
        <p:blipFill>
          <a:blip>
            <a:extLst>
              <a:ext uri="{96DAC541-7B7A-43D3-8B79-37D633B846F1}">
                <asvg:svgBlip xmlns:asvg="http://schemas.microsoft.com/office/drawing/2016/SVG/main" r:embed="rId7"/>
              </a:ext>
            </a:extLst>
          </a:blip>
          <a:stretch>
            <a:fillRect/>
          </a:stretch>
        </p:blipFill>
        <p:spPr>
          <a:xfrm>
            <a:off x="296385" y="6190824"/>
            <a:ext cx="296385" cy="296385"/>
          </a:xfrm>
          <a:prstGeom prst="rect">
            <a:avLst/>
          </a:prstGeom>
        </p:spPr>
      </p:pic>
      <p:sp>
        <p:nvSpPr>
          <p:cNvPr id="9" name="Trapezoid 8" descr="Do not edit&#10;How to change the design">
            <a:extLst>
              <a:ext uri="{FF2B5EF4-FFF2-40B4-BE49-F238E27FC236}">
                <a16:creationId xmlns:a16="http://schemas.microsoft.com/office/drawing/2014/main" id="{30164360-A7F1-C4A6-6934-033C4C8FD0A8}"/>
              </a:ext>
            </a:extLst>
          </p:cNvPr>
          <p:cNvSpPr/>
          <p:nvPr/>
        </p:nvSpPr>
        <p:spPr>
          <a:xfrm rot="2700000">
            <a:off x="9617865" y="514790"/>
            <a:ext cx="3334329" cy="778010"/>
          </a:xfrm>
          <a:prstGeom prst="trapezoid">
            <a:avLst>
              <a:gd name="adj" fmla="val 100000"/>
            </a:avLst>
          </a:prstGeom>
          <a:solidFill>
            <a:srgbClr val="EDFAF2"/>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tIns="0" bIns="0" rtlCol="0" anchor="t">
            <a:normAutofit fontScale="70000" lnSpcReduction="20000"/>
          </a:bodyPr>
          <a:lstStyle/>
          <a:p>
            <a:pPr algn="ctr"/>
            <a:r>
              <a:rPr lang="en-US" sz="2600" b="1">
                <a:solidFill>
                  <a:srgbClr val="198038"/>
                </a:solidFill>
              </a:rPr>
              <a:t>Do not edit
</a:t>
            </a:r>
            <a:r>
              <a:rPr lang="en-US" sz="2200">
                <a:solidFill>
                  <a:srgbClr val="198038"/>
                </a:solidFill>
                <a:hlinkClick r:id="rId8">
                  <a:extLst>
                    <a:ext uri="{A12FA001-AC4F-418D-AE19-62706E023703}">
                      <ahyp:hlinkClr xmlns:ahyp="http://schemas.microsoft.com/office/drawing/2018/hyperlinkcolor" val="tx"/>
                    </a:ext>
                  </a:extLst>
                </a:hlinkClick>
              </a:rPr>
              <a:t>How to change the design</a:t>
            </a:r>
            <a:endParaRPr lang="en-IN" sz="2200">
              <a:solidFill>
                <a:srgbClr val="198038"/>
              </a:solidFill>
            </a:endParaRPr>
          </a:p>
        </p:txBody>
      </p:sp>
      <p:pic>
        <p:nvPicPr>
          <p:cNvPr id="11" name="Graphic 10">
            <a:extLst>
              <a:ext uri="{FF2B5EF4-FFF2-40B4-BE49-F238E27FC236}">
                <a16:creationId xmlns:a16="http://schemas.microsoft.com/office/drawing/2014/main" id="{FD0258F6-422C-725C-4955-18C28DD6982A}"/>
              </a:ext>
              <a:ext uri="{C183D7F6-B498-43B3-948B-1728B52AA6E4}">
                <adec:decorative xmlns:adec="http://schemas.microsoft.com/office/drawing/2017/decorative" val="1"/>
              </a:ext>
            </a:extLst>
          </p:cNvPr>
          <p:cNvPicPr>
            <a:picLocks/>
          </p:cNvPicPr>
          <p:nvPr/>
        </p:nvPicPr>
        <p:blipFill>
          <a:blip>
            <a:extLst>
              <a:ext uri="{96DAC541-7B7A-43D3-8B79-37D633B846F1}">
                <asvg:svgBlip xmlns:asvg="http://schemas.microsoft.com/office/drawing/2016/SVG/main" r:embed="rId9"/>
              </a:ext>
            </a:extLst>
          </a:blip>
          <a:stretch>
            <a:fillRect/>
          </a:stretch>
        </p:blipFill>
        <p:spPr>
          <a:xfrm>
            <a:off x="10743949" y="6153776"/>
            <a:ext cx="1111443" cy="370481"/>
          </a:xfrm>
          <a:prstGeom prst="rect">
            <a:avLst/>
          </a:prstGeom>
        </p:spPr>
      </p:pic>
    </p:spTree>
    <p:custDataLst>
      <p:tags r:id="rId1"/>
    </p:custDataLst>
    <p:extLst>
      <p:ext uri="{BB962C8B-B14F-4D97-AF65-F5344CB8AC3E}">
        <p14:creationId xmlns:p14="http://schemas.microsoft.com/office/powerpoint/2010/main" val="237931406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en-US">
                <a:solidFill>
                  <a:schemeClr val="tx1"/>
                </a:solidFill>
              </a:rPr>
              <a:t>SYED HASAN SAEED, INTEGRAL UNIVERSITY, LUCKNOW, INDIA</a:t>
            </a:r>
            <a:endParaRPr lang="en-IN" dirty="0">
              <a:solidFill>
                <a:schemeClr val="tx1"/>
              </a:solidFill>
            </a:endParaRPr>
          </a:p>
        </p:txBody>
      </p:sp>
      <p:sp>
        <p:nvSpPr>
          <p:cNvPr id="5" name="Slide Number Placeholder 4"/>
          <p:cNvSpPr>
            <a:spLocks noGrp="1"/>
          </p:cNvSpPr>
          <p:nvPr>
            <p:ph type="sldNum" sz="quarter" idx="12"/>
          </p:nvPr>
        </p:nvSpPr>
        <p:spPr/>
        <p:txBody>
          <a:bodyPr/>
          <a:lstStyle/>
          <a:p>
            <a:fld id="{794472C8-07AE-4D03-9F73-512FB105EB04}" type="slidenum">
              <a:rPr lang="en-IN" smtClean="0"/>
              <a:pPr/>
              <a:t>37</a:t>
            </a:fld>
            <a:endParaRPr lang="en-IN"/>
          </a:p>
        </p:txBody>
      </p:sp>
      <p:graphicFrame>
        <p:nvGraphicFramePr>
          <p:cNvPr id="7" name="Object 6">
            <a:extLst>
              <a:ext uri="{FF2B5EF4-FFF2-40B4-BE49-F238E27FC236}">
                <a16:creationId xmlns:a16="http://schemas.microsoft.com/office/drawing/2014/main" id="{791F5972-4DA0-C46C-226A-6D04684C9637}"/>
              </a:ext>
            </a:extLst>
          </p:cNvPr>
          <p:cNvGraphicFramePr>
            <a:graphicFrameLocks noChangeAspect="1"/>
          </p:cNvGraphicFramePr>
          <p:nvPr>
            <p:extLst>
              <p:ext uri="{D42A27DB-BD31-4B8C-83A1-F6EECF244321}">
                <p14:modId xmlns:p14="http://schemas.microsoft.com/office/powerpoint/2010/main" val="3340304792"/>
              </p:ext>
            </p:extLst>
          </p:nvPr>
        </p:nvGraphicFramePr>
        <p:xfrm>
          <a:off x="3696899" y="2276872"/>
          <a:ext cx="6210690" cy="1080120"/>
        </p:xfrm>
        <a:graphic>
          <a:graphicData uri="http://schemas.openxmlformats.org/presentationml/2006/ole">
            <mc:AlternateContent xmlns:mc="http://schemas.openxmlformats.org/markup-compatibility/2006">
              <mc:Choice xmlns:v="urn:schemas-microsoft-com:vml" Requires="v">
                <p:oleObj name="Packager Shell Object" showAsIcon="1" r:id="rId2" imgW="3285992" imgH="571382" progId="Package">
                  <p:embed/>
                </p:oleObj>
              </mc:Choice>
              <mc:Fallback>
                <p:oleObj name="Packager Shell Object" showAsIcon="1" r:id="rId2" imgW="3285992" imgH="571382" progId="Package">
                  <p:embed/>
                  <p:pic>
                    <p:nvPicPr>
                      <p:cNvPr id="0" name=""/>
                      <p:cNvPicPr/>
                      <p:nvPr/>
                    </p:nvPicPr>
                    <p:blipFill>
                      <a:blip r:embed="rId3"/>
                      <a:stretch>
                        <a:fillRect/>
                      </a:stretch>
                    </p:blipFill>
                    <p:spPr>
                      <a:xfrm>
                        <a:off x="3696899" y="2276872"/>
                        <a:ext cx="6210690" cy="1080120"/>
                      </a:xfrm>
                      <a:prstGeom prst="rect">
                        <a:avLst/>
                      </a:prstGeom>
                    </p:spPr>
                  </p:pic>
                </p:oleObj>
              </mc:Fallback>
            </mc:AlternateContent>
          </a:graphicData>
        </a:graphic>
      </p:graphicFrame>
    </p:spTree>
  </p:cSld>
  <p:clrMapOvr>
    <a:masterClrMapping/>
  </p:clrMapOvr>
  <p:transition advTm="219"/>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44D60C-6301-27AE-EA67-7A04774BAC4A}"/>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EB7E845-0EB8-FB52-F824-D508F20AFEB5}"/>
              </a:ext>
            </a:extLst>
          </p:cNvPr>
          <p:cNvSpPr>
            <a:spLocks noGrp="1"/>
          </p:cNvSpPr>
          <p:nvPr>
            <p:ph idx="1"/>
          </p:nvPr>
        </p:nvSpPr>
        <p:spPr/>
        <p:txBody>
          <a:bodyPr>
            <a:normAutofit/>
          </a:bodyPr>
          <a:lstStyle/>
          <a:p>
            <a:pPr algn="ctr">
              <a:buNone/>
            </a:pPr>
            <a:endParaRPr lang="en-US" sz="3600" dirty="0">
              <a:solidFill>
                <a:srgbClr val="002060"/>
              </a:solidFill>
              <a:latin typeface="Tahoma" pitchFamily="34" charset="0"/>
              <a:ea typeface="Tahoma" pitchFamily="34" charset="0"/>
              <a:cs typeface="Tahoma" pitchFamily="34" charset="0"/>
            </a:endParaRPr>
          </a:p>
          <a:p>
            <a:pPr algn="ctr">
              <a:buNone/>
            </a:pPr>
            <a:r>
              <a:rPr lang="en-US" sz="3600" dirty="0">
                <a:solidFill>
                  <a:srgbClr val="002060"/>
                </a:solidFill>
                <a:latin typeface="Tahoma" pitchFamily="34" charset="0"/>
                <a:ea typeface="Tahoma" pitchFamily="34" charset="0"/>
                <a:cs typeface="Tahoma" pitchFamily="34" charset="0"/>
              </a:rPr>
              <a:t>THANK YOU VERY MUCH</a:t>
            </a:r>
          </a:p>
          <a:p>
            <a:pPr algn="ctr">
              <a:buNone/>
            </a:pPr>
            <a:endParaRPr lang="en-US" sz="3600" dirty="0">
              <a:solidFill>
                <a:srgbClr val="002060"/>
              </a:solidFill>
              <a:latin typeface="Tahoma" pitchFamily="34" charset="0"/>
              <a:ea typeface="Tahoma" pitchFamily="34" charset="0"/>
              <a:cs typeface="Tahoma" pitchFamily="34" charset="0"/>
            </a:endParaRPr>
          </a:p>
          <a:p>
            <a:pPr algn="ctr">
              <a:buNone/>
            </a:pPr>
            <a:endParaRPr lang="en-US" sz="3600" dirty="0">
              <a:solidFill>
                <a:srgbClr val="002060"/>
              </a:solidFill>
              <a:latin typeface="Tahoma" pitchFamily="34" charset="0"/>
              <a:ea typeface="Tahoma" pitchFamily="34" charset="0"/>
              <a:cs typeface="Tahoma" pitchFamily="34" charset="0"/>
            </a:endParaRPr>
          </a:p>
        </p:txBody>
      </p:sp>
      <p:sp>
        <p:nvSpPr>
          <p:cNvPr id="4" name="Footer Placeholder 3">
            <a:extLst>
              <a:ext uri="{FF2B5EF4-FFF2-40B4-BE49-F238E27FC236}">
                <a16:creationId xmlns:a16="http://schemas.microsoft.com/office/drawing/2014/main" id="{756784A0-729D-5F99-F735-A2B2B8FA7766}"/>
              </a:ext>
            </a:extLst>
          </p:cNvPr>
          <p:cNvSpPr>
            <a:spLocks noGrp="1"/>
          </p:cNvSpPr>
          <p:nvPr>
            <p:ph type="ftr" sz="quarter" idx="11"/>
          </p:nvPr>
        </p:nvSpPr>
        <p:spPr/>
        <p:txBody>
          <a:bodyPr/>
          <a:lstStyle/>
          <a:p>
            <a:r>
              <a:rPr lang="en-US">
                <a:solidFill>
                  <a:schemeClr val="tx1"/>
                </a:solidFill>
              </a:rPr>
              <a:t>SYED HASAN SAEED, INTEGRAL UNIVERSITY, LUCKNOW, INDIA</a:t>
            </a:r>
            <a:endParaRPr lang="en-IN" dirty="0">
              <a:solidFill>
                <a:schemeClr val="tx1"/>
              </a:solidFill>
            </a:endParaRPr>
          </a:p>
        </p:txBody>
      </p:sp>
      <p:sp>
        <p:nvSpPr>
          <p:cNvPr id="5" name="Slide Number Placeholder 4">
            <a:extLst>
              <a:ext uri="{FF2B5EF4-FFF2-40B4-BE49-F238E27FC236}">
                <a16:creationId xmlns:a16="http://schemas.microsoft.com/office/drawing/2014/main" id="{4270091B-393B-8540-70E1-D5338686DC1F}"/>
              </a:ext>
            </a:extLst>
          </p:cNvPr>
          <p:cNvSpPr>
            <a:spLocks noGrp="1"/>
          </p:cNvSpPr>
          <p:nvPr>
            <p:ph type="sldNum" sz="quarter" idx="12"/>
          </p:nvPr>
        </p:nvSpPr>
        <p:spPr/>
        <p:txBody>
          <a:bodyPr/>
          <a:lstStyle/>
          <a:p>
            <a:fld id="{794472C8-07AE-4D03-9F73-512FB105EB04}" type="slidenum">
              <a:rPr lang="en-IN" smtClean="0"/>
              <a:pPr/>
              <a:t>38</a:t>
            </a:fld>
            <a:endParaRPr lang="en-IN"/>
          </a:p>
        </p:txBody>
      </p:sp>
    </p:spTree>
    <p:extLst>
      <p:ext uri="{BB962C8B-B14F-4D97-AF65-F5344CB8AC3E}">
        <p14:creationId xmlns:p14="http://schemas.microsoft.com/office/powerpoint/2010/main" val="204140966"/>
      </p:ext>
    </p:extLst>
  </p:cSld>
  <p:clrMapOvr>
    <a:masterClrMapping/>
  </p:clrMapOvr>
  <p:transition advTm="219"/>
</p:sld>
</file>

<file path=ppt/tags/tag1.xml><?xml version="1.0" encoding="utf-8"?>
<p:tagLst xmlns:a="http://schemas.openxmlformats.org/drawingml/2006/main" xmlns:r="http://schemas.openxmlformats.org/officeDocument/2006/relationships" xmlns:p="http://schemas.openxmlformats.org/presentationml/2006/main">
  <p:tag name="SLIDO_APP_VERSION" val="1.22.4.7921"/>
  <p:tag name="SLIDO_PRESENTATION_ID" val="bd9484e8-c487-4c89-b3b4-7313840c5068"/>
  <p:tag name="SLIDO_EVENT_UUID" val="49c3bd29-d5a9-451b-a8c2-706c8a71d56f"/>
  <p:tag name="SLIDO_EVENT_SECTION_UUID" val="b39a0597-af76-41ef-a994-e5e1f6450cca"/>
</p:tagLst>
</file>

<file path=ppt/tags/tag2.xml><?xml version="1.0" encoding="utf-8"?>
<p:tagLst xmlns:a="http://schemas.openxmlformats.org/drawingml/2006/main" xmlns:r="http://schemas.openxmlformats.org/officeDocument/2006/relationships" xmlns:p="http://schemas.openxmlformats.org/presentationml/2006/main">
  <p:tag name="SLIDO_METADATA" val="eyJUaW1lc3RhbXAiOjE3ODUwNjY2MjJ9"/>
  <p:tag name="SLIDO_TYPE" val="SlidoPoll"/>
  <p:tag name="SLIDO_POLL_UUID" val="24442ca3-963b-43be-a1e8-b76074463d45"/>
  <p:tag name="SLIDO_TIMELINE" val="W3sicG9sbFF1ZXN0aW9uVXVpZCI6IjE0MzQ0M2EzLWI5YmYtNDExOC04YmI0LTBjYjAzZThiZjIzYSIsInNob3dSZXN1bHRzIjp0cnVlLCJzaG93Q29ycmVjdEFuc3dlcnMiOmZhbHNlLCJ2b3RpbmdMb2NrZWQiOmZhbHNlfV0="/>
</p:tagLst>
</file>

<file path=ppt/tags/tag3.xml><?xml version="1.0" encoding="utf-8"?>
<p:tagLst xmlns:a="http://schemas.openxmlformats.org/drawingml/2006/main" xmlns:r="http://schemas.openxmlformats.org/officeDocument/2006/relationships" xmlns:p="http://schemas.openxmlformats.org/presentationml/2006/main">
  <p:tag name="SLIDO_ELEMENT" val="interaction_image"/>
  <p:tag name="INTERACTION_TYPE" val="MultipleChoice"/>
</p:tagLst>
</file>

<file path=ppt/tags/tag4.xml><?xml version="1.0" encoding="utf-8"?>
<p:tagLst xmlns:a="http://schemas.openxmlformats.org/drawingml/2006/main" xmlns:r="http://schemas.openxmlformats.org/officeDocument/2006/relationships" xmlns:p="http://schemas.openxmlformats.org/presentationml/2006/main">
  <p:tag name="SLIDO_ELEMENT" val="title"/>
</p:tagLst>
</file>

<file path=ppt/tags/tag5.xml><?xml version="1.0" encoding="utf-8"?>
<p:tagLst xmlns:a="http://schemas.openxmlformats.org/drawingml/2006/main" xmlns:r="http://schemas.openxmlformats.org/officeDocument/2006/relationships" xmlns:p="http://schemas.openxmlformats.org/presentationml/2006/main">
  <p:tag name="SLIDO_METADATA" val="eyJUaW1lc3RhbXAiOjE3ODUxMjcyNTJ9"/>
  <p:tag name="SLIDO_TYPE" val="SlidoPoll"/>
  <p:tag name="SLIDO_POLL_UUID" val="f61e702f-4524-4767-b12a-02d97c56b0d5"/>
  <p:tag name="SLIDO_TIMELINE" val="W3sicG9sbFF1ZXN0aW9uVXVpZCI6ImQwMzljYTU5LTljMTgtNDQ4YS1hYjVmLTlkNzA3ZjIwZTlmZSIsInNob3dSZXN1bHRzIjp0cnVlLCJzaG93Q29ycmVjdEFuc3dlcnMiOmZhbHNlLCJ2b3RpbmdMb2NrZWQiOmZhbHNlfV0="/>
</p:tagLst>
</file>

<file path=ppt/tags/tag6.xml><?xml version="1.0" encoding="utf-8"?>
<p:tagLst xmlns:a="http://schemas.openxmlformats.org/drawingml/2006/main" xmlns:r="http://schemas.openxmlformats.org/officeDocument/2006/relationships" xmlns:p="http://schemas.openxmlformats.org/presentationml/2006/main">
  <p:tag name="SLIDO_ELEMENT" val="interaction_image"/>
  <p:tag name="INTERACTION_TYPE" val="MultipleChoice"/>
</p:tagLst>
</file>

<file path=ppt/tags/tag7.xml><?xml version="1.0" encoding="utf-8"?>
<p:tagLst xmlns:a="http://schemas.openxmlformats.org/drawingml/2006/main" xmlns:r="http://schemas.openxmlformats.org/officeDocument/2006/relationships" xmlns:p="http://schemas.openxmlformats.org/presentationml/2006/main">
  <p:tag name="SLIDO_ELEMENT" val="title"/>
</p:tagLst>
</file>

<file path=ppt/tags/tag8.xml><?xml version="1.0" encoding="utf-8"?>
<p:tagLst xmlns:a="http://schemas.openxmlformats.org/drawingml/2006/main" xmlns:r="http://schemas.openxmlformats.org/officeDocument/2006/relationships" xmlns:p="http://schemas.openxmlformats.org/presentationml/2006/main">
  <p:tag name="SLIDO_METADATA" val="eyJUaW1lc3RhbXAiOjE3ODUxMjgxMDR9"/>
  <p:tag name="SLIDO_TYPE" val="SlidoPoll"/>
  <p:tag name="SLIDO_POLL_UUID" val="c6ac58b6-9e1b-4811-a942-c23caaeccd71"/>
  <p:tag name="SLIDO_POLL_QUESTION_UUID" val="a3a562b1-1224-44d4-8cb5-bdc8c733813d"/>
  <p:tag name="SLIDO_TIMELINE" val="W3sic2NyZWVuIjoiUXVpekpvaW5pbmciLCJzaG93UmVzdWx0cyI6ZmFsc2UsInNob3dDb3JyZWN0QW5zd2VycyI6ZmFsc2UsInZvdGluZ0xvY2tlZCI6ZmFsc2V9LHsicG9sbFF1ZXN0aW9uVXVpZCI6ImEzYTU2MmIxLTEyMjQtNDRkNC04Y2I1LWJkYzhjNzMzODEzZCIsInNob3dSZXN1bHRzIjpmYWxzZSwic2hvd0NvcnJlY3RBbnN3ZXJzIjpmYWxzZSwidm90aW5nTG9ja2VkIjpmYWxzZX0seyJwb2xsUXVlc3Rpb25VdWlkIjoiYTNhNTYyYjEtMTIyNC00NGQ0LThjYjUtYmRjOGM3MzM4MTNkIiwic2hvd1Jlc3VsdHMiOnRydWUsInNob3dDb3JyZWN0QW5zd2VycyI6ZmFsc2UsInZvdGluZ0xvY2tlZCI6dHJ1ZX0seyJwb2xsUXVlc3Rpb25VdWlkIjoiYTNhNTYyYjEtMTIyNC00NGQ0LThjYjUtYmRjOGM3MzM4MTNkIiwic2hvd1Jlc3VsdHMiOnRydWUsInNob3dDb3JyZWN0QW5zd2VycyI6dHJ1ZSwidm90aW5nTG9ja2VkIjp0cnVlfSx7InNjcmVlbiI6IlF1aXpJbnRlcmltTGVhZGVyYm9hcmQiLCJwb2xsUXVlc3Rpb25VdWlkIjoiYTNhNTYyYjEtMTIyNC00NGQ0LThjYjUtYmRjOGM3MzM4MTNkIiwic2hvd1Jlc3VsdHMiOmZhbHNlLCJzaG93Q29ycmVjdEFuc3dlcnMiOmZhbHNlLCJ2b3RpbmdMb2NrZWQiOmZhbHNlfV0="/>
</p:tagLst>
</file>

<file path=ppt/tags/tag9.xml><?xml version="1.0" encoding="utf-8"?>
<p:tagLst xmlns:a="http://schemas.openxmlformats.org/drawingml/2006/main" xmlns:r="http://schemas.openxmlformats.org/officeDocument/2006/relationships" xmlns:p="http://schemas.openxmlformats.org/presentationml/2006/main">
  <p:tag name="SLIDO_ELEMENT" val="interaction_image"/>
  <p:tag name="INTERACTION_TYPE" val="Quiz"/>
</p:tagLst>
</file>

<file path=ppt/tags/tag10.xml><?xml version="1.0" encoding="utf-8"?>
<p:tagLst xmlns:a="http://schemas.openxmlformats.org/drawingml/2006/main" xmlns:r="http://schemas.openxmlformats.org/officeDocument/2006/relationships" xmlns:p="http://schemas.openxmlformats.org/presentationml/2006/main">
  <p:tag name="SLIDO_ELEMENT" val="title"/>
</p:tagLst>
</file>

<file path=ppt/tags/tag11.xml><?xml version="1.0" encoding="utf-8"?>
<p:tagLst xmlns:a="http://schemas.openxmlformats.org/drawingml/2006/main" xmlns:r="http://schemas.openxmlformats.org/officeDocument/2006/relationships" xmlns:p="http://schemas.openxmlformats.org/presentationml/2006/main">
  <p:tag name="SLIDO_METADATA" val="eyJUaW1lc3RhbXAiOjE3ODUxMjc2ODh9"/>
  <p:tag name="SLIDO_TYPE" val="SlidoPoll"/>
  <p:tag name="SLIDO_POLL_UUID" val="c6ac58b6-9e1b-4811-a942-c23caaeccd71"/>
  <p:tag name="SLIDO_POLL_QUESTION_UUID" val="028a5cc0-ab8c-47f0-8857-7a2cf86cc7ae"/>
  <p:tag name="SLIDO_TIMELINE" val="W3sicG9sbFF1ZXN0aW9uVXVpZCI6IjAyOGE1Y2MwLWFiOGMtNDdmMC04ODU3LTdhMmNmODZjYzdhZSIsInNob3dSZXN1bHRzIjpmYWxzZSwic2hvd0NvcnJlY3RBbnN3ZXJzIjpmYWxzZSwidm90aW5nTG9ja2VkIjpmYWxzZX0seyJwb2xsUXVlc3Rpb25VdWlkIjoiMDI4YTVjYzAtYWI4Yy00N2YwLTg4NTctN2EyY2Y4NmNjN2FlIiwic2hvd1Jlc3VsdHMiOnRydWUsInNob3dDb3JyZWN0QW5zd2VycyI6ZmFsc2UsInZvdGluZ0xvY2tlZCI6dHJ1ZX0seyJwb2xsUXVlc3Rpb25VdWlkIjoiMDI4YTVjYzAtYWI4Yy00N2YwLTg4NTctN2EyY2Y4NmNjN2FlIiwic2hvd1Jlc3VsdHMiOnRydWUsInNob3dDb3JyZWN0QW5zd2VycyI6dHJ1ZSwidm90aW5nTG9ja2VkIjp0cnVlfSx7InNjcmVlbiI6IlF1aXpJbnRlcmltTGVhZGVyYm9hcmQiLCJwb2xsUXVlc3Rpb25VdWlkIjoiMDI4YTVjYzAtYWI4Yy00N2YwLTg4NTctN2EyY2Y4NmNjN2FlIiwic2hvd1Jlc3VsdHMiOmZhbHNlLCJzaG93Q29ycmVjdEFuc3dlcnMiOmZhbHNlLCJ2b3RpbmdMb2NrZWQiOmZhbHNlfV0="/>
</p:tagLst>
</file>

<file path=ppt/tags/tag12.xml><?xml version="1.0" encoding="utf-8"?>
<p:tagLst xmlns:a="http://schemas.openxmlformats.org/drawingml/2006/main" xmlns:r="http://schemas.openxmlformats.org/officeDocument/2006/relationships" xmlns:p="http://schemas.openxmlformats.org/presentationml/2006/main">
  <p:tag name="SLIDO_ELEMENT" val="interaction_image"/>
  <p:tag name="INTERACTION_TYPE" val="Quiz"/>
</p:tagLst>
</file>

<file path=ppt/tags/tag13.xml><?xml version="1.0" encoding="utf-8"?>
<p:tagLst xmlns:a="http://schemas.openxmlformats.org/drawingml/2006/main" xmlns:r="http://schemas.openxmlformats.org/officeDocument/2006/relationships" xmlns:p="http://schemas.openxmlformats.org/presentationml/2006/main">
  <p:tag name="SLIDO_ELEMENT" val="title"/>
</p:tagLst>
</file>

<file path=ppt/tags/tag14.xml><?xml version="1.0" encoding="utf-8"?>
<p:tagLst xmlns:a="http://schemas.openxmlformats.org/drawingml/2006/main" xmlns:r="http://schemas.openxmlformats.org/officeDocument/2006/relationships" xmlns:p="http://schemas.openxmlformats.org/presentationml/2006/main">
  <p:tag name="SLIDO_METADATA" val="eyJUaW1lc3RhbXAiOjE3ODUxMjc4NTF9"/>
  <p:tag name="SLIDO_TYPE" val="SlidoPoll"/>
  <p:tag name="SLIDO_POLL_UUID" val="c6ac58b6-9e1b-4811-a942-c23caaeccd71"/>
  <p:tag name="SLIDO_POLL_QUESTION_UUID" val="0ce8a397-11e1-47d7-8f69-2b396834ec91"/>
  <p:tag name="SLIDO_TIMELINE" val="W3sicG9sbFF1ZXN0aW9uVXVpZCI6IjBjZThhMzk3LTExZTEtNDdkNy04ZjY5LTJiMzk2ODM0ZWM5MSIsInNob3dSZXN1bHRzIjpmYWxzZSwic2hvd0NvcnJlY3RBbnN3ZXJzIjpmYWxzZSwidm90aW5nTG9ja2VkIjpmYWxzZX0seyJwb2xsUXVlc3Rpb25VdWlkIjoiMGNlOGEzOTctMTFlMS00N2Q3LThmNjktMmIzOTY4MzRlYzkxIiwic2hvd1Jlc3VsdHMiOnRydWUsInNob3dDb3JyZWN0QW5zd2VycyI6ZmFsc2UsInZvdGluZ0xvY2tlZCI6dHJ1ZX0seyJwb2xsUXVlc3Rpb25VdWlkIjoiMGNlOGEzOTctMTFlMS00N2Q3LThmNjktMmIzOTY4MzRlYzkxIiwic2hvd1Jlc3VsdHMiOnRydWUsInNob3dDb3JyZWN0QW5zd2VycyI6dHJ1ZSwidm90aW5nTG9ja2VkIjp0cnVlfSx7InNjcmVlbiI6IlF1aXpMZWFkZXJib2FyZCIsInBvbGxRdWVzdGlvblV1aWQiOiIwY2U4YTM5Ny0xMWUxLTQ3ZDctOGY2OS0yYjM5NjgzNGVjOTEiLCJzaG93UmVzdWx0cyI6dHJ1ZSwic2hvd0NvcnJlY3RBbnN3ZXJzIjp0cnVlLCJ2b3RpbmdMb2NrZWQiOnRydWV9XQ=="/>
</p:tagLst>
</file>

<file path=ppt/tags/tag15.xml><?xml version="1.0" encoding="utf-8"?>
<p:tagLst xmlns:a="http://schemas.openxmlformats.org/drawingml/2006/main" xmlns:r="http://schemas.openxmlformats.org/officeDocument/2006/relationships" xmlns:p="http://schemas.openxmlformats.org/presentationml/2006/main">
  <p:tag name="SLIDO_ELEMENT" val="interaction_image"/>
  <p:tag name="INTERACTION_TYPE" val="Quiz"/>
</p:tagLst>
</file>

<file path=ppt/tags/tag16.xml><?xml version="1.0" encoding="utf-8"?>
<p:tagLst xmlns:a="http://schemas.openxmlformats.org/drawingml/2006/main" xmlns:r="http://schemas.openxmlformats.org/officeDocument/2006/relationships" xmlns:p="http://schemas.openxmlformats.org/presentationml/2006/main">
  <p:tag name="SLIDO_ELEMENT" val="title"/>
</p:tagLst>
</file>

<file path=ppt/tags/tag17.xml><?xml version="1.0" encoding="utf-8"?>
<p:tagLst xmlns:a="http://schemas.openxmlformats.org/drawingml/2006/main" xmlns:r="http://schemas.openxmlformats.org/officeDocument/2006/relationships" xmlns:p="http://schemas.openxmlformats.org/presentationml/2006/main">
  <p:tag name="SLIDO_METADATA" val="eyJUaW1lc3RhbXAiOjE3ODUwNjYzNTR9"/>
  <p:tag name="SLIDO_TYPE" val="SlidoPoll"/>
  <p:tag name="SLIDO_POLL_UUID" val="ead72867-cd83-4a12-94a5-e721d001940a"/>
  <p:tag name="SLIDO_TIMELINE" val="W3sicG9sbFF1ZXN0aW9uVXVpZCI6Ijk0ZmFhZGZkLTI0ZGYtNDgwNS05NWY2LTQwNzEzNDg2MzU1NyIsInNob3dSZXN1bHRzIjp0cnVlLCJzaG93Q29ycmVjdEFuc3dlcnMiOmZhbHNlLCJ2b3RpbmdMb2NrZWQiOmZhbHNlfV0="/>
</p:tagLst>
</file>

<file path=ppt/tags/tag18.xml><?xml version="1.0" encoding="utf-8"?>
<p:tagLst xmlns:a="http://schemas.openxmlformats.org/drawingml/2006/main" xmlns:r="http://schemas.openxmlformats.org/officeDocument/2006/relationships" xmlns:p="http://schemas.openxmlformats.org/presentationml/2006/main">
  <p:tag name="SLIDO_ELEMENT" val="interaction_image"/>
  <p:tag name="INTERACTION_TYPE" val="Rating"/>
</p:tagLst>
</file>

<file path=ppt/tags/tag19.xml><?xml version="1.0" encoding="utf-8"?>
<p:tagLst xmlns:a="http://schemas.openxmlformats.org/drawingml/2006/main" xmlns:r="http://schemas.openxmlformats.org/officeDocument/2006/relationships" xmlns:p="http://schemas.openxmlformats.org/presentationml/2006/main">
  <p:tag name="SLIDO_ELEMENT" val="title"/>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1106</TotalTime>
  <Words>2382</Words>
  <Application>Microsoft Office PowerPoint</Application>
  <PresentationFormat>Custom</PresentationFormat>
  <Paragraphs>418</Paragraphs>
  <Slides>38</Slides>
  <Notes>6</Notes>
  <HiddenSlides>0</HiddenSlides>
  <MMClips>0</MMClips>
  <ScaleCrop>false</ScaleCrop>
  <HeadingPairs>
    <vt:vector size="8" baseType="variant">
      <vt:variant>
        <vt:lpstr>Fonts Used</vt:lpstr>
      </vt:variant>
      <vt:variant>
        <vt:i4>5</vt:i4>
      </vt:variant>
      <vt:variant>
        <vt:lpstr>Theme</vt:lpstr>
      </vt:variant>
      <vt:variant>
        <vt:i4>1</vt:i4>
      </vt:variant>
      <vt:variant>
        <vt:lpstr>Embedded OLE Servers</vt:lpstr>
      </vt:variant>
      <vt:variant>
        <vt:i4>1</vt:i4>
      </vt:variant>
      <vt:variant>
        <vt:lpstr>Slide Titles</vt:lpstr>
      </vt:variant>
      <vt:variant>
        <vt:i4>38</vt:i4>
      </vt:variant>
    </vt:vector>
  </HeadingPairs>
  <TitlesOfParts>
    <vt:vector size="45" baseType="lpstr">
      <vt:lpstr>Arial</vt:lpstr>
      <vt:lpstr>Calibri</vt:lpstr>
      <vt:lpstr>Tahoma</vt:lpstr>
      <vt:lpstr>Times New Roman</vt:lpstr>
      <vt:lpstr>Wingdings</vt:lpstr>
      <vt:lpstr>Office Theme</vt:lpstr>
      <vt:lpstr>Package</vt:lpstr>
      <vt:lpstr>PowerPoint Presentation</vt:lpstr>
      <vt:lpstr>PowerPoint Presentation</vt:lpstr>
      <vt:lpstr>PowerPoint Presentation</vt:lpstr>
      <vt:lpstr>In this lecture we will discuss the following points</vt:lpstr>
      <vt:lpstr>INTRODUCTION TO CONTROL SYSTEMS</vt:lpstr>
      <vt:lpstr>INTRODUCTION TO CONTROL SYSTEMS</vt:lpstr>
      <vt:lpstr>INTRODUCTION TO CONTROL SYSTEMS</vt:lpstr>
      <vt:lpstr>INTRODUCTION TO CONTROL SYSTEMS</vt:lpstr>
      <vt:lpstr>PowerPoint Presentation</vt:lpstr>
      <vt:lpstr>INTRODUCTION TO CONTROL SYSTEMS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COMPONENTS OF CLOSED LOOP SYSTEMS</vt:lpstr>
      <vt:lpstr>PowerPoint Presentation</vt:lpstr>
      <vt:lpstr>PowerPoint Presentation</vt:lpstr>
      <vt:lpstr>PowerPoint Presentation</vt:lpstr>
      <vt:lpstr>PowerPoint Presentation</vt:lpstr>
      <vt:lpstr>PowerPoint Presentation</vt:lpstr>
      <vt:lpstr>PowerPoint Presentation</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CONTROL SYSTEMS</dc:title>
  <dc:creator>DEll</dc:creator>
  <cp:lastModifiedBy>hasansaeedcontrol@gmail.com</cp:lastModifiedBy>
  <cp:revision>155</cp:revision>
  <dcterms:created xsi:type="dcterms:W3CDTF">2016-05-01T08:17:06Z</dcterms:created>
  <dcterms:modified xsi:type="dcterms:W3CDTF">2026-07-31T05:37:11Z</dcterms:modified>
</cp:coreProperties>
</file>