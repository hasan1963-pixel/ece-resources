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0" r:id="rId2"/>
    <p:sldId id="268" r:id="rId3"/>
    <p:sldId id="271" r:id="rId4"/>
    <p:sldId id="269" r:id="rId5"/>
    <p:sldId id="257" r:id="rId6"/>
    <p:sldId id="258" r:id="rId7"/>
    <p:sldId id="259" r:id="rId8"/>
    <p:sldId id="260" r:id="rId9"/>
    <p:sldId id="261" r:id="rId10"/>
    <p:sldId id="262" r:id="rId11"/>
    <p:sldId id="272" r:id="rId12"/>
    <p:sldId id="264" r:id="rId13"/>
    <p:sldId id="263" r:id="rId14"/>
    <p:sldId id="273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208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597F0-0366-447D-8E5F-24ED1053948C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DCB0A-5DE6-42EB-A3E0-0813CD8A7A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AA50A-63C5-4183-A1E0-5CC584D4BB7E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09625-B8EC-4800-964F-CA2C17EC5D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09625-B8EC-4800-964F-CA2C17EC5DD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8A52-137E-4F1F-864A-7300C96A4BA7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F47A-CD4F-4C1C-8D4D-525B69C9BBD9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1CFF-ECA2-45C1-82EE-C82E92D0D0E3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0F08F-6D9C-4E43-A128-4EAE58AB0111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8556E-DDBD-4F68-97D8-3274062F283E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973B3-8DE3-4F85-8D93-2CF7501A2DC1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A5A19-BE1E-4A30-8041-8293DE34DB1E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73E4-80C9-4F7D-8D20-B50171F4F901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1E82C-2E2A-475C-B60D-D3BC68646FF0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5521-960D-42D3-B979-35D2B9F89EF1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BF602-0BA3-4C3B-AD6C-3AF16DFED467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1AF21-65F5-4663-A126-1BA0E9429CFB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B1808-E3BC-4267-8331-17C95CCEC8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4282" y="214290"/>
            <a:ext cx="8758738" cy="6429420"/>
          </a:xfrm>
        </p:spPr>
        <p:txBody>
          <a:bodyPr/>
          <a:lstStyle/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hasansaeedcontrol@gmail.com</a:t>
            </a:r>
            <a:endParaRPr lang="en-GB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hasansaeed872726549.wordpress.com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Shasansaeed.yolasite.com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306B2-EC7E-4BB8-8894-54A4B6770FA7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>
                <a:solidFill>
                  <a:srgbClr val="00B050"/>
                </a:solidFill>
              </a:rPr>
              <a:t>Introduction to Analogous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solidFill>
                  <a:srgbClr val="00B050"/>
                </a:solidFill>
              </a:rPr>
              <a:t>Force-Voltage Analogy.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solidFill>
                  <a:srgbClr val="00B050"/>
                </a:solidFill>
              </a:rPr>
              <a:t>Force-Current Analogy.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solidFill>
                  <a:srgbClr val="00B050"/>
                </a:solidFill>
              </a:rPr>
              <a:t>Example on Analogous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solidFill>
                  <a:srgbClr val="00B050"/>
                </a:solidFill>
              </a:rPr>
              <a:t>Mechanical Equivalent Network.</a:t>
            </a:r>
          </a:p>
          <a:p>
            <a:pPr algn="just">
              <a:buFont typeface="Wingdings" pitchFamily="2" charset="2"/>
              <a:buChar char="Ø"/>
            </a:pPr>
            <a:endParaRPr lang="en-US" dirty="0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Ø"/>
            </a:pP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82" y="857233"/>
            <a:ext cx="8715436" cy="42862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146" y="785794"/>
            <a:ext cx="8786874" cy="5857916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6435-E78B-422D-B0C9-AADEB5893BD0}" type="datetime1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990600" y="228601"/>
            <a:ext cx="7162800" cy="761999"/>
          </a:xfrm>
        </p:spPr>
        <p:txBody>
          <a:bodyPr>
            <a:normAutofit/>
          </a:bodyPr>
          <a:lstStyle/>
          <a:p>
            <a:r>
              <a:rPr lang="en-US" sz="38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ANALOGOUS SYSTEM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763000" cy="5410200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Apply KVL in Series RLC Circuit</a:t>
            </a:r>
          </a:p>
          <a:p>
            <a:endParaRPr lang="en-US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aaanna</a:t>
            </a:r>
            <a:endParaRPr lang="en-US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Automatic Control Systems\jpg\fig_1-3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676400"/>
            <a:ext cx="4724400" cy="1528189"/>
          </a:xfrm>
          <a:prstGeom prst="rect">
            <a:avLst/>
          </a:prstGeom>
          <a:noFill/>
        </p:spPr>
      </p:pic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27038" y="3505200"/>
          <a:ext cx="8367712" cy="264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Equation" r:id="rId3" imgW="2234880" imgH="1054080" progId="Equation.3">
                  <p:embed/>
                </p:oleObj>
              </mc:Choice>
              <mc:Fallback>
                <p:oleObj name="Equation" r:id="rId3" imgW="2234880" imgH="10540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3505200"/>
                        <a:ext cx="8367712" cy="2640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152400" y="152400"/>
            <a:ext cx="4343400" cy="6248400"/>
          </a:xfrm>
        </p:spPr>
        <p:txBody>
          <a:bodyPr/>
          <a:lstStyle/>
          <a:p>
            <a:pPr algn="just">
              <a:buNone/>
            </a:pPr>
            <a:r>
              <a:rPr lang="en-US" dirty="0"/>
              <a:t>Consider parallel RLC circuit and apply KCL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52" name="Picture 4" descr="E:\Automatic Control Systems\jpg\fig_1-35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14600" y="1219200"/>
            <a:ext cx="4038600" cy="1676400"/>
          </a:xfrm>
          <a:prstGeom prst="rect">
            <a:avLst/>
          </a:prstGeom>
          <a:noFill/>
        </p:spPr>
      </p:pic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105025" y="3168650"/>
          <a:ext cx="5060950" cy="31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3" imgW="2450880" imgH="1269720" progId="Equation.3">
                  <p:embed/>
                </p:oleObj>
              </mc:Choice>
              <mc:Fallback>
                <p:oleObj name="Equation" r:id="rId3" imgW="2450880" imgH="12697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3168650"/>
                        <a:ext cx="5060950" cy="318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33600" y="1676400"/>
            <a:ext cx="38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" y="228601"/>
            <a:ext cx="8686800" cy="2285999"/>
          </a:xfrm>
        </p:spPr>
        <p:txBody>
          <a:bodyPr>
            <a:normAutofit fontScale="90000"/>
          </a:bodyPr>
          <a:lstStyle/>
          <a:p>
            <a:r>
              <a:rPr lang="en-US" sz="3300" dirty="0">
                <a:latin typeface="Tahoma" pitchFamily="34" charset="0"/>
                <a:ea typeface="Tahoma" pitchFamily="34" charset="0"/>
                <a:cs typeface="Tahoma" pitchFamily="34" charset="0"/>
              </a:rPr>
              <a:t>We know the equation of mechanical system</a:t>
            </a:r>
            <a:b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type="subTitle" idx="1"/>
          </p:nvPr>
        </p:nvSpPr>
        <p:spPr>
          <a:xfrm>
            <a:off x="228600" y="1828800"/>
            <a:ext cx="8763000" cy="4800600"/>
          </a:xfrm>
        </p:spPr>
        <p:txBody>
          <a:bodyPr>
            <a:normAutofit/>
          </a:bodyPr>
          <a:lstStyle/>
          <a:p>
            <a:pPr algn="just"/>
            <a:r>
              <a:rPr lang="en-US" sz="30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Compare equation(5) with equation(2)</a:t>
            </a:r>
          </a:p>
          <a:p>
            <a:pPr algn="just"/>
            <a:r>
              <a:rPr lang="en-US" sz="2800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FORCE –VOLTAGE ANALOGY (f-v)</a:t>
            </a:r>
          </a:p>
          <a:p>
            <a:pPr algn="just"/>
            <a:endParaRPr lang="en-US" sz="3000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/>
            <a:endParaRPr lang="en-US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buNone/>
            </a:pPr>
            <a:endParaRPr lang="en-US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81000" y="762000"/>
          <a:ext cx="8458201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2" imgW="2857320" imgH="419040" progId="Equation.3">
                  <p:embed/>
                </p:oleObj>
              </mc:Choice>
              <mc:Fallback>
                <p:oleObj name="Equation" r:id="rId2" imgW="285732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762000"/>
                        <a:ext cx="8458201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04801" y="2916830"/>
          <a:ext cx="8610598" cy="372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3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8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711">
                <a:tc>
                  <a:txBody>
                    <a:bodyPr/>
                    <a:lstStyle/>
                    <a:p>
                      <a:r>
                        <a:rPr lang="en-US" sz="2800" dirty="0"/>
                        <a:t>S.NO.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TRANSLATIONAL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ELECTRICAL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711">
                <a:tc>
                  <a:txBody>
                    <a:bodyPr/>
                    <a:lstStyle/>
                    <a:p>
                      <a:r>
                        <a:rPr lang="en-US" sz="28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Force</a:t>
                      </a:r>
                      <a:r>
                        <a:rPr lang="en-US" sz="2800" baseline="0" dirty="0"/>
                        <a:t> (F)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Voltage (E)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711">
                <a:tc>
                  <a:txBody>
                    <a:bodyPr/>
                    <a:lstStyle/>
                    <a:p>
                      <a:r>
                        <a:rPr lang="en-US" sz="28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Mass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Inductance (L)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4017">
                <a:tc>
                  <a:txBody>
                    <a:bodyPr/>
                    <a:lstStyle/>
                    <a:p>
                      <a:r>
                        <a:rPr lang="en-US" sz="28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Stiffness (K),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Elastance</a:t>
                      </a:r>
                      <a:r>
                        <a:rPr lang="en-US" sz="2800" baseline="0" dirty="0"/>
                        <a:t> (1/K)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Reciprocal of C, Capacitance (C)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711">
                <a:tc>
                  <a:txBody>
                    <a:bodyPr/>
                    <a:lstStyle/>
                    <a:p>
                      <a:r>
                        <a:rPr lang="en-US" sz="28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Damping coefficient 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Resistance (R)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711">
                <a:tc>
                  <a:txBody>
                    <a:bodyPr/>
                    <a:lstStyle/>
                    <a:p>
                      <a:r>
                        <a:rPr lang="en-US" sz="28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Displacement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Charge (q)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09600"/>
          </a:xfrm>
        </p:spPr>
        <p:txBody>
          <a:bodyPr>
            <a:normAutofit/>
          </a:bodyPr>
          <a:lstStyle/>
          <a:p>
            <a:r>
              <a:rPr lang="en-US" sz="3000" dirty="0"/>
              <a:t>Compare equation (5) with equation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8392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00B050"/>
                </a:solidFill>
              </a:rPr>
              <a:t>FORCE-CURRENT ANALOGY</a:t>
            </a:r>
          </a:p>
          <a:p>
            <a:pPr>
              <a:buNone/>
            </a:pP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1" y="990600"/>
          <a:ext cx="8839199" cy="5300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4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1382">
                <a:tc>
                  <a:txBody>
                    <a:bodyPr/>
                    <a:lstStyle/>
                    <a:p>
                      <a:r>
                        <a:rPr lang="en-US" sz="2800" dirty="0"/>
                        <a:t>S.NO.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TRANSLATIONAL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ELECTRICAL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758">
                <a:tc>
                  <a:txBody>
                    <a:bodyPr/>
                    <a:lstStyle/>
                    <a:p>
                      <a:r>
                        <a:rPr lang="en-US" sz="28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Force</a:t>
                      </a:r>
                      <a:r>
                        <a:rPr lang="en-US" sz="2800" baseline="0" dirty="0"/>
                        <a:t> (F)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Current (I)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58">
                <a:tc>
                  <a:txBody>
                    <a:bodyPr/>
                    <a:lstStyle/>
                    <a:p>
                      <a:r>
                        <a:rPr lang="en-US" sz="28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Mass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Capacitance (C)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2005">
                <a:tc>
                  <a:txBody>
                    <a:bodyPr/>
                    <a:lstStyle/>
                    <a:p>
                      <a:r>
                        <a:rPr lang="en-US" sz="28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Damping coefficient 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Reciprocal</a:t>
                      </a:r>
                      <a:r>
                        <a:rPr lang="en-US" sz="2800" baseline="0" dirty="0"/>
                        <a:t> of resistance (1/R) </a:t>
                      </a:r>
                      <a:r>
                        <a:rPr lang="en-US" sz="2800" baseline="0" dirty="0" err="1"/>
                        <a:t>i.e</a:t>
                      </a:r>
                      <a:r>
                        <a:rPr lang="en-US" sz="2800" baseline="0" dirty="0"/>
                        <a:t> conductance (G)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1382">
                <a:tc>
                  <a:txBody>
                    <a:bodyPr/>
                    <a:lstStyle/>
                    <a:p>
                      <a:r>
                        <a:rPr lang="en-US" sz="28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Stiffness (K), </a:t>
                      </a:r>
                      <a:r>
                        <a:rPr lang="en-US" sz="2800" dirty="0" err="1"/>
                        <a:t>Elastance</a:t>
                      </a:r>
                      <a:r>
                        <a:rPr lang="en-US" sz="2800" dirty="0"/>
                        <a:t> (1/K)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Reciprocal of inductance (1/L)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758">
                <a:tc>
                  <a:txBody>
                    <a:bodyPr/>
                    <a:lstStyle/>
                    <a:p>
                      <a:r>
                        <a:rPr lang="en-US" sz="28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Displacement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Flux linkage (</a:t>
                      </a:r>
                      <a:r>
                        <a:rPr lang="el-GR" sz="2800" dirty="0"/>
                        <a:t>φ</a:t>
                      </a:r>
                      <a:r>
                        <a:rPr lang="en-US" sz="2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758">
                <a:tc>
                  <a:txBody>
                    <a:bodyPr/>
                    <a:lstStyle/>
                    <a:p>
                      <a:r>
                        <a:rPr lang="en-US" sz="28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Velocity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Voltage (E)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514600" y="5791200"/>
          <a:ext cx="215900" cy="474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2" imgW="126720" imgH="279360" progId="Equation.3">
                  <p:embed/>
                </p:oleObj>
              </mc:Choice>
              <mc:Fallback>
                <p:oleObj name="Equation" r:id="rId2" imgW="126720" imgH="2793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791200"/>
                        <a:ext cx="215900" cy="4749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52401"/>
            <a:ext cx="7772400" cy="533399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For rotational system 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28600" y="1676400"/>
            <a:ext cx="8686800" cy="46482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Torque-voltage (T-V) analogy</a:t>
            </a:r>
          </a:p>
          <a:p>
            <a:r>
              <a:rPr lang="en-US" sz="2400" dirty="0">
                <a:solidFill>
                  <a:srgbClr val="00B050"/>
                </a:solidFill>
              </a:rPr>
              <a:t>Compare equation(2) with equation (6)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4294967295"/>
          </p:nvPr>
        </p:nvGraphicFramePr>
        <p:xfrm>
          <a:off x="1698625" y="776288"/>
          <a:ext cx="559276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2" imgW="2844720" imgH="419040" progId="Equation.3">
                  <p:embed/>
                </p:oleObj>
              </mc:Choice>
              <mc:Fallback>
                <p:oleObj name="Equation" r:id="rId2" imgW="2844720" imgH="41904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625" y="776288"/>
                        <a:ext cx="5592763" cy="823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28600" y="2666999"/>
          <a:ext cx="8763000" cy="3733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275">
                <a:tc>
                  <a:txBody>
                    <a:bodyPr/>
                    <a:lstStyle/>
                    <a:p>
                      <a:r>
                        <a:rPr lang="en-US" sz="2400" dirty="0"/>
                        <a:t>S.NO.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ROTATIONAL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ELECTRICAL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275">
                <a:tc>
                  <a:txBody>
                    <a:bodyPr/>
                    <a:lstStyle/>
                    <a:p>
                      <a:r>
                        <a:rPr lang="en-US" sz="2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Torque</a:t>
                      </a:r>
                      <a:r>
                        <a:rPr lang="en-US" sz="2400" baseline="0" dirty="0"/>
                        <a:t> (T)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Voltage (E)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275">
                <a:tc>
                  <a:txBody>
                    <a:bodyPr/>
                    <a:lstStyle/>
                    <a:p>
                      <a:r>
                        <a:rPr lang="en-US" sz="2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Moment of inertia (J)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Inductance (L)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275">
                <a:tc>
                  <a:txBody>
                    <a:bodyPr/>
                    <a:lstStyle/>
                    <a:p>
                      <a:r>
                        <a:rPr lang="en-US" sz="2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Damping</a:t>
                      </a:r>
                      <a:r>
                        <a:rPr lang="en-US" sz="2400" baseline="0" dirty="0"/>
                        <a:t> coefficient (B)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Resistance (R)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6148">
                <a:tc>
                  <a:txBody>
                    <a:bodyPr/>
                    <a:lstStyle/>
                    <a:p>
                      <a:r>
                        <a:rPr lang="en-US" sz="2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Stiffness (K), </a:t>
                      </a:r>
                      <a:r>
                        <a:rPr lang="en-US" sz="2400" dirty="0" err="1"/>
                        <a:t>Elastance</a:t>
                      </a:r>
                      <a:r>
                        <a:rPr lang="en-US" sz="2400" dirty="0"/>
                        <a:t> (1/K)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Reciprocal of capacitance (1/C). Capacitance (C)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275">
                <a:tc>
                  <a:txBody>
                    <a:bodyPr/>
                    <a:lstStyle/>
                    <a:p>
                      <a:r>
                        <a:rPr lang="en-US" sz="2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Angular displacement (</a:t>
                      </a:r>
                      <a:r>
                        <a:rPr lang="el-GR" sz="2400" dirty="0"/>
                        <a:t>θ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Charge (q)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275">
                <a:tc>
                  <a:txBody>
                    <a:bodyPr/>
                    <a:lstStyle/>
                    <a:p>
                      <a:r>
                        <a:rPr lang="en-US" sz="2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Angular velocity (</a:t>
                      </a:r>
                      <a:r>
                        <a:rPr lang="el-GR" sz="2400" dirty="0"/>
                        <a:t>ω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Current (I)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924800" cy="609600"/>
          </a:xfrm>
        </p:spPr>
        <p:txBody>
          <a:bodyPr>
            <a:normAutofit/>
          </a:bodyPr>
          <a:lstStyle/>
          <a:p>
            <a:r>
              <a:rPr lang="en-US" sz="2400" dirty="0"/>
              <a:t>Compare equation (4) with equation 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00B050"/>
                </a:solidFill>
              </a:rPr>
              <a:t>TORQUE(T)-CURRENT (I) ANALOGY</a:t>
            </a:r>
          </a:p>
          <a:p>
            <a:pPr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447800"/>
          <a:ext cx="8763000" cy="4823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ROTATIONAL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ELECTRICAL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2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Torque</a:t>
                      </a:r>
                      <a:r>
                        <a:rPr lang="en-US" sz="2400" baseline="0" dirty="0"/>
                        <a:t> (T)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Current (I)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2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Moment of inertia (J)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Capacitance (C)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2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Damping coefficient 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Reciprocal of resistance (R), conductance 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2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Stiffness (K), </a:t>
                      </a:r>
                      <a:r>
                        <a:rPr lang="en-US" sz="2400" dirty="0" err="1"/>
                        <a:t>Elastance</a:t>
                      </a:r>
                      <a:r>
                        <a:rPr lang="en-US" sz="2400" dirty="0"/>
                        <a:t> (1/K)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Reciprocal of inductance (1/L)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2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Angular displacement (</a:t>
                      </a:r>
                      <a:r>
                        <a:rPr lang="el-GR" sz="2400" dirty="0"/>
                        <a:t>ω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Flux linkage (</a:t>
                      </a:r>
                      <a:r>
                        <a:rPr lang="el-GR" sz="2400" dirty="0"/>
                        <a:t>φ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Draw the analogous electrical network of the given fig. using f-v analogy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7000"/>
            <a:ext cx="2895600" cy="3810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 descr="E:\Automatic Control Systems\jpg\fig_1-37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93172" y="1066800"/>
            <a:ext cx="3214255" cy="5410200"/>
          </a:xfrm>
          <a:prstGeom prst="rect">
            <a:avLst/>
          </a:prstGeom>
          <a:noFill/>
        </p:spPr>
      </p:pic>
      <p:pic>
        <p:nvPicPr>
          <p:cNvPr id="6147" name="Picture 3" descr="E:\Automatic Control Systems\jpg\fig_1-3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648200" y="2514600"/>
            <a:ext cx="4343400" cy="1905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343400" y="3505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MECHANICAL EQUIVALENT NETWORK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638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000" dirty="0">
                <a:solidFill>
                  <a:srgbClr val="00B050"/>
                </a:solidFill>
              </a:rPr>
              <a:t>PROCEDURE TO DRAW THE MECHANICAL EQUVALENT NETWORK:</a:t>
            </a:r>
          </a:p>
          <a:p>
            <a:pPr algn="just">
              <a:buNone/>
            </a:pPr>
            <a:r>
              <a:rPr lang="en-US" sz="3000" dirty="0"/>
              <a:t>Step 1: Draw a reference line.</a:t>
            </a:r>
          </a:p>
          <a:p>
            <a:pPr algn="just">
              <a:buNone/>
            </a:pPr>
            <a:r>
              <a:rPr lang="en-US" sz="3000" dirty="0"/>
              <a:t>Step 2: Corresponding to the displacement x</a:t>
            </a:r>
            <a:r>
              <a:rPr lang="en-US" sz="3000" baseline="-25000" dirty="0"/>
              <a:t>1</a:t>
            </a:r>
            <a:r>
              <a:rPr lang="en-US" sz="3000" dirty="0"/>
              <a:t> x</a:t>
            </a:r>
            <a:r>
              <a:rPr lang="en-US" sz="3000" baseline="-25000" dirty="0"/>
              <a:t>2</a:t>
            </a:r>
            <a:r>
              <a:rPr lang="en-US" sz="3000" dirty="0"/>
              <a:t> ….select the nodes.</a:t>
            </a:r>
          </a:p>
          <a:p>
            <a:pPr algn="just">
              <a:buNone/>
            </a:pPr>
            <a:r>
              <a:rPr lang="en-US" sz="3000" dirty="0"/>
              <a:t>Step 3: Connect one end of masses to the reference line</a:t>
            </a:r>
          </a:p>
          <a:p>
            <a:pPr algn="just">
              <a:buNone/>
            </a:pPr>
            <a:r>
              <a:rPr lang="en-US" sz="3000" dirty="0"/>
              <a:t>Step 4: Connect other elements of the system to the nodes. </a:t>
            </a:r>
          </a:p>
          <a:p>
            <a:pPr algn="just">
              <a:buNone/>
            </a:pPr>
            <a:r>
              <a:rPr lang="en-US" sz="3000" dirty="0"/>
              <a:t>Step 5: Apply nodal analysis, write the system equations.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763000" cy="106680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Example</a:t>
            </a:r>
            <a:r>
              <a:rPr lang="en-US" sz="2800" dirty="0">
                <a:solidFill>
                  <a:srgbClr val="00B050"/>
                </a:solidFill>
                <a:sym typeface="Wingdings" pitchFamily="2" charset="2"/>
              </a:rPr>
              <a:t>: (</a:t>
            </a:r>
            <a:r>
              <a:rPr lang="en-US" sz="2800" dirty="0" err="1">
                <a:solidFill>
                  <a:srgbClr val="00B050"/>
                </a:solidFill>
                <a:sym typeface="Wingdings" pitchFamily="2" charset="2"/>
              </a:rPr>
              <a:t>i</a:t>
            </a:r>
            <a:r>
              <a:rPr lang="en-US" sz="2800" dirty="0">
                <a:solidFill>
                  <a:srgbClr val="00B050"/>
                </a:solidFill>
                <a:sym typeface="Wingdings" pitchFamily="2" charset="2"/>
              </a:rPr>
              <a:t>)</a:t>
            </a:r>
            <a:r>
              <a:rPr lang="en-US" sz="2800" dirty="0">
                <a:solidFill>
                  <a:srgbClr val="00B050"/>
                </a:solidFill>
              </a:rPr>
              <a:t> Draw the mechanical network of the given system </a:t>
            </a:r>
            <a:br>
              <a:rPr lang="en-US" sz="2800" dirty="0">
                <a:solidFill>
                  <a:srgbClr val="00B050"/>
                </a:solidFill>
              </a:rPr>
            </a:br>
            <a:r>
              <a:rPr lang="en-US" sz="2800" dirty="0">
                <a:solidFill>
                  <a:srgbClr val="00B050"/>
                </a:solidFill>
              </a:rPr>
              <a:t>(ii) Draw the analogous electrical system use f-</a:t>
            </a:r>
            <a:r>
              <a:rPr lang="en-US" sz="2800" dirty="0" err="1">
                <a:solidFill>
                  <a:srgbClr val="00B050"/>
                </a:solidFill>
              </a:rPr>
              <a:t>i</a:t>
            </a:r>
            <a:r>
              <a:rPr lang="en-US" sz="2800" dirty="0">
                <a:solidFill>
                  <a:srgbClr val="00B050"/>
                </a:solidFill>
              </a:rPr>
              <a:t> analogous(assume wheels are frictionless).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9458" name="Picture 2" descr="E:\Automatic Control Systems\jpg\fig_1-41.jpg"/>
          <p:cNvPicPr preferRelativeResize="0"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1"/>
            <a:ext cx="8458200" cy="2133599"/>
          </a:xfrm>
          <a:prstGeom prst="rect">
            <a:avLst/>
          </a:prstGeom>
          <a:noFill/>
        </p:spPr>
      </p:pic>
      <p:pic>
        <p:nvPicPr>
          <p:cNvPr id="19459" name="Picture 3" descr="E:\Automatic Control Systems\jpg\fig_1-49.jpg"/>
          <p:cNvPicPr preferRelativeResize="0"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3810000"/>
            <a:ext cx="6847625" cy="259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000" dirty="0"/>
              <a:t>Analogous Circuit (f-I analogy)</a:t>
            </a:r>
          </a:p>
          <a:p>
            <a:pPr>
              <a:buNone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93" name="Straight Connector 92"/>
          <p:cNvCxnSpPr/>
          <p:nvPr/>
        </p:nvCxnSpPr>
        <p:spPr>
          <a:xfrm rot="16200000" flipH="1">
            <a:off x="6328815" y="2155428"/>
            <a:ext cx="6400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94" idx="4"/>
          </p:cNvCxnSpPr>
          <p:nvPr/>
        </p:nvCxnSpPr>
        <p:spPr>
          <a:xfrm rot="16200000" flipH="1">
            <a:off x="6330774" y="3486660"/>
            <a:ext cx="646674" cy="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/>
          <p:cNvGrpSpPr/>
          <p:nvPr/>
        </p:nvGrpSpPr>
        <p:grpSpPr>
          <a:xfrm>
            <a:off x="786714" y="1052388"/>
            <a:ext cx="6909486" cy="2759200"/>
            <a:chOff x="533400" y="1052388"/>
            <a:chExt cx="6909486" cy="2759200"/>
          </a:xfrm>
        </p:grpSpPr>
        <p:grpSp>
          <p:nvGrpSpPr>
            <p:cNvPr id="53250" name="Group 2"/>
            <p:cNvGrpSpPr>
              <a:grpSpLocks/>
            </p:cNvGrpSpPr>
            <p:nvPr/>
          </p:nvGrpSpPr>
          <p:grpSpPr bwMode="auto">
            <a:xfrm>
              <a:off x="3094955" y="1458202"/>
              <a:ext cx="1628841" cy="284162"/>
              <a:chOff x="510" y="2700"/>
              <a:chExt cx="9801" cy="1440"/>
            </a:xfrm>
          </p:grpSpPr>
          <p:cxnSp>
            <p:nvCxnSpPr>
              <p:cNvPr id="53251" name="AutoShape 3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52" name="AutoShape 4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53" name="AutoShape 5"/>
              <p:cNvCxnSpPr>
                <a:cxnSpLocks noChangeShapeType="1"/>
              </p:cNvCxnSpPr>
              <p:nvPr/>
            </p:nvCxnSpPr>
            <p:spPr bwMode="auto">
              <a:xfrm flipV="1">
                <a:off x="432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54" name="AutoShape 6"/>
              <p:cNvCxnSpPr>
                <a:cxnSpLocks noChangeShapeType="1"/>
              </p:cNvCxnSpPr>
              <p:nvPr/>
            </p:nvCxnSpPr>
            <p:spPr bwMode="auto">
              <a:xfrm flipH="1" flipV="1">
                <a:off x="504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55" name="AutoShape 7"/>
              <p:cNvCxnSpPr>
                <a:cxnSpLocks noChangeShapeType="1"/>
              </p:cNvCxnSpPr>
              <p:nvPr/>
            </p:nvCxnSpPr>
            <p:spPr bwMode="auto">
              <a:xfrm flipH="1">
                <a:off x="576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56" name="AutoShape 8"/>
              <p:cNvCxnSpPr>
                <a:cxnSpLocks noChangeShapeType="1"/>
              </p:cNvCxnSpPr>
              <p:nvPr/>
            </p:nvCxnSpPr>
            <p:spPr bwMode="auto">
              <a:xfrm flipH="1" flipV="1">
                <a:off x="648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57" name="AutoShape 9"/>
              <p:cNvCxnSpPr>
                <a:cxnSpLocks noChangeShapeType="1"/>
              </p:cNvCxnSpPr>
              <p:nvPr/>
            </p:nvCxnSpPr>
            <p:spPr bwMode="auto">
              <a:xfrm>
                <a:off x="2520" y="3420"/>
                <a:ext cx="72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58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59" name="AutoShape 11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60" name="AutoShape 12"/>
              <p:cNvCxnSpPr>
                <a:cxnSpLocks noChangeShapeType="1"/>
              </p:cNvCxnSpPr>
              <p:nvPr/>
            </p:nvCxnSpPr>
            <p:spPr bwMode="auto">
              <a:xfrm>
                <a:off x="510" y="3420"/>
                <a:ext cx="2751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61" name="AutoShape 13"/>
              <p:cNvCxnSpPr>
                <a:cxnSpLocks noChangeShapeType="1"/>
              </p:cNvCxnSpPr>
              <p:nvPr/>
            </p:nvCxnSpPr>
            <p:spPr bwMode="auto">
              <a:xfrm flipV="1">
                <a:off x="7200" y="342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62" name="AutoShape 14"/>
              <p:cNvCxnSpPr>
                <a:cxnSpLocks noChangeShapeType="1"/>
              </p:cNvCxnSpPr>
              <p:nvPr/>
            </p:nvCxnSpPr>
            <p:spPr bwMode="auto">
              <a:xfrm>
                <a:off x="7560" y="3420"/>
                <a:ext cx="2751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53263" name="Group 15"/>
            <p:cNvGrpSpPr>
              <a:grpSpLocks/>
            </p:cNvGrpSpPr>
            <p:nvPr/>
          </p:nvGrpSpPr>
          <p:grpSpPr bwMode="auto">
            <a:xfrm>
              <a:off x="3097051" y="1932162"/>
              <a:ext cx="1624376" cy="228600"/>
              <a:chOff x="-1588" y="10440"/>
              <a:chExt cx="15738" cy="2347"/>
            </a:xfrm>
          </p:grpSpPr>
          <p:grpSp>
            <p:nvGrpSpPr>
              <p:cNvPr id="53264" name="Group 16"/>
              <p:cNvGrpSpPr>
                <a:grpSpLocks/>
              </p:cNvGrpSpPr>
              <p:nvPr/>
            </p:nvGrpSpPr>
            <p:grpSpPr bwMode="auto">
              <a:xfrm rot="16200000">
                <a:off x="3685" y="10164"/>
                <a:ext cx="1260" cy="1811"/>
                <a:chOff x="5220" y="9900"/>
                <a:chExt cx="900" cy="2160"/>
              </a:xfrm>
            </p:grpSpPr>
            <p:sp>
              <p:nvSpPr>
                <p:cNvPr id="53265" name="Arc 17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66" name="Arc 18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267" name="Group 19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53268" name="Arc 20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69" name="Arc 21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270" name="Group 22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53271" name="Arc 23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72" name="Arc 24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273" name="Group 25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53274" name="Arc 26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75" name="Arc 27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53276" name="AutoShape 28"/>
              <p:cNvCxnSpPr>
                <a:cxnSpLocks noChangeShapeType="1"/>
              </p:cNvCxnSpPr>
              <p:nvPr/>
            </p:nvCxnSpPr>
            <p:spPr bwMode="auto">
              <a:xfrm flipH="1">
                <a:off x="-1588" y="11704"/>
                <a:ext cx="505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77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443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53278" name="Group 30"/>
              <p:cNvGrpSpPr>
                <a:grpSpLocks/>
              </p:cNvGrpSpPr>
              <p:nvPr/>
            </p:nvGrpSpPr>
            <p:grpSpPr bwMode="auto">
              <a:xfrm rot="5400000">
                <a:off x="4231" y="11786"/>
                <a:ext cx="1079" cy="901"/>
                <a:chOff x="5220" y="9900"/>
                <a:chExt cx="900" cy="2160"/>
              </a:xfrm>
            </p:grpSpPr>
            <p:sp>
              <p:nvSpPr>
                <p:cNvPr id="53279" name="Arc 3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80" name="Arc 3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281" name="Group 33"/>
              <p:cNvGrpSpPr>
                <a:grpSpLocks/>
              </p:cNvGrpSpPr>
              <p:nvPr/>
            </p:nvGrpSpPr>
            <p:grpSpPr bwMode="auto">
              <a:xfrm rot="5400000">
                <a:off x="6031" y="11789"/>
                <a:ext cx="1079" cy="901"/>
                <a:chOff x="5220" y="9900"/>
                <a:chExt cx="900" cy="2160"/>
              </a:xfrm>
            </p:grpSpPr>
            <p:sp>
              <p:nvSpPr>
                <p:cNvPr id="53282" name="Arc 3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83" name="Arc 3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284" name="Group 36"/>
              <p:cNvGrpSpPr>
                <a:grpSpLocks/>
              </p:cNvGrpSpPr>
              <p:nvPr/>
            </p:nvGrpSpPr>
            <p:grpSpPr bwMode="auto">
              <a:xfrm rot="5400000">
                <a:off x="7831" y="11797"/>
                <a:ext cx="1079" cy="901"/>
                <a:chOff x="5220" y="9900"/>
                <a:chExt cx="900" cy="2160"/>
              </a:xfrm>
            </p:grpSpPr>
            <p:sp>
              <p:nvSpPr>
                <p:cNvPr id="53285" name="Arc 37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86" name="Arc 38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3287" name="Group 39"/>
            <p:cNvGrpSpPr>
              <a:grpSpLocks/>
            </p:cNvGrpSpPr>
            <p:nvPr/>
          </p:nvGrpSpPr>
          <p:grpSpPr bwMode="auto">
            <a:xfrm rot="5400000">
              <a:off x="4487157" y="2700954"/>
              <a:ext cx="1989358" cy="228600"/>
              <a:chOff x="1714" y="5580"/>
              <a:chExt cx="6854" cy="1080"/>
            </a:xfrm>
          </p:grpSpPr>
          <p:cxnSp>
            <p:nvCxnSpPr>
              <p:cNvPr id="53288" name="AutoShape 40"/>
              <p:cNvCxnSpPr>
                <a:cxnSpLocks noChangeShapeType="1"/>
              </p:cNvCxnSpPr>
              <p:nvPr/>
            </p:nvCxnSpPr>
            <p:spPr bwMode="auto">
              <a:xfrm>
                <a:off x="4860" y="5580"/>
                <a:ext cx="0" cy="107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53289" name="Group 41"/>
              <p:cNvGrpSpPr>
                <a:grpSpLocks/>
              </p:cNvGrpSpPr>
              <p:nvPr/>
            </p:nvGrpSpPr>
            <p:grpSpPr bwMode="auto">
              <a:xfrm rot="10800000">
                <a:off x="5040" y="5580"/>
                <a:ext cx="180" cy="1080"/>
                <a:chOff x="5040" y="5580"/>
                <a:chExt cx="180" cy="1080"/>
              </a:xfrm>
            </p:grpSpPr>
            <p:sp>
              <p:nvSpPr>
                <p:cNvPr id="53290" name="Arc 42"/>
                <p:cNvSpPr>
                  <a:spLocks/>
                </p:cNvSpPr>
                <p:nvPr/>
              </p:nvSpPr>
              <p:spPr bwMode="auto">
                <a:xfrm>
                  <a:off x="5040" y="558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91" name="Arc 43"/>
                <p:cNvSpPr>
                  <a:spLocks/>
                </p:cNvSpPr>
                <p:nvPr/>
              </p:nvSpPr>
              <p:spPr bwMode="auto">
                <a:xfrm flipV="1">
                  <a:off x="5040" y="612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53292" name="AutoShape 44"/>
              <p:cNvCxnSpPr>
                <a:cxnSpLocks noChangeShapeType="1"/>
              </p:cNvCxnSpPr>
              <p:nvPr/>
            </p:nvCxnSpPr>
            <p:spPr bwMode="auto">
              <a:xfrm>
                <a:off x="5040" y="6120"/>
                <a:ext cx="3528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293" name="AutoShape 45"/>
              <p:cNvCxnSpPr>
                <a:cxnSpLocks noChangeShapeType="1"/>
              </p:cNvCxnSpPr>
              <p:nvPr/>
            </p:nvCxnSpPr>
            <p:spPr bwMode="auto">
              <a:xfrm>
                <a:off x="1714" y="6120"/>
                <a:ext cx="315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51" name="Straight Connector 50"/>
            <p:cNvCxnSpPr/>
            <p:nvPr/>
          </p:nvCxnSpPr>
          <p:spPr>
            <a:xfrm rot="5400000">
              <a:off x="4496594" y="1828006"/>
              <a:ext cx="4572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2869232" y="1828006"/>
              <a:ext cx="4572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4724400" y="1828800"/>
              <a:ext cx="1676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424406" y="1833327"/>
              <a:ext cx="1676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39"/>
            <p:cNvGrpSpPr>
              <a:grpSpLocks/>
            </p:cNvGrpSpPr>
            <p:nvPr/>
          </p:nvGrpSpPr>
          <p:grpSpPr bwMode="auto">
            <a:xfrm rot="5400000">
              <a:off x="1333488" y="2705000"/>
              <a:ext cx="1981234" cy="228600"/>
              <a:chOff x="2133" y="5580"/>
              <a:chExt cx="6826" cy="1080"/>
            </a:xfrm>
          </p:grpSpPr>
          <p:cxnSp>
            <p:nvCxnSpPr>
              <p:cNvPr id="57" name="AutoShape 40"/>
              <p:cNvCxnSpPr>
                <a:cxnSpLocks noChangeShapeType="1"/>
              </p:cNvCxnSpPr>
              <p:nvPr/>
            </p:nvCxnSpPr>
            <p:spPr bwMode="auto">
              <a:xfrm>
                <a:off x="5276" y="5580"/>
                <a:ext cx="0" cy="107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58" name="Group 41"/>
              <p:cNvGrpSpPr>
                <a:grpSpLocks/>
              </p:cNvGrpSpPr>
              <p:nvPr/>
            </p:nvGrpSpPr>
            <p:grpSpPr bwMode="auto">
              <a:xfrm rot="10800000">
                <a:off x="5517" y="5580"/>
                <a:ext cx="180" cy="1080"/>
                <a:chOff x="4563" y="5580"/>
                <a:chExt cx="180" cy="1080"/>
              </a:xfrm>
            </p:grpSpPr>
            <p:sp>
              <p:nvSpPr>
                <p:cNvPr id="61" name="Arc 42"/>
                <p:cNvSpPr>
                  <a:spLocks/>
                </p:cNvSpPr>
                <p:nvPr/>
              </p:nvSpPr>
              <p:spPr bwMode="auto">
                <a:xfrm>
                  <a:off x="4563" y="558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Arc 43"/>
                <p:cNvSpPr>
                  <a:spLocks/>
                </p:cNvSpPr>
                <p:nvPr/>
              </p:nvSpPr>
              <p:spPr bwMode="auto">
                <a:xfrm flipV="1">
                  <a:off x="4563" y="612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59" name="AutoShape 44"/>
              <p:cNvCxnSpPr>
                <a:cxnSpLocks noChangeShapeType="1"/>
              </p:cNvCxnSpPr>
              <p:nvPr/>
            </p:nvCxnSpPr>
            <p:spPr bwMode="auto">
              <a:xfrm>
                <a:off x="5494" y="6120"/>
                <a:ext cx="3465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0" name="AutoShape 45"/>
              <p:cNvCxnSpPr>
                <a:cxnSpLocks noChangeShapeType="1"/>
              </p:cNvCxnSpPr>
              <p:nvPr/>
            </p:nvCxnSpPr>
            <p:spPr bwMode="auto">
              <a:xfrm>
                <a:off x="2133" y="6120"/>
                <a:ext cx="315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64" name="Straight Connector 63"/>
            <p:cNvCxnSpPr/>
            <p:nvPr/>
          </p:nvCxnSpPr>
          <p:spPr>
            <a:xfrm>
              <a:off x="1439562" y="3810000"/>
              <a:ext cx="4965192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294" name="Group 46"/>
            <p:cNvGrpSpPr>
              <a:grpSpLocks/>
            </p:cNvGrpSpPr>
            <p:nvPr/>
          </p:nvGrpSpPr>
          <p:grpSpPr bwMode="auto">
            <a:xfrm rot="16200000">
              <a:off x="436325" y="2709971"/>
              <a:ext cx="1971461" cy="228600"/>
              <a:chOff x="-2916" y="10440"/>
              <a:chExt cx="17509" cy="2347"/>
            </a:xfrm>
          </p:grpSpPr>
          <p:grpSp>
            <p:nvGrpSpPr>
              <p:cNvPr id="53295" name="Group 47"/>
              <p:cNvGrpSpPr>
                <a:grpSpLocks/>
              </p:cNvGrpSpPr>
              <p:nvPr/>
            </p:nvGrpSpPr>
            <p:grpSpPr bwMode="auto">
              <a:xfrm rot="16200000">
                <a:off x="3685" y="10164"/>
                <a:ext cx="1260" cy="1811"/>
                <a:chOff x="5220" y="9900"/>
                <a:chExt cx="900" cy="2160"/>
              </a:xfrm>
            </p:grpSpPr>
            <p:sp>
              <p:nvSpPr>
                <p:cNvPr id="53296" name="Arc 4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97" name="Arc 4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298" name="Group 50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53299" name="Arc 5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300" name="Arc 5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301" name="Group 53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53302" name="Arc 5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303" name="Arc 5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304" name="Group 56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53305" name="Arc 57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306" name="Arc 58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53307" name="AutoShape 59"/>
              <p:cNvCxnSpPr>
                <a:cxnSpLocks noChangeShapeType="1"/>
              </p:cNvCxnSpPr>
              <p:nvPr/>
            </p:nvCxnSpPr>
            <p:spPr bwMode="auto">
              <a:xfrm flipH="1">
                <a:off x="-2916" y="11704"/>
                <a:ext cx="6497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308" name="AutoShape 60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4873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53309" name="Group 61"/>
              <p:cNvGrpSpPr>
                <a:grpSpLocks/>
              </p:cNvGrpSpPr>
              <p:nvPr/>
            </p:nvGrpSpPr>
            <p:grpSpPr bwMode="auto">
              <a:xfrm rot="5400000">
                <a:off x="4231" y="11786"/>
                <a:ext cx="1079" cy="901"/>
                <a:chOff x="5220" y="9900"/>
                <a:chExt cx="900" cy="2160"/>
              </a:xfrm>
            </p:grpSpPr>
            <p:sp>
              <p:nvSpPr>
                <p:cNvPr id="53310" name="Arc 62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311" name="Arc 63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312" name="Group 64"/>
              <p:cNvGrpSpPr>
                <a:grpSpLocks/>
              </p:cNvGrpSpPr>
              <p:nvPr/>
            </p:nvGrpSpPr>
            <p:grpSpPr bwMode="auto">
              <a:xfrm rot="5400000">
                <a:off x="6031" y="11789"/>
                <a:ext cx="1079" cy="901"/>
                <a:chOff x="5220" y="9900"/>
                <a:chExt cx="900" cy="2160"/>
              </a:xfrm>
            </p:grpSpPr>
            <p:sp>
              <p:nvSpPr>
                <p:cNvPr id="53313" name="Arc 6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314" name="Arc 6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315" name="Group 67"/>
              <p:cNvGrpSpPr>
                <a:grpSpLocks/>
              </p:cNvGrpSpPr>
              <p:nvPr/>
            </p:nvGrpSpPr>
            <p:grpSpPr bwMode="auto">
              <a:xfrm rot="5400000">
                <a:off x="7831" y="11797"/>
                <a:ext cx="1079" cy="901"/>
                <a:chOff x="5220" y="9900"/>
                <a:chExt cx="900" cy="2160"/>
              </a:xfrm>
            </p:grpSpPr>
            <p:sp>
              <p:nvSpPr>
                <p:cNvPr id="53316" name="Arc 6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317" name="Arc 6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cxnSp>
          <p:nvCxnSpPr>
            <p:cNvPr id="91" name="Straight Arrow Connector 90"/>
            <p:cNvCxnSpPr/>
            <p:nvPr/>
          </p:nvCxnSpPr>
          <p:spPr>
            <a:xfrm rot="5400000" flipH="1" flipV="1">
              <a:off x="6234396" y="2806632"/>
              <a:ext cx="36576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/>
            <p:cNvSpPr/>
            <p:nvPr/>
          </p:nvSpPr>
          <p:spPr>
            <a:xfrm>
              <a:off x="6019794" y="2477526"/>
              <a:ext cx="762000" cy="6858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505200" y="1052388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1/R</a:t>
              </a:r>
              <a:r>
                <a:rPr lang="en-US" baseline="-25000" dirty="0"/>
                <a:t>1</a:t>
              </a:r>
              <a:r>
                <a:rPr lang="en-US" dirty="0"/>
                <a:t>   (B</a:t>
              </a:r>
              <a:r>
                <a:rPr lang="en-US" baseline="-25000" dirty="0"/>
                <a:t>1</a:t>
              </a:r>
              <a:r>
                <a:rPr lang="en-US" dirty="0"/>
                <a:t>)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657600" y="2209800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1/L</a:t>
              </a:r>
              <a:r>
                <a:rPr lang="en-US" baseline="-25000" dirty="0"/>
                <a:t>2</a:t>
              </a:r>
              <a:r>
                <a:rPr lang="en-US" dirty="0"/>
                <a:t>   (K</a:t>
              </a:r>
              <a:r>
                <a:rPr lang="en-US" baseline="-25000" dirty="0"/>
                <a:t>2</a:t>
              </a:r>
              <a:r>
                <a:rPr lang="en-US" dirty="0"/>
                <a:t>)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4876800" y="2590800"/>
              <a:ext cx="685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/>
                <a:t>2</a:t>
              </a:r>
            </a:p>
            <a:p>
              <a:r>
                <a:rPr lang="en-US" dirty="0"/>
                <a:t>(M</a:t>
              </a:r>
              <a:r>
                <a:rPr lang="en-US" baseline="-25000" dirty="0"/>
                <a:t>2</a:t>
              </a:r>
              <a:r>
                <a:rPr lang="en-US" dirty="0"/>
                <a:t>)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2489886" y="2522838"/>
              <a:ext cx="685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/>
                <a:t>1</a:t>
              </a:r>
            </a:p>
            <a:p>
              <a:r>
                <a:rPr lang="en-US" dirty="0"/>
                <a:t>(M</a:t>
              </a:r>
              <a:r>
                <a:rPr lang="en-US" baseline="-25000" dirty="0"/>
                <a:t>1</a:t>
              </a:r>
              <a:r>
                <a:rPr lang="en-US" dirty="0"/>
                <a:t>)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33400" y="2514600"/>
              <a:ext cx="76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1/L</a:t>
              </a:r>
              <a:r>
                <a:rPr lang="en-US" baseline="-25000" dirty="0"/>
                <a:t>1</a:t>
              </a:r>
              <a:r>
                <a:rPr lang="en-US" dirty="0"/>
                <a:t>   </a:t>
              </a:r>
            </a:p>
            <a:p>
              <a:r>
                <a:rPr lang="en-US" dirty="0"/>
                <a:t>(K</a:t>
              </a:r>
              <a:r>
                <a:rPr lang="en-US" baseline="-25000" dirty="0"/>
                <a:t>1</a:t>
              </a:r>
              <a:r>
                <a:rPr lang="en-US" dirty="0"/>
                <a:t>)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6833286" y="2489886"/>
              <a:ext cx="609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/>
                <a:t>i</a:t>
              </a:r>
              <a:r>
                <a:rPr lang="en-US" sz="2000" dirty="0"/>
                <a:t>(t)</a:t>
              </a:r>
            </a:p>
            <a:p>
              <a:r>
                <a:rPr lang="en-US" sz="2000" dirty="0"/>
                <a:t>f(t)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382000" cy="5364163"/>
          </a:xfrm>
        </p:spPr>
        <p:txBody>
          <a:bodyPr/>
          <a:lstStyle/>
          <a:p>
            <a:pPr>
              <a:buNone/>
            </a:pPr>
            <a:r>
              <a:rPr lang="en-US" dirty="0"/>
              <a:t>f-v analogy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208" name="Group 207"/>
          <p:cNvGrpSpPr/>
          <p:nvPr/>
        </p:nvGrpSpPr>
        <p:grpSpPr>
          <a:xfrm>
            <a:off x="1600200" y="1447800"/>
            <a:ext cx="5638800" cy="3282174"/>
            <a:chOff x="1676400" y="1143000"/>
            <a:chExt cx="5131592" cy="3072502"/>
          </a:xfrm>
        </p:grpSpPr>
        <p:grpSp>
          <p:nvGrpSpPr>
            <p:cNvPr id="6" name="Group 83"/>
            <p:cNvGrpSpPr>
              <a:grpSpLocks/>
            </p:cNvGrpSpPr>
            <p:nvPr/>
          </p:nvGrpSpPr>
          <p:grpSpPr bwMode="auto">
            <a:xfrm>
              <a:off x="2667000" y="1600200"/>
              <a:ext cx="1405512" cy="304800"/>
              <a:chOff x="358" y="10440"/>
              <a:chExt cx="9362" cy="2347"/>
            </a:xfrm>
          </p:grpSpPr>
          <p:grpSp>
            <p:nvGrpSpPr>
              <p:cNvPr id="7" name="Group 84"/>
              <p:cNvGrpSpPr>
                <a:grpSpLocks/>
              </p:cNvGrpSpPr>
              <p:nvPr/>
            </p:nvGrpSpPr>
            <p:grpSpPr bwMode="auto">
              <a:xfrm rot="16200000">
                <a:off x="3690" y="10164"/>
                <a:ext cx="1260" cy="1812"/>
                <a:chOff x="5220" y="9900"/>
                <a:chExt cx="900" cy="2160"/>
              </a:xfrm>
            </p:grpSpPr>
            <p:sp>
              <p:nvSpPr>
                <p:cNvPr id="27" name="Arc 8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Arc 8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8" name="Group 87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25" name="Arc 8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Arc 8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" name="Group 90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23" name="Arc 9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Arc 9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93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21" name="Arc 9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Arc 9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1" name="AutoShape 96"/>
              <p:cNvCxnSpPr>
                <a:cxnSpLocks noChangeShapeType="1"/>
              </p:cNvCxnSpPr>
              <p:nvPr/>
            </p:nvCxnSpPr>
            <p:spPr bwMode="auto">
              <a:xfrm flipH="1">
                <a:off x="358" y="11704"/>
                <a:ext cx="3045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2" name="Group 98"/>
              <p:cNvGrpSpPr>
                <a:grpSpLocks/>
              </p:cNvGrpSpPr>
              <p:nvPr/>
            </p:nvGrpSpPr>
            <p:grpSpPr bwMode="auto">
              <a:xfrm rot="5400000">
                <a:off x="4227" y="11787"/>
                <a:ext cx="1079" cy="902"/>
                <a:chOff x="5220" y="9900"/>
                <a:chExt cx="900" cy="2160"/>
              </a:xfrm>
            </p:grpSpPr>
            <p:sp>
              <p:nvSpPr>
                <p:cNvPr id="19" name="Arc 99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Arc 100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01"/>
              <p:cNvGrpSpPr>
                <a:grpSpLocks/>
              </p:cNvGrpSpPr>
              <p:nvPr/>
            </p:nvGrpSpPr>
            <p:grpSpPr bwMode="auto">
              <a:xfrm rot="5400000">
                <a:off x="6027" y="11790"/>
                <a:ext cx="1079" cy="902"/>
                <a:chOff x="5220" y="9900"/>
                <a:chExt cx="900" cy="2160"/>
              </a:xfrm>
            </p:grpSpPr>
            <p:sp>
              <p:nvSpPr>
                <p:cNvPr id="17" name="Arc 102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Arc 103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04"/>
              <p:cNvGrpSpPr>
                <a:grpSpLocks/>
              </p:cNvGrpSpPr>
              <p:nvPr/>
            </p:nvGrpSpPr>
            <p:grpSpPr bwMode="auto">
              <a:xfrm rot="5400000">
                <a:off x="7827" y="11798"/>
                <a:ext cx="1079" cy="902"/>
                <a:chOff x="5220" y="9900"/>
                <a:chExt cx="900" cy="2160"/>
              </a:xfrm>
            </p:grpSpPr>
            <p:sp>
              <p:nvSpPr>
                <p:cNvPr id="15" name="Arc 10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Arc 10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29" name="Group 83"/>
            <p:cNvGrpSpPr>
              <a:grpSpLocks/>
            </p:cNvGrpSpPr>
            <p:nvPr/>
          </p:nvGrpSpPr>
          <p:grpSpPr bwMode="auto">
            <a:xfrm>
              <a:off x="4065374" y="1602258"/>
              <a:ext cx="1862656" cy="304800"/>
              <a:chOff x="358" y="10440"/>
              <a:chExt cx="12407" cy="2347"/>
            </a:xfrm>
          </p:grpSpPr>
          <p:grpSp>
            <p:nvGrpSpPr>
              <p:cNvPr id="30" name="Group 84"/>
              <p:cNvGrpSpPr>
                <a:grpSpLocks/>
              </p:cNvGrpSpPr>
              <p:nvPr/>
            </p:nvGrpSpPr>
            <p:grpSpPr bwMode="auto">
              <a:xfrm rot="16200000">
                <a:off x="3690" y="10164"/>
                <a:ext cx="1260" cy="1812"/>
                <a:chOff x="5220" y="9900"/>
                <a:chExt cx="900" cy="2160"/>
              </a:xfrm>
            </p:grpSpPr>
            <p:sp>
              <p:nvSpPr>
                <p:cNvPr id="51" name="Arc 8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Arc 8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" name="Group 87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49" name="Arc 8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Arc 8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" name="Group 90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47" name="Arc 9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Arc 9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3" name="Group 93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45" name="Arc 9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Arc 9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34" name="AutoShape 96"/>
              <p:cNvCxnSpPr>
                <a:cxnSpLocks noChangeShapeType="1"/>
              </p:cNvCxnSpPr>
              <p:nvPr/>
            </p:nvCxnSpPr>
            <p:spPr bwMode="auto">
              <a:xfrm flipH="1">
                <a:off x="358" y="11704"/>
                <a:ext cx="3045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35" name="AutoShape 97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3045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36" name="Group 98"/>
              <p:cNvGrpSpPr>
                <a:grpSpLocks/>
              </p:cNvGrpSpPr>
              <p:nvPr/>
            </p:nvGrpSpPr>
            <p:grpSpPr bwMode="auto">
              <a:xfrm rot="5400000">
                <a:off x="4229" y="11789"/>
                <a:ext cx="1079" cy="902"/>
                <a:chOff x="5220" y="9900"/>
                <a:chExt cx="900" cy="2160"/>
              </a:xfrm>
            </p:grpSpPr>
            <p:sp>
              <p:nvSpPr>
                <p:cNvPr id="43" name="Arc 99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" name="Arc 100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7" name="Group 101"/>
              <p:cNvGrpSpPr>
                <a:grpSpLocks/>
              </p:cNvGrpSpPr>
              <p:nvPr/>
            </p:nvGrpSpPr>
            <p:grpSpPr bwMode="auto">
              <a:xfrm rot="5400000">
                <a:off x="6029" y="11792"/>
                <a:ext cx="1079" cy="902"/>
                <a:chOff x="5220" y="9900"/>
                <a:chExt cx="900" cy="2160"/>
              </a:xfrm>
            </p:grpSpPr>
            <p:sp>
              <p:nvSpPr>
                <p:cNvPr id="41" name="Arc 102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Arc 103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8" name="Group 104"/>
              <p:cNvGrpSpPr>
                <a:grpSpLocks/>
              </p:cNvGrpSpPr>
              <p:nvPr/>
            </p:nvGrpSpPr>
            <p:grpSpPr bwMode="auto">
              <a:xfrm rot="5400000">
                <a:off x="7829" y="11800"/>
                <a:ext cx="1079" cy="902"/>
                <a:chOff x="5220" y="9900"/>
                <a:chExt cx="900" cy="2160"/>
              </a:xfrm>
            </p:grpSpPr>
            <p:sp>
              <p:nvSpPr>
                <p:cNvPr id="39" name="Arc 10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Arc 10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3" name="Group 70"/>
            <p:cNvGrpSpPr>
              <a:grpSpLocks/>
            </p:cNvGrpSpPr>
            <p:nvPr/>
          </p:nvGrpSpPr>
          <p:grpSpPr bwMode="auto">
            <a:xfrm>
              <a:off x="2667040" y="3602038"/>
              <a:ext cx="1243278" cy="284162"/>
              <a:chOff x="79" y="2700"/>
              <a:chExt cx="7481" cy="1440"/>
            </a:xfrm>
          </p:grpSpPr>
          <p:cxnSp>
            <p:nvCxnSpPr>
              <p:cNvPr id="54" name="AutoShape 71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5" name="AutoShape 72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6" name="AutoShape 73"/>
              <p:cNvCxnSpPr>
                <a:cxnSpLocks noChangeShapeType="1"/>
              </p:cNvCxnSpPr>
              <p:nvPr/>
            </p:nvCxnSpPr>
            <p:spPr bwMode="auto">
              <a:xfrm flipV="1">
                <a:off x="432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7" name="AutoShape 74"/>
              <p:cNvCxnSpPr>
                <a:cxnSpLocks noChangeShapeType="1"/>
              </p:cNvCxnSpPr>
              <p:nvPr/>
            </p:nvCxnSpPr>
            <p:spPr bwMode="auto">
              <a:xfrm flipH="1" flipV="1">
                <a:off x="504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8" name="AutoShape 75"/>
              <p:cNvCxnSpPr>
                <a:cxnSpLocks noChangeShapeType="1"/>
              </p:cNvCxnSpPr>
              <p:nvPr/>
            </p:nvCxnSpPr>
            <p:spPr bwMode="auto">
              <a:xfrm flipH="1">
                <a:off x="576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9" name="AutoShape 76"/>
              <p:cNvCxnSpPr>
                <a:cxnSpLocks noChangeShapeType="1"/>
              </p:cNvCxnSpPr>
              <p:nvPr/>
            </p:nvCxnSpPr>
            <p:spPr bwMode="auto">
              <a:xfrm flipH="1" flipV="1">
                <a:off x="648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0" name="AutoShape 77"/>
              <p:cNvCxnSpPr>
                <a:cxnSpLocks noChangeShapeType="1"/>
              </p:cNvCxnSpPr>
              <p:nvPr/>
            </p:nvCxnSpPr>
            <p:spPr bwMode="auto">
              <a:xfrm>
                <a:off x="2520" y="3420"/>
                <a:ext cx="72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1" name="AutoShape 78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2" name="AutoShape 79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3" name="AutoShape 80"/>
              <p:cNvCxnSpPr>
                <a:cxnSpLocks noChangeShapeType="1"/>
              </p:cNvCxnSpPr>
              <p:nvPr/>
            </p:nvCxnSpPr>
            <p:spPr bwMode="auto">
              <a:xfrm>
                <a:off x="79" y="3420"/>
                <a:ext cx="2751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4" name="AutoShape 81"/>
              <p:cNvCxnSpPr>
                <a:cxnSpLocks noChangeShapeType="1"/>
              </p:cNvCxnSpPr>
              <p:nvPr/>
            </p:nvCxnSpPr>
            <p:spPr bwMode="auto">
              <a:xfrm flipV="1">
                <a:off x="7200" y="342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73" name="Group 70"/>
            <p:cNvGrpSpPr>
              <a:grpSpLocks/>
            </p:cNvGrpSpPr>
            <p:nvPr/>
          </p:nvGrpSpPr>
          <p:grpSpPr bwMode="auto">
            <a:xfrm>
              <a:off x="3906345" y="3602038"/>
              <a:ext cx="2017566" cy="284162"/>
              <a:chOff x="-13" y="2700"/>
              <a:chExt cx="12140" cy="1440"/>
            </a:xfrm>
          </p:grpSpPr>
          <p:cxnSp>
            <p:nvCxnSpPr>
              <p:cNvPr id="74" name="AutoShape 71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75" name="AutoShape 72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76" name="AutoShape 73"/>
              <p:cNvCxnSpPr>
                <a:cxnSpLocks noChangeShapeType="1"/>
              </p:cNvCxnSpPr>
              <p:nvPr/>
            </p:nvCxnSpPr>
            <p:spPr bwMode="auto">
              <a:xfrm flipV="1">
                <a:off x="432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77" name="AutoShape 74"/>
              <p:cNvCxnSpPr>
                <a:cxnSpLocks noChangeShapeType="1"/>
              </p:cNvCxnSpPr>
              <p:nvPr/>
            </p:nvCxnSpPr>
            <p:spPr bwMode="auto">
              <a:xfrm flipH="1" flipV="1">
                <a:off x="504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78" name="AutoShape 75"/>
              <p:cNvCxnSpPr>
                <a:cxnSpLocks noChangeShapeType="1"/>
              </p:cNvCxnSpPr>
              <p:nvPr/>
            </p:nvCxnSpPr>
            <p:spPr bwMode="auto">
              <a:xfrm flipH="1">
                <a:off x="576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79" name="AutoShape 76"/>
              <p:cNvCxnSpPr>
                <a:cxnSpLocks noChangeShapeType="1"/>
              </p:cNvCxnSpPr>
              <p:nvPr/>
            </p:nvCxnSpPr>
            <p:spPr bwMode="auto">
              <a:xfrm flipH="1" flipV="1">
                <a:off x="648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0" name="AutoShape 77"/>
              <p:cNvCxnSpPr>
                <a:cxnSpLocks noChangeShapeType="1"/>
              </p:cNvCxnSpPr>
              <p:nvPr/>
            </p:nvCxnSpPr>
            <p:spPr bwMode="auto">
              <a:xfrm>
                <a:off x="2520" y="3420"/>
                <a:ext cx="72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1" name="AutoShape 78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" name="AutoShape 79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3" name="AutoShape 80"/>
              <p:cNvCxnSpPr>
                <a:cxnSpLocks noChangeShapeType="1"/>
              </p:cNvCxnSpPr>
              <p:nvPr/>
            </p:nvCxnSpPr>
            <p:spPr bwMode="auto">
              <a:xfrm>
                <a:off x="-13" y="3420"/>
                <a:ext cx="3301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4" name="AutoShape 81"/>
              <p:cNvCxnSpPr>
                <a:cxnSpLocks noChangeShapeType="1"/>
              </p:cNvCxnSpPr>
              <p:nvPr/>
            </p:nvCxnSpPr>
            <p:spPr bwMode="auto">
              <a:xfrm flipV="1">
                <a:off x="7200" y="342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5" name="AutoShape 82"/>
              <p:cNvCxnSpPr>
                <a:cxnSpLocks noChangeShapeType="1"/>
              </p:cNvCxnSpPr>
              <p:nvPr/>
            </p:nvCxnSpPr>
            <p:spPr bwMode="auto">
              <a:xfrm>
                <a:off x="7560" y="3420"/>
                <a:ext cx="4567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87" name="Straight Connector 86"/>
            <p:cNvCxnSpPr/>
            <p:nvPr/>
          </p:nvCxnSpPr>
          <p:spPr>
            <a:xfrm rot="5400000">
              <a:off x="2346960" y="2081694"/>
              <a:ext cx="64008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Group 107"/>
            <p:cNvGrpSpPr>
              <a:grpSpLocks/>
            </p:cNvGrpSpPr>
            <p:nvPr/>
          </p:nvGrpSpPr>
          <p:grpSpPr bwMode="auto">
            <a:xfrm rot="5400000">
              <a:off x="4928730" y="2605915"/>
              <a:ext cx="1993539" cy="304800"/>
              <a:chOff x="2677" y="5580"/>
              <a:chExt cx="4683" cy="1080"/>
            </a:xfrm>
          </p:grpSpPr>
          <p:cxnSp>
            <p:nvCxnSpPr>
              <p:cNvPr id="89" name="AutoShape 108"/>
              <p:cNvCxnSpPr>
                <a:cxnSpLocks noChangeShapeType="1"/>
              </p:cNvCxnSpPr>
              <p:nvPr/>
            </p:nvCxnSpPr>
            <p:spPr bwMode="auto">
              <a:xfrm>
                <a:off x="4860" y="5580"/>
                <a:ext cx="0" cy="107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90" name="Group 109"/>
              <p:cNvGrpSpPr>
                <a:grpSpLocks/>
              </p:cNvGrpSpPr>
              <p:nvPr/>
            </p:nvGrpSpPr>
            <p:grpSpPr bwMode="auto">
              <a:xfrm rot="10800000">
                <a:off x="5040" y="5580"/>
                <a:ext cx="180" cy="1080"/>
                <a:chOff x="5040" y="5580"/>
                <a:chExt cx="180" cy="1080"/>
              </a:xfrm>
            </p:grpSpPr>
            <p:sp>
              <p:nvSpPr>
                <p:cNvPr id="93" name="Arc 110"/>
                <p:cNvSpPr>
                  <a:spLocks/>
                </p:cNvSpPr>
                <p:nvPr/>
              </p:nvSpPr>
              <p:spPr bwMode="auto">
                <a:xfrm>
                  <a:off x="5040" y="558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Arc 111"/>
                <p:cNvSpPr>
                  <a:spLocks/>
                </p:cNvSpPr>
                <p:nvPr/>
              </p:nvSpPr>
              <p:spPr bwMode="auto">
                <a:xfrm flipV="1">
                  <a:off x="5040" y="612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91" name="AutoShape 112"/>
              <p:cNvCxnSpPr>
                <a:cxnSpLocks noChangeShapeType="1"/>
              </p:cNvCxnSpPr>
              <p:nvPr/>
            </p:nvCxnSpPr>
            <p:spPr bwMode="auto">
              <a:xfrm>
                <a:off x="5040" y="6120"/>
                <a:ext cx="232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92" name="AutoShape 113"/>
              <p:cNvCxnSpPr>
                <a:cxnSpLocks noChangeShapeType="1"/>
              </p:cNvCxnSpPr>
              <p:nvPr/>
            </p:nvCxnSpPr>
            <p:spPr bwMode="auto">
              <a:xfrm>
                <a:off x="2677" y="6104"/>
                <a:ext cx="2169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02" name="Group 70"/>
            <p:cNvGrpSpPr>
              <a:grpSpLocks/>
            </p:cNvGrpSpPr>
            <p:nvPr/>
          </p:nvGrpSpPr>
          <p:grpSpPr bwMode="auto">
            <a:xfrm rot="5400000">
              <a:off x="3790314" y="2162340"/>
              <a:ext cx="1029971" cy="228600"/>
              <a:chOff x="-13" y="2700"/>
              <a:chExt cx="7573" cy="1440"/>
            </a:xfrm>
          </p:grpSpPr>
          <p:cxnSp>
            <p:nvCxnSpPr>
              <p:cNvPr id="103" name="AutoShape 71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4" name="AutoShape 72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5" name="AutoShape 73"/>
              <p:cNvCxnSpPr>
                <a:cxnSpLocks noChangeShapeType="1"/>
              </p:cNvCxnSpPr>
              <p:nvPr/>
            </p:nvCxnSpPr>
            <p:spPr bwMode="auto">
              <a:xfrm flipV="1">
                <a:off x="432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6" name="AutoShape 74"/>
              <p:cNvCxnSpPr>
                <a:cxnSpLocks noChangeShapeType="1"/>
              </p:cNvCxnSpPr>
              <p:nvPr/>
            </p:nvCxnSpPr>
            <p:spPr bwMode="auto">
              <a:xfrm flipH="1" flipV="1">
                <a:off x="504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7" name="AutoShape 75"/>
              <p:cNvCxnSpPr>
                <a:cxnSpLocks noChangeShapeType="1"/>
              </p:cNvCxnSpPr>
              <p:nvPr/>
            </p:nvCxnSpPr>
            <p:spPr bwMode="auto">
              <a:xfrm flipH="1">
                <a:off x="576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8" name="AutoShape 76"/>
              <p:cNvCxnSpPr>
                <a:cxnSpLocks noChangeShapeType="1"/>
              </p:cNvCxnSpPr>
              <p:nvPr/>
            </p:nvCxnSpPr>
            <p:spPr bwMode="auto">
              <a:xfrm flipH="1" flipV="1">
                <a:off x="648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9" name="AutoShape 77"/>
              <p:cNvCxnSpPr>
                <a:cxnSpLocks noChangeShapeType="1"/>
              </p:cNvCxnSpPr>
              <p:nvPr/>
            </p:nvCxnSpPr>
            <p:spPr bwMode="auto">
              <a:xfrm>
                <a:off x="2520" y="3420"/>
                <a:ext cx="720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10" name="AutoShape 78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11" name="AutoShape 79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12" name="AutoShape 80"/>
              <p:cNvCxnSpPr>
                <a:cxnSpLocks noChangeShapeType="1"/>
              </p:cNvCxnSpPr>
              <p:nvPr/>
            </p:nvCxnSpPr>
            <p:spPr bwMode="auto">
              <a:xfrm>
                <a:off x="-13" y="3420"/>
                <a:ext cx="3301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13" name="AutoShape 81"/>
              <p:cNvCxnSpPr>
                <a:cxnSpLocks noChangeShapeType="1"/>
              </p:cNvCxnSpPr>
              <p:nvPr/>
            </p:nvCxnSpPr>
            <p:spPr bwMode="auto">
              <a:xfrm flipV="1">
                <a:off x="7200" y="3420"/>
                <a:ext cx="360" cy="72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15" name="Group 107"/>
            <p:cNvGrpSpPr>
              <a:grpSpLocks/>
            </p:cNvGrpSpPr>
            <p:nvPr/>
          </p:nvGrpSpPr>
          <p:grpSpPr bwMode="auto">
            <a:xfrm rot="5400000">
              <a:off x="3822543" y="3160696"/>
              <a:ext cx="949105" cy="212190"/>
              <a:chOff x="4215" y="5580"/>
              <a:chExt cx="2098" cy="1080"/>
            </a:xfrm>
          </p:grpSpPr>
          <p:cxnSp>
            <p:nvCxnSpPr>
              <p:cNvPr id="116" name="AutoShape 108"/>
              <p:cNvCxnSpPr>
                <a:cxnSpLocks noChangeShapeType="1"/>
              </p:cNvCxnSpPr>
              <p:nvPr/>
            </p:nvCxnSpPr>
            <p:spPr bwMode="auto">
              <a:xfrm>
                <a:off x="4860" y="5580"/>
                <a:ext cx="0" cy="107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17" name="Group 109"/>
              <p:cNvGrpSpPr>
                <a:grpSpLocks/>
              </p:cNvGrpSpPr>
              <p:nvPr/>
            </p:nvGrpSpPr>
            <p:grpSpPr bwMode="auto">
              <a:xfrm rot="10800000">
                <a:off x="5040" y="5580"/>
                <a:ext cx="180" cy="1080"/>
                <a:chOff x="5040" y="5580"/>
                <a:chExt cx="180" cy="1080"/>
              </a:xfrm>
            </p:grpSpPr>
            <p:sp>
              <p:nvSpPr>
                <p:cNvPr id="120" name="Arc 110"/>
                <p:cNvSpPr>
                  <a:spLocks/>
                </p:cNvSpPr>
                <p:nvPr/>
              </p:nvSpPr>
              <p:spPr bwMode="auto">
                <a:xfrm>
                  <a:off x="5040" y="558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" name="Arc 111"/>
                <p:cNvSpPr>
                  <a:spLocks/>
                </p:cNvSpPr>
                <p:nvPr/>
              </p:nvSpPr>
              <p:spPr bwMode="auto">
                <a:xfrm flipV="1">
                  <a:off x="5040" y="6120"/>
                  <a:ext cx="180" cy="54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18" name="AutoShape 112"/>
              <p:cNvCxnSpPr>
                <a:cxnSpLocks noChangeShapeType="1"/>
              </p:cNvCxnSpPr>
              <p:nvPr/>
            </p:nvCxnSpPr>
            <p:spPr bwMode="auto">
              <a:xfrm>
                <a:off x="5040" y="6120"/>
                <a:ext cx="1273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19" name="AutoShape 113"/>
              <p:cNvCxnSpPr>
                <a:cxnSpLocks noChangeShapeType="1"/>
              </p:cNvCxnSpPr>
              <p:nvPr/>
            </p:nvCxnSpPr>
            <p:spPr bwMode="auto">
              <a:xfrm>
                <a:off x="4215" y="6104"/>
                <a:ext cx="644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122" name="Oval 121"/>
            <p:cNvSpPr/>
            <p:nvPr/>
          </p:nvSpPr>
          <p:spPr>
            <a:xfrm>
              <a:off x="2397920" y="2412208"/>
              <a:ext cx="533400" cy="4833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4" name="Straight Connector 123"/>
            <p:cNvCxnSpPr>
              <a:stCxn id="122" idx="4"/>
            </p:cNvCxnSpPr>
            <p:nvPr/>
          </p:nvCxnSpPr>
          <p:spPr>
            <a:xfrm rot="16200000" flipH="1">
              <a:off x="2246710" y="3313510"/>
              <a:ext cx="838200" cy="23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/>
            <p:cNvCxnSpPr/>
            <p:nvPr/>
          </p:nvCxnSpPr>
          <p:spPr>
            <a:xfrm rot="5400000" flipH="1" flipV="1">
              <a:off x="1943100" y="2705100"/>
              <a:ext cx="53340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/>
            <p:cNvSpPr txBox="1"/>
            <p:nvPr/>
          </p:nvSpPr>
          <p:spPr>
            <a:xfrm>
              <a:off x="1676400" y="2514600"/>
              <a:ext cx="4572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V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3429000" y="1143000"/>
              <a:ext cx="4572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</a:t>
              </a:r>
              <a:r>
                <a:rPr lang="en-US" sz="2000" baseline="-25000" dirty="0"/>
                <a:t>2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4800600" y="1185864"/>
              <a:ext cx="4572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</a:t>
              </a:r>
              <a:r>
                <a:rPr lang="en-US" sz="2000" baseline="-25000" dirty="0"/>
                <a:t>1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4495800" y="2362200"/>
              <a:ext cx="457200" cy="374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</a:t>
              </a:r>
              <a:r>
                <a:rPr lang="en-US" sz="2000" baseline="-25000" dirty="0"/>
                <a:t>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3362328" y="3829048"/>
              <a:ext cx="457200" cy="374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</a:t>
              </a:r>
              <a:r>
                <a:rPr lang="en-US" sz="2000" baseline="-25000" dirty="0"/>
                <a:t>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4629152" y="3840952"/>
              <a:ext cx="457200" cy="374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</a:t>
              </a:r>
              <a:r>
                <a:rPr lang="en-US" sz="2000" baseline="-25000" dirty="0"/>
                <a:t>2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6122192" y="2547700"/>
              <a:ext cx="685800" cy="374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1/C</a:t>
              </a:r>
              <a:r>
                <a:rPr lang="en-US" sz="2000" baseline="-25000" dirty="0"/>
                <a:t>1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4419600" y="29718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1/C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5181600" y="2286000"/>
              <a:ext cx="329803" cy="678656"/>
            </a:xfrm>
            <a:custGeom>
              <a:avLst/>
              <a:gdLst>
                <a:gd name="connsiteX0" fmla="*/ 0 w 329803"/>
                <a:gd name="connsiteY0" fmla="*/ 0 h 678656"/>
                <a:gd name="connsiteX1" fmla="*/ 285750 w 329803"/>
                <a:gd name="connsiteY1" fmla="*/ 278606 h 678656"/>
                <a:gd name="connsiteX2" fmla="*/ 264319 w 329803"/>
                <a:gd name="connsiteY2" fmla="*/ 678656 h 678656"/>
                <a:gd name="connsiteX3" fmla="*/ 264319 w 329803"/>
                <a:gd name="connsiteY3" fmla="*/ 678656 h 67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803" h="678656">
                  <a:moveTo>
                    <a:pt x="0" y="0"/>
                  </a:moveTo>
                  <a:cubicBezTo>
                    <a:pt x="120848" y="82748"/>
                    <a:pt x="241697" y="165497"/>
                    <a:pt x="285750" y="278606"/>
                  </a:cubicBezTo>
                  <a:cubicBezTo>
                    <a:pt x="329803" y="391715"/>
                    <a:pt x="264319" y="678656"/>
                    <a:pt x="264319" y="678656"/>
                  </a:cubicBezTo>
                  <a:lnTo>
                    <a:pt x="264319" y="678656"/>
                  </a:lnTo>
                </a:path>
              </a:pathLst>
            </a:cu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3581400" y="2286000"/>
              <a:ext cx="329803" cy="678656"/>
            </a:xfrm>
            <a:custGeom>
              <a:avLst/>
              <a:gdLst>
                <a:gd name="connsiteX0" fmla="*/ 0 w 329803"/>
                <a:gd name="connsiteY0" fmla="*/ 0 h 678656"/>
                <a:gd name="connsiteX1" fmla="*/ 285750 w 329803"/>
                <a:gd name="connsiteY1" fmla="*/ 278606 h 678656"/>
                <a:gd name="connsiteX2" fmla="*/ 264319 w 329803"/>
                <a:gd name="connsiteY2" fmla="*/ 678656 h 678656"/>
                <a:gd name="connsiteX3" fmla="*/ 264319 w 329803"/>
                <a:gd name="connsiteY3" fmla="*/ 678656 h 67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803" h="678656">
                  <a:moveTo>
                    <a:pt x="0" y="0"/>
                  </a:moveTo>
                  <a:cubicBezTo>
                    <a:pt x="120848" y="82748"/>
                    <a:pt x="241697" y="165497"/>
                    <a:pt x="285750" y="278606"/>
                  </a:cubicBezTo>
                  <a:cubicBezTo>
                    <a:pt x="329803" y="391715"/>
                    <a:pt x="264319" y="678656"/>
                    <a:pt x="264319" y="678656"/>
                  </a:cubicBezTo>
                  <a:lnTo>
                    <a:pt x="264319" y="678656"/>
                  </a:lnTo>
                </a:path>
              </a:pathLst>
            </a:cu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3479392" y="2426979"/>
              <a:ext cx="533400" cy="374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q</a:t>
              </a:r>
              <a:r>
                <a:rPr lang="en-US" sz="2000" baseline="-25000" dirty="0"/>
                <a:t>1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5105400" y="2438400"/>
              <a:ext cx="533400" cy="374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q</a:t>
              </a:r>
              <a:r>
                <a:rPr lang="en-US" sz="2000" baseline="-25000" dirty="0"/>
                <a:t>2</a:t>
              </a: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4400" dirty="0">
                <a:solidFill>
                  <a:srgbClr val="FF0000"/>
                </a:solidFill>
              </a:rPr>
              <a:t>THANK YOU FOR YOUR ATTENTION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749</Words>
  <Application>Microsoft Office PowerPoint</Application>
  <PresentationFormat>On-screen Show (4:3)</PresentationFormat>
  <Paragraphs>195</Paragraphs>
  <Slides>15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Tahoma</vt:lpstr>
      <vt:lpstr>Times New Roman</vt:lpstr>
      <vt:lpstr>Wingdings</vt:lpstr>
      <vt:lpstr>Office Theme</vt:lpstr>
      <vt:lpstr>Equation</vt:lpstr>
      <vt:lpstr>PowerPoint Presentation</vt:lpstr>
      <vt:lpstr>OUTLINE</vt:lpstr>
      <vt:lpstr>BOOKS</vt:lpstr>
      <vt:lpstr>ANALOGOUS SYSTEM</vt:lpstr>
      <vt:lpstr>PowerPoint Presentation</vt:lpstr>
      <vt:lpstr>We know the equation of mechanical system   </vt:lpstr>
      <vt:lpstr>Compare equation (5) with equation (4)</vt:lpstr>
      <vt:lpstr>For rotational system </vt:lpstr>
      <vt:lpstr>Compare equation (4) with equation (6)</vt:lpstr>
      <vt:lpstr>Draw the analogous electrical network of the given fig. using f-v analogy</vt:lpstr>
      <vt:lpstr>MECHANICAL EQUIVALENT NETWORK</vt:lpstr>
      <vt:lpstr>Example: (i) Draw the mechanical network of the given system  (ii) Draw the analogous electrical system use f-i analogous(assume wheels are frictionless).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ANALOGOUS SYSTEM</dc:title>
  <dc:creator>Mohammed</dc:creator>
  <cp:lastModifiedBy>hasansaeedcontrol@gmail.com</cp:lastModifiedBy>
  <cp:revision>68</cp:revision>
  <dcterms:created xsi:type="dcterms:W3CDTF">2015-06-29T09:13:37Z</dcterms:created>
  <dcterms:modified xsi:type="dcterms:W3CDTF">2026-01-27T04:19:16Z</dcterms:modified>
</cp:coreProperties>
</file>