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95" r:id="rId2"/>
    <p:sldId id="311" r:id="rId3"/>
    <p:sldId id="292" r:id="rId4"/>
    <p:sldId id="279" r:id="rId5"/>
    <p:sldId id="298" r:id="rId6"/>
    <p:sldId id="300" r:id="rId7"/>
    <p:sldId id="310" r:id="rId8"/>
    <p:sldId id="281" r:id="rId9"/>
    <p:sldId id="283" r:id="rId10"/>
    <p:sldId id="287" r:id="rId11"/>
    <p:sldId id="289" r:id="rId12"/>
    <p:sldId id="290" r:id="rId13"/>
    <p:sldId id="291" r:id="rId14"/>
    <p:sldId id="274" r:id="rId15"/>
    <p:sldId id="304" r:id="rId16"/>
    <p:sldId id="303" r:id="rId17"/>
    <p:sldId id="301" r:id="rId1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1212" y="84"/>
      </p:cViewPr>
      <p:guideLst>
        <p:guide orient="horz" pos="2160"/>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30CF1C-AE26-444E-957F-395E575675AB}" type="datetimeFigureOut">
              <a:rPr lang="en-US" smtClean="0"/>
              <a:pPr/>
              <a:t>2/5/2026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FD461E-C2C1-437B-959B-5C28C76C3A3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4F4246-E5CE-432B-99F4-E2EEC609832B}"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34A405-9F9F-428F-8C0D-F86AE27C7B89}"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EA3B78-B665-4F2E-A598-7B29DDB1C1B2}"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82A037-5C74-4E92-859F-5BC7F7F8616C}" type="datetime2">
              <a:rPr lang="en-US" smtClean="0"/>
              <a:pPr/>
              <a:t>Thursday, February 5,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92AA6F-5776-4960-B8BD-9113DF399E8F}" type="datetime2">
              <a:rPr lang="en-US" smtClean="0"/>
              <a:pPr/>
              <a:t>Thursday, February 5, 2026</a:t>
            </a:fld>
            <a:endParaRPr lang="en-US"/>
          </a:p>
        </p:txBody>
      </p:sp>
      <p:sp>
        <p:nvSpPr>
          <p:cNvPr id="8" name="Footer Placeholder 7"/>
          <p:cNvSpPr>
            <a:spLocks noGrp="1"/>
          </p:cNvSpPr>
          <p:nvPr>
            <p:ph type="ftr" sz="quarter" idx="11"/>
          </p:nvPr>
        </p:nvSpPr>
        <p:spPr/>
        <p:txBody>
          <a:bodyPr/>
          <a:lstStyle/>
          <a:p>
            <a:r>
              <a:rPr lang="en-US"/>
              <a:t>syed hasan saeed</a:t>
            </a:r>
          </a:p>
        </p:txBody>
      </p:sp>
      <p:sp>
        <p:nvSpPr>
          <p:cNvPr id="9" name="Slide Number Placeholder 8"/>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B60E5A-C2E7-4402-A103-BF9D093834EE}" type="datetime2">
              <a:rPr lang="en-US" smtClean="0"/>
              <a:pPr/>
              <a:t>Thursday, February 5, 2026</a:t>
            </a:fld>
            <a:endParaRPr lang="en-US"/>
          </a:p>
        </p:txBody>
      </p:sp>
      <p:sp>
        <p:nvSpPr>
          <p:cNvPr id="4" name="Footer Placeholder 3"/>
          <p:cNvSpPr>
            <a:spLocks noGrp="1"/>
          </p:cNvSpPr>
          <p:nvPr>
            <p:ph type="ftr" sz="quarter" idx="11"/>
          </p:nvPr>
        </p:nvSpPr>
        <p:spPr/>
        <p:txBody>
          <a:bodyPr/>
          <a:lstStyle/>
          <a:p>
            <a:r>
              <a:rPr lang="en-US"/>
              <a:t>syed hasan saeed</a:t>
            </a:r>
          </a:p>
        </p:txBody>
      </p:sp>
      <p:sp>
        <p:nvSpPr>
          <p:cNvPr id="5" name="Slide Number Placeholder 4"/>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17BA3B-9A00-47B2-AC50-05D3D696AD82}" type="datetime2">
              <a:rPr lang="en-US" smtClean="0"/>
              <a:pPr/>
              <a:t>Thursday, February 5, 2026</a:t>
            </a:fld>
            <a:endParaRPr lang="en-US"/>
          </a:p>
        </p:txBody>
      </p:sp>
      <p:sp>
        <p:nvSpPr>
          <p:cNvPr id="3" name="Footer Placeholder 2"/>
          <p:cNvSpPr>
            <a:spLocks noGrp="1"/>
          </p:cNvSpPr>
          <p:nvPr>
            <p:ph type="ftr" sz="quarter" idx="11"/>
          </p:nvPr>
        </p:nvSpPr>
        <p:spPr/>
        <p:txBody>
          <a:bodyPr/>
          <a:lstStyle/>
          <a:p>
            <a:r>
              <a:rPr lang="en-US"/>
              <a:t>syed hasan saeed</a:t>
            </a:r>
          </a:p>
        </p:txBody>
      </p:sp>
      <p:sp>
        <p:nvSpPr>
          <p:cNvPr id="4" name="Slide Number Placeholder 3"/>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9AF2BC-3E90-40DC-B40B-61593EEEDD31}" type="datetime2">
              <a:rPr lang="en-US" smtClean="0"/>
              <a:pPr/>
              <a:t>Thursday, February 5,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24CE1B-EDA4-43B0-BDA4-8788C96A0F31}" type="datetime2">
              <a:rPr lang="en-US" smtClean="0"/>
              <a:pPr/>
              <a:t>Thursday, February 5,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2F8B7-3B4B-464D-A9DB-29F28866A399}"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5F448B-8835-4179-84AF-1B3D83F9FCE2}"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0C3DDB-C3C1-4E04-A733-32CD3DF7218F}" type="datetime2">
              <a:rPr lang="en-US" smtClean="0"/>
              <a:pPr/>
              <a:t>Thursday, February 5,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syed hasan saeed</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BCD7F1-41F0-4350-8F85-8261AE80848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14.wmf"/><Relationship Id="rId4" Type="http://schemas.openxmlformats.org/officeDocument/2006/relationships/oleObject" Target="../embeddings/oleObject13.bin"/><Relationship Id="rId9" Type="http://schemas.openxmlformats.org/officeDocument/2006/relationships/image" Target="../media/image16.wmf"/></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19.wmf"/><Relationship Id="rId4" Type="http://schemas.openxmlformats.org/officeDocument/2006/relationships/oleObject" Target="../embeddings/oleObject18.bin"/><Relationship Id="rId9" Type="http://schemas.openxmlformats.org/officeDocument/2006/relationships/image" Target="../media/image21.wmf"/></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oleObject" Target="../embeddings/oleObject22.bin"/></Relationships>
</file>

<file path=ppt/slides/_rels/slide17.xml.rels><?xml version="1.0" encoding="UTF-8" standalone="yes"?>
<Relationships xmlns="http://schemas.openxmlformats.org/package/2006/relationships"><Relationship Id="rId3" Type="http://schemas.openxmlformats.org/officeDocument/2006/relationships/hyperlink" Target="mailto:hasansaeedcontrol@gmail.com" TargetMode="External"/><Relationship Id="rId2" Type="http://schemas.openxmlformats.org/officeDocument/2006/relationships/hyperlink" Target="mailto:shasansaeed@yolasite.com" TargetMode="Externa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635" y="642920"/>
            <a:ext cx="11522329" cy="2214577"/>
          </a:xfrm>
        </p:spPr>
        <p:txBody>
          <a:bodyPr>
            <a:normAutofit/>
          </a:bodyPr>
          <a:lstStyle/>
          <a:p>
            <a:r>
              <a:rPr lang="en-IN" sz="3200" dirty="0">
                <a:solidFill>
                  <a:srgbClr val="FF0000"/>
                </a:solidFill>
                <a:latin typeface="Times New Roman" pitchFamily="18" charset="0"/>
                <a:cs typeface="Times New Roman" pitchFamily="18" charset="0"/>
              </a:rPr>
              <a:t>SYSTEM &amp; AUTOMATIC CONTROL EC217</a:t>
            </a:r>
            <a:br>
              <a:rPr lang="en-IN" sz="3200" dirty="0">
                <a:latin typeface="Times New Roman" pitchFamily="18" charset="0"/>
                <a:cs typeface="Times New Roman" pitchFamily="18" charset="0"/>
              </a:rPr>
            </a:br>
            <a:br>
              <a:rPr lang="en-IN" sz="3200" dirty="0">
                <a:latin typeface="Times New Roman" pitchFamily="18" charset="0"/>
                <a:cs typeface="Times New Roman" pitchFamily="18" charset="0"/>
              </a:rPr>
            </a:br>
            <a:br>
              <a:rPr lang="en-IN" sz="3200" dirty="0">
                <a:latin typeface="Times New Roman" pitchFamily="18" charset="0"/>
                <a:cs typeface="Times New Roman" pitchFamily="18" charset="0"/>
              </a:rPr>
            </a:br>
            <a:r>
              <a:rPr lang="en-IN" sz="3200" dirty="0">
                <a:solidFill>
                  <a:srgbClr val="00B050"/>
                </a:solidFill>
                <a:latin typeface="Times New Roman" pitchFamily="18" charset="0"/>
                <a:cs typeface="Times New Roman" pitchFamily="18" charset="0"/>
              </a:rPr>
              <a:t>CONCEPT OF </a:t>
            </a:r>
            <a:r>
              <a:rPr lang="en-US" sz="3200" dirty="0">
                <a:solidFill>
                  <a:srgbClr val="00B050"/>
                </a:solidFill>
                <a:latin typeface="Times New Roman" pitchFamily="18" charset="0"/>
                <a:cs typeface="Times New Roman" pitchFamily="18" charset="0"/>
              </a:rPr>
              <a:t>POLES AND ZEROS</a:t>
            </a:r>
          </a:p>
        </p:txBody>
      </p:sp>
      <p:sp>
        <p:nvSpPr>
          <p:cNvPr id="3" name="Subtitle 2"/>
          <p:cNvSpPr>
            <a:spLocks noGrp="1"/>
          </p:cNvSpPr>
          <p:nvPr>
            <p:ph type="subTitle" idx="1"/>
          </p:nvPr>
        </p:nvSpPr>
        <p:spPr>
          <a:xfrm>
            <a:off x="856990" y="2643182"/>
            <a:ext cx="10950974" cy="3714776"/>
          </a:xfrm>
        </p:spPr>
        <p:txBody>
          <a:bodyPr>
            <a:normAutofit/>
          </a:bodyPr>
          <a:lstStyle/>
          <a:p>
            <a:endParaRPr lang="en-IN" dirty="0">
              <a:solidFill>
                <a:schemeClr val="tx1"/>
              </a:solidFill>
              <a:latin typeface="Times New Roman" pitchFamily="18" charset="0"/>
              <a:cs typeface="Times New Roman" pitchFamily="18" charset="0"/>
            </a:endParaRPr>
          </a:p>
          <a:p>
            <a:endParaRPr lang="en-US" dirty="0">
              <a:solidFill>
                <a:schemeClr val="tx1"/>
              </a:solidFill>
              <a:latin typeface="Times New Roman" pitchFamily="18" charset="0"/>
              <a:cs typeface="Times New Roman" pitchFamily="18" charset="0"/>
            </a:endParaRPr>
          </a:p>
          <a:p>
            <a:r>
              <a:rPr lang="en-US" dirty="0">
                <a:solidFill>
                  <a:srgbClr val="FF0000"/>
                </a:solidFill>
                <a:latin typeface="Felix Titling" pitchFamily="82" charset="0"/>
                <a:cs typeface="Times New Roman" pitchFamily="18" charset="0"/>
              </a:rPr>
              <a:t>SYED HASAN SAEED</a:t>
            </a:r>
          </a:p>
          <a:p>
            <a:pPr marL="342900" lvl="0" indent="-342900" algn="l">
              <a:defRPr/>
            </a:pPr>
            <a:endParaRPr lang="en-US" dirty="0">
              <a:solidFill>
                <a:srgbClr val="002060"/>
              </a:solidFill>
              <a:latin typeface="Times New Roman" pitchFamily="18" charset="0"/>
              <a:cs typeface="Times New Roman" pitchFamily="18" charset="0"/>
            </a:endParaRPr>
          </a:p>
          <a:p>
            <a:pPr marL="342900" lvl="0" indent="-342900" algn="l">
              <a:defRPr/>
            </a:pPr>
            <a:endParaRPr lang="en-US" dirty="0">
              <a:solidFill>
                <a:srgbClr val="002060"/>
              </a:solidFill>
              <a:latin typeface="Times New Roman" pitchFamily="18" charset="0"/>
              <a:cs typeface="Times New Roman" pitchFamily="18" charset="0"/>
            </a:endParaRPr>
          </a:p>
          <a:p>
            <a:pPr marL="342900" lvl="0" indent="-342900" algn="l">
              <a:defRPr/>
            </a:pPr>
            <a:endParaRPr lang="en-US" dirty="0">
              <a:solidFill>
                <a:srgbClr val="002060"/>
              </a:solidFill>
              <a:latin typeface="Times New Roman" pitchFamily="18" charset="0"/>
              <a:cs typeface="Times New Roman" pitchFamily="18" charset="0"/>
            </a:endParaRPr>
          </a:p>
          <a:p>
            <a:pPr marL="342900" lvl="0" indent="-342900" algn="l">
              <a:defRPr/>
            </a:pPr>
            <a:r>
              <a:rPr lang="en-US" sz="1000" dirty="0">
                <a:solidFill>
                  <a:srgbClr val="002060"/>
                </a:solidFill>
                <a:latin typeface="Times New Roman" pitchFamily="18" charset="0"/>
                <a:cs typeface="Times New Roman" pitchFamily="18" charset="0"/>
              </a:rPr>
              <a:t>Declaration : The content of the presentation has been created for academic use / non-commercial use with fair dealing.</a:t>
            </a:r>
          </a:p>
          <a:p>
            <a:endParaRPr lang="en-US" dirty="0">
              <a:solidFill>
                <a:srgbClr val="FF0000"/>
              </a:solidFill>
              <a:latin typeface="Felix Titling" pitchFamily="82" charset="0"/>
              <a:cs typeface="Times New Roman" pitchFamily="18" charset="0"/>
            </a:endParaRPr>
          </a:p>
          <a:p>
            <a:endParaRPr lang="en-US" dirty="0"/>
          </a:p>
          <a:p>
            <a:endParaRPr lang="en-US" dirty="0"/>
          </a:p>
          <a:p>
            <a:endParaRPr lang="en-IN" dirty="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a:p>
            <a:endParaRPr lang="en-IN" dirty="0">
              <a:solidFill>
                <a:schemeClr val="tx1"/>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D1DD10E4-5B28-4739-B9B5-98D77E82AD8F}" type="datetime2">
              <a:rPr lang="en-US" smtClean="0"/>
              <a:pPr/>
              <a:t>Thursday, February 5, 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5" name="Slide Number Placeholder 4"/>
          <p:cNvSpPr>
            <a:spLocks noGrp="1"/>
          </p:cNvSpPr>
          <p:nvPr>
            <p:ph type="sldNum" sz="quarter" idx="12"/>
          </p:nvPr>
        </p:nvSpPr>
        <p:spPr/>
        <p:txBody>
          <a:bodyPr/>
          <a:lstStyle/>
          <a:p>
            <a:fld id="{435E54C7-FAA8-46C1-A880-53547F97989D}"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285728"/>
            <a:ext cx="11293749" cy="6286544"/>
          </a:xfrm>
        </p:spPr>
        <p:txBody>
          <a:bodyPr>
            <a:normAutofit/>
          </a:bodyPr>
          <a:lstStyle/>
          <a:p>
            <a:pPr algn="ctr">
              <a:buNone/>
            </a:pPr>
            <a:r>
              <a:rPr lang="en-IN" sz="2400" dirty="0">
                <a:solidFill>
                  <a:srgbClr val="FF0000"/>
                </a:solidFill>
                <a:latin typeface="Times New Roman" pitchFamily="18" charset="0"/>
                <a:cs typeface="Times New Roman" pitchFamily="18" charset="0"/>
              </a:rPr>
              <a:t>AUTOMATIC CONTROL SYSTEMS</a:t>
            </a:r>
          </a:p>
          <a:p>
            <a:pPr algn="ctr">
              <a:buNone/>
            </a:pPr>
            <a:endParaRPr lang="en-IN" sz="2400" dirty="0">
              <a:solidFill>
                <a:srgbClr val="00B050"/>
              </a:solidFill>
              <a:latin typeface="Times New Roman" pitchFamily="18" charset="0"/>
              <a:cs typeface="Times New Roman" pitchFamily="18" charset="0"/>
            </a:endParaRPr>
          </a:p>
          <a:p>
            <a:pPr algn="ctr">
              <a:buNone/>
            </a:pPr>
            <a:endParaRPr lang="en-IN" sz="2400" dirty="0">
              <a:solidFill>
                <a:srgbClr val="00B050"/>
              </a:solidFill>
              <a:latin typeface="Times New Roman" pitchFamily="18" charset="0"/>
              <a:cs typeface="Times New Roman" pitchFamily="18" charset="0"/>
            </a:endParaRPr>
          </a:p>
          <a:p>
            <a:pPr algn="ctr">
              <a:buNone/>
            </a:pPr>
            <a:r>
              <a:rPr lang="en-IN" sz="2400" dirty="0">
                <a:solidFill>
                  <a:srgbClr val="00B050"/>
                </a:solidFill>
                <a:latin typeface="Times New Roman" pitchFamily="18" charset="0"/>
                <a:cs typeface="Times New Roman" pitchFamily="18" charset="0"/>
              </a:rPr>
              <a:t>BOOKS </a:t>
            </a:r>
          </a:p>
          <a:p>
            <a:pPr algn="ctr">
              <a:buNone/>
            </a:pPr>
            <a:endParaRPr lang="en-IN" sz="2400" dirty="0">
              <a:solidFill>
                <a:srgbClr val="00B050"/>
              </a:solidFill>
              <a:latin typeface="Times New Roman" pitchFamily="18" charset="0"/>
              <a:cs typeface="Times New Roman" pitchFamily="18" charset="0"/>
            </a:endParaRP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B.C. KUO</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K. OGATTA</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NAGRATH &amp; KOTHARI</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S.HASAN SAEED</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R. A. BARAPATE</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A. ANAND KUMAR</a:t>
            </a:r>
          </a:p>
          <a:p>
            <a:pPr algn="ctr">
              <a:buNone/>
            </a:pP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856733" y="6215083"/>
            <a:ext cx="6856262"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a:t>
            </a:fld>
            <a:endParaRPr lang="en-IN"/>
          </a:p>
        </p:txBody>
      </p:sp>
    </p:spTree>
  </p:cSld>
  <p:clrMapOvr>
    <a:masterClrMapping/>
  </p:clrMapOvr>
  <p:transition advTm="75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868" y="228600"/>
            <a:ext cx="10868369" cy="762000"/>
          </a:xfrm>
        </p:spPr>
        <p:txBody>
          <a:bodyPr>
            <a:normAutofit/>
          </a:bodyPr>
          <a:lstStyle/>
          <a:p>
            <a:r>
              <a:rPr lang="en-US" sz="3000" u="sng" dirty="0">
                <a:solidFill>
                  <a:srgbClr val="FF0000"/>
                </a:solidFill>
                <a:latin typeface="Times New Roman" pitchFamily="18" charset="0"/>
                <a:cs typeface="Times New Roman" pitchFamily="18" charset="0"/>
              </a:rPr>
              <a:t>OUTLINE</a:t>
            </a:r>
          </a:p>
        </p:txBody>
      </p:sp>
      <p:sp>
        <p:nvSpPr>
          <p:cNvPr id="3" name="Content Placeholder 2"/>
          <p:cNvSpPr>
            <a:spLocks noGrp="1"/>
          </p:cNvSpPr>
          <p:nvPr>
            <p:ph idx="1"/>
          </p:nvPr>
        </p:nvSpPr>
        <p:spPr>
          <a:xfrm>
            <a:off x="203147" y="990600"/>
            <a:ext cx="11680957" cy="5410200"/>
          </a:xfrm>
        </p:spPr>
        <p:txBody>
          <a:bodyPr>
            <a:normAutofit/>
          </a:bodyPr>
          <a:lstStyle/>
          <a:p>
            <a:pPr algn="just">
              <a:buFont typeface="Wingdings" pitchFamily="2" charset="2"/>
              <a:buChar char="§"/>
            </a:pPr>
            <a:endParaRPr lang="en-US" sz="2400" dirty="0">
              <a:latin typeface="Times New Roman" pitchFamily="18" charset="0"/>
              <a:cs typeface="Times New Roman" pitchFamily="18" charset="0"/>
            </a:endParaRPr>
          </a:p>
          <a:p>
            <a:pPr algn="just">
              <a:buFont typeface="Wingdings" pitchFamily="2" charset="2"/>
              <a:buChar char="§"/>
            </a:pPr>
            <a:r>
              <a:rPr lang="en-US" sz="2400" dirty="0">
                <a:latin typeface="Times New Roman" pitchFamily="18" charset="0"/>
                <a:cs typeface="Times New Roman" pitchFamily="18" charset="0"/>
              </a:rPr>
              <a:t>Definition of Transfer Function.</a:t>
            </a:r>
          </a:p>
          <a:p>
            <a:pPr algn="just">
              <a:buFont typeface="Wingdings" pitchFamily="2" charset="2"/>
              <a:buChar char="§"/>
            </a:pPr>
            <a:r>
              <a:rPr lang="en-US" sz="2400" dirty="0">
                <a:latin typeface="Times New Roman" pitchFamily="18" charset="0"/>
                <a:cs typeface="Times New Roman" pitchFamily="18" charset="0"/>
              </a:rPr>
              <a:t>Poles &amp; Zeros.</a:t>
            </a:r>
          </a:p>
          <a:p>
            <a:pPr algn="just">
              <a:buFont typeface="Wingdings" pitchFamily="2" charset="2"/>
              <a:buChar char="§"/>
            </a:pPr>
            <a:r>
              <a:rPr lang="en-US" sz="2400" dirty="0">
                <a:latin typeface="Times New Roman" pitchFamily="18" charset="0"/>
                <a:cs typeface="Times New Roman" pitchFamily="18" charset="0"/>
              </a:rPr>
              <a:t>Characteristic Equation.</a:t>
            </a:r>
          </a:p>
          <a:p>
            <a:pPr algn="just">
              <a:buFont typeface="Wingdings" pitchFamily="2" charset="2"/>
              <a:buChar char="§"/>
            </a:pPr>
            <a:r>
              <a:rPr lang="en-US" sz="2400" dirty="0">
                <a:latin typeface="Times New Roman" pitchFamily="18" charset="0"/>
                <a:cs typeface="Times New Roman" pitchFamily="18" charset="0"/>
              </a:rPr>
              <a:t>Advantages and Disadvantages of Transfer Function.</a:t>
            </a:r>
          </a:p>
          <a:p>
            <a:pPr algn="just">
              <a:buFont typeface="Wingdings" pitchFamily="2" charset="2"/>
              <a:buChar char="§"/>
            </a:pPr>
            <a:r>
              <a:rPr lang="en-US" sz="2400" dirty="0">
                <a:latin typeface="Times New Roman" pitchFamily="18" charset="0"/>
                <a:cs typeface="Times New Roman" pitchFamily="18" charset="0"/>
              </a:rPr>
              <a:t>Transfer Function of given Electrical Network.</a:t>
            </a:r>
          </a:p>
          <a:p>
            <a:pPr algn="just">
              <a:buFont typeface="Wingdings" pitchFamily="2" charset="2"/>
              <a:buChar char="§"/>
            </a:pPr>
            <a:r>
              <a:rPr lang="en-US" sz="2400" dirty="0">
                <a:latin typeface="Times New Roman" pitchFamily="18" charset="0"/>
                <a:cs typeface="Times New Roman" pitchFamily="18" charset="0"/>
              </a:rPr>
              <a:t>Transfer Function from given differential equation and vice - versa</a:t>
            </a:r>
          </a:p>
          <a:p>
            <a:pPr algn="just">
              <a:buFont typeface="Wingdings" pitchFamily="2" charset="2"/>
              <a:buChar char="§"/>
            </a:pPr>
            <a:r>
              <a:rPr lang="en-US" sz="2400" dirty="0">
                <a:latin typeface="Times New Roman" pitchFamily="18" charset="0"/>
                <a:cs typeface="Times New Roman" pitchFamily="18" charset="0"/>
              </a:rPr>
              <a:t>Pole – Zero Plot from given transfer function.</a:t>
            </a:r>
          </a:p>
          <a:p>
            <a:pPr algn="just">
              <a:buNone/>
            </a:pPr>
            <a:endParaRPr lang="en-US" sz="2800" dirty="0">
              <a:latin typeface="Times New Roman" pitchFamily="18" charset="0"/>
              <a:cs typeface="Times New Roman" pitchFamily="18" charset="0"/>
            </a:endParaRPr>
          </a:p>
          <a:p>
            <a:pPr algn="just">
              <a:buNone/>
            </a:pPr>
            <a:endParaRPr lang="en-US" sz="2800" dirty="0">
              <a:latin typeface="Times New Roman" pitchFamily="18" charset="0"/>
              <a:cs typeface="Times New Roman" pitchFamily="18" charset="0"/>
            </a:endParaRPr>
          </a:p>
          <a:p>
            <a:pPr algn="just">
              <a:buNone/>
            </a:pPr>
            <a:endParaRPr lang="en-US"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Date Placeholder 4"/>
          <p:cNvSpPr>
            <a:spLocks noGrp="1"/>
          </p:cNvSpPr>
          <p:nvPr>
            <p:ph type="dt" sz="half" idx="10"/>
          </p:nvPr>
        </p:nvSpPr>
        <p:spPr/>
        <p:txBody>
          <a:bodyPr/>
          <a:lstStyle/>
          <a:p>
            <a:fld id="{C5B308A9-5346-437E-8959-3C6FDAE0B3A1}" type="datetime2">
              <a:rPr lang="en-US" smtClean="0"/>
              <a:pPr/>
              <a:t>Thursday, February 5, 2026</a:t>
            </a:fld>
            <a:endParaRPr lang="en-US"/>
          </a:p>
        </p:txBody>
      </p:sp>
      <p:sp>
        <p:nvSpPr>
          <p:cNvPr id="6" name="Slide Number Placeholder 5"/>
          <p:cNvSpPr>
            <a:spLocks noGrp="1"/>
          </p:cNvSpPr>
          <p:nvPr>
            <p:ph type="sldNum" sz="quarter" idx="12"/>
          </p:nvPr>
        </p:nvSpPr>
        <p:spPr/>
        <p:txBody>
          <a:bodyPr/>
          <a:lstStyle/>
          <a:p>
            <a:fld id="{FBBCD7F1-41F0-4350-8F85-8261AE80848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152400"/>
            <a:ext cx="11782531" cy="6172200"/>
          </a:xfrm>
        </p:spPr>
        <p:txBody>
          <a:bodyPr>
            <a:normAutofit/>
          </a:bodyPr>
          <a:lstStyle/>
          <a:p>
            <a:pPr algn="just">
              <a:buNone/>
            </a:pPr>
            <a:endParaRPr lang="en-US" sz="2200" dirty="0">
              <a:solidFill>
                <a:srgbClr val="FF0000"/>
              </a:solidFill>
              <a:latin typeface="Times New Roman" pitchFamily="18" charset="0"/>
              <a:cs typeface="Times New Roman" pitchFamily="18" charset="0"/>
            </a:endParaRPr>
          </a:p>
          <a:p>
            <a:pPr algn="just">
              <a:buNone/>
            </a:pPr>
            <a:endParaRPr lang="en-US" sz="2100" dirty="0">
              <a:solidFill>
                <a:srgbClr val="FF0000"/>
              </a:solidFill>
              <a:latin typeface="Times New Roman" pitchFamily="18" charset="0"/>
              <a:cs typeface="Times New Roman" pitchFamily="18" charset="0"/>
            </a:endParaRPr>
          </a:p>
          <a:p>
            <a:pPr algn="just">
              <a:buNone/>
            </a:pPr>
            <a:r>
              <a:rPr lang="en-US" sz="2100" dirty="0">
                <a:solidFill>
                  <a:srgbClr val="FF0000"/>
                </a:solidFill>
                <a:latin typeface="Times New Roman" pitchFamily="18" charset="0"/>
                <a:cs typeface="Times New Roman" pitchFamily="18" charset="0"/>
              </a:rPr>
              <a:t>TRANSFER FUNCTION: </a:t>
            </a:r>
            <a:r>
              <a:rPr lang="en-US" sz="2100" dirty="0">
                <a:latin typeface="Times New Roman" pitchFamily="18" charset="0"/>
                <a:cs typeface="Times New Roman" pitchFamily="18" charset="0"/>
              </a:rPr>
              <a:t>Transfer function of any physical system is that mathematical function from which we can determine the complete dynamic behavior  of the system. Transfer function can be defined as</a:t>
            </a:r>
          </a:p>
          <a:p>
            <a:pPr algn="just">
              <a:buNone/>
            </a:pPr>
            <a:r>
              <a:rPr lang="en-US" sz="2100" dirty="0">
                <a:latin typeface="Times New Roman" pitchFamily="18" charset="0"/>
                <a:cs typeface="Times New Roman" pitchFamily="18" charset="0"/>
              </a:rPr>
              <a:t>“ For any linear, time invariant system, the ratio of Laplace transform of the output to the Laplace transform of input with all initial conditions are assumed to zero.” is known as transfer function. </a:t>
            </a:r>
          </a:p>
          <a:p>
            <a:pPr algn="just">
              <a:buNone/>
            </a:pPr>
            <a:r>
              <a:rPr lang="en-US" sz="2100" dirty="0">
                <a:latin typeface="Times New Roman" pitchFamily="18" charset="0"/>
                <a:cs typeface="Times New Roman" pitchFamily="18" charset="0"/>
              </a:rPr>
              <a:t>Consider the block diagram of a system as shown in fig</a:t>
            </a:r>
          </a:p>
          <a:p>
            <a:pPr algn="just">
              <a:buNone/>
            </a:pPr>
            <a:endParaRPr lang="en-US" sz="2200" dirty="0">
              <a:latin typeface="Times New Roman" pitchFamily="18" charset="0"/>
              <a:cs typeface="Times New Roman" pitchFamily="18" charset="0"/>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a:p>
            <a:pPr algn="just">
              <a:buNone/>
            </a:pPr>
            <a:endParaRPr lang="en-US" sz="2800" dirty="0">
              <a:solidFill>
                <a:srgbClr val="FF0000"/>
              </a:solidFill>
            </a:endParaRPr>
          </a:p>
        </p:txBody>
      </p:sp>
      <p:sp>
        <p:nvSpPr>
          <p:cNvPr id="4" name="Footer Placeholder 3"/>
          <p:cNvSpPr>
            <a:spLocks noGrp="1"/>
          </p:cNvSpPr>
          <p:nvPr>
            <p:ph type="ftr" sz="quarter" idx="11"/>
          </p:nvPr>
        </p:nvSpPr>
        <p:spPr/>
        <p:txBody>
          <a:bodyPr/>
          <a:lstStyle/>
          <a:p>
            <a:r>
              <a:rPr lang="en-US" dirty="0" err="1">
                <a:solidFill>
                  <a:schemeClr val="tx1"/>
                </a:solidFill>
              </a:rPr>
              <a:t>syed</a:t>
            </a:r>
            <a:r>
              <a:rPr lang="en-US" dirty="0">
                <a:solidFill>
                  <a:schemeClr val="tx1"/>
                </a:solidFill>
              </a:rPr>
              <a:t> </a:t>
            </a:r>
            <a:r>
              <a:rPr lang="en-US" dirty="0" err="1">
                <a:solidFill>
                  <a:schemeClr val="tx1"/>
                </a:solidFill>
              </a:rPr>
              <a:t>hasan</a:t>
            </a:r>
            <a:r>
              <a:rPr lang="en-US" dirty="0">
                <a:solidFill>
                  <a:schemeClr val="tx1"/>
                </a:solidFill>
              </a:rPr>
              <a:t> </a:t>
            </a:r>
            <a:r>
              <a:rPr lang="en-US" dirty="0" err="1">
                <a:solidFill>
                  <a:schemeClr val="tx1"/>
                </a:solidFill>
              </a:rPr>
              <a:t>saeed</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BAB1808-E3BC-4267-8331-17C95CCEC8B9}" type="slidenum">
              <a:rPr lang="en-US" smtClean="0"/>
              <a:pPr/>
              <a:t>4</a:t>
            </a:fld>
            <a:endParaRPr lang="en-US" dirty="0"/>
          </a:p>
        </p:txBody>
      </p:sp>
      <p:sp>
        <p:nvSpPr>
          <p:cNvPr id="6" name="Date Placeholder 5"/>
          <p:cNvSpPr>
            <a:spLocks noGrp="1"/>
          </p:cNvSpPr>
          <p:nvPr>
            <p:ph type="dt" sz="half" idx="10"/>
          </p:nvPr>
        </p:nvSpPr>
        <p:spPr/>
        <p:txBody>
          <a:bodyPr/>
          <a:lstStyle/>
          <a:p>
            <a:fld id="{EA2EC5E0-5E7F-4DE5-A7FB-D19F76F07F64}" type="datetime2">
              <a:rPr lang="en-US" smtClean="0"/>
              <a:pPr/>
              <a:t>Thursday, February 5, 2026</a:t>
            </a:fld>
            <a:endParaRPr lang="en-US"/>
          </a:p>
        </p:txBody>
      </p:sp>
      <p:sp>
        <p:nvSpPr>
          <p:cNvPr id="8" name="Rectangle 7"/>
          <p:cNvSpPr/>
          <p:nvPr/>
        </p:nvSpPr>
        <p:spPr>
          <a:xfrm>
            <a:off x="2075326" y="3797150"/>
            <a:ext cx="1929897" cy="685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4005223" y="4140450"/>
            <a:ext cx="152360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46358" y="4162125"/>
            <a:ext cx="152360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311598" y="3968800"/>
            <a:ext cx="1523603" cy="369332"/>
          </a:xfrm>
          <a:prstGeom prst="rect">
            <a:avLst/>
          </a:prstGeom>
          <a:noFill/>
        </p:spPr>
        <p:txBody>
          <a:bodyPr wrap="square" rtlCol="0">
            <a:spAutoFit/>
          </a:bodyPr>
          <a:lstStyle/>
          <a:p>
            <a:r>
              <a:rPr lang="en-US" dirty="0">
                <a:latin typeface="Times New Roman" pitchFamily="18" charset="0"/>
                <a:cs typeface="Times New Roman" pitchFamily="18" charset="0"/>
              </a:rPr>
              <a:t>SYSTEM</a:t>
            </a:r>
          </a:p>
        </p:txBody>
      </p:sp>
      <p:sp>
        <p:nvSpPr>
          <p:cNvPr id="19" name="TextBox 18"/>
          <p:cNvSpPr txBox="1"/>
          <p:nvPr/>
        </p:nvSpPr>
        <p:spPr>
          <a:xfrm>
            <a:off x="406294" y="3516426"/>
            <a:ext cx="1523603" cy="646331"/>
          </a:xfrm>
          <a:prstGeom prst="rect">
            <a:avLst/>
          </a:prstGeom>
          <a:noFill/>
        </p:spPr>
        <p:txBody>
          <a:bodyPr wrap="square" rtlCol="0">
            <a:spAutoFit/>
          </a:bodyPr>
          <a:lstStyle/>
          <a:p>
            <a:r>
              <a:rPr lang="en-US" dirty="0">
                <a:latin typeface="Times New Roman" pitchFamily="18" charset="0"/>
                <a:cs typeface="Times New Roman" pitchFamily="18" charset="0"/>
              </a:rPr>
              <a:t>Reference input  r (t)</a:t>
            </a:r>
          </a:p>
        </p:txBody>
      </p:sp>
      <p:sp>
        <p:nvSpPr>
          <p:cNvPr id="21" name="TextBox 20"/>
          <p:cNvSpPr txBox="1"/>
          <p:nvPr/>
        </p:nvSpPr>
        <p:spPr>
          <a:xfrm>
            <a:off x="4049046" y="3514801"/>
            <a:ext cx="1989782" cy="646331"/>
          </a:xfrm>
          <a:prstGeom prst="rect">
            <a:avLst/>
          </a:prstGeom>
          <a:noFill/>
        </p:spPr>
        <p:txBody>
          <a:bodyPr wrap="square" rtlCol="0">
            <a:spAutoFit/>
          </a:bodyPr>
          <a:lstStyle/>
          <a:p>
            <a:r>
              <a:rPr lang="en-US" dirty="0">
                <a:latin typeface="Times New Roman" pitchFamily="18" charset="0"/>
                <a:cs typeface="Times New Roman" pitchFamily="18" charset="0"/>
              </a:rPr>
              <a:t>Controlled </a:t>
            </a:r>
          </a:p>
          <a:p>
            <a:r>
              <a:rPr lang="en-US" dirty="0">
                <a:latin typeface="Times New Roman" pitchFamily="18" charset="0"/>
                <a:cs typeface="Times New Roman" pitchFamily="18" charset="0"/>
              </a:rPr>
              <a:t>Output  c (t)</a:t>
            </a:r>
          </a:p>
        </p:txBody>
      </p:sp>
      <p:grpSp>
        <p:nvGrpSpPr>
          <p:cNvPr id="37" name="Group 36"/>
          <p:cNvGrpSpPr/>
          <p:nvPr/>
        </p:nvGrpSpPr>
        <p:grpSpPr>
          <a:xfrm>
            <a:off x="6297559" y="3696900"/>
            <a:ext cx="4977104" cy="704250"/>
            <a:chOff x="4724400" y="3105750"/>
            <a:chExt cx="3733800" cy="704250"/>
          </a:xfrm>
        </p:grpSpPr>
        <p:sp>
          <p:nvSpPr>
            <p:cNvPr id="9" name="Rectangle 8"/>
            <p:cNvSpPr/>
            <p:nvPr/>
          </p:nvSpPr>
          <p:spPr>
            <a:xfrm>
              <a:off x="5867400" y="3124200"/>
              <a:ext cx="1447800" cy="685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flipV="1">
              <a:off x="7315200" y="3467500"/>
              <a:ext cx="11430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724400" y="3467500"/>
              <a:ext cx="114300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250000" y="3277400"/>
              <a:ext cx="762000" cy="369332"/>
            </a:xfrm>
            <a:prstGeom prst="rect">
              <a:avLst/>
            </a:prstGeom>
            <a:noFill/>
          </p:spPr>
          <p:txBody>
            <a:bodyPr wrap="square" rtlCol="0">
              <a:spAutoFit/>
            </a:bodyPr>
            <a:lstStyle/>
            <a:p>
              <a:r>
                <a:rPr lang="en-US" dirty="0">
                  <a:latin typeface="Times New Roman" pitchFamily="18" charset="0"/>
                  <a:cs typeface="Times New Roman" pitchFamily="18" charset="0"/>
                </a:rPr>
                <a:t>G (s)</a:t>
              </a:r>
            </a:p>
          </p:txBody>
        </p:sp>
        <p:sp>
          <p:nvSpPr>
            <p:cNvPr id="23" name="TextBox 22"/>
            <p:cNvSpPr txBox="1"/>
            <p:nvPr/>
          </p:nvSpPr>
          <p:spPr>
            <a:xfrm>
              <a:off x="4953000" y="3125000"/>
              <a:ext cx="762000" cy="369332"/>
            </a:xfrm>
            <a:prstGeom prst="rect">
              <a:avLst/>
            </a:prstGeom>
            <a:noFill/>
          </p:spPr>
          <p:txBody>
            <a:bodyPr wrap="square" rtlCol="0">
              <a:spAutoFit/>
            </a:bodyPr>
            <a:lstStyle/>
            <a:p>
              <a:r>
                <a:rPr lang="en-US" dirty="0">
                  <a:latin typeface="Times New Roman" pitchFamily="18" charset="0"/>
                  <a:cs typeface="Times New Roman" pitchFamily="18" charset="0"/>
                </a:rPr>
                <a:t>R (s)</a:t>
              </a:r>
            </a:p>
          </p:txBody>
        </p:sp>
        <p:sp>
          <p:nvSpPr>
            <p:cNvPr id="24" name="TextBox 23"/>
            <p:cNvSpPr txBox="1"/>
            <p:nvPr/>
          </p:nvSpPr>
          <p:spPr>
            <a:xfrm>
              <a:off x="7543800" y="3105750"/>
              <a:ext cx="762000" cy="369332"/>
            </a:xfrm>
            <a:prstGeom prst="rect">
              <a:avLst/>
            </a:prstGeom>
            <a:noFill/>
          </p:spPr>
          <p:txBody>
            <a:bodyPr wrap="square" rtlCol="0">
              <a:spAutoFit/>
            </a:bodyPr>
            <a:lstStyle/>
            <a:p>
              <a:r>
                <a:rPr lang="en-US" dirty="0">
                  <a:latin typeface="Times New Roman" pitchFamily="18" charset="0"/>
                  <a:cs typeface="Times New Roman" pitchFamily="18" charset="0"/>
                </a:rPr>
                <a:t>C (s)</a:t>
              </a:r>
            </a:p>
          </p:txBody>
        </p:sp>
      </p:grpSp>
      <p:cxnSp>
        <p:nvCxnSpPr>
          <p:cNvPr id="29" name="Straight Connector 28"/>
          <p:cNvCxnSpPr/>
          <p:nvPr/>
        </p:nvCxnSpPr>
        <p:spPr>
          <a:xfrm>
            <a:off x="4164515" y="5020375"/>
            <a:ext cx="1706436"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5649939" y="5079861"/>
            <a:ext cx="685800" cy="21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015736" y="4809425"/>
            <a:ext cx="9243192" cy="415498"/>
          </a:xfrm>
          <a:prstGeom prst="rect">
            <a:avLst/>
          </a:prstGeom>
          <a:noFill/>
        </p:spPr>
        <p:txBody>
          <a:bodyPr wrap="square" rtlCol="0">
            <a:spAutoFit/>
          </a:bodyPr>
          <a:lstStyle/>
          <a:p>
            <a:r>
              <a:rPr lang="en-US" sz="2100" dirty="0">
                <a:latin typeface="Times New Roman" pitchFamily="18" charset="0"/>
                <a:cs typeface="Times New Roman" pitchFamily="18" charset="0"/>
              </a:rPr>
              <a:t>Transfer Function = </a:t>
            </a:r>
          </a:p>
        </p:txBody>
      </p:sp>
      <p:sp>
        <p:nvSpPr>
          <p:cNvPr id="30" name="TextBox 29"/>
          <p:cNvSpPr txBox="1"/>
          <p:nvPr/>
        </p:nvSpPr>
        <p:spPr>
          <a:xfrm>
            <a:off x="4162382" y="4572000"/>
            <a:ext cx="2031471" cy="415498"/>
          </a:xfrm>
          <a:prstGeom prst="rect">
            <a:avLst/>
          </a:prstGeom>
          <a:noFill/>
        </p:spPr>
        <p:txBody>
          <a:bodyPr wrap="square" rtlCol="0">
            <a:spAutoFit/>
          </a:bodyPr>
          <a:lstStyle/>
          <a:p>
            <a:r>
              <a:rPr lang="en-US" sz="2100" dirty="0">
                <a:latin typeface="Times New Roman" pitchFamily="18" charset="0"/>
                <a:cs typeface="Times New Roman" pitchFamily="18" charset="0"/>
              </a:rPr>
              <a:t>ℒ  Output</a:t>
            </a:r>
          </a:p>
        </p:txBody>
      </p:sp>
      <p:sp>
        <p:nvSpPr>
          <p:cNvPr id="31" name="TextBox 30"/>
          <p:cNvSpPr txBox="1"/>
          <p:nvPr/>
        </p:nvSpPr>
        <p:spPr>
          <a:xfrm>
            <a:off x="4165582" y="5003527"/>
            <a:ext cx="2031471" cy="415498"/>
          </a:xfrm>
          <a:prstGeom prst="rect">
            <a:avLst/>
          </a:prstGeom>
          <a:noFill/>
        </p:spPr>
        <p:txBody>
          <a:bodyPr wrap="square" rtlCol="0">
            <a:spAutoFit/>
          </a:bodyPr>
          <a:lstStyle/>
          <a:p>
            <a:r>
              <a:rPr lang="en-US" sz="2100" dirty="0">
                <a:latin typeface="Times New Roman" pitchFamily="18" charset="0"/>
                <a:cs typeface="Times New Roman" pitchFamily="18" charset="0"/>
              </a:rPr>
              <a:t>ℒ  Input</a:t>
            </a:r>
          </a:p>
        </p:txBody>
      </p:sp>
      <p:sp>
        <p:nvSpPr>
          <p:cNvPr id="34" name="TextBox 33"/>
          <p:cNvSpPr txBox="1"/>
          <p:nvPr/>
        </p:nvSpPr>
        <p:spPr>
          <a:xfrm>
            <a:off x="5952216" y="5117068"/>
            <a:ext cx="2945633" cy="369332"/>
          </a:xfrm>
          <a:prstGeom prst="rect">
            <a:avLst/>
          </a:prstGeom>
          <a:noFill/>
        </p:spPr>
        <p:txBody>
          <a:bodyPr wrap="square" rtlCol="0">
            <a:spAutoFit/>
          </a:bodyPr>
          <a:lstStyle/>
          <a:p>
            <a:r>
              <a:rPr lang="en-US" dirty="0">
                <a:latin typeface="Times New Roman" pitchFamily="18" charset="0"/>
                <a:cs typeface="Times New Roman" pitchFamily="18" charset="0"/>
              </a:rPr>
              <a:t>Initial conditions = 0</a:t>
            </a:r>
          </a:p>
        </p:txBody>
      </p:sp>
      <p:graphicFrame>
        <p:nvGraphicFramePr>
          <p:cNvPr id="35" name="Object 34"/>
          <p:cNvGraphicFramePr>
            <a:graphicFrameLocks noChangeAspect="1"/>
          </p:cNvGraphicFramePr>
          <p:nvPr/>
        </p:nvGraphicFramePr>
        <p:xfrm>
          <a:off x="4469236" y="5558914"/>
          <a:ext cx="1726750" cy="689486"/>
        </p:xfrm>
        <a:graphic>
          <a:graphicData uri="http://schemas.openxmlformats.org/presentationml/2006/ole">
            <mc:AlternateContent xmlns:mc="http://schemas.openxmlformats.org/markup-compatibility/2006">
              <mc:Choice xmlns:v="urn:schemas-microsoft-com:vml" Requires="v">
                <p:oleObj spid="_x0000_s36869" name="Equation" r:id="rId2" imgW="787320" imgH="419040" progId="Equation.3">
                  <p:embed/>
                </p:oleObj>
              </mc:Choice>
              <mc:Fallback>
                <p:oleObj name="Equation" r:id="rId2" imgW="787320" imgH="419040" progId="Equation.3">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9236" y="5558914"/>
                        <a:ext cx="1726750" cy="6894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TextBox 37"/>
          <p:cNvSpPr txBox="1"/>
          <p:nvPr/>
        </p:nvSpPr>
        <p:spPr>
          <a:xfrm>
            <a:off x="203147" y="170851"/>
            <a:ext cx="11680957" cy="461665"/>
          </a:xfrm>
          <a:prstGeom prst="rect">
            <a:avLst/>
          </a:prstGeom>
          <a:noFill/>
        </p:spPr>
        <p:txBody>
          <a:bodyPr wrap="square" rtlCol="0">
            <a:spAutoFit/>
          </a:bodyPr>
          <a:lstStyle/>
          <a:p>
            <a:pPr algn="ctr"/>
            <a:r>
              <a:rPr lang="en-IN" sz="2400" dirty="0">
                <a:solidFill>
                  <a:srgbClr val="00B050"/>
                </a:solidFill>
                <a:latin typeface="Times New Roman" pitchFamily="18" charset="0"/>
                <a:cs typeface="Times New Roman" pitchFamily="18" charset="0"/>
              </a:rPr>
              <a:t>CONCEPT OF </a:t>
            </a:r>
            <a:r>
              <a:rPr lang="en-US" sz="2400" dirty="0">
                <a:solidFill>
                  <a:srgbClr val="00B050"/>
                </a:solidFill>
                <a:latin typeface="Times New Roman" pitchFamily="18" charset="0"/>
                <a:cs typeface="Times New Roman" pitchFamily="18" charset="0"/>
              </a:rPr>
              <a:t>POLES AND ZEROS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685800"/>
            <a:ext cx="11782531" cy="5638800"/>
          </a:xfrm>
        </p:spPr>
        <p:txBody>
          <a:bodyPr/>
          <a:lstStyle/>
          <a:p>
            <a:pPr>
              <a:buNone/>
            </a:pPr>
            <a:r>
              <a:rPr lang="en-US" sz="2200" dirty="0">
                <a:latin typeface="Times New Roman" pitchFamily="18" charset="0"/>
                <a:cs typeface="Times New Roman" pitchFamily="18" charset="0"/>
              </a:rPr>
              <a:t>Let C(s) is the polynomial of order </a:t>
            </a:r>
            <a:r>
              <a:rPr lang="en-US" sz="2200" dirty="0" err="1">
                <a:latin typeface="Times New Roman" pitchFamily="18" charset="0"/>
                <a:cs typeface="Times New Roman" pitchFamily="18" charset="0"/>
              </a:rPr>
              <a:t>m</a:t>
            </a:r>
            <a:r>
              <a:rPr lang="en-US" sz="2200" baseline="30000" dirty="0" err="1">
                <a:latin typeface="Times New Roman" pitchFamily="18" charset="0"/>
                <a:cs typeface="Times New Roman" pitchFamily="18" charset="0"/>
              </a:rPr>
              <a:t>th</a:t>
            </a:r>
            <a:r>
              <a:rPr lang="en-US" sz="2200" dirty="0">
                <a:latin typeface="Times New Roman" pitchFamily="18" charset="0"/>
                <a:cs typeface="Times New Roman" pitchFamily="18" charset="0"/>
              </a:rPr>
              <a:t> and R(s) is the polynomial of n</a:t>
            </a:r>
            <a:r>
              <a:rPr lang="en-US" sz="2200" baseline="30000" dirty="0">
                <a:latin typeface="Times New Roman" pitchFamily="18" charset="0"/>
                <a:cs typeface="Times New Roman" pitchFamily="18" charset="0"/>
              </a:rPr>
              <a:t>th</a:t>
            </a:r>
          </a:p>
          <a:p>
            <a:pPr>
              <a:buNone/>
            </a:pPr>
            <a:r>
              <a:rPr lang="en-US" sz="2200" dirty="0">
                <a:latin typeface="Times New Roman" pitchFamily="18" charset="0"/>
                <a:cs typeface="Times New Roman" pitchFamily="18" charset="0"/>
              </a:rPr>
              <a:t>Then transfer function can be represented as</a:t>
            </a:r>
          </a:p>
          <a:p>
            <a:pPr>
              <a:buNone/>
            </a:pPr>
            <a:endParaRPr lang="en-US" sz="2200" dirty="0">
              <a:latin typeface="Times New Roman" pitchFamily="18" charset="0"/>
              <a:cs typeface="Times New Roman" pitchFamily="18" charset="0"/>
            </a:endParaRPr>
          </a:p>
          <a:p>
            <a:pPr>
              <a:buNone/>
            </a:pPr>
            <a:endParaRPr lang="en-US" sz="2200" dirty="0">
              <a:solidFill>
                <a:srgbClr val="FF0000"/>
              </a:solidFill>
              <a:latin typeface="Times New Roman" pitchFamily="18" charset="0"/>
              <a:cs typeface="Times New Roman" pitchFamily="18" charset="0"/>
            </a:endParaRPr>
          </a:p>
          <a:p>
            <a:pPr>
              <a:buNone/>
            </a:pPr>
            <a:endParaRPr lang="en-US" sz="2200" dirty="0">
              <a:solidFill>
                <a:srgbClr val="FF0000"/>
              </a:solidFill>
              <a:latin typeface="Times New Roman" pitchFamily="18" charset="0"/>
              <a:cs typeface="Times New Roman" pitchFamily="18" charset="0"/>
            </a:endParaRPr>
          </a:p>
          <a:p>
            <a:pPr>
              <a:buNone/>
            </a:pPr>
            <a:r>
              <a:rPr lang="en-US" sz="2200" dirty="0">
                <a:solidFill>
                  <a:srgbClr val="FF0000"/>
                </a:solidFill>
                <a:latin typeface="Times New Roman" pitchFamily="18" charset="0"/>
                <a:cs typeface="Times New Roman" pitchFamily="18" charset="0"/>
              </a:rPr>
              <a:t>CHARACTERISTIC EQUATION: </a:t>
            </a:r>
            <a:r>
              <a:rPr lang="en-US" sz="2200" dirty="0">
                <a:latin typeface="Times New Roman" pitchFamily="18" charset="0"/>
                <a:cs typeface="Times New Roman" pitchFamily="18" charset="0"/>
              </a:rPr>
              <a:t>The characteristic equation can be obtained by equating the denominator polynomial of the transfer function to zero. That is</a:t>
            </a:r>
          </a:p>
          <a:p>
            <a:pPr>
              <a:buNone/>
            </a:pPr>
            <a:endParaRPr lang="en-US" dirty="0">
              <a:latin typeface="Times New Roman" pitchFamily="18" charset="0"/>
              <a:cs typeface="Times New Roman" pitchFamily="18" charset="0"/>
            </a:endParaRPr>
          </a:p>
          <a:p>
            <a:pPr>
              <a:buNone/>
            </a:pPr>
            <a:endParaRPr lang="en-US" dirty="0"/>
          </a:p>
        </p:txBody>
      </p:sp>
      <p:sp>
        <p:nvSpPr>
          <p:cNvPr id="4" name="Date Placeholder 3"/>
          <p:cNvSpPr>
            <a:spLocks noGrp="1"/>
          </p:cNvSpPr>
          <p:nvPr>
            <p:ph type="dt" sz="half" idx="10"/>
          </p:nvPr>
        </p:nvSpPr>
        <p:spPr/>
        <p:txBody>
          <a:bodyPr/>
          <a:lstStyle/>
          <a:p>
            <a:fld id="{0134A405-9F9F-428F-8C0D-F86AE27C7B89}"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5</a:t>
            </a:fld>
            <a:endParaRPr lang="en-US"/>
          </a:p>
        </p:txBody>
      </p:sp>
      <p:graphicFrame>
        <p:nvGraphicFramePr>
          <p:cNvPr id="90115" name="Object 3"/>
          <p:cNvGraphicFramePr>
            <a:graphicFrameLocks noChangeAspect="1"/>
          </p:cNvGraphicFramePr>
          <p:nvPr/>
        </p:nvGraphicFramePr>
        <p:xfrm>
          <a:off x="1898156" y="3904650"/>
          <a:ext cx="8326914" cy="609600"/>
        </p:xfrm>
        <a:graphic>
          <a:graphicData uri="http://schemas.openxmlformats.org/presentationml/2006/ole">
            <mc:AlternateContent xmlns:mc="http://schemas.openxmlformats.org/markup-compatibility/2006">
              <mc:Choice xmlns:v="urn:schemas-microsoft-com:vml" Requires="v">
                <p:oleObj spid="_x0000_s90115" name="Equation" r:id="rId2" imgW="2197080" imgH="241200" progId="Equation.3">
                  <p:embed/>
                </p:oleObj>
              </mc:Choice>
              <mc:Fallback>
                <p:oleObj name="Equation" r:id="rId2" imgW="2197080" imgH="24120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156" y="3904650"/>
                        <a:ext cx="832691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itle 9"/>
          <p:cNvSpPr txBox="1">
            <a:spLocks noGrp="1"/>
          </p:cNvSpPr>
          <p:nvPr>
            <p:ph type="title"/>
          </p:nvPr>
        </p:nvSpPr>
        <p:spPr>
          <a:xfrm>
            <a:off x="203147" y="114701"/>
            <a:ext cx="11680957" cy="461665"/>
          </a:xfrm>
          <a:prstGeom prst="rect">
            <a:avLst/>
          </a:prstGeom>
          <a:noFill/>
        </p:spPr>
        <p:txBody>
          <a:bodyPr wrap="square" rtlCol="0">
            <a:spAutoFit/>
          </a:bodyPr>
          <a:lstStyle/>
          <a:p>
            <a:r>
              <a:rPr lang="en-IN" sz="2400" dirty="0">
                <a:solidFill>
                  <a:srgbClr val="00B050"/>
                </a:solidFill>
                <a:latin typeface="Times New Roman" pitchFamily="18" charset="0"/>
                <a:cs typeface="Times New Roman" pitchFamily="18" charset="0"/>
              </a:rPr>
              <a:t>CONCEPT OF</a:t>
            </a:r>
            <a:r>
              <a:rPr lang="en-US" sz="2400" dirty="0">
                <a:solidFill>
                  <a:srgbClr val="00B050"/>
                </a:solidFill>
                <a:latin typeface="Times New Roman" pitchFamily="18" charset="0"/>
                <a:cs typeface="Times New Roman" pitchFamily="18" charset="0"/>
              </a:rPr>
              <a:t> POLES AND ZEROS</a:t>
            </a:r>
          </a:p>
        </p:txBody>
      </p:sp>
      <p:graphicFrame>
        <p:nvGraphicFramePr>
          <p:cNvPr id="11" name="Object 10"/>
          <p:cNvGraphicFramePr>
            <a:graphicFrameLocks noChangeAspect="1"/>
          </p:cNvGraphicFramePr>
          <p:nvPr/>
        </p:nvGraphicFramePr>
        <p:xfrm>
          <a:off x="988226" y="1571625"/>
          <a:ext cx="9427294" cy="990600"/>
        </p:xfrm>
        <a:graphic>
          <a:graphicData uri="http://schemas.openxmlformats.org/presentationml/2006/ole">
            <mc:AlternateContent xmlns:mc="http://schemas.openxmlformats.org/markup-compatibility/2006">
              <mc:Choice xmlns:v="urn:schemas-microsoft-com:vml" Requires="v">
                <p:oleObj spid="_x0000_s90116" name="Equation" r:id="rId4" imgW="3263760" imgH="457200" progId="Equation.3">
                  <p:embed/>
                </p:oleObj>
              </mc:Choice>
              <mc:Fallback>
                <p:oleObj name="Equation" r:id="rId4" imgW="3263760" imgH="4572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226" y="1571625"/>
                        <a:ext cx="9427294"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14759" y="4508500"/>
          <a:ext cx="11570919" cy="1282700"/>
        </p:xfrm>
        <a:graphic>
          <a:graphicData uri="http://schemas.openxmlformats.org/presentationml/2006/ole">
            <mc:AlternateContent xmlns:mc="http://schemas.openxmlformats.org/markup-compatibility/2006">
              <mc:Choice xmlns:v="urn:schemas-microsoft-com:vml" Requires="v">
                <p:oleObj spid="_x0000_s90117" name="Equation" r:id="rId6" imgW="4470120" imgH="660240" progId="Equation.3">
                  <p:embed/>
                </p:oleObj>
              </mc:Choice>
              <mc:Fallback>
                <p:oleObj name="Equation" r:id="rId6" imgW="4470120" imgH="66024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759" y="4508500"/>
                        <a:ext cx="11570919" cy="1282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190100"/>
            <a:ext cx="10969943" cy="685800"/>
          </a:xfrm>
        </p:spPr>
        <p:txBody>
          <a:bodyPr>
            <a:normAutofit/>
          </a:bodyPr>
          <a:lstStyle/>
          <a:p>
            <a:r>
              <a:rPr lang="en-IN" sz="2400" dirty="0">
                <a:solidFill>
                  <a:srgbClr val="00B050"/>
                </a:solidFill>
                <a:latin typeface="Times New Roman" pitchFamily="18" charset="0"/>
                <a:cs typeface="Times New Roman" pitchFamily="18" charset="0"/>
              </a:rPr>
              <a:t>CONCEPT OF </a:t>
            </a:r>
            <a:r>
              <a:rPr lang="en-US" sz="2400" dirty="0">
                <a:solidFill>
                  <a:srgbClr val="00B050"/>
                </a:solidFill>
                <a:latin typeface="Times New Roman" pitchFamily="18" charset="0"/>
                <a:cs typeface="Times New Roman" pitchFamily="18" charset="0"/>
              </a:rPr>
              <a:t>POLES AND ZEROS</a:t>
            </a:r>
            <a:endParaRPr lang="en-US" sz="2400" dirty="0"/>
          </a:p>
        </p:txBody>
      </p:sp>
      <p:sp>
        <p:nvSpPr>
          <p:cNvPr id="3" name="Content Placeholder 2"/>
          <p:cNvSpPr>
            <a:spLocks noGrp="1"/>
          </p:cNvSpPr>
          <p:nvPr>
            <p:ph idx="1"/>
          </p:nvPr>
        </p:nvSpPr>
        <p:spPr>
          <a:xfrm>
            <a:off x="203147" y="838200"/>
            <a:ext cx="11782531" cy="5562600"/>
          </a:xfrm>
        </p:spPr>
        <p:txBody>
          <a:bodyPr>
            <a:normAutofit/>
          </a:bodyPr>
          <a:lstStyle/>
          <a:p>
            <a:pPr>
              <a:buNone/>
            </a:pPr>
            <a:r>
              <a:rPr lang="en-US" sz="2200" dirty="0">
                <a:latin typeface="Times New Roman" pitchFamily="18" charset="0"/>
                <a:cs typeface="Times New Roman" pitchFamily="18" charset="0"/>
              </a:rPr>
              <a:t>Consider the equation (1) in factored form as </a:t>
            </a:r>
          </a:p>
        </p:txBody>
      </p:sp>
      <p:sp>
        <p:nvSpPr>
          <p:cNvPr id="4" name="Date Placeholder 3"/>
          <p:cNvSpPr>
            <a:spLocks noGrp="1"/>
          </p:cNvSpPr>
          <p:nvPr>
            <p:ph type="dt" sz="half" idx="10"/>
          </p:nvPr>
        </p:nvSpPr>
        <p:spPr/>
        <p:txBody>
          <a:bodyPr/>
          <a:lstStyle/>
          <a:p>
            <a:fld id="{0134A405-9F9F-428F-8C0D-F86AE27C7B89}"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6</a:t>
            </a:fld>
            <a:endParaRPr lang="en-US"/>
          </a:p>
        </p:txBody>
      </p:sp>
      <p:graphicFrame>
        <p:nvGraphicFramePr>
          <p:cNvPr id="7" name="Object 6"/>
          <p:cNvGraphicFramePr>
            <a:graphicFrameLocks noChangeAspect="1"/>
          </p:cNvGraphicFramePr>
          <p:nvPr/>
        </p:nvGraphicFramePr>
        <p:xfrm>
          <a:off x="480359" y="1371601"/>
          <a:ext cx="11228109" cy="3217863"/>
        </p:xfrm>
        <a:graphic>
          <a:graphicData uri="http://schemas.openxmlformats.org/presentationml/2006/ole">
            <mc:AlternateContent xmlns:mc="http://schemas.openxmlformats.org/markup-compatibility/2006">
              <mc:Choice xmlns:v="urn:schemas-microsoft-com:vml" Requires="v">
                <p:oleObj spid="_x0000_s92162" name="Equation" r:id="rId2" imgW="4787640" imgH="1828800" progId="Equation.3">
                  <p:embed/>
                </p:oleObj>
              </mc:Choice>
              <mc:Fallback>
                <p:oleObj name="Equation" r:id="rId2" imgW="4787640" imgH="18288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359" y="1371601"/>
                        <a:ext cx="11228109" cy="3217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04721" y="4572000"/>
            <a:ext cx="11477810" cy="1446550"/>
          </a:xfrm>
          <a:prstGeom prst="rect">
            <a:avLst/>
          </a:prstGeom>
          <a:noFill/>
        </p:spPr>
        <p:txBody>
          <a:bodyPr wrap="square" rtlCol="0">
            <a:spAutoFit/>
          </a:bodyPr>
          <a:lstStyle/>
          <a:p>
            <a:pPr algn="just">
              <a:buNone/>
            </a:pPr>
            <a:r>
              <a:rPr lang="en-US" sz="2200" dirty="0">
                <a:solidFill>
                  <a:srgbClr val="FF0000"/>
                </a:solidFill>
                <a:latin typeface="Times New Roman" pitchFamily="18" charset="0"/>
                <a:cs typeface="Times New Roman" pitchFamily="18" charset="0"/>
              </a:rPr>
              <a:t>POLES :  </a:t>
            </a:r>
            <a:r>
              <a:rPr lang="en-US" sz="2200" dirty="0">
                <a:latin typeface="Times New Roman" pitchFamily="18" charset="0"/>
                <a:cs typeface="Times New Roman" pitchFamily="18" charset="0"/>
              </a:rPr>
              <a:t>The poles of G (s) are those values of ‘s’ which make G(s) tend to infinity. Where ‘s’ is a special frequency.</a:t>
            </a:r>
          </a:p>
          <a:p>
            <a:pPr algn="just">
              <a:buNone/>
            </a:pPr>
            <a:r>
              <a:rPr lang="en-US" sz="2200" dirty="0">
                <a:solidFill>
                  <a:srgbClr val="FF0000"/>
                </a:solidFill>
                <a:latin typeface="Times New Roman" pitchFamily="18" charset="0"/>
                <a:cs typeface="Times New Roman" pitchFamily="18" charset="0"/>
              </a:rPr>
              <a:t>ZEROS: </a:t>
            </a:r>
            <a:r>
              <a:rPr lang="en-US" sz="2200" dirty="0">
                <a:latin typeface="Times New Roman" pitchFamily="18" charset="0"/>
                <a:cs typeface="Times New Roman" pitchFamily="18" charset="0"/>
              </a:rPr>
              <a:t>The zeros of G (s) are those values of ‘s’ which make G(s) tend to zero. </a:t>
            </a:r>
          </a:p>
          <a:p>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152400"/>
            <a:ext cx="10969943" cy="563562"/>
          </a:xfrm>
        </p:spPr>
        <p:txBody>
          <a:bodyPr>
            <a:normAutofit/>
          </a:bodyPr>
          <a:lstStyle/>
          <a:p>
            <a:r>
              <a:rPr lang="en-IN" sz="2400" dirty="0">
                <a:solidFill>
                  <a:srgbClr val="00B050"/>
                </a:solidFill>
                <a:latin typeface="Times New Roman" pitchFamily="18" charset="0"/>
                <a:cs typeface="Times New Roman" pitchFamily="18" charset="0"/>
              </a:rPr>
              <a:t>CONCEPT OF </a:t>
            </a:r>
            <a:r>
              <a:rPr lang="en-US" sz="2400" dirty="0">
                <a:solidFill>
                  <a:srgbClr val="00B050"/>
                </a:solidFill>
                <a:latin typeface="Times New Roman" pitchFamily="18" charset="0"/>
                <a:cs typeface="Times New Roman" pitchFamily="18" charset="0"/>
              </a:rPr>
              <a:t>POLES AND ZEROS</a:t>
            </a:r>
            <a:endParaRPr lang="en-US" sz="2400" dirty="0"/>
          </a:p>
        </p:txBody>
      </p:sp>
      <p:sp>
        <p:nvSpPr>
          <p:cNvPr id="3" name="Content Placeholder 2"/>
          <p:cNvSpPr>
            <a:spLocks noGrp="1"/>
          </p:cNvSpPr>
          <p:nvPr>
            <p:ph idx="1"/>
          </p:nvPr>
        </p:nvSpPr>
        <p:spPr>
          <a:xfrm>
            <a:off x="203147" y="685800"/>
            <a:ext cx="11680957" cy="5715000"/>
          </a:xfrm>
        </p:spPr>
        <p:txBody>
          <a:bodyPr>
            <a:normAutofit lnSpcReduction="10000"/>
          </a:bodyPr>
          <a:lstStyle/>
          <a:p>
            <a:pPr>
              <a:lnSpc>
                <a:spcPct val="150000"/>
              </a:lnSpc>
              <a:buNone/>
            </a:pPr>
            <a:endParaRPr lang="en-US" sz="2400" dirty="0">
              <a:latin typeface="Times New Roman" pitchFamily="18" charset="0"/>
              <a:cs typeface="Times New Roman" pitchFamily="18" charset="0"/>
            </a:endParaRPr>
          </a:p>
          <a:p>
            <a:pPr>
              <a:lnSpc>
                <a:spcPct val="150000"/>
              </a:lnSpc>
              <a:buNone/>
            </a:pPr>
            <a:r>
              <a:rPr lang="en-US" sz="2400" dirty="0">
                <a:latin typeface="Times New Roman" pitchFamily="18" charset="0"/>
                <a:cs typeface="Times New Roman" pitchFamily="18" charset="0"/>
              </a:rPr>
              <a:t>If either poles or zeros coincide, then such type of poles or zeros are called multiple poles or zeros, otherwise they are known as simple poles or zeros. </a:t>
            </a:r>
          </a:p>
          <a:p>
            <a:pPr>
              <a:lnSpc>
                <a:spcPct val="150000"/>
              </a:lnSpc>
            </a:pPr>
            <a:r>
              <a:rPr lang="en-US" sz="2400" dirty="0">
                <a:latin typeface="Times New Roman" pitchFamily="18" charset="0"/>
                <a:cs typeface="Times New Roman" pitchFamily="18" charset="0"/>
              </a:rPr>
              <a:t>z</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z</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z</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 and p</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p</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p</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 are called complex frequencies. </a:t>
            </a:r>
          </a:p>
          <a:p>
            <a:pPr>
              <a:lnSpc>
                <a:spcPct val="150000"/>
              </a:lnSpc>
            </a:pPr>
            <a:r>
              <a:rPr lang="en-US" sz="2400" dirty="0">
                <a:latin typeface="Times New Roman" pitchFamily="18" charset="0"/>
                <a:cs typeface="Times New Roman" pitchFamily="18" charset="0"/>
              </a:rPr>
              <a:t>The zeros of the network function tell us what values of ‘s’ will make the function zero, and the poles of a network function tell us what values of ‘s’ will make the function infinite. At other frequency , the network function has a finite non-zero value. For this reason, the poles and zeros collectively  are called </a:t>
            </a:r>
            <a:r>
              <a:rPr lang="en-US" sz="2400" b="1" i="1" dirty="0">
                <a:latin typeface="Times New Roman" pitchFamily="18" charset="0"/>
                <a:cs typeface="Times New Roman" pitchFamily="18" charset="0"/>
              </a:rPr>
              <a:t>critical frequencies </a:t>
            </a:r>
            <a:r>
              <a:rPr lang="en-US" sz="2400" b="1" dirty="0">
                <a:latin typeface="Times New Roman" pitchFamily="18" charset="0"/>
                <a:cs typeface="Times New Roman" pitchFamily="18" charset="0"/>
              </a:rPr>
              <a:t>or </a:t>
            </a:r>
            <a:r>
              <a:rPr lang="en-US" sz="2400" b="1" i="1" dirty="0">
                <a:latin typeface="Times New Roman" pitchFamily="18" charset="0"/>
                <a:cs typeface="Times New Roman" pitchFamily="18" charset="0"/>
              </a:rPr>
              <a:t>critical values</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of the network function.</a:t>
            </a:r>
          </a:p>
          <a:p>
            <a:pPr>
              <a:lnSpc>
                <a:spcPct val="150000"/>
              </a:lnSpc>
            </a:pPr>
            <a:r>
              <a:rPr lang="en-US" sz="2400" dirty="0">
                <a:latin typeface="Times New Roman" pitchFamily="18" charset="0"/>
                <a:cs typeface="Times New Roman" pitchFamily="18" charset="0"/>
              </a:rPr>
              <a:t>The poles and zeros are also known as the </a:t>
            </a:r>
            <a:r>
              <a:rPr lang="en-US" sz="2400" b="1" i="1" dirty="0">
                <a:latin typeface="Times New Roman" pitchFamily="18" charset="0"/>
                <a:cs typeface="Times New Roman" pitchFamily="18" charset="0"/>
              </a:rPr>
              <a:t>roots</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of the network function.</a:t>
            </a:r>
          </a:p>
          <a:p>
            <a:pPr>
              <a:lnSpc>
                <a:spcPct val="150000"/>
              </a:lnSpc>
              <a:buNone/>
            </a:pPr>
            <a:endParaRPr lang="en-US" sz="2400" dirty="0">
              <a:latin typeface="Times New Roman" pitchFamily="18" charset="0"/>
              <a:cs typeface="Times New Roman" pitchFamily="18" charset="0"/>
            </a:endParaRPr>
          </a:p>
          <a:p>
            <a:pPr>
              <a:lnSpc>
                <a:spcPct val="150000"/>
              </a:lnSpc>
              <a:buNone/>
            </a:pPr>
            <a:endParaRPr lang="en-US" sz="2400" dirty="0"/>
          </a:p>
        </p:txBody>
      </p:sp>
      <p:sp>
        <p:nvSpPr>
          <p:cNvPr id="4" name="Date Placeholder 3"/>
          <p:cNvSpPr>
            <a:spLocks noGrp="1"/>
          </p:cNvSpPr>
          <p:nvPr>
            <p:ph type="dt" sz="half" idx="10"/>
          </p:nvPr>
        </p:nvSpPr>
        <p:spPr/>
        <p:txBody>
          <a:bodyPr/>
          <a:lstStyle/>
          <a:p>
            <a:fld id="{0134A405-9F9F-428F-8C0D-F86AE27C7B89}" type="datetime2">
              <a:rPr lang="en-US" smtClean="0"/>
              <a:pPr/>
              <a:t>Thursday, February 5, 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FBBCD7F1-41F0-4350-8F85-8261AE80848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914400"/>
            <a:ext cx="11782531" cy="5410200"/>
          </a:xfrm>
        </p:spPr>
        <p:txBody>
          <a:bodyPr>
            <a:normAutofit/>
          </a:bodyPr>
          <a:lstStyle/>
          <a:p>
            <a:pPr algn="just">
              <a:buNone/>
            </a:pPr>
            <a:r>
              <a:rPr lang="en-US" sz="2200" dirty="0">
                <a:latin typeface="Times New Roman" pitchFamily="18" charset="0"/>
                <a:cs typeface="Times New Roman" pitchFamily="18" charset="0"/>
              </a:rPr>
              <a:t>Example (1) consider the following transfer function of a system</a:t>
            </a:r>
          </a:p>
          <a:p>
            <a:pPr algn="just">
              <a:buNone/>
            </a:pPr>
            <a:endParaRPr lang="en-US" sz="22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err="1">
                <a:solidFill>
                  <a:schemeClr val="tx1"/>
                </a:solidFill>
              </a:rPr>
              <a:t>syed</a:t>
            </a:r>
            <a:r>
              <a:rPr lang="en-US" dirty="0">
                <a:solidFill>
                  <a:schemeClr val="tx1"/>
                </a:solidFill>
              </a:rPr>
              <a:t> </a:t>
            </a:r>
            <a:r>
              <a:rPr lang="en-US" dirty="0" err="1">
                <a:solidFill>
                  <a:schemeClr val="tx1"/>
                </a:solidFill>
              </a:rPr>
              <a:t>hasan</a:t>
            </a:r>
            <a:r>
              <a:rPr lang="en-US" dirty="0">
                <a:solidFill>
                  <a:schemeClr val="tx1"/>
                </a:solidFill>
              </a:rPr>
              <a:t> </a:t>
            </a:r>
            <a:r>
              <a:rPr lang="en-US" dirty="0" err="1">
                <a:solidFill>
                  <a:schemeClr val="tx1"/>
                </a:solidFill>
              </a:rPr>
              <a:t>saeed</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BAB1808-E3BC-4267-8331-17C95CCEC8B9}" type="slidenum">
              <a:rPr lang="en-US" smtClean="0"/>
              <a:pPr/>
              <a:t>8</a:t>
            </a:fld>
            <a:endParaRPr lang="en-US"/>
          </a:p>
        </p:txBody>
      </p:sp>
      <p:graphicFrame>
        <p:nvGraphicFramePr>
          <p:cNvPr id="6" name="Object 5"/>
          <p:cNvGraphicFramePr>
            <a:graphicFrameLocks noChangeAspect="1"/>
          </p:cNvGraphicFramePr>
          <p:nvPr/>
        </p:nvGraphicFramePr>
        <p:xfrm>
          <a:off x="3453501" y="1447801"/>
          <a:ext cx="4164515" cy="806561"/>
        </p:xfrm>
        <a:graphic>
          <a:graphicData uri="http://schemas.openxmlformats.org/presentationml/2006/ole">
            <mc:AlternateContent xmlns:mc="http://schemas.openxmlformats.org/markup-compatibility/2006">
              <mc:Choice xmlns:v="urn:schemas-microsoft-com:vml" Requires="v">
                <p:oleObj spid="_x0000_s37890" name="Equation" r:id="rId2" imgW="1409400" imgH="419040" progId="Equation.3">
                  <p:embed/>
                </p:oleObj>
              </mc:Choice>
              <mc:Fallback>
                <p:oleObj name="Equation" r:id="rId2" imgW="1409400" imgH="4190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3501" y="1447801"/>
                        <a:ext cx="4164515" cy="8065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Date Placeholder 6"/>
          <p:cNvSpPr>
            <a:spLocks noGrp="1"/>
          </p:cNvSpPr>
          <p:nvPr>
            <p:ph type="dt" sz="half" idx="10"/>
          </p:nvPr>
        </p:nvSpPr>
        <p:spPr/>
        <p:txBody>
          <a:bodyPr/>
          <a:lstStyle/>
          <a:p>
            <a:fld id="{C72416D2-9A04-4444-B141-BCBBB128AF84}" type="datetime2">
              <a:rPr lang="en-US" smtClean="0"/>
              <a:pPr/>
              <a:t>Thursday, February 5, 2026</a:t>
            </a:fld>
            <a:endParaRPr lang="en-US"/>
          </a:p>
        </p:txBody>
      </p:sp>
      <p:sp>
        <p:nvSpPr>
          <p:cNvPr id="11" name="Title 9"/>
          <p:cNvSpPr txBox="1">
            <a:spLocks noGrp="1"/>
          </p:cNvSpPr>
          <p:nvPr>
            <p:ph type="title"/>
          </p:nvPr>
        </p:nvSpPr>
        <p:spPr>
          <a:xfrm>
            <a:off x="609441" y="274639"/>
            <a:ext cx="10969943" cy="461665"/>
          </a:xfrm>
          <a:prstGeom prst="rect">
            <a:avLst/>
          </a:prstGeom>
          <a:noFill/>
        </p:spPr>
        <p:txBody>
          <a:bodyPr wrap="square" rtlCol="0">
            <a:spAutoFit/>
          </a:bodyPr>
          <a:lstStyle/>
          <a:p>
            <a:r>
              <a:rPr lang="en-IN" sz="2400" dirty="0">
                <a:solidFill>
                  <a:srgbClr val="00B050"/>
                </a:solidFill>
                <a:latin typeface="Times New Roman" pitchFamily="18" charset="0"/>
                <a:cs typeface="Times New Roman" pitchFamily="18" charset="0"/>
              </a:rPr>
              <a:t>CONCEPT OF </a:t>
            </a:r>
            <a:r>
              <a:rPr lang="en-US" sz="2400" dirty="0">
                <a:solidFill>
                  <a:srgbClr val="00B050"/>
                </a:solidFill>
                <a:latin typeface="Times New Roman" pitchFamily="18" charset="0"/>
                <a:cs typeface="Times New Roman" pitchFamily="18" charset="0"/>
              </a:rPr>
              <a:t>POLES AND ZEROS</a:t>
            </a:r>
          </a:p>
        </p:txBody>
      </p:sp>
      <p:sp>
        <p:nvSpPr>
          <p:cNvPr id="12" name="TextBox 11"/>
          <p:cNvSpPr txBox="1"/>
          <p:nvPr/>
        </p:nvSpPr>
        <p:spPr>
          <a:xfrm>
            <a:off x="318617" y="2438400"/>
            <a:ext cx="11477810" cy="1446550"/>
          </a:xfrm>
          <a:prstGeom prst="rect">
            <a:avLst/>
          </a:prstGeom>
          <a:noFill/>
        </p:spPr>
        <p:txBody>
          <a:bodyPr wrap="square" rtlCol="0">
            <a:spAutoFit/>
          </a:bodyPr>
          <a:lstStyle/>
          <a:p>
            <a:pPr algn="just">
              <a:lnSpc>
                <a:spcPct val="150000"/>
              </a:lnSpc>
            </a:pPr>
            <a:r>
              <a:rPr lang="en-US" sz="2200" dirty="0">
                <a:latin typeface="Times New Roman" pitchFamily="18" charset="0"/>
                <a:cs typeface="Times New Roman" pitchFamily="18" charset="0"/>
              </a:rPr>
              <a:t>This transfer function having the simple poles at s = 0, s = - 2, multiple poles at s = - 4 and simple zero at s = - 3, Gain factor (K) is 50.</a:t>
            </a:r>
          </a:p>
          <a:p>
            <a:pPr algn="just"/>
            <a:endParaRPr lang="en-US" sz="2200" dirty="0">
              <a:latin typeface="Times New Roman" pitchFamily="18" charset="0"/>
              <a:cs typeface="Times New Roman" pitchFamily="18" charset="0"/>
            </a:endParaRPr>
          </a:p>
        </p:txBody>
      </p:sp>
      <p:sp>
        <p:nvSpPr>
          <p:cNvPr id="14" name="TextBox 13"/>
          <p:cNvSpPr txBox="1"/>
          <p:nvPr/>
        </p:nvSpPr>
        <p:spPr>
          <a:xfrm>
            <a:off x="276928" y="3429001"/>
            <a:ext cx="11274663" cy="3086871"/>
          </a:xfrm>
          <a:prstGeom prst="rect">
            <a:avLst/>
          </a:prstGeom>
          <a:noFill/>
        </p:spPr>
        <p:txBody>
          <a:bodyPr wrap="square" rtlCol="0">
            <a:spAutoFit/>
          </a:bodyPr>
          <a:lstStyle/>
          <a:p>
            <a:pPr algn="just">
              <a:lnSpc>
                <a:spcPct val="150000"/>
              </a:lnSpc>
              <a:buNone/>
            </a:pPr>
            <a:r>
              <a:rPr lang="en-US" sz="2200" dirty="0">
                <a:solidFill>
                  <a:srgbClr val="FF0000"/>
                </a:solidFill>
                <a:latin typeface="Times New Roman" pitchFamily="18" charset="0"/>
                <a:cs typeface="Times New Roman" pitchFamily="18" charset="0"/>
              </a:rPr>
              <a:t>ORDER AND TYPE OF THE SYSTEM: </a:t>
            </a:r>
          </a:p>
          <a:p>
            <a:pPr algn="just">
              <a:lnSpc>
                <a:spcPct val="150000"/>
              </a:lnSpc>
              <a:buNone/>
            </a:pPr>
            <a:r>
              <a:rPr lang="en-US" sz="2200" dirty="0">
                <a:latin typeface="Times New Roman" pitchFamily="18" charset="0"/>
                <a:cs typeface="Times New Roman" pitchFamily="18" charset="0"/>
              </a:rPr>
              <a:t>Number of the poles at the origin gives the type of the system. Example (1) is type ‘ 1’ system because one pole is at origin. </a:t>
            </a:r>
          </a:p>
          <a:p>
            <a:pPr algn="just">
              <a:lnSpc>
                <a:spcPct val="150000"/>
              </a:lnSpc>
              <a:buNone/>
            </a:pPr>
            <a:r>
              <a:rPr lang="en-US" sz="2200" dirty="0">
                <a:latin typeface="Times New Roman" pitchFamily="18" charset="0"/>
                <a:cs typeface="Times New Roman" pitchFamily="18" charset="0"/>
              </a:rPr>
              <a:t>Highest power of ‘s’ in denominator of transfer function is called the order of the system. The denominator of example (1) is of order 4, the given system is of order 4.</a:t>
            </a:r>
          </a:p>
          <a:p>
            <a:pPr algn="just">
              <a:lnSpc>
                <a:spcPct val="150000"/>
              </a:lnSpc>
            </a:pP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152400"/>
            <a:ext cx="11782531" cy="6172200"/>
          </a:xfrm>
        </p:spPr>
        <p:txBody>
          <a:bodyPr>
            <a:normAutofit/>
          </a:bodyPr>
          <a:lstStyle/>
          <a:p>
            <a:pPr algn="ctr">
              <a:buNone/>
            </a:pPr>
            <a:r>
              <a:rPr lang="en-IN" sz="2400" dirty="0">
                <a:solidFill>
                  <a:srgbClr val="00B050"/>
                </a:solidFill>
                <a:latin typeface="Times New Roman" pitchFamily="18" charset="0"/>
                <a:cs typeface="Times New Roman" pitchFamily="18" charset="0"/>
              </a:rPr>
              <a:t>CONCEPT OF POLES AND ZEROS</a:t>
            </a:r>
            <a:endParaRPr lang="en-US" sz="2300" dirty="0">
              <a:solidFill>
                <a:srgbClr val="00B050"/>
              </a:solidFill>
              <a:latin typeface="Times New Roman" pitchFamily="18" charset="0"/>
              <a:cs typeface="Times New Roman" pitchFamily="18" charset="0"/>
            </a:endParaRPr>
          </a:p>
          <a:p>
            <a:pPr>
              <a:buNone/>
            </a:pPr>
            <a:r>
              <a:rPr lang="en-US" sz="2300" dirty="0">
                <a:solidFill>
                  <a:srgbClr val="FF0000"/>
                </a:solidFill>
                <a:latin typeface="Times New Roman" pitchFamily="18" charset="0"/>
                <a:cs typeface="Times New Roman" pitchFamily="18" charset="0"/>
              </a:rPr>
              <a:t>Advantages of Transfer Function: </a:t>
            </a:r>
          </a:p>
          <a:p>
            <a:pPr marL="514350" indent="-514350">
              <a:buFont typeface="+mj-lt"/>
              <a:buAutoNum type="arabicPeriod"/>
            </a:pPr>
            <a:r>
              <a:rPr lang="en-US" sz="2300" dirty="0">
                <a:latin typeface="Times New Roman" pitchFamily="18" charset="0"/>
                <a:cs typeface="Times New Roman" pitchFamily="18" charset="0"/>
              </a:rPr>
              <a:t>Transfer function is a mathematical model of all system components and hence of the overall system and therefore it gives the gain of the system.</a:t>
            </a:r>
          </a:p>
          <a:p>
            <a:pPr marL="514350" indent="-514350">
              <a:buFont typeface="+mj-lt"/>
              <a:buAutoNum type="arabicPeriod"/>
            </a:pPr>
            <a:r>
              <a:rPr lang="en-US" sz="2300" dirty="0">
                <a:latin typeface="Times New Roman" pitchFamily="18" charset="0"/>
                <a:cs typeface="Times New Roman" pitchFamily="18" charset="0"/>
              </a:rPr>
              <a:t>Since Laplace transform is used, it converts time domain equations to simple algebraic equations.</a:t>
            </a:r>
          </a:p>
          <a:p>
            <a:pPr marL="514350" indent="-514350">
              <a:buFont typeface="+mj-lt"/>
              <a:buAutoNum type="arabicPeriod"/>
            </a:pPr>
            <a:r>
              <a:rPr lang="en-US" sz="2300" dirty="0">
                <a:latin typeface="Times New Roman" pitchFamily="18" charset="0"/>
                <a:cs typeface="Times New Roman" pitchFamily="18" charset="0"/>
              </a:rPr>
              <a:t>With the help of transfer function, poles, zeros and characteristic equation can be determine.</a:t>
            </a:r>
          </a:p>
          <a:p>
            <a:pPr marL="514350" indent="-514350">
              <a:buFont typeface="+mj-lt"/>
              <a:buAutoNum type="arabicPeriod"/>
            </a:pPr>
            <a:r>
              <a:rPr lang="en-US" sz="2300" dirty="0">
                <a:latin typeface="Times New Roman" pitchFamily="18" charset="0"/>
                <a:cs typeface="Times New Roman" pitchFamily="18" charset="0"/>
              </a:rPr>
              <a:t>The differential equation of the system can be obtained by replacing ‘s’ with d/</a:t>
            </a:r>
            <a:r>
              <a:rPr lang="en-US" sz="2300" dirty="0" err="1">
                <a:latin typeface="Times New Roman" pitchFamily="18" charset="0"/>
                <a:cs typeface="Times New Roman" pitchFamily="18" charset="0"/>
              </a:rPr>
              <a:t>dt</a:t>
            </a:r>
            <a:r>
              <a:rPr lang="en-US" sz="2300" dirty="0">
                <a:latin typeface="Times New Roman" pitchFamily="18" charset="0"/>
                <a:cs typeface="Times New Roman" pitchFamily="18" charset="0"/>
              </a:rPr>
              <a:t>.</a:t>
            </a:r>
          </a:p>
          <a:p>
            <a:pPr marL="514350" indent="-514350">
              <a:buNone/>
            </a:pPr>
            <a:r>
              <a:rPr lang="en-US" sz="2300" dirty="0">
                <a:solidFill>
                  <a:srgbClr val="00B050"/>
                </a:solidFill>
                <a:latin typeface="Times New Roman" pitchFamily="18" charset="0"/>
                <a:cs typeface="Times New Roman" pitchFamily="18" charset="0"/>
              </a:rPr>
              <a:t>  </a:t>
            </a:r>
            <a:r>
              <a:rPr lang="en-US" sz="2300" dirty="0">
                <a:solidFill>
                  <a:srgbClr val="FF0000"/>
                </a:solidFill>
                <a:latin typeface="Times New Roman" pitchFamily="18" charset="0"/>
                <a:cs typeface="Times New Roman" pitchFamily="18" charset="0"/>
              </a:rPr>
              <a:t>Disadvantages of Transfer Function:</a:t>
            </a:r>
          </a:p>
          <a:p>
            <a:pPr marL="514350" indent="-514350">
              <a:buFont typeface="+mj-lt"/>
              <a:buAutoNum type="arabicPeriod"/>
            </a:pPr>
            <a:r>
              <a:rPr lang="en-US" sz="2300" dirty="0">
                <a:latin typeface="Times New Roman" pitchFamily="18" charset="0"/>
                <a:cs typeface="Times New Roman" pitchFamily="18" charset="0"/>
              </a:rPr>
              <a:t>Transfer function cannot be defined for non-linear system.</a:t>
            </a:r>
          </a:p>
          <a:p>
            <a:pPr marL="514350" indent="-514350">
              <a:buFont typeface="+mj-lt"/>
              <a:buAutoNum type="arabicPeriod"/>
            </a:pPr>
            <a:r>
              <a:rPr lang="en-US" sz="2300" dirty="0">
                <a:latin typeface="Times New Roman" pitchFamily="18" charset="0"/>
                <a:cs typeface="Times New Roman" pitchFamily="18" charset="0"/>
              </a:rPr>
              <a:t>From the Transfer function , physical structure of a system cannot determine.</a:t>
            </a:r>
          </a:p>
          <a:p>
            <a:pPr marL="514350" indent="-514350">
              <a:buFont typeface="+mj-lt"/>
              <a:buAutoNum type="arabicPeriod"/>
            </a:pPr>
            <a:r>
              <a:rPr lang="en-US" sz="2300" dirty="0">
                <a:latin typeface="Times New Roman" pitchFamily="18" charset="0"/>
                <a:cs typeface="Times New Roman" pitchFamily="18" charset="0"/>
              </a:rPr>
              <a:t>Initial conditions loose their importance. </a:t>
            </a:r>
          </a:p>
          <a:p>
            <a:pPr marL="514350" indent="-514350">
              <a:buNone/>
            </a:pPr>
            <a:endParaRPr lang="en-US" sz="2300" dirty="0">
              <a:solidFill>
                <a:srgbClr val="00B050"/>
              </a:solidFill>
              <a:latin typeface="Times New Roman" pitchFamily="18" charset="0"/>
              <a:cs typeface="Times New Roman" pitchFamily="18" charset="0"/>
            </a:endParaRPr>
          </a:p>
          <a:p>
            <a:pPr marL="514350" indent="-514350">
              <a:buFont typeface="+mj-lt"/>
              <a:buAutoNum type="arabicPeriod"/>
            </a:pPr>
            <a:endParaRPr lang="en-US" sz="2300" dirty="0">
              <a:latin typeface="Times New Roman" pitchFamily="18" charset="0"/>
              <a:cs typeface="Times New Roman" pitchFamily="18" charset="0"/>
            </a:endParaRPr>
          </a:p>
          <a:p>
            <a:pPr marL="514350" indent="-514350">
              <a:buFont typeface="+mj-lt"/>
              <a:buAutoNum type="arabicPeriod"/>
            </a:pPr>
            <a:endParaRPr lang="en-US" sz="2300" dirty="0">
              <a:solidFill>
                <a:srgbClr val="00B05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BAB1808-E3BC-4267-8331-17C95CCEC8B9}" type="slidenum">
              <a:rPr lang="en-US" smtClean="0"/>
              <a:pPr/>
              <a:t>9</a:t>
            </a:fld>
            <a:endParaRPr lang="en-US"/>
          </a:p>
        </p:txBody>
      </p:sp>
      <p:sp>
        <p:nvSpPr>
          <p:cNvPr id="6" name="Date Placeholder 5"/>
          <p:cNvSpPr>
            <a:spLocks noGrp="1"/>
          </p:cNvSpPr>
          <p:nvPr>
            <p:ph type="dt" sz="half" idx="10"/>
          </p:nvPr>
        </p:nvSpPr>
        <p:spPr/>
        <p:txBody>
          <a:bodyPr/>
          <a:lstStyle/>
          <a:p>
            <a:fld id="{FFE1E88E-D424-458C-AFC9-9D3C624BFF16}" type="datetime2">
              <a:rPr lang="en-US" smtClean="0"/>
              <a:pPr/>
              <a:t>Thursday, February 5, 2026</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304721" y="304800"/>
            <a:ext cx="11579384" cy="609600"/>
          </a:xfrm>
        </p:spPr>
        <p:txBody>
          <a:bodyPr>
            <a:noAutofit/>
          </a:bodyPr>
          <a:lstStyle/>
          <a:p>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IN" sz="2400" dirty="0">
                <a:solidFill>
                  <a:srgbClr val="00B050"/>
                </a:solidFill>
                <a:latin typeface="Times New Roman" pitchFamily="18" charset="0"/>
                <a:cs typeface="Times New Roman" pitchFamily="18" charset="0"/>
              </a:rPr>
              <a:t>CONCEPT OF POLES AND ZEROS</a:t>
            </a:r>
            <a:br>
              <a:rPr lang="en-US" sz="2400" dirty="0">
                <a:solidFill>
                  <a:srgbClr val="00B050"/>
                </a:solidFill>
                <a:latin typeface="Times New Roman" pitchFamily="18" charset="0"/>
                <a:cs typeface="Times New Roman" pitchFamily="18" charset="0"/>
              </a:rPr>
            </a:b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solidFill>
                  <a:srgbClr val="00B050"/>
                </a:solidFill>
                <a:latin typeface="Times New Roman" pitchFamily="18" charset="0"/>
                <a:cs typeface="Times New Roman" pitchFamily="18" charset="0"/>
              </a:rPr>
              <a:t>Find the transfer function of the given figure.</a:t>
            </a:r>
            <a:br>
              <a:rPr lang="en-US" sz="2400" dirty="0">
                <a:solidFill>
                  <a:srgbClr val="00B050"/>
                </a:solidFill>
                <a:latin typeface="Times New Roman" pitchFamily="18" charset="0"/>
                <a:cs typeface="Times New Roman" pitchFamily="18" charset="0"/>
              </a:rPr>
            </a:br>
            <a:endParaRPr lang="en-US" sz="2400" dirty="0">
              <a:solidFill>
                <a:srgbClr val="00B050"/>
              </a:solidFill>
              <a:latin typeface="Times New Roman" pitchFamily="18" charset="0"/>
              <a:cs typeface="Times New Roman" pitchFamily="18" charset="0"/>
            </a:endParaRPr>
          </a:p>
        </p:txBody>
      </p:sp>
      <p:sp>
        <p:nvSpPr>
          <p:cNvPr id="7" name="Content Placeholder 6"/>
          <p:cNvSpPr>
            <a:spLocks noGrp="1"/>
          </p:cNvSpPr>
          <p:nvPr>
            <p:ph idx="1"/>
          </p:nvPr>
        </p:nvSpPr>
        <p:spPr>
          <a:xfrm>
            <a:off x="304721" y="1189038"/>
            <a:ext cx="11680957" cy="5287963"/>
          </a:xfrm>
        </p:spPr>
        <p:txBody>
          <a:bodyPr/>
          <a:lstStyle/>
          <a:p>
            <a:pPr>
              <a:buNone/>
            </a:pPr>
            <a:endParaRPr lang="en-US" dirty="0"/>
          </a:p>
          <a:p>
            <a:pPr>
              <a:buNone/>
            </a:pPr>
            <a:endParaRPr lang="en-US" dirty="0"/>
          </a:p>
          <a:p>
            <a:pPr>
              <a:buNone/>
            </a:pPr>
            <a:endParaRPr lang="en-US" dirty="0"/>
          </a:p>
          <a:p>
            <a:pPr>
              <a:buNone/>
            </a:pPr>
            <a:r>
              <a:rPr lang="en-US" dirty="0"/>
              <a:t>Solution:</a:t>
            </a:r>
          </a:p>
          <a:p>
            <a:pPr>
              <a:buNone/>
            </a:pPr>
            <a:r>
              <a:rPr lang="en-US" dirty="0"/>
              <a:t>Step 1: Apply KVL in mesh 1 and mesh 2</a:t>
            </a:r>
          </a:p>
          <a:p>
            <a:pPr>
              <a:buNone/>
            </a:pPr>
            <a:endParaRPr lang="en-US" dirty="0"/>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BAB1808-E3BC-4267-8331-17C95CCEC8B9}" type="slidenum">
              <a:rPr lang="en-US" smtClean="0"/>
              <a:pPr/>
              <a:t>10</a:t>
            </a:fld>
            <a:endParaRPr lang="en-US"/>
          </a:p>
        </p:txBody>
      </p:sp>
      <p:graphicFrame>
        <p:nvGraphicFramePr>
          <p:cNvPr id="14" name="Object 13"/>
          <p:cNvGraphicFramePr>
            <a:graphicFrameLocks noChangeAspect="1"/>
          </p:cNvGraphicFramePr>
          <p:nvPr/>
        </p:nvGraphicFramePr>
        <p:xfrm>
          <a:off x="2234618" y="4038600"/>
          <a:ext cx="6602280" cy="2039469"/>
        </p:xfrm>
        <a:graphic>
          <a:graphicData uri="http://schemas.openxmlformats.org/presentationml/2006/ole">
            <mc:AlternateContent xmlns:mc="http://schemas.openxmlformats.org/markup-compatibility/2006">
              <mc:Choice xmlns:v="urn:schemas-microsoft-com:vml" Requires="v">
                <p:oleObj spid="_x0000_s38914" name="Equation" r:id="rId2" imgW="1447560" imgH="812520" progId="Equation.3">
                  <p:embed/>
                </p:oleObj>
              </mc:Choice>
              <mc:Fallback>
                <p:oleObj name="Equation" r:id="rId2" imgW="1447560" imgH="81252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4618" y="4038600"/>
                        <a:ext cx="6602280" cy="20394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9938" name="Picture 2" descr="E:\Automatic Control Systems\jpg\Fig_1-13.jpg"/>
          <p:cNvPicPr>
            <a:picLocks noChangeAspect="1" noChangeArrowheads="1"/>
          </p:cNvPicPr>
          <p:nvPr/>
        </p:nvPicPr>
        <p:blipFill>
          <a:blip r:embed="rId4"/>
          <a:srcRect/>
          <a:stretch>
            <a:fillRect/>
          </a:stretch>
        </p:blipFill>
        <p:spPr bwMode="auto">
          <a:xfrm>
            <a:off x="5688119" y="1600200"/>
            <a:ext cx="5650303" cy="2057400"/>
          </a:xfrm>
          <a:prstGeom prst="rect">
            <a:avLst/>
          </a:prstGeom>
          <a:noFill/>
        </p:spPr>
      </p:pic>
      <p:sp>
        <p:nvSpPr>
          <p:cNvPr id="8" name="Date Placeholder 7"/>
          <p:cNvSpPr>
            <a:spLocks noGrp="1"/>
          </p:cNvSpPr>
          <p:nvPr>
            <p:ph type="dt" sz="half" idx="10"/>
          </p:nvPr>
        </p:nvSpPr>
        <p:spPr/>
        <p:txBody>
          <a:bodyPr/>
          <a:lstStyle/>
          <a:p>
            <a:fld id="{B4803774-7CE2-461C-BDB7-4DE7DB9A7428}" type="datetime2">
              <a:rPr lang="en-US" smtClean="0"/>
              <a:pPr/>
              <a:t>Thursday, February 5, 2026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152401"/>
            <a:ext cx="11782531" cy="6172199"/>
          </a:xfrm>
        </p:spPr>
        <p:txBody>
          <a:bodyPr>
            <a:normAutofit/>
          </a:bodyPr>
          <a:lstStyle/>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Step 2: take Laplace transform of eq. (1) and (2)</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Step 3: calculation of transfer function</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Equation (5) is the required transfer function</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8BAB1808-E3BC-4267-8331-17C95CCEC8B9}" type="slidenum">
              <a:rPr lang="en-US" smtClean="0"/>
              <a:pPr/>
              <a:t>11</a:t>
            </a:fld>
            <a:endParaRPr lang="en-US"/>
          </a:p>
        </p:txBody>
      </p:sp>
      <p:graphicFrame>
        <p:nvGraphicFramePr>
          <p:cNvPr id="6" name="Object 5"/>
          <p:cNvGraphicFramePr>
            <a:graphicFrameLocks noChangeAspect="1"/>
          </p:cNvGraphicFramePr>
          <p:nvPr/>
        </p:nvGraphicFramePr>
        <p:xfrm>
          <a:off x="1523603" y="1524000"/>
          <a:ext cx="6399133" cy="936702"/>
        </p:xfrm>
        <a:graphic>
          <a:graphicData uri="http://schemas.openxmlformats.org/presentationml/2006/ole">
            <mc:AlternateContent xmlns:mc="http://schemas.openxmlformats.org/markup-compatibility/2006">
              <mc:Choice xmlns:v="urn:schemas-microsoft-com:vml" Requires="v">
                <p:oleObj spid="_x0000_s39938" name="Equation" r:id="rId2" imgW="2095200" imgH="457200" progId="Equation.3">
                  <p:embed/>
                </p:oleObj>
              </mc:Choice>
              <mc:Fallback>
                <p:oleObj name="Equation" r:id="rId2" imgW="2095200" imgH="4572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603" y="1524000"/>
                        <a:ext cx="6399133" cy="936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1626426" y="3199600"/>
          <a:ext cx="5713628" cy="1667806"/>
        </p:xfrm>
        <a:graphic>
          <a:graphicData uri="http://schemas.openxmlformats.org/presentationml/2006/ole">
            <mc:AlternateContent xmlns:mc="http://schemas.openxmlformats.org/markup-compatibility/2006">
              <mc:Choice xmlns:v="urn:schemas-microsoft-com:vml" Requires="v">
                <p:oleObj spid="_x0000_s39939" name="Equation" r:id="rId4" imgW="1701720" imgH="888840" progId="Equation.3">
                  <p:embed/>
                </p:oleObj>
              </mc:Choice>
              <mc:Fallback>
                <p:oleObj name="Equation" r:id="rId4" imgW="1701720" imgH="8888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6426" y="3199600"/>
                        <a:ext cx="5713628" cy="1667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Date Placeholder 7"/>
          <p:cNvSpPr>
            <a:spLocks noGrp="1"/>
          </p:cNvSpPr>
          <p:nvPr>
            <p:ph type="dt" sz="half" idx="10"/>
          </p:nvPr>
        </p:nvSpPr>
        <p:spPr/>
        <p:txBody>
          <a:bodyPr/>
          <a:lstStyle/>
          <a:p>
            <a:fld id="{B469F43D-A749-4F39-BD3F-0D11A15F3C3B}" type="datetime2">
              <a:rPr lang="en-US" smtClean="0"/>
              <a:pPr/>
              <a:t>Thursday, February 5, 2026</a:t>
            </a:fld>
            <a:endParaRPr lang="en-US"/>
          </a:p>
        </p:txBody>
      </p:sp>
      <p:sp>
        <p:nvSpPr>
          <p:cNvPr id="9" name="TextBox 8"/>
          <p:cNvSpPr txBox="1"/>
          <p:nvPr/>
        </p:nvSpPr>
        <p:spPr>
          <a:xfrm>
            <a:off x="507868" y="152401"/>
            <a:ext cx="11274663" cy="830997"/>
          </a:xfrm>
          <a:prstGeom prst="rect">
            <a:avLst/>
          </a:prstGeom>
          <a:noFill/>
        </p:spPr>
        <p:txBody>
          <a:bodyPr wrap="square" rtlCol="0">
            <a:spAutoFit/>
          </a:bodyPr>
          <a:lstStyle/>
          <a:p>
            <a:pPr algn="ctr"/>
            <a:r>
              <a:rPr lang="en-IN" sz="2400" dirty="0">
                <a:solidFill>
                  <a:srgbClr val="00B050"/>
                </a:solidFill>
                <a:latin typeface="Times New Roman" pitchFamily="18" charset="0"/>
                <a:cs typeface="Times New Roman" pitchFamily="18" charset="0"/>
              </a:rPr>
              <a:t>CONCEPT OF POLES AND ZEROS</a:t>
            </a:r>
            <a:endParaRPr lang="en-US" sz="2400" dirty="0">
              <a:solidFill>
                <a:srgbClr val="00B050"/>
              </a:solidFill>
              <a:latin typeface="Times New Roman" pitchFamily="18" charset="0"/>
              <a:cs typeface="Times New Roman" pitchFamily="18" charset="0"/>
            </a:endParaRPr>
          </a:p>
          <a:p>
            <a:pPr algn="ct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228600"/>
            <a:ext cx="11782531" cy="6096000"/>
          </a:xfrm>
        </p:spPr>
        <p:txBody>
          <a:bodyPr>
            <a:normAutofit/>
          </a:bodyPr>
          <a:lstStyle/>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A system having input x(t) and output y(t) is represented by</a:t>
            </a:r>
          </a:p>
          <a:p>
            <a:pPr>
              <a:buNone/>
            </a:pPr>
            <a:r>
              <a:rPr lang="en-US" sz="2300" dirty="0">
                <a:latin typeface="Times New Roman" pitchFamily="18" charset="0"/>
                <a:cs typeface="Times New Roman" pitchFamily="18" charset="0"/>
              </a:rPr>
              <a:t>Equation (1). Find the transfer function of the system.</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Solution: taking Laplace transform of equation (1) </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G(s) is the required transfer function</a:t>
            </a:r>
          </a:p>
          <a:p>
            <a:pPr>
              <a:buNone/>
            </a:pPr>
            <a:endParaRPr lang="en-US" sz="23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graphicFrame>
        <p:nvGraphicFramePr>
          <p:cNvPr id="6" name="Object 5"/>
          <p:cNvGraphicFramePr>
            <a:graphicFrameLocks noChangeAspect="1"/>
          </p:cNvGraphicFramePr>
          <p:nvPr/>
        </p:nvGraphicFramePr>
        <p:xfrm>
          <a:off x="1929899" y="1995658"/>
          <a:ext cx="6907001" cy="823742"/>
        </p:xfrm>
        <a:graphic>
          <a:graphicData uri="http://schemas.openxmlformats.org/presentationml/2006/ole">
            <mc:AlternateContent xmlns:mc="http://schemas.openxmlformats.org/markup-compatibility/2006">
              <mc:Choice xmlns:v="urn:schemas-microsoft-com:vml" Requires="v">
                <p:oleObj spid="_x0000_s57345" name="Equation" r:id="rId2" imgW="2476440" imgH="393480" progId="Equation.3">
                  <p:embed/>
                </p:oleObj>
              </mc:Choice>
              <mc:Fallback>
                <p:oleObj name="Equation" r:id="rId2" imgW="2476440" imgH="39348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899" y="1995658"/>
                        <a:ext cx="6907001" cy="823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2539338" y="3246718"/>
          <a:ext cx="5789692" cy="2181933"/>
        </p:xfrm>
        <a:graphic>
          <a:graphicData uri="http://schemas.openxmlformats.org/presentationml/2006/ole">
            <mc:AlternateContent xmlns:mc="http://schemas.openxmlformats.org/markup-compatibility/2006">
              <mc:Choice xmlns:v="urn:schemas-microsoft-com:vml" Requires="v">
                <p:oleObj spid="_x0000_s57346" name="Equation" r:id="rId4" imgW="1892160" imgH="1320480" progId="Equation.3">
                  <p:embed/>
                </p:oleObj>
              </mc:Choice>
              <mc:Fallback>
                <p:oleObj name="Equation" r:id="rId4" imgW="1892160" imgH="1320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9338" y="3246718"/>
                        <a:ext cx="5789692" cy="2181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Date Placeholder 7"/>
          <p:cNvSpPr>
            <a:spLocks noGrp="1"/>
          </p:cNvSpPr>
          <p:nvPr>
            <p:ph type="dt" sz="half" idx="10"/>
          </p:nvPr>
        </p:nvSpPr>
        <p:spPr/>
        <p:txBody>
          <a:bodyPr/>
          <a:lstStyle/>
          <a:p>
            <a:fld id="{E61812FC-1E43-4810-9797-3041E505E951}" type="datetime2">
              <a:rPr lang="en-US" smtClean="0"/>
              <a:pPr/>
              <a:t>Thursday, February 5, 2026</a:t>
            </a:fld>
            <a:endParaRPr lang="en-US"/>
          </a:p>
        </p:txBody>
      </p:sp>
      <p:sp>
        <p:nvSpPr>
          <p:cNvPr id="9" name="Slide Number Placeholder 8"/>
          <p:cNvSpPr>
            <a:spLocks noGrp="1"/>
          </p:cNvSpPr>
          <p:nvPr>
            <p:ph type="sldNum" sz="quarter" idx="12"/>
          </p:nvPr>
        </p:nvSpPr>
        <p:spPr/>
        <p:txBody>
          <a:bodyPr/>
          <a:lstStyle/>
          <a:p>
            <a:fld id="{FBBCD7F1-41F0-4350-8F85-8261AE808488}" type="slidenum">
              <a:rPr lang="en-US" smtClean="0"/>
              <a:pPr/>
              <a:t>12</a:t>
            </a:fld>
            <a:endParaRPr lang="en-US"/>
          </a:p>
        </p:txBody>
      </p:sp>
      <p:sp>
        <p:nvSpPr>
          <p:cNvPr id="10" name="TextBox 9"/>
          <p:cNvSpPr txBox="1"/>
          <p:nvPr/>
        </p:nvSpPr>
        <p:spPr>
          <a:xfrm>
            <a:off x="406294" y="228601"/>
            <a:ext cx="11274663" cy="830997"/>
          </a:xfrm>
          <a:prstGeom prst="rect">
            <a:avLst/>
          </a:prstGeom>
          <a:noFill/>
        </p:spPr>
        <p:txBody>
          <a:bodyPr wrap="square" rtlCol="0">
            <a:spAutoFit/>
          </a:bodyPr>
          <a:lstStyle/>
          <a:p>
            <a:pPr algn="ctr"/>
            <a:r>
              <a:rPr lang="en-IN" sz="2400" dirty="0">
                <a:solidFill>
                  <a:srgbClr val="00B050"/>
                </a:solidFill>
                <a:latin typeface="Times New Roman" pitchFamily="18" charset="0"/>
                <a:cs typeface="Times New Roman" pitchFamily="18" charset="0"/>
              </a:rPr>
              <a:t>CONCEPT OF POLES AND ZEROS</a:t>
            </a:r>
            <a:endParaRPr lang="en-US" sz="2400" dirty="0">
              <a:solidFill>
                <a:srgbClr val="00B050"/>
              </a:solidFill>
              <a:latin typeface="Times New Roman" pitchFamily="18" charset="0"/>
              <a:cs typeface="Times New Roman" pitchFamily="18" charset="0"/>
            </a:endParaRPr>
          </a:p>
          <a:p>
            <a:pPr algn="ct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0"/>
            <a:ext cx="11782531" cy="6324600"/>
          </a:xfrm>
        </p:spPr>
        <p:txBody>
          <a:bodyPr>
            <a:normAutofit/>
          </a:bodyPr>
          <a:lstStyle/>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The transfer function of the given system is given by</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Find the differential equation of the system having input x(t) and output y(t).</a:t>
            </a:r>
          </a:p>
          <a:p>
            <a:pPr>
              <a:buNone/>
            </a:pPr>
            <a:r>
              <a:rPr lang="en-US" sz="2300" dirty="0">
                <a:latin typeface="Times New Roman" pitchFamily="18" charset="0"/>
                <a:cs typeface="Times New Roman" pitchFamily="18" charset="0"/>
              </a:rPr>
              <a:t>Solution:</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Taking inverse Laplace transform, we have</a:t>
            </a:r>
          </a:p>
          <a:p>
            <a:pPr>
              <a:buNone/>
            </a:pPr>
            <a:endParaRPr lang="en-US" sz="2300" dirty="0">
              <a:latin typeface="Times New Roman" pitchFamily="18" charset="0"/>
              <a:cs typeface="Times New Roman" pitchFamily="18" charset="0"/>
            </a:endParaRPr>
          </a:p>
          <a:p>
            <a:pPr>
              <a:buNone/>
            </a:pPr>
            <a:endParaRPr lang="en-US" sz="2300" dirty="0">
              <a:latin typeface="Times New Roman" pitchFamily="18" charset="0"/>
              <a:cs typeface="Times New Roman" pitchFamily="18" charset="0"/>
            </a:endParaRPr>
          </a:p>
          <a:p>
            <a:pPr>
              <a:buNone/>
            </a:pPr>
            <a:r>
              <a:rPr lang="en-US" sz="2300" dirty="0">
                <a:latin typeface="Times New Roman" pitchFamily="18" charset="0"/>
                <a:cs typeface="Times New Roman" pitchFamily="18" charset="0"/>
              </a:rPr>
              <a:t>Required differential equation is</a:t>
            </a:r>
          </a:p>
          <a:p>
            <a:pPr>
              <a:buNone/>
            </a:pPr>
            <a:endParaRPr lang="en-US" sz="23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graphicFrame>
        <p:nvGraphicFramePr>
          <p:cNvPr id="5" name="Object 4"/>
          <p:cNvGraphicFramePr>
            <a:graphicFrameLocks noChangeAspect="1"/>
          </p:cNvGraphicFramePr>
          <p:nvPr/>
        </p:nvGraphicFramePr>
        <p:xfrm>
          <a:off x="4049836" y="1219201"/>
          <a:ext cx="2755592" cy="720047"/>
        </p:xfrm>
        <a:graphic>
          <a:graphicData uri="http://schemas.openxmlformats.org/presentationml/2006/ole">
            <mc:AlternateContent xmlns:mc="http://schemas.openxmlformats.org/markup-compatibility/2006">
              <mc:Choice xmlns:v="urn:schemas-microsoft-com:vml" Requires="v">
                <p:oleObj spid="_x0000_s62466" name="Equation" r:id="rId2" imgW="1130040" imgH="393480" progId="Equation.3">
                  <p:embed/>
                </p:oleObj>
              </mc:Choice>
              <mc:Fallback>
                <p:oleObj name="Equation" r:id="rId2" imgW="1130040" imgH="39348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9836" y="1219201"/>
                        <a:ext cx="2755592" cy="720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3046412" y="2514600"/>
          <a:ext cx="6195986" cy="1440342"/>
        </p:xfrm>
        <a:graphic>
          <a:graphicData uri="http://schemas.openxmlformats.org/presentationml/2006/ole">
            <mc:AlternateContent xmlns:mc="http://schemas.openxmlformats.org/markup-compatibility/2006">
              <mc:Choice xmlns:v="urn:schemas-microsoft-com:vml" Requires="v">
                <p:oleObj spid="_x0000_s62468" name="Equation" r:id="rId4" imgW="2234880" imgH="927000" progId="Equation.3">
                  <p:embed/>
                </p:oleObj>
              </mc:Choice>
              <mc:Fallback>
                <p:oleObj name="Equation" r:id="rId4" imgW="2234880" imgH="9270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6412" y="2514600"/>
                        <a:ext cx="6195986" cy="14403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1929897" y="4348256"/>
          <a:ext cx="6284863" cy="685800"/>
        </p:xfrm>
        <a:graphic>
          <a:graphicData uri="http://schemas.openxmlformats.org/presentationml/2006/ole">
            <mc:AlternateContent xmlns:mc="http://schemas.openxmlformats.org/markup-compatibility/2006">
              <mc:Choice xmlns:v="urn:schemas-microsoft-com:vml" Requires="v">
                <p:oleObj spid="_x0000_s62469" name="Equation" r:id="rId6" imgW="2247840" imgH="419040" progId="Equation.3">
                  <p:embed/>
                </p:oleObj>
              </mc:Choice>
              <mc:Fallback>
                <p:oleObj name="Equation" r:id="rId6" imgW="2247840" imgH="41904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9897" y="4348256"/>
                        <a:ext cx="628486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2437764" y="5752902"/>
          <a:ext cx="5586546" cy="724099"/>
        </p:xfrm>
        <a:graphic>
          <a:graphicData uri="http://schemas.openxmlformats.org/presentationml/2006/ole">
            <mc:AlternateContent xmlns:mc="http://schemas.openxmlformats.org/markup-compatibility/2006">
              <mc:Choice xmlns:v="urn:schemas-microsoft-com:vml" Requires="v">
                <p:oleObj spid="_x0000_s62470" name="Equation" r:id="rId8" imgW="2425680" imgH="419040" progId="Equation.3">
                  <p:embed/>
                </p:oleObj>
              </mc:Choice>
              <mc:Fallback>
                <p:oleObj name="Equation" r:id="rId8" imgW="2425680" imgH="419040" progId="Equation.3">
                  <p:embed/>
                  <p:pic>
                    <p:nvPicPr>
                      <p:cNvPr id="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7764" y="5752902"/>
                        <a:ext cx="5586546" cy="7240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Date Placeholder 9"/>
          <p:cNvSpPr>
            <a:spLocks noGrp="1"/>
          </p:cNvSpPr>
          <p:nvPr>
            <p:ph type="dt" sz="half" idx="10"/>
          </p:nvPr>
        </p:nvSpPr>
        <p:spPr/>
        <p:txBody>
          <a:bodyPr/>
          <a:lstStyle/>
          <a:p>
            <a:fld id="{B70CC5CF-B45F-45A3-9C44-0BE91F88A5B7}" type="datetime2">
              <a:rPr lang="en-US" smtClean="0"/>
              <a:pPr/>
              <a:t>Thursday, February 5, 2026</a:t>
            </a:fld>
            <a:endParaRPr lang="en-US"/>
          </a:p>
        </p:txBody>
      </p:sp>
      <p:sp>
        <p:nvSpPr>
          <p:cNvPr id="11" name="Slide Number Placeholder 10"/>
          <p:cNvSpPr>
            <a:spLocks noGrp="1"/>
          </p:cNvSpPr>
          <p:nvPr>
            <p:ph type="sldNum" sz="quarter" idx="12"/>
          </p:nvPr>
        </p:nvSpPr>
        <p:spPr/>
        <p:txBody>
          <a:bodyPr/>
          <a:lstStyle/>
          <a:p>
            <a:fld id="{FBBCD7F1-41F0-4350-8F85-8261AE808488}" type="slidenum">
              <a:rPr lang="en-US" smtClean="0"/>
              <a:pPr/>
              <a:t>13</a:t>
            </a:fld>
            <a:endParaRPr lang="en-US"/>
          </a:p>
        </p:txBody>
      </p:sp>
      <p:sp>
        <p:nvSpPr>
          <p:cNvPr id="12" name="TextBox 11"/>
          <p:cNvSpPr txBox="1"/>
          <p:nvPr/>
        </p:nvSpPr>
        <p:spPr>
          <a:xfrm>
            <a:off x="304721" y="152401"/>
            <a:ext cx="11579384" cy="830997"/>
          </a:xfrm>
          <a:prstGeom prst="rect">
            <a:avLst/>
          </a:prstGeom>
          <a:noFill/>
        </p:spPr>
        <p:txBody>
          <a:bodyPr wrap="square" rtlCol="0">
            <a:spAutoFit/>
          </a:bodyPr>
          <a:lstStyle/>
          <a:p>
            <a:pPr algn="ctr"/>
            <a:r>
              <a:rPr lang="en-IN" sz="2400" dirty="0">
                <a:solidFill>
                  <a:srgbClr val="00B050"/>
                </a:solidFill>
                <a:latin typeface="Times New Roman" pitchFamily="18" charset="0"/>
                <a:cs typeface="Times New Roman" pitchFamily="18" charset="0"/>
              </a:rPr>
              <a:t>CONCEPT OF POLES AND ZEROS</a:t>
            </a:r>
            <a:endParaRPr lang="en-US" sz="2400" dirty="0">
              <a:solidFill>
                <a:srgbClr val="00B050"/>
              </a:solidFill>
              <a:latin typeface="Times New Roman" pitchFamily="18" charset="0"/>
              <a:cs typeface="Times New Roman" pitchFamily="18" charset="0"/>
            </a:endParaRPr>
          </a:p>
          <a:p>
            <a:pPr algn="ct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152400"/>
            <a:ext cx="11782531" cy="6248400"/>
          </a:xfrm>
        </p:spPr>
        <p:txBody>
          <a:bodyPr>
            <a:normAutofit/>
          </a:bodyPr>
          <a:lstStyle/>
          <a:p>
            <a:pPr algn="just">
              <a:buNone/>
            </a:pPr>
            <a:endParaRPr lang="en-US" sz="2200" dirty="0">
              <a:solidFill>
                <a:srgbClr val="00B050"/>
              </a:solidFill>
              <a:latin typeface="Times New Roman" pitchFamily="18" charset="0"/>
              <a:ea typeface="Tahoma" pitchFamily="34" charset="0"/>
              <a:cs typeface="Times New Roman" pitchFamily="18" charset="0"/>
            </a:endParaRPr>
          </a:p>
          <a:p>
            <a:pPr algn="just">
              <a:buNone/>
            </a:pPr>
            <a:endParaRPr lang="en-US" sz="2200" dirty="0">
              <a:solidFill>
                <a:srgbClr val="00B050"/>
              </a:solidFill>
              <a:latin typeface="Times New Roman" pitchFamily="18" charset="0"/>
              <a:ea typeface="Tahoma" pitchFamily="34" charset="0"/>
              <a:cs typeface="Times New Roman" pitchFamily="18" charset="0"/>
            </a:endParaRPr>
          </a:p>
          <a:p>
            <a:pPr algn="just">
              <a:buNone/>
            </a:pPr>
            <a:r>
              <a:rPr lang="en-US" sz="2200" dirty="0">
                <a:solidFill>
                  <a:srgbClr val="00B050"/>
                </a:solidFill>
                <a:latin typeface="Times New Roman" pitchFamily="18" charset="0"/>
                <a:ea typeface="Tahoma" pitchFamily="34" charset="0"/>
                <a:cs typeface="Times New Roman" pitchFamily="18" charset="0"/>
              </a:rPr>
              <a:t>Example 1: </a:t>
            </a:r>
            <a:r>
              <a:rPr lang="en-US" sz="2200" dirty="0">
                <a:latin typeface="Times New Roman" pitchFamily="18" charset="0"/>
                <a:ea typeface="Tahoma" pitchFamily="34" charset="0"/>
                <a:cs typeface="Times New Roman" pitchFamily="18" charset="0"/>
              </a:rPr>
              <a:t>Plot the pole-zero of the following transfer function.</a:t>
            </a:r>
          </a:p>
          <a:p>
            <a:pPr algn="just">
              <a:buNone/>
            </a:pPr>
            <a:endParaRPr lang="en-US" sz="2200" dirty="0">
              <a:solidFill>
                <a:srgbClr val="00B050"/>
              </a:solidFill>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Date Placeholder 4"/>
          <p:cNvSpPr>
            <a:spLocks noGrp="1"/>
          </p:cNvSpPr>
          <p:nvPr>
            <p:ph type="dt" sz="half" idx="10"/>
          </p:nvPr>
        </p:nvSpPr>
        <p:spPr/>
        <p:txBody>
          <a:bodyPr/>
          <a:lstStyle/>
          <a:p>
            <a:fld id="{25A0F86D-54C2-487D-8F2E-41FEC5990A8D}" type="datetime2">
              <a:rPr lang="en-US" smtClean="0"/>
              <a:pPr/>
              <a:t>Thursday, February 5, 2026</a:t>
            </a:fld>
            <a:endParaRPr lang="en-US"/>
          </a:p>
        </p:txBody>
      </p:sp>
      <p:sp>
        <p:nvSpPr>
          <p:cNvPr id="6" name="Slide Number Placeholder 5"/>
          <p:cNvSpPr>
            <a:spLocks noGrp="1"/>
          </p:cNvSpPr>
          <p:nvPr>
            <p:ph type="sldNum" sz="quarter" idx="12"/>
          </p:nvPr>
        </p:nvSpPr>
        <p:spPr/>
        <p:txBody>
          <a:bodyPr/>
          <a:lstStyle/>
          <a:p>
            <a:fld id="{FBBCD7F1-41F0-4350-8F85-8261AE808488}" type="slidenum">
              <a:rPr lang="en-US" smtClean="0"/>
              <a:pPr/>
              <a:t>14</a:t>
            </a:fld>
            <a:endParaRPr lang="en-US"/>
          </a:p>
        </p:txBody>
      </p:sp>
      <p:cxnSp>
        <p:nvCxnSpPr>
          <p:cNvPr id="8" name="Straight Arrow Connector 7"/>
          <p:cNvCxnSpPr/>
          <p:nvPr/>
        </p:nvCxnSpPr>
        <p:spPr>
          <a:xfrm rot="16200000" flipV="1">
            <a:off x="8029019" y="4373880"/>
            <a:ext cx="283464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a:off x="4570810" y="4799011"/>
            <a:ext cx="5484971"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344766" y="4438850"/>
            <a:ext cx="20314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9344766" y="4085925"/>
            <a:ext cx="20314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9344766" y="3733800"/>
            <a:ext cx="20314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5400000">
            <a:off x="8416819" y="4808767"/>
            <a:ext cx="2286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7529368" y="4808767"/>
            <a:ext cx="2286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6730676" y="4816792"/>
            <a:ext cx="2286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5879597" y="4799142"/>
            <a:ext cx="2286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9446340" y="2819400"/>
            <a:ext cx="1015735" cy="400110"/>
          </a:xfrm>
          <a:prstGeom prst="rect">
            <a:avLst/>
          </a:prstGeom>
          <a:noFill/>
        </p:spPr>
        <p:txBody>
          <a:bodyPr wrap="square" rtlCol="0">
            <a:spAutoFit/>
          </a:bodyPr>
          <a:lstStyle/>
          <a:p>
            <a:r>
              <a:rPr lang="en-US" sz="2000" dirty="0" err="1">
                <a:latin typeface="Times New Roman" pitchFamily="18" charset="0"/>
                <a:cs typeface="Times New Roman" pitchFamily="18" charset="0"/>
              </a:rPr>
              <a:t>I</a:t>
            </a:r>
            <a:r>
              <a:rPr lang="en-US" sz="2000" baseline="-25000" dirty="0" err="1">
                <a:latin typeface="Times New Roman" pitchFamily="18" charset="0"/>
                <a:cs typeface="Times New Roman" pitchFamily="18" charset="0"/>
              </a:rPr>
              <a:t>m</a:t>
            </a:r>
            <a:endParaRPr lang="en-US" sz="2000" baseline="-25000" dirty="0">
              <a:latin typeface="Times New Roman" pitchFamily="18" charset="0"/>
              <a:cs typeface="Times New Roman" pitchFamily="18" charset="0"/>
            </a:endParaRPr>
          </a:p>
        </p:txBody>
      </p:sp>
      <p:sp>
        <p:nvSpPr>
          <p:cNvPr id="22" name="TextBox 21"/>
          <p:cNvSpPr txBox="1"/>
          <p:nvPr/>
        </p:nvSpPr>
        <p:spPr>
          <a:xfrm>
            <a:off x="10081441" y="4552750"/>
            <a:ext cx="1015735" cy="400110"/>
          </a:xfrm>
          <a:prstGeom prst="rect">
            <a:avLst/>
          </a:prstGeom>
          <a:noFill/>
        </p:spPr>
        <p:txBody>
          <a:bodyPr wrap="square" rtlCol="0">
            <a:spAutoFit/>
          </a:bodyPr>
          <a:lstStyle/>
          <a:p>
            <a:r>
              <a:rPr lang="en-US" sz="2000" dirty="0">
                <a:latin typeface="Times New Roman" pitchFamily="18" charset="0"/>
                <a:cs typeface="Times New Roman" pitchFamily="18" charset="0"/>
              </a:rPr>
              <a:t>R</a:t>
            </a:r>
            <a:r>
              <a:rPr lang="en-US" sz="2000" baseline="-25000" dirty="0">
                <a:latin typeface="Times New Roman" pitchFamily="18" charset="0"/>
                <a:cs typeface="Times New Roman" pitchFamily="18" charset="0"/>
              </a:rPr>
              <a:t>e</a:t>
            </a:r>
          </a:p>
        </p:txBody>
      </p:sp>
      <p:sp>
        <p:nvSpPr>
          <p:cNvPr id="23" name="TextBox 22"/>
          <p:cNvSpPr txBox="1"/>
          <p:nvPr/>
        </p:nvSpPr>
        <p:spPr>
          <a:xfrm>
            <a:off x="9396086" y="4753275"/>
            <a:ext cx="609441" cy="381000"/>
          </a:xfrm>
          <a:prstGeom prst="rect">
            <a:avLst/>
          </a:prstGeom>
          <a:noFill/>
        </p:spPr>
        <p:txBody>
          <a:bodyPr wrap="square" rtlCol="0">
            <a:spAutoFit/>
          </a:bodyPr>
          <a:lstStyle/>
          <a:p>
            <a:r>
              <a:rPr lang="en-US" dirty="0">
                <a:latin typeface="Times New Roman" pitchFamily="18" charset="0"/>
                <a:cs typeface="Times New Roman" pitchFamily="18" charset="0"/>
              </a:rPr>
              <a:t>0</a:t>
            </a:r>
          </a:p>
        </p:txBody>
      </p:sp>
      <p:sp>
        <p:nvSpPr>
          <p:cNvPr id="24" name="TextBox 23"/>
          <p:cNvSpPr txBox="1"/>
          <p:nvPr/>
        </p:nvSpPr>
        <p:spPr>
          <a:xfrm>
            <a:off x="8227457" y="5010750"/>
            <a:ext cx="609441" cy="381000"/>
          </a:xfrm>
          <a:prstGeom prst="rect">
            <a:avLst/>
          </a:prstGeom>
          <a:noFill/>
        </p:spPr>
        <p:txBody>
          <a:bodyPr wrap="square" rtlCol="0">
            <a:spAutoFit/>
          </a:bodyPr>
          <a:lstStyle/>
          <a:p>
            <a:r>
              <a:rPr lang="en-US" dirty="0">
                <a:latin typeface="Times New Roman" pitchFamily="18" charset="0"/>
                <a:cs typeface="Times New Roman" pitchFamily="18" charset="0"/>
              </a:rPr>
              <a:t>- 1</a:t>
            </a:r>
          </a:p>
        </p:txBody>
      </p:sp>
      <p:sp>
        <p:nvSpPr>
          <p:cNvPr id="25" name="TextBox 24"/>
          <p:cNvSpPr txBox="1"/>
          <p:nvPr/>
        </p:nvSpPr>
        <p:spPr>
          <a:xfrm>
            <a:off x="7313295" y="5029200"/>
            <a:ext cx="609441" cy="381000"/>
          </a:xfrm>
          <a:prstGeom prst="rect">
            <a:avLst/>
          </a:prstGeom>
          <a:noFill/>
        </p:spPr>
        <p:txBody>
          <a:bodyPr wrap="square" rtlCol="0">
            <a:spAutoFit/>
          </a:bodyPr>
          <a:lstStyle/>
          <a:p>
            <a:r>
              <a:rPr lang="en-US" dirty="0">
                <a:latin typeface="Times New Roman" pitchFamily="18" charset="0"/>
                <a:cs typeface="Times New Roman" pitchFamily="18" charset="0"/>
              </a:rPr>
              <a:t>- 2</a:t>
            </a:r>
          </a:p>
        </p:txBody>
      </p:sp>
      <p:sp>
        <p:nvSpPr>
          <p:cNvPr id="26" name="TextBox 25"/>
          <p:cNvSpPr txBox="1"/>
          <p:nvPr/>
        </p:nvSpPr>
        <p:spPr>
          <a:xfrm>
            <a:off x="6550960" y="5038025"/>
            <a:ext cx="609441" cy="381000"/>
          </a:xfrm>
          <a:prstGeom prst="rect">
            <a:avLst/>
          </a:prstGeom>
          <a:noFill/>
        </p:spPr>
        <p:txBody>
          <a:bodyPr wrap="square" rtlCol="0">
            <a:spAutoFit/>
          </a:bodyPr>
          <a:lstStyle/>
          <a:p>
            <a:r>
              <a:rPr lang="en-US" dirty="0">
                <a:latin typeface="Times New Roman" pitchFamily="18" charset="0"/>
                <a:cs typeface="Times New Roman" pitchFamily="18" charset="0"/>
              </a:rPr>
              <a:t>- 3</a:t>
            </a:r>
          </a:p>
        </p:txBody>
      </p:sp>
      <p:sp>
        <p:nvSpPr>
          <p:cNvPr id="27" name="TextBox 26"/>
          <p:cNvSpPr txBox="1"/>
          <p:nvPr/>
        </p:nvSpPr>
        <p:spPr>
          <a:xfrm>
            <a:off x="5699882" y="5038025"/>
            <a:ext cx="609441" cy="381000"/>
          </a:xfrm>
          <a:prstGeom prst="rect">
            <a:avLst/>
          </a:prstGeom>
          <a:noFill/>
        </p:spPr>
        <p:txBody>
          <a:bodyPr wrap="square" rtlCol="0">
            <a:spAutoFit/>
          </a:bodyPr>
          <a:lstStyle/>
          <a:p>
            <a:r>
              <a:rPr lang="en-US" dirty="0">
                <a:latin typeface="Times New Roman" pitchFamily="18" charset="0"/>
                <a:cs typeface="Times New Roman" pitchFamily="18" charset="0"/>
              </a:rPr>
              <a:t>- 4</a:t>
            </a:r>
          </a:p>
        </p:txBody>
      </p:sp>
      <p:sp>
        <p:nvSpPr>
          <p:cNvPr id="28" name="Multiply 27"/>
          <p:cNvSpPr/>
          <p:nvPr/>
        </p:nvSpPr>
        <p:spPr>
          <a:xfrm>
            <a:off x="6653875" y="4686700"/>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ultiply 28"/>
          <p:cNvSpPr/>
          <p:nvPr/>
        </p:nvSpPr>
        <p:spPr>
          <a:xfrm>
            <a:off x="7440529" y="4675966"/>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8430604" y="4734025"/>
            <a:ext cx="203147" cy="152400"/>
          </a:xfrm>
          <a:prstGeom prst="ellipse">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891265" y="4725200"/>
            <a:ext cx="203147" cy="152400"/>
          </a:xfrm>
          <a:prstGeom prst="ellipse">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9344766" y="5180012"/>
            <a:ext cx="20314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9344766" y="5561012"/>
            <a:ext cx="20314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608012" y="5486401"/>
            <a:ext cx="5383398" cy="769441"/>
            <a:chOff x="507868" y="5486401"/>
            <a:chExt cx="5383398" cy="769441"/>
          </a:xfrm>
        </p:grpSpPr>
        <p:sp>
          <p:nvSpPr>
            <p:cNvPr id="34" name="TextBox 33"/>
            <p:cNvSpPr txBox="1"/>
            <p:nvPr/>
          </p:nvSpPr>
          <p:spPr>
            <a:xfrm>
              <a:off x="507868" y="5486401"/>
              <a:ext cx="5383398" cy="769441"/>
            </a:xfrm>
            <a:prstGeom prst="rect">
              <a:avLst/>
            </a:prstGeom>
            <a:noFill/>
          </p:spPr>
          <p:txBody>
            <a:bodyPr wrap="square" rtlCol="0">
              <a:spAutoFit/>
            </a:bodyPr>
            <a:lstStyle/>
            <a:p>
              <a:r>
                <a:rPr lang="en-US" sz="2200" dirty="0">
                  <a:latin typeface="Times New Roman" pitchFamily="18" charset="0"/>
                  <a:cs typeface="Times New Roman" pitchFamily="18" charset="0"/>
                </a:rPr>
                <a:t>Poles are represented by     and zeros are represented as  </a:t>
              </a:r>
            </a:p>
          </p:txBody>
        </p:sp>
        <p:sp>
          <p:nvSpPr>
            <p:cNvPr id="36" name="Multiply 35"/>
            <p:cNvSpPr/>
            <p:nvPr/>
          </p:nvSpPr>
          <p:spPr>
            <a:xfrm>
              <a:off x="3275012" y="5638800"/>
              <a:ext cx="406294" cy="256675"/>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5180012" y="5676088"/>
              <a:ext cx="203147" cy="152400"/>
            </a:xfrm>
            <a:prstGeom prst="ellipse">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p:cNvSpPr txBox="1"/>
          <p:nvPr/>
        </p:nvSpPr>
        <p:spPr>
          <a:xfrm>
            <a:off x="7618015" y="3200400"/>
            <a:ext cx="1625177" cy="400110"/>
          </a:xfrm>
          <a:prstGeom prst="rect">
            <a:avLst/>
          </a:prstGeom>
          <a:noFill/>
        </p:spPr>
        <p:txBody>
          <a:bodyPr wrap="square" rtlCol="0">
            <a:spAutoFit/>
          </a:bodyPr>
          <a:lstStyle/>
          <a:p>
            <a:r>
              <a:rPr lang="en-US" sz="2000" dirty="0">
                <a:latin typeface="Times New Roman" pitchFamily="18" charset="0"/>
                <a:cs typeface="Times New Roman" pitchFamily="18" charset="0"/>
              </a:rPr>
              <a:t>S - plane</a:t>
            </a:r>
          </a:p>
        </p:txBody>
      </p:sp>
      <p:graphicFrame>
        <p:nvGraphicFramePr>
          <p:cNvPr id="39" name="Object 38"/>
          <p:cNvGraphicFramePr>
            <a:graphicFrameLocks noChangeAspect="1"/>
          </p:cNvGraphicFramePr>
          <p:nvPr/>
        </p:nvGraphicFramePr>
        <p:xfrm>
          <a:off x="1015735" y="1447800"/>
          <a:ext cx="4687195" cy="2497138"/>
        </p:xfrm>
        <a:graphic>
          <a:graphicData uri="http://schemas.openxmlformats.org/presentationml/2006/ole">
            <mc:AlternateContent xmlns:mc="http://schemas.openxmlformats.org/markup-compatibility/2006">
              <mc:Choice xmlns:v="urn:schemas-microsoft-com:vml" Requires="v">
                <p:oleObj spid="_x0000_s93186" name="Equation" r:id="rId2" imgW="1841400" imgH="1307880" progId="Equation.3">
                  <p:embed/>
                </p:oleObj>
              </mc:Choice>
              <mc:Fallback>
                <p:oleObj name="Equation" r:id="rId2" imgW="1841400" imgH="130788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735" y="1447800"/>
                        <a:ext cx="4687195" cy="2497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TextBox 41"/>
          <p:cNvSpPr txBox="1"/>
          <p:nvPr/>
        </p:nvSpPr>
        <p:spPr>
          <a:xfrm>
            <a:off x="9521187" y="4238325"/>
            <a:ext cx="609441" cy="369332"/>
          </a:xfrm>
          <a:prstGeom prst="rect">
            <a:avLst/>
          </a:prstGeom>
          <a:noFill/>
        </p:spPr>
        <p:txBody>
          <a:bodyPr wrap="square" rtlCol="0">
            <a:spAutoFit/>
          </a:bodyPr>
          <a:lstStyle/>
          <a:p>
            <a:r>
              <a:rPr lang="en-US" dirty="0">
                <a:latin typeface="Times New Roman" pitchFamily="18" charset="0"/>
                <a:cs typeface="Times New Roman" pitchFamily="18" charset="0"/>
              </a:rPr>
              <a:t>j1</a:t>
            </a:r>
          </a:p>
        </p:txBody>
      </p:sp>
      <p:sp>
        <p:nvSpPr>
          <p:cNvPr id="43" name="TextBox 42"/>
          <p:cNvSpPr txBox="1"/>
          <p:nvPr/>
        </p:nvSpPr>
        <p:spPr>
          <a:xfrm>
            <a:off x="9510489" y="3895025"/>
            <a:ext cx="609441" cy="369332"/>
          </a:xfrm>
          <a:prstGeom prst="rect">
            <a:avLst/>
          </a:prstGeom>
          <a:noFill/>
        </p:spPr>
        <p:txBody>
          <a:bodyPr wrap="square" rtlCol="0">
            <a:spAutoFit/>
          </a:bodyPr>
          <a:lstStyle/>
          <a:p>
            <a:r>
              <a:rPr lang="en-US" dirty="0">
                <a:latin typeface="Times New Roman" pitchFamily="18" charset="0"/>
                <a:cs typeface="Times New Roman" pitchFamily="18" charset="0"/>
              </a:rPr>
              <a:t>j2</a:t>
            </a:r>
          </a:p>
        </p:txBody>
      </p:sp>
      <p:sp>
        <p:nvSpPr>
          <p:cNvPr id="44" name="TextBox 43"/>
          <p:cNvSpPr txBox="1"/>
          <p:nvPr/>
        </p:nvSpPr>
        <p:spPr>
          <a:xfrm>
            <a:off x="9509423" y="3524450"/>
            <a:ext cx="609441" cy="369332"/>
          </a:xfrm>
          <a:prstGeom prst="rect">
            <a:avLst/>
          </a:prstGeom>
          <a:noFill/>
        </p:spPr>
        <p:txBody>
          <a:bodyPr wrap="square" rtlCol="0">
            <a:spAutoFit/>
          </a:bodyPr>
          <a:lstStyle/>
          <a:p>
            <a:r>
              <a:rPr lang="en-US" dirty="0">
                <a:latin typeface="Times New Roman" pitchFamily="18" charset="0"/>
                <a:cs typeface="Times New Roman" pitchFamily="18" charset="0"/>
              </a:rPr>
              <a:t>j3</a:t>
            </a:r>
          </a:p>
        </p:txBody>
      </p:sp>
      <p:sp>
        <p:nvSpPr>
          <p:cNvPr id="45" name="TextBox 44"/>
          <p:cNvSpPr txBox="1"/>
          <p:nvPr/>
        </p:nvSpPr>
        <p:spPr>
          <a:xfrm>
            <a:off x="9521187" y="4981875"/>
            <a:ext cx="812588" cy="369332"/>
          </a:xfrm>
          <a:prstGeom prst="rect">
            <a:avLst/>
          </a:prstGeom>
          <a:noFill/>
        </p:spPr>
        <p:txBody>
          <a:bodyPr wrap="square" rtlCol="0">
            <a:spAutoFit/>
          </a:bodyPr>
          <a:lstStyle/>
          <a:p>
            <a:r>
              <a:rPr lang="en-US" dirty="0">
                <a:latin typeface="Times New Roman" pitchFamily="18" charset="0"/>
                <a:cs typeface="Times New Roman" pitchFamily="18" charset="0"/>
              </a:rPr>
              <a:t>- j1</a:t>
            </a:r>
          </a:p>
        </p:txBody>
      </p:sp>
      <p:sp>
        <p:nvSpPr>
          <p:cNvPr id="46" name="TextBox 45"/>
          <p:cNvSpPr txBox="1"/>
          <p:nvPr/>
        </p:nvSpPr>
        <p:spPr>
          <a:xfrm>
            <a:off x="9522253" y="5364918"/>
            <a:ext cx="812588" cy="369332"/>
          </a:xfrm>
          <a:prstGeom prst="rect">
            <a:avLst/>
          </a:prstGeom>
          <a:noFill/>
        </p:spPr>
        <p:txBody>
          <a:bodyPr wrap="square" rtlCol="0">
            <a:spAutoFit/>
          </a:bodyPr>
          <a:lstStyle/>
          <a:p>
            <a:r>
              <a:rPr lang="en-US" dirty="0">
                <a:latin typeface="Times New Roman" pitchFamily="18" charset="0"/>
                <a:cs typeface="Times New Roman" pitchFamily="18" charset="0"/>
              </a:rPr>
              <a:t>- j2</a:t>
            </a:r>
          </a:p>
        </p:txBody>
      </p:sp>
      <p:sp>
        <p:nvSpPr>
          <p:cNvPr id="47" name="TextBox 46"/>
          <p:cNvSpPr txBox="1"/>
          <p:nvPr/>
        </p:nvSpPr>
        <p:spPr>
          <a:xfrm>
            <a:off x="507868" y="152402"/>
            <a:ext cx="11173090" cy="830997"/>
          </a:xfrm>
          <a:prstGeom prst="rect">
            <a:avLst/>
          </a:prstGeom>
          <a:noFill/>
        </p:spPr>
        <p:txBody>
          <a:bodyPr wrap="square" rtlCol="0">
            <a:spAutoFit/>
          </a:bodyPr>
          <a:lstStyle/>
          <a:p>
            <a:pPr algn="ctr"/>
            <a:r>
              <a:rPr lang="en-IN" sz="2400" dirty="0">
                <a:solidFill>
                  <a:srgbClr val="00B050"/>
                </a:solidFill>
                <a:latin typeface="Times New Roman" pitchFamily="18" charset="0"/>
                <a:cs typeface="Times New Roman" pitchFamily="18" charset="0"/>
              </a:rPr>
              <a:t>CONCEPT OF POLES AND ZEROS</a:t>
            </a:r>
            <a:endParaRPr lang="en-US" sz="2400" dirty="0">
              <a:solidFill>
                <a:srgbClr val="00B050"/>
              </a:solidFill>
              <a:latin typeface="Times New Roman" pitchFamily="18" charset="0"/>
              <a:cs typeface="Times New Roman" pitchFamily="18" charset="0"/>
            </a:endParaRPr>
          </a:p>
          <a:p>
            <a:pPr algn="ct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381000"/>
            <a:ext cx="11782531" cy="6019800"/>
          </a:xfrm>
        </p:spPr>
        <p:txBody>
          <a:bodyPr>
            <a:normAutofit/>
          </a:bodyPr>
          <a:lstStyle/>
          <a:p>
            <a:pPr algn="just">
              <a:buNone/>
            </a:pPr>
            <a:endParaRPr lang="en-US" sz="2200" dirty="0">
              <a:solidFill>
                <a:srgbClr val="00B050"/>
              </a:solidFill>
              <a:latin typeface="Times New Roman" pitchFamily="18" charset="0"/>
              <a:ea typeface="Tahoma" pitchFamily="34" charset="0"/>
              <a:cs typeface="Times New Roman" pitchFamily="18" charset="0"/>
            </a:endParaRPr>
          </a:p>
          <a:p>
            <a:pPr algn="just">
              <a:buNone/>
            </a:pPr>
            <a:r>
              <a:rPr lang="en-US" sz="2200" dirty="0">
                <a:solidFill>
                  <a:srgbClr val="00B050"/>
                </a:solidFill>
                <a:latin typeface="Times New Roman" pitchFamily="18" charset="0"/>
                <a:ea typeface="Tahoma" pitchFamily="34" charset="0"/>
                <a:cs typeface="Times New Roman" pitchFamily="18" charset="0"/>
              </a:rPr>
              <a:t>Example 2: </a:t>
            </a:r>
            <a:r>
              <a:rPr lang="en-US" sz="2200" dirty="0">
                <a:latin typeface="Times New Roman" pitchFamily="18" charset="0"/>
                <a:ea typeface="Tahoma" pitchFamily="34" charset="0"/>
                <a:cs typeface="Times New Roman" pitchFamily="18" charset="0"/>
              </a:rPr>
              <a:t>Plot the pole-zero of the following transfer function.</a:t>
            </a: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Date Placeholder 4"/>
          <p:cNvSpPr>
            <a:spLocks noGrp="1"/>
          </p:cNvSpPr>
          <p:nvPr>
            <p:ph type="dt" sz="half" idx="10"/>
          </p:nvPr>
        </p:nvSpPr>
        <p:spPr/>
        <p:txBody>
          <a:bodyPr/>
          <a:lstStyle/>
          <a:p>
            <a:fld id="{25A0F86D-54C2-487D-8F2E-41FEC5990A8D}" type="datetime2">
              <a:rPr lang="en-US" smtClean="0"/>
              <a:pPr/>
              <a:t>Thursday, February 5, 2026</a:t>
            </a:fld>
            <a:endParaRPr lang="en-US"/>
          </a:p>
        </p:txBody>
      </p:sp>
      <p:sp>
        <p:nvSpPr>
          <p:cNvPr id="6" name="Slide Number Placeholder 5"/>
          <p:cNvSpPr>
            <a:spLocks noGrp="1"/>
          </p:cNvSpPr>
          <p:nvPr>
            <p:ph type="sldNum" sz="quarter" idx="12"/>
          </p:nvPr>
        </p:nvSpPr>
        <p:spPr/>
        <p:txBody>
          <a:bodyPr/>
          <a:lstStyle/>
          <a:p>
            <a:fld id="{FBBCD7F1-41F0-4350-8F85-8261AE808488}" type="slidenum">
              <a:rPr lang="en-US" smtClean="0"/>
              <a:pPr/>
              <a:t>15</a:t>
            </a:fld>
            <a:endParaRPr lang="en-US"/>
          </a:p>
        </p:txBody>
      </p:sp>
      <p:sp>
        <p:nvSpPr>
          <p:cNvPr id="7" name="TextBox 6"/>
          <p:cNvSpPr txBox="1"/>
          <p:nvPr/>
        </p:nvSpPr>
        <p:spPr>
          <a:xfrm>
            <a:off x="507868" y="304801"/>
            <a:ext cx="11477810" cy="461665"/>
          </a:xfrm>
          <a:prstGeom prst="rect">
            <a:avLst/>
          </a:prstGeom>
          <a:noFill/>
        </p:spPr>
        <p:txBody>
          <a:bodyPr wrap="square" rtlCol="0">
            <a:spAutoFit/>
          </a:bodyPr>
          <a:lstStyle/>
          <a:p>
            <a:pPr algn="ctr">
              <a:buNone/>
            </a:pPr>
            <a:r>
              <a:rPr lang="en-IN" sz="2400" dirty="0">
                <a:solidFill>
                  <a:srgbClr val="00B050"/>
                </a:solidFill>
                <a:latin typeface="Times New Roman" pitchFamily="18" charset="0"/>
                <a:cs typeface="Times New Roman" pitchFamily="18" charset="0"/>
              </a:rPr>
              <a:t>CONCEPT OF POLES AND ZEROS</a:t>
            </a:r>
            <a:endParaRPr lang="en-US" sz="2400" dirty="0">
              <a:solidFill>
                <a:srgbClr val="00B05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nvGraphicFramePr>
        <p:xfrm>
          <a:off x="1775998" y="1219200"/>
          <a:ext cx="4216842" cy="762000"/>
        </p:xfrm>
        <a:graphic>
          <a:graphicData uri="http://schemas.openxmlformats.org/presentationml/2006/ole">
            <mc:AlternateContent xmlns:mc="http://schemas.openxmlformats.org/markup-compatibility/2006">
              <mc:Choice xmlns:v="urn:schemas-microsoft-com:vml" Requires="v">
                <p:oleObj spid="_x0000_s98306" name="Equation" r:id="rId2" imgW="1739880" imgH="419040" progId="Equation.3">
                  <p:embed/>
                </p:oleObj>
              </mc:Choice>
              <mc:Fallback>
                <p:oleObj name="Equation" r:id="rId2" imgW="1739880" imgH="4190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998" y="1219200"/>
                        <a:ext cx="421684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812589" y="2201864"/>
          <a:ext cx="3889420" cy="1379537"/>
        </p:xfrm>
        <a:graphic>
          <a:graphicData uri="http://schemas.openxmlformats.org/presentationml/2006/ole">
            <mc:AlternateContent xmlns:mc="http://schemas.openxmlformats.org/markup-compatibility/2006">
              <mc:Choice xmlns:v="urn:schemas-microsoft-com:vml" Requires="v">
                <p:oleObj spid="_x0000_s98307" name="Equation" r:id="rId4" imgW="1396800" imgH="660240" progId="Equation.3">
                  <p:embed/>
                </p:oleObj>
              </mc:Choice>
              <mc:Fallback>
                <p:oleObj name="Equation" r:id="rId4" imgW="1396800" imgH="6602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589" y="2201864"/>
                        <a:ext cx="3889420" cy="1379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711016" y="3657600"/>
          <a:ext cx="4977104" cy="1034260"/>
        </p:xfrm>
        <a:graphic>
          <a:graphicData uri="http://schemas.openxmlformats.org/presentationml/2006/ole">
            <mc:AlternateContent xmlns:mc="http://schemas.openxmlformats.org/markup-compatibility/2006">
              <mc:Choice xmlns:v="urn:schemas-microsoft-com:vml" Requires="v">
                <p:oleObj spid="_x0000_s98308" name="Equation" r:id="rId6" imgW="1650960" imgH="457200" progId="Equation.3">
                  <p:embed/>
                </p:oleObj>
              </mc:Choice>
              <mc:Fallback>
                <p:oleObj name="Equation" r:id="rId6" imgW="1650960" imgH="45720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1016" y="3657600"/>
                        <a:ext cx="4977104" cy="1034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507868" y="1905000"/>
            <a:ext cx="2234618" cy="400110"/>
          </a:xfrm>
          <a:prstGeom prst="rect">
            <a:avLst/>
          </a:prstGeom>
          <a:noFill/>
        </p:spPr>
        <p:txBody>
          <a:bodyPr wrap="square" rtlCol="0">
            <a:spAutoFit/>
          </a:bodyPr>
          <a:lstStyle/>
          <a:p>
            <a:r>
              <a:rPr lang="en-US" sz="2000" dirty="0">
                <a:solidFill>
                  <a:srgbClr val="FF0000"/>
                </a:solidFill>
                <a:latin typeface="Times New Roman" pitchFamily="18" charset="0"/>
                <a:cs typeface="Times New Roman" pitchFamily="18" charset="0"/>
              </a:rPr>
              <a:t>SOLUTION:</a:t>
            </a:r>
          </a:p>
        </p:txBody>
      </p:sp>
      <p:graphicFrame>
        <p:nvGraphicFramePr>
          <p:cNvPr id="12" name="Object 11"/>
          <p:cNvGraphicFramePr>
            <a:graphicFrameLocks noChangeAspect="1"/>
          </p:cNvGraphicFramePr>
          <p:nvPr/>
        </p:nvGraphicFramePr>
        <p:xfrm>
          <a:off x="609441" y="4800601"/>
          <a:ext cx="5078677" cy="852237"/>
        </p:xfrm>
        <a:graphic>
          <a:graphicData uri="http://schemas.openxmlformats.org/presentationml/2006/ole">
            <mc:AlternateContent xmlns:mc="http://schemas.openxmlformats.org/markup-compatibility/2006">
              <mc:Choice xmlns:v="urn:schemas-microsoft-com:vml" Requires="v">
                <p:oleObj spid="_x0000_s98309" name="Equation" r:id="rId8" imgW="1930320" imgH="431640" progId="Equation.3">
                  <p:embed/>
                </p:oleObj>
              </mc:Choice>
              <mc:Fallback>
                <p:oleObj name="Equation" r:id="rId8" imgW="1930320" imgH="431640" progId="Equation.3">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441" y="4800601"/>
                        <a:ext cx="5078677" cy="852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 name="Straight Arrow Connector 13"/>
          <p:cNvCxnSpPr/>
          <p:nvPr/>
        </p:nvCxnSpPr>
        <p:spPr>
          <a:xfrm rot="10800000">
            <a:off x="6541336" y="3419376"/>
            <a:ext cx="5241195"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8638223" y="3397462"/>
            <a:ext cx="4663440" cy="211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0866236" y="3418587"/>
            <a:ext cx="24377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0841642" y="4343400"/>
            <a:ext cx="24377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8444206" y="3427142"/>
            <a:ext cx="1524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7225323" y="3417517"/>
            <a:ext cx="15240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0868369" y="2501775"/>
            <a:ext cx="24377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0853406" y="1588987"/>
            <a:ext cx="24377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1058686" y="942475"/>
            <a:ext cx="711015" cy="400110"/>
          </a:xfrm>
          <a:prstGeom prst="rect">
            <a:avLst/>
          </a:prstGeom>
          <a:noFill/>
        </p:spPr>
        <p:txBody>
          <a:bodyPr wrap="square" rtlCol="0">
            <a:spAutoFit/>
          </a:bodyPr>
          <a:lstStyle/>
          <a:p>
            <a:r>
              <a:rPr lang="en-US" sz="2000" dirty="0" err="1">
                <a:latin typeface="Times New Roman" pitchFamily="18" charset="0"/>
                <a:cs typeface="Times New Roman" pitchFamily="18" charset="0"/>
              </a:rPr>
              <a:t>I</a:t>
            </a:r>
            <a:r>
              <a:rPr lang="en-US" sz="2000" baseline="-25000" dirty="0" err="1">
                <a:latin typeface="Times New Roman" pitchFamily="18" charset="0"/>
                <a:cs typeface="Times New Roman" pitchFamily="18" charset="0"/>
              </a:rPr>
              <a:t>m</a:t>
            </a:r>
            <a:endParaRPr lang="en-US" sz="2000" baseline="-25000" dirty="0">
              <a:latin typeface="Times New Roman" pitchFamily="18" charset="0"/>
              <a:cs typeface="Times New Roman" pitchFamily="18" charset="0"/>
            </a:endParaRPr>
          </a:p>
        </p:txBody>
      </p:sp>
      <p:sp>
        <p:nvSpPr>
          <p:cNvPr id="34" name="TextBox 33"/>
          <p:cNvSpPr txBox="1"/>
          <p:nvPr/>
        </p:nvSpPr>
        <p:spPr>
          <a:xfrm>
            <a:off x="11173090" y="2971800"/>
            <a:ext cx="812588" cy="400110"/>
          </a:xfrm>
          <a:prstGeom prst="rect">
            <a:avLst/>
          </a:prstGeom>
          <a:noFill/>
        </p:spPr>
        <p:txBody>
          <a:bodyPr wrap="square" rtlCol="0">
            <a:spAutoFit/>
          </a:bodyPr>
          <a:lstStyle/>
          <a:p>
            <a:r>
              <a:rPr lang="en-US" sz="2000" dirty="0">
                <a:latin typeface="Times New Roman" pitchFamily="18" charset="0"/>
                <a:cs typeface="Times New Roman" pitchFamily="18" charset="0"/>
              </a:rPr>
              <a:t>R</a:t>
            </a:r>
            <a:r>
              <a:rPr lang="en-US" sz="2000" baseline="-25000" dirty="0">
                <a:latin typeface="Times New Roman" pitchFamily="18" charset="0"/>
                <a:cs typeface="Times New Roman" pitchFamily="18" charset="0"/>
              </a:rPr>
              <a:t>e</a:t>
            </a:r>
          </a:p>
        </p:txBody>
      </p:sp>
      <p:grpSp>
        <p:nvGrpSpPr>
          <p:cNvPr id="44" name="Group 43"/>
          <p:cNvGrpSpPr/>
          <p:nvPr/>
        </p:nvGrpSpPr>
        <p:grpSpPr>
          <a:xfrm>
            <a:off x="9446340" y="3352801"/>
            <a:ext cx="609441" cy="599041"/>
            <a:chOff x="7086600" y="5182394"/>
            <a:chExt cx="457200" cy="599041"/>
          </a:xfrm>
        </p:grpSpPr>
        <p:cxnSp>
          <p:nvCxnSpPr>
            <p:cNvPr id="25" name="Straight Connector 24"/>
            <p:cNvCxnSpPr/>
            <p:nvPr/>
          </p:nvCxnSpPr>
          <p:spPr>
            <a:xfrm rot="5400000">
              <a:off x="7239000" y="5257800"/>
              <a:ext cx="152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086600" y="5381325"/>
              <a:ext cx="457200" cy="400110"/>
            </a:xfrm>
            <a:prstGeom prst="rect">
              <a:avLst/>
            </a:prstGeom>
            <a:noFill/>
          </p:spPr>
          <p:txBody>
            <a:bodyPr wrap="square" rtlCol="0">
              <a:spAutoFit/>
            </a:bodyPr>
            <a:lstStyle/>
            <a:p>
              <a:r>
                <a:rPr lang="en-US" sz="2000" dirty="0">
                  <a:latin typeface="Times New Roman" pitchFamily="18" charset="0"/>
                  <a:cs typeface="Times New Roman" pitchFamily="18" charset="0"/>
                </a:rPr>
                <a:t>-1</a:t>
              </a:r>
            </a:p>
          </p:txBody>
        </p:sp>
      </p:grpSp>
      <p:sp>
        <p:nvSpPr>
          <p:cNvPr id="36" name="TextBox 35"/>
          <p:cNvSpPr txBox="1"/>
          <p:nvPr/>
        </p:nvSpPr>
        <p:spPr>
          <a:xfrm>
            <a:off x="8024310" y="3448456"/>
            <a:ext cx="609441" cy="400110"/>
          </a:xfrm>
          <a:prstGeom prst="rect">
            <a:avLst/>
          </a:prstGeom>
          <a:noFill/>
        </p:spPr>
        <p:txBody>
          <a:bodyPr wrap="square" rtlCol="0">
            <a:spAutoFit/>
          </a:bodyPr>
          <a:lstStyle/>
          <a:p>
            <a:r>
              <a:rPr lang="en-US" sz="2000" dirty="0">
                <a:latin typeface="Times New Roman" pitchFamily="18" charset="0"/>
                <a:cs typeface="Times New Roman" pitchFamily="18" charset="0"/>
              </a:rPr>
              <a:t>-2</a:t>
            </a:r>
          </a:p>
        </p:txBody>
      </p:sp>
      <p:sp>
        <p:nvSpPr>
          <p:cNvPr id="37" name="TextBox 36"/>
          <p:cNvSpPr txBox="1"/>
          <p:nvPr/>
        </p:nvSpPr>
        <p:spPr>
          <a:xfrm>
            <a:off x="7008575" y="3485150"/>
            <a:ext cx="609441" cy="400110"/>
          </a:xfrm>
          <a:prstGeom prst="rect">
            <a:avLst/>
          </a:prstGeom>
          <a:noFill/>
        </p:spPr>
        <p:txBody>
          <a:bodyPr wrap="square" rtlCol="0">
            <a:spAutoFit/>
          </a:bodyPr>
          <a:lstStyle/>
          <a:p>
            <a:r>
              <a:rPr lang="en-US" sz="2000" dirty="0">
                <a:latin typeface="Times New Roman" pitchFamily="18" charset="0"/>
                <a:cs typeface="Times New Roman" pitchFamily="18" charset="0"/>
              </a:rPr>
              <a:t>-3</a:t>
            </a:r>
          </a:p>
        </p:txBody>
      </p:sp>
      <p:sp>
        <p:nvSpPr>
          <p:cNvPr id="38" name="TextBox 37"/>
          <p:cNvSpPr txBox="1"/>
          <p:nvPr/>
        </p:nvSpPr>
        <p:spPr>
          <a:xfrm>
            <a:off x="11007366" y="3418575"/>
            <a:ext cx="609441" cy="400110"/>
          </a:xfrm>
          <a:prstGeom prst="rect">
            <a:avLst/>
          </a:prstGeom>
          <a:noFill/>
        </p:spPr>
        <p:txBody>
          <a:bodyPr wrap="square" rtlCol="0">
            <a:spAutoFit/>
          </a:bodyPr>
          <a:lstStyle/>
          <a:p>
            <a:r>
              <a:rPr lang="en-US" sz="2000" dirty="0">
                <a:latin typeface="Times New Roman" pitchFamily="18" charset="0"/>
                <a:cs typeface="Times New Roman" pitchFamily="18" charset="0"/>
              </a:rPr>
              <a:t>0</a:t>
            </a:r>
          </a:p>
        </p:txBody>
      </p:sp>
      <p:sp>
        <p:nvSpPr>
          <p:cNvPr id="39" name="TextBox 38"/>
          <p:cNvSpPr txBox="1"/>
          <p:nvPr/>
        </p:nvSpPr>
        <p:spPr>
          <a:xfrm>
            <a:off x="11095043" y="4131650"/>
            <a:ext cx="609441" cy="400110"/>
          </a:xfrm>
          <a:prstGeom prst="rect">
            <a:avLst/>
          </a:prstGeom>
          <a:noFill/>
        </p:spPr>
        <p:txBody>
          <a:bodyPr wrap="square" rtlCol="0">
            <a:spAutoFit/>
          </a:bodyPr>
          <a:lstStyle/>
          <a:p>
            <a:r>
              <a:rPr lang="en-US" sz="2000" dirty="0">
                <a:latin typeface="Times New Roman" pitchFamily="18" charset="0"/>
                <a:cs typeface="Times New Roman" pitchFamily="18" charset="0"/>
              </a:rPr>
              <a:t>-1</a:t>
            </a:r>
          </a:p>
        </p:txBody>
      </p:sp>
      <p:sp>
        <p:nvSpPr>
          <p:cNvPr id="40" name="TextBox 39"/>
          <p:cNvSpPr txBox="1"/>
          <p:nvPr/>
        </p:nvSpPr>
        <p:spPr>
          <a:xfrm>
            <a:off x="11134600" y="2304450"/>
            <a:ext cx="609441" cy="400110"/>
          </a:xfrm>
          <a:prstGeom prst="rect">
            <a:avLst/>
          </a:prstGeom>
          <a:noFill/>
        </p:spPr>
        <p:txBody>
          <a:bodyPr wrap="square" rtlCol="0">
            <a:spAutoFit/>
          </a:bodyPr>
          <a:lstStyle/>
          <a:p>
            <a:r>
              <a:rPr lang="en-US" sz="2000" dirty="0">
                <a:latin typeface="Times New Roman" pitchFamily="18" charset="0"/>
                <a:cs typeface="Times New Roman" pitchFamily="18" charset="0"/>
              </a:rPr>
              <a:t>1</a:t>
            </a:r>
          </a:p>
        </p:txBody>
      </p:sp>
      <p:sp>
        <p:nvSpPr>
          <p:cNvPr id="42" name="TextBox 41"/>
          <p:cNvSpPr txBox="1"/>
          <p:nvPr/>
        </p:nvSpPr>
        <p:spPr>
          <a:xfrm>
            <a:off x="11071516" y="4953000"/>
            <a:ext cx="812588" cy="400110"/>
          </a:xfrm>
          <a:prstGeom prst="rect">
            <a:avLst/>
          </a:prstGeom>
          <a:noFill/>
        </p:spPr>
        <p:txBody>
          <a:bodyPr wrap="square" rtlCol="0">
            <a:spAutoFit/>
          </a:bodyPr>
          <a:lstStyle/>
          <a:p>
            <a:r>
              <a:rPr lang="en-US" sz="2000" dirty="0">
                <a:latin typeface="Times New Roman" pitchFamily="18" charset="0"/>
                <a:cs typeface="Times New Roman" pitchFamily="18" charset="0"/>
              </a:rPr>
              <a:t>-2</a:t>
            </a:r>
          </a:p>
        </p:txBody>
      </p:sp>
      <p:cxnSp>
        <p:nvCxnSpPr>
          <p:cNvPr id="43" name="Straight Connector 42"/>
          <p:cNvCxnSpPr/>
          <p:nvPr/>
        </p:nvCxnSpPr>
        <p:spPr>
          <a:xfrm>
            <a:off x="10855539" y="5256212"/>
            <a:ext cx="243777"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Multiply 44"/>
          <p:cNvSpPr/>
          <p:nvPr/>
        </p:nvSpPr>
        <p:spPr>
          <a:xfrm>
            <a:off x="8329031" y="4229912"/>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Multiply 45"/>
          <p:cNvSpPr/>
          <p:nvPr/>
        </p:nvSpPr>
        <p:spPr>
          <a:xfrm>
            <a:off x="8305261" y="2384888"/>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Multiply 46"/>
          <p:cNvSpPr/>
          <p:nvPr/>
        </p:nvSpPr>
        <p:spPr>
          <a:xfrm>
            <a:off x="9547913" y="3304160"/>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Multiply 47"/>
          <p:cNvSpPr/>
          <p:nvPr/>
        </p:nvSpPr>
        <p:spPr>
          <a:xfrm>
            <a:off x="10766796" y="3305784"/>
            <a:ext cx="406294" cy="228600"/>
          </a:xfrm>
          <a:prstGeom prst="mathMultiply">
            <a:avLst/>
          </a:prstGeom>
          <a:solidFill>
            <a:srgbClr val="FF0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p:nvPr/>
        </p:nvCxnSpPr>
        <p:spPr>
          <a:xfrm rot="5400000">
            <a:off x="7617778" y="3428736"/>
            <a:ext cx="1828800" cy="211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46" idx="2"/>
          </p:cNvCxnSpPr>
          <p:nvPr/>
        </p:nvCxnSpPr>
        <p:spPr>
          <a:xfrm flipV="1">
            <a:off x="8613974" y="2514600"/>
            <a:ext cx="235596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8609982" y="4343400"/>
            <a:ext cx="235596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9040045" y="1524000"/>
            <a:ext cx="1929897" cy="369332"/>
          </a:xfrm>
          <a:prstGeom prst="rect">
            <a:avLst/>
          </a:prstGeom>
          <a:noFill/>
        </p:spPr>
        <p:txBody>
          <a:bodyPr wrap="square" rtlCol="0">
            <a:spAutoFit/>
          </a:bodyPr>
          <a:lstStyle/>
          <a:p>
            <a:r>
              <a:rPr lang="en-US" dirty="0">
                <a:latin typeface="Times New Roman" pitchFamily="18" charset="0"/>
                <a:cs typeface="Times New Roman" pitchFamily="18" charset="0"/>
              </a:rPr>
              <a:t>S- plane</a:t>
            </a:r>
          </a:p>
        </p:txBody>
      </p:sp>
      <p:sp>
        <p:nvSpPr>
          <p:cNvPr id="57" name="TextBox 56"/>
          <p:cNvSpPr txBox="1"/>
          <p:nvPr/>
        </p:nvSpPr>
        <p:spPr>
          <a:xfrm>
            <a:off x="7211721" y="1752600"/>
            <a:ext cx="1218883" cy="369332"/>
          </a:xfrm>
          <a:prstGeom prst="rect">
            <a:avLst/>
          </a:prstGeom>
          <a:noFill/>
        </p:spPr>
        <p:txBody>
          <a:bodyPr wrap="square" rtlCol="0">
            <a:spAutoFit/>
          </a:bodyPr>
          <a:lstStyle/>
          <a:p>
            <a:r>
              <a:rPr lang="en-US" dirty="0">
                <a:latin typeface="Times New Roman" pitchFamily="18" charset="0"/>
                <a:cs typeface="Times New Roman" pitchFamily="18" charset="0"/>
              </a:rPr>
              <a:t>K = 50</a:t>
            </a:r>
          </a:p>
        </p:txBody>
      </p:sp>
      <p:sp>
        <p:nvSpPr>
          <p:cNvPr id="58" name="TextBox 57"/>
          <p:cNvSpPr txBox="1"/>
          <p:nvPr/>
        </p:nvSpPr>
        <p:spPr>
          <a:xfrm>
            <a:off x="7073411" y="2325228"/>
            <a:ext cx="1523603" cy="369332"/>
          </a:xfrm>
          <a:prstGeom prst="rect">
            <a:avLst/>
          </a:prstGeom>
          <a:noFill/>
        </p:spPr>
        <p:txBody>
          <a:bodyPr wrap="square" rtlCol="0">
            <a:spAutoFit/>
          </a:bodyPr>
          <a:lstStyle/>
          <a:p>
            <a:r>
              <a:rPr lang="en-US" dirty="0">
                <a:latin typeface="Times New Roman" pitchFamily="18" charset="0"/>
                <a:cs typeface="Times New Roman" pitchFamily="18" charset="0"/>
              </a:rPr>
              <a:t>- 2 + j 1</a:t>
            </a:r>
          </a:p>
        </p:txBody>
      </p:sp>
      <p:sp>
        <p:nvSpPr>
          <p:cNvPr id="59" name="TextBox 58"/>
          <p:cNvSpPr txBox="1"/>
          <p:nvPr/>
        </p:nvSpPr>
        <p:spPr>
          <a:xfrm>
            <a:off x="7159852" y="4154028"/>
            <a:ext cx="1523603" cy="369332"/>
          </a:xfrm>
          <a:prstGeom prst="rect">
            <a:avLst/>
          </a:prstGeom>
          <a:noFill/>
        </p:spPr>
        <p:txBody>
          <a:bodyPr wrap="square" rtlCol="0">
            <a:spAutoFit/>
          </a:bodyPr>
          <a:lstStyle/>
          <a:p>
            <a:r>
              <a:rPr lang="en-US" dirty="0">
                <a:latin typeface="Times New Roman" pitchFamily="18" charset="0"/>
                <a:cs typeface="Times New Roman" pitchFamily="18" charset="0"/>
              </a:rPr>
              <a:t>- 2 - j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152400"/>
            <a:ext cx="11782531" cy="6248400"/>
          </a:xfrm>
        </p:spPr>
        <p:txBody>
          <a:bodyPr>
            <a:normAutofit/>
          </a:bodyPr>
          <a:lstStyle/>
          <a:p>
            <a:pPr algn="ctr">
              <a:buNone/>
            </a:pPr>
            <a:r>
              <a:rPr lang="en-IN" sz="2400" dirty="0">
                <a:solidFill>
                  <a:srgbClr val="00B050"/>
                </a:solidFill>
                <a:latin typeface="Times New Roman" pitchFamily="18" charset="0"/>
                <a:cs typeface="Times New Roman" pitchFamily="18" charset="0"/>
              </a:rPr>
              <a:t>CONCEPT OF POLES AND ZEROS </a:t>
            </a:r>
          </a:p>
          <a:p>
            <a:pPr>
              <a:buNone/>
            </a:pPr>
            <a:r>
              <a:rPr lang="en-IN" sz="2200" dirty="0">
                <a:solidFill>
                  <a:srgbClr val="00B050"/>
                </a:solidFill>
                <a:latin typeface="Times New Roman" pitchFamily="18" charset="0"/>
                <a:cs typeface="Times New Roman" pitchFamily="18" charset="0"/>
              </a:rPr>
              <a:t>EXAMPLE 3: </a:t>
            </a:r>
            <a:r>
              <a:rPr lang="en-IN" sz="2400" dirty="0">
                <a:latin typeface="Times New Roman" pitchFamily="18" charset="0"/>
                <a:cs typeface="Times New Roman" pitchFamily="18" charset="0"/>
              </a:rPr>
              <a:t>Find the critical frequencies for </a:t>
            </a:r>
          </a:p>
          <a:p>
            <a:pPr>
              <a:buNone/>
            </a:pPr>
            <a:endParaRPr lang="en-IN" sz="2400" dirty="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and draw the pole-zero plot. </a:t>
            </a:r>
          </a:p>
          <a:p>
            <a:pPr>
              <a:buNone/>
            </a:pPr>
            <a:r>
              <a:rPr lang="en-IN" sz="2100" dirty="0">
                <a:solidFill>
                  <a:srgbClr val="FF0000"/>
                </a:solidFill>
                <a:latin typeface="Times New Roman" pitchFamily="18" charset="0"/>
                <a:cs typeface="Times New Roman" pitchFamily="18" charset="0"/>
              </a:rPr>
              <a:t>SOLUTION: </a:t>
            </a:r>
            <a:endParaRPr lang="en-US" sz="2100" dirty="0">
              <a:solidFill>
                <a:srgbClr val="FF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Date Placeholder 4"/>
          <p:cNvSpPr>
            <a:spLocks noGrp="1"/>
          </p:cNvSpPr>
          <p:nvPr>
            <p:ph type="dt" sz="half" idx="10"/>
          </p:nvPr>
        </p:nvSpPr>
        <p:spPr/>
        <p:txBody>
          <a:bodyPr/>
          <a:lstStyle/>
          <a:p>
            <a:fld id="{25A0F86D-54C2-487D-8F2E-41FEC5990A8D}" type="datetime2">
              <a:rPr lang="en-US" smtClean="0"/>
              <a:pPr/>
              <a:t>Thursday, February 5, 2026</a:t>
            </a:fld>
            <a:endParaRPr lang="en-US"/>
          </a:p>
        </p:txBody>
      </p:sp>
      <p:sp>
        <p:nvSpPr>
          <p:cNvPr id="6" name="Slide Number Placeholder 5"/>
          <p:cNvSpPr>
            <a:spLocks noGrp="1"/>
          </p:cNvSpPr>
          <p:nvPr>
            <p:ph type="sldNum" sz="quarter" idx="12"/>
          </p:nvPr>
        </p:nvSpPr>
        <p:spPr/>
        <p:txBody>
          <a:bodyPr/>
          <a:lstStyle/>
          <a:p>
            <a:fld id="{FBBCD7F1-41F0-4350-8F85-8261AE808488}" type="slidenum">
              <a:rPr lang="en-US" smtClean="0"/>
              <a:pPr/>
              <a:t>16</a:t>
            </a:fld>
            <a:endParaRPr lang="en-US"/>
          </a:p>
        </p:txBody>
      </p:sp>
      <p:graphicFrame>
        <p:nvGraphicFramePr>
          <p:cNvPr id="7" name="Object 6"/>
          <p:cNvGraphicFramePr>
            <a:graphicFrameLocks noChangeAspect="1"/>
          </p:cNvGraphicFramePr>
          <p:nvPr/>
        </p:nvGraphicFramePr>
        <p:xfrm>
          <a:off x="2714977" y="1074738"/>
          <a:ext cx="5305101" cy="838200"/>
        </p:xfrm>
        <a:graphic>
          <a:graphicData uri="http://schemas.openxmlformats.org/presentationml/2006/ole">
            <mc:AlternateContent xmlns:mc="http://schemas.openxmlformats.org/markup-compatibility/2006">
              <mc:Choice xmlns:v="urn:schemas-microsoft-com:vml" Requires="v">
                <p:oleObj spid="_x0000_s99330" name="Equation" r:id="rId2" imgW="2171520" imgH="457200" progId="Equation.3">
                  <p:embed/>
                </p:oleObj>
              </mc:Choice>
              <mc:Fallback>
                <p:oleObj name="Equation" r:id="rId2" imgW="2171520" imgH="4572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977" y="1074738"/>
                        <a:ext cx="5305101"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330114" y="2752725"/>
          <a:ext cx="6678460" cy="3030538"/>
        </p:xfrm>
        <a:graphic>
          <a:graphicData uri="http://schemas.openxmlformats.org/presentationml/2006/ole">
            <mc:AlternateContent xmlns:mc="http://schemas.openxmlformats.org/markup-compatibility/2006">
              <mc:Choice xmlns:v="urn:schemas-microsoft-com:vml" Requires="v">
                <p:oleObj spid="_x0000_s99331" name="Equation" r:id="rId4" imgW="2603160" imgH="1574640" progId="Equation.3">
                  <p:embed/>
                </p:oleObj>
              </mc:Choice>
              <mc:Fallback>
                <p:oleObj name="Equation" r:id="rId4" imgW="2603160" imgH="15746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114" y="2752725"/>
                        <a:ext cx="6678460" cy="303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2" name="Straight Arrow Connector 11"/>
          <p:cNvCxnSpPr/>
          <p:nvPr/>
        </p:nvCxnSpPr>
        <p:spPr>
          <a:xfrm rot="10800000">
            <a:off x="6094413" y="4800600"/>
            <a:ext cx="5484971"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V="1">
            <a:off x="8135422" y="4079253"/>
            <a:ext cx="4754880" cy="1015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0360501" y="4343400"/>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0310797" y="3419272"/>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0271895" y="2506496"/>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0297830" y="2950756"/>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0310797" y="3876508"/>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0345369" y="5256212"/>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0360501" y="5713412"/>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0369139" y="6170612"/>
            <a:ext cx="40629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9585693" y="4800336"/>
            <a:ext cx="304800" cy="2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8367869" y="4799542"/>
            <a:ext cx="304800" cy="2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7159837" y="4809270"/>
            <a:ext cx="304800" cy="2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8975193" y="4806022"/>
            <a:ext cx="304800" cy="211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446339" y="4982184"/>
            <a:ext cx="507868" cy="369332"/>
          </a:xfrm>
          <a:prstGeom prst="rect">
            <a:avLst/>
          </a:prstGeom>
          <a:noFill/>
        </p:spPr>
        <p:txBody>
          <a:bodyPr wrap="square" rtlCol="0">
            <a:spAutoFit/>
          </a:bodyPr>
          <a:lstStyle/>
          <a:p>
            <a:r>
              <a:rPr lang="en-US" dirty="0">
                <a:latin typeface="Times New Roman" pitchFamily="18" charset="0"/>
                <a:cs typeface="Times New Roman" pitchFamily="18" charset="0"/>
              </a:rPr>
              <a:t>-1</a:t>
            </a:r>
          </a:p>
        </p:txBody>
      </p:sp>
      <p:sp>
        <p:nvSpPr>
          <p:cNvPr id="31" name="TextBox 30"/>
          <p:cNvSpPr txBox="1"/>
          <p:nvPr/>
        </p:nvSpPr>
        <p:spPr>
          <a:xfrm>
            <a:off x="8836898" y="4953000"/>
            <a:ext cx="507868" cy="369332"/>
          </a:xfrm>
          <a:prstGeom prst="rect">
            <a:avLst/>
          </a:prstGeom>
          <a:noFill/>
        </p:spPr>
        <p:txBody>
          <a:bodyPr wrap="square" rtlCol="0">
            <a:spAutoFit/>
          </a:bodyPr>
          <a:lstStyle/>
          <a:p>
            <a:r>
              <a:rPr lang="en-US" dirty="0">
                <a:latin typeface="Times New Roman" pitchFamily="18" charset="0"/>
                <a:cs typeface="Times New Roman" pitchFamily="18" charset="0"/>
              </a:rPr>
              <a:t>-2</a:t>
            </a:r>
          </a:p>
        </p:txBody>
      </p:sp>
      <p:sp>
        <p:nvSpPr>
          <p:cNvPr id="32" name="TextBox 31"/>
          <p:cNvSpPr txBox="1"/>
          <p:nvPr/>
        </p:nvSpPr>
        <p:spPr>
          <a:xfrm>
            <a:off x="8227457" y="4978936"/>
            <a:ext cx="507868" cy="369332"/>
          </a:xfrm>
          <a:prstGeom prst="rect">
            <a:avLst/>
          </a:prstGeom>
          <a:noFill/>
        </p:spPr>
        <p:txBody>
          <a:bodyPr wrap="square" rtlCol="0">
            <a:spAutoFit/>
          </a:bodyPr>
          <a:lstStyle/>
          <a:p>
            <a:r>
              <a:rPr lang="en-US" dirty="0">
                <a:latin typeface="Times New Roman" pitchFamily="18" charset="0"/>
                <a:cs typeface="Times New Roman" pitchFamily="18" charset="0"/>
              </a:rPr>
              <a:t>-3</a:t>
            </a:r>
          </a:p>
        </p:txBody>
      </p:sp>
      <p:sp>
        <p:nvSpPr>
          <p:cNvPr id="33" name="TextBox 32"/>
          <p:cNvSpPr txBox="1"/>
          <p:nvPr/>
        </p:nvSpPr>
        <p:spPr>
          <a:xfrm>
            <a:off x="7821163" y="4985432"/>
            <a:ext cx="507868" cy="369332"/>
          </a:xfrm>
          <a:prstGeom prst="rect">
            <a:avLst/>
          </a:prstGeom>
          <a:noFill/>
        </p:spPr>
        <p:txBody>
          <a:bodyPr wrap="square" rtlCol="0">
            <a:spAutoFit/>
          </a:bodyPr>
          <a:lstStyle/>
          <a:p>
            <a:r>
              <a:rPr lang="en-US" dirty="0">
                <a:latin typeface="Times New Roman" pitchFamily="18" charset="0"/>
                <a:cs typeface="Times New Roman" pitchFamily="18" charset="0"/>
              </a:rPr>
              <a:t>-4</a:t>
            </a:r>
          </a:p>
        </p:txBody>
      </p:sp>
      <p:sp>
        <p:nvSpPr>
          <p:cNvPr id="34" name="TextBox 33"/>
          <p:cNvSpPr txBox="1"/>
          <p:nvPr/>
        </p:nvSpPr>
        <p:spPr>
          <a:xfrm>
            <a:off x="7008574" y="4983808"/>
            <a:ext cx="507868" cy="369332"/>
          </a:xfrm>
          <a:prstGeom prst="rect">
            <a:avLst/>
          </a:prstGeom>
          <a:noFill/>
        </p:spPr>
        <p:txBody>
          <a:bodyPr wrap="square" rtlCol="0">
            <a:spAutoFit/>
          </a:bodyPr>
          <a:lstStyle/>
          <a:p>
            <a:r>
              <a:rPr lang="en-US" dirty="0">
                <a:latin typeface="Times New Roman" pitchFamily="18" charset="0"/>
                <a:cs typeface="Times New Roman" pitchFamily="18" charset="0"/>
              </a:rPr>
              <a:t>-5</a:t>
            </a:r>
          </a:p>
        </p:txBody>
      </p:sp>
      <p:sp>
        <p:nvSpPr>
          <p:cNvPr id="35" name="TextBox 34"/>
          <p:cNvSpPr txBox="1"/>
          <p:nvPr/>
        </p:nvSpPr>
        <p:spPr>
          <a:xfrm>
            <a:off x="10753828" y="4114800"/>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j1</a:t>
            </a:r>
          </a:p>
        </p:txBody>
      </p:sp>
      <p:sp>
        <p:nvSpPr>
          <p:cNvPr id="36" name="TextBox 35"/>
          <p:cNvSpPr txBox="1"/>
          <p:nvPr/>
        </p:nvSpPr>
        <p:spPr>
          <a:xfrm>
            <a:off x="10714926" y="3685160"/>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j2</a:t>
            </a:r>
          </a:p>
        </p:txBody>
      </p:sp>
      <p:sp>
        <p:nvSpPr>
          <p:cNvPr id="37" name="TextBox 36"/>
          <p:cNvSpPr txBox="1"/>
          <p:nvPr/>
        </p:nvSpPr>
        <p:spPr>
          <a:xfrm>
            <a:off x="10723564" y="3229900"/>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j3</a:t>
            </a:r>
          </a:p>
        </p:txBody>
      </p:sp>
      <p:sp>
        <p:nvSpPr>
          <p:cNvPr id="38" name="TextBox 37"/>
          <p:cNvSpPr txBox="1"/>
          <p:nvPr/>
        </p:nvSpPr>
        <p:spPr>
          <a:xfrm>
            <a:off x="10676024" y="2743200"/>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j4</a:t>
            </a:r>
          </a:p>
        </p:txBody>
      </p:sp>
      <p:sp>
        <p:nvSpPr>
          <p:cNvPr id="39" name="TextBox 38"/>
          <p:cNvSpPr txBox="1"/>
          <p:nvPr/>
        </p:nvSpPr>
        <p:spPr>
          <a:xfrm>
            <a:off x="10665222" y="2286000"/>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j5</a:t>
            </a:r>
          </a:p>
        </p:txBody>
      </p:sp>
      <p:sp>
        <p:nvSpPr>
          <p:cNvPr id="40" name="TextBox 39"/>
          <p:cNvSpPr txBox="1"/>
          <p:nvPr/>
        </p:nvSpPr>
        <p:spPr>
          <a:xfrm>
            <a:off x="10855402" y="5040868"/>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j1</a:t>
            </a:r>
          </a:p>
        </p:txBody>
      </p:sp>
      <p:sp>
        <p:nvSpPr>
          <p:cNvPr id="41" name="TextBox 40"/>
          <p:cNvSpPr txBox="1"/>
          <p:nvPr/>
        </p:nvSpPr>
        <p:spPr>
          <a:xfrm>
            <a:off x="10868369" y="5498068"/>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j2</a:t>
            </a:r>
          </a:p>
        </p:txBody>
      </p:sp>
      <p:sp>
        <p:nvSpPr>
          <p:cNvPr id="42" name="TextBox 41"/>
          <p:cNvSpPr txBox="1"/>
          <p:nvPr/>
        </p:nvSpPr>
        <p:spPr>
          <a:xfrm>
            <a:off x="10918073" y="5955268"/>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 j3</a:t>
            </a:r>
          </a:p>
        </p:txBody>
      </p:sp>
      <p:sp>
        <p:nvSpPr>
          <p:cNvPr id="43" name="TextBox 42"/>
          <p:cNvSpPr txBox="1"/>
          <p:nvPr/>
        </p:nvSpPr>
        <p:spPr>
          <a:xfrm>
            <a:off x="10563648" y="4792496"/>
            <a:ext cx="711015" cy="369332"/>
          </a:xfrm>
          <a:prstGeom prst="rect">
            <a:avLst/>
          </a:prstGeom>
          <a:noFill/>
        </p:spPr>
        <p:txBody>
          <a:bodyPr wrap="square" rtlCol="0">
            <a:spAutoFit/>
          </a:bodyPr>
          <a:lstStyle/>
          <a:p>
            <a:r>
              <a:rPr lang="en-US" dirty="0">
                <a:latin typeface="Times New Roman" pitchFamily="18" charset="0"/>
                <a:cs typeface="Times New Roman" pitchFamily="18" charset="0"/>
              </a:rPr>
              <a:t>0</a:t>
            </a:r>
          </a:p>
        </p:txBody>
      </p:sp>
      <p:sp>
        <p:nvSpPr>
          <p:cNvPr id="44" name="TextBox 43"/>
          <p:cNvSpPr txBox="1"/>
          <p:nvPr/>
        </p:nvSpPr>
        <p:spPr>
          <a:xfrm>
            <a:off x="10563648" y="1600200"/>
            <a:ext cx="711015" cy="381000"/>
          </a:xfrm>
          <a:prstGeom prst="rect">
            <a:avLst/>
          </a:prstGeom>
          <a:noFill/>
        </p:spPr>
        <p:txBody>
          <a:bodyPr wrap="square" rtlCol="0">
            <a:spAutoFit/>
          </a:bodyPr>
          <a:lstStyle/>
          <a:p>
            <a:r>
              <a:rPr lang="en-US" dirty="0" err="1">
                <a:latin typeface="Times New Roman" pitchFamily="18" charset="0"/>
                <a:cs typeface="Times New Roman" pitchFamily="18" charset="0"/>
              </a:rPr>
              <a:t>I</a:t>
            </a:r>
            <a:r>
              <a:rPr lang="en-US" baseline="-25000" dirty="0" err="1">
                <a:latin typeface="Times New Roman" pitchFamily="18" charset="0"/>
                <a:cs typeface="Times New Roman" pitchFamily="18" charset="0"/>
              </a:rPr>
              <a:t>m</a:t>
            </a:r>
            <a:endParaRPr lang="en-US" baseline="-25000" dirty="0">
              <a:latin typeface="Times New Roman" pitchFamily="18" charset="0"/>
              <a:cs typeface="Times New Roman" pitchFamily="18" charset="0"/>
            </a:endParaRPr>
          </a:p>
        </p:txBody>
      </p:sp>
      <p:sp>
        <p:nvSpPr>
          <p:cNvPr id="46" name="TextBox 45"/>
          <p:cNvSpPr txBox="1"/>
          <p:nvPr/>
        </p:nvSpPr>
        <p:spPr>
          <a:xfrm>
            <a:off x="11211991" y="4760080"/>
            <a:ext cx="711015" cy="381000"/>
          </a:xfrm>
          <a:prstGeom prst="rect">
            <a:avLst/>
          </a:prstGeom>
          <a:noFill/>
        </p:spPr>
        <p:txBody>
          <a:bodyPr wrap="square" rtlCol="0">
            <a:spAutoFit/>
          </a:bodyPr>
          <a:lstStyle/>
          <a:p>
            <a:r>
              <a:rPr lang="en-US" dirty="0">
                <a:latin typeface="Times New Roman" pitchFamily="18" charset="0"/>
                <a:cs typeface="Times New Roman" pitchFamily="18" charset="0"/>
              </a:rPr>
              <a:t>R</a:t>
            </a:r>
            <a:r>
              <a:rPr lang="en-US" baseline="-25000" dirty="0">
                <a:latin typeface="Times New Roman" pitchFamily="18" charset="0"/>
                <a:cs typeface="Times New Roman" pitchFamily="18" charset="0"/>
              </a:rPr>
              <a:t>e</a:t>
            </a:r>
          </a:p>
        </p:txBody>
      </p:sp>
      <p:sp>
        <p:nvSpPr>
          <p:cNvPr id="48" name="Multiply 47"/>
          <p:cNvSpPr/>
          <p:nvPr/>
        </p:nvSpPr>
        <p:spPr>
          <a:xfrm>
            <a:off x="8329031" y="4687112"/>
            <a:ext cx="406294" cy="2286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9029243" y="4734928"/>
            <a:ext cx="203147" cy="152400"/>
          </a:xfrm>
          <a:prstGeom prst="ellipse">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rot="10800000">
            <a:off x="7901131" y="3884612"/>
            <a:ext cx="2437765" cy="158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a:off x="6968376" y="4799542"/>
            <a:ext cx="1828800" cy="211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0800000">
            <a:off x="7883834" y="5695579"/>
            <a:ext cx="2437765" cy="158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7" name="Multiply 56"/>
          <p:cNvSpPr/>
          <p:nvPr/>
        </p:nvSpPr>
        <p:spPr>
          <a:xfrm>
            <a:off x="7669885" y="3761360"/>
            <a:ext cx="406294" cy="2286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Multiply 57"/>
          <p:cNvSpPr/>
          <p:nvPr/>
        </p:nvSpPr>
        <p:spPr>
          <a:xfrm>
            <a:off x="7678523" y="5590160"/>
            <a:ext cx="406294" cy="2286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p:cNvSpPr txBox="1"/>
          <p:nvPr/>
        </p:nvSpPr>
        <p:spPr>
          <a:xfrm>
            <a:off x="8836898" y="4267200"/>
            <a:ext cx="609441" cy="369332"/>
          </a:xfrm>
          <a:prstGeom prst="rect">
            <a:avLst/>
          </a:prstGeom>
          <a:noFill/>
        </p:spPr>
        <p:txBody>
          <a:bodyPr wrap="square" rtlCol="0">
            <a:spAutoFit/>
          </a:bodyPr>
          <a:lstStyle/>
          <a:p>
            <a:r>
              <a:rPr lang="en-US" dirty="0">
                <a:latin typeface="Times New Roman" pitchFamily="18" charset="0"/>
                <a:cs typeface="Times New Roman" pitchFamily="18" charset="0"/>
              </a:rPr>
              <a:t>(2)</a:t>
            </a:r>
          </a:p>
        </p:txBody>
      </p:sp>
      <p:sp>
        <p:nvSpPr>
          <p:cNvPr id="60" name="TextBox 59"/>
          <p:cNvSpPr txBox="1"/>
          <p:nvPr/>
        </p:nvSpPr>
        <p:spPr>
          <a:xfrm>
            <a:off x="7821163" y="2209801"/>
            <a:ext cx="2133044" cy="923330"/>
          </a:xfrm>
          <a:prstGeom prst="rect">
            <a:avLst/>
          </a:prstGeom>
          <a:noFill/>
        </p:spPr>
        <p:txBody>
          <a:bodyPr wrap="square" rtlCol="0">
            <a:spAutoFit/>
          </a:bodyPr>
          <a:lstStyle/>
          <a:p>
            <a:r>
              <a:rPr lang="en-US" i="1" dirty="0">
                <a:latin typeface="Times New Roman" pitchFamily="18" charset="0"/>
                <a:cs typeface="Times New Roman" pitchFamily="18" charset="0"/>
              </a:rPr>
              <a:t>The number in parenthesis indicates no. of  zeros</a:t>
            </a:r>
          </a:p>
        </p:txBody>
      </p:sp>
      <p:cxnSp>
        <p:nvCxnSpPr>
          <p:cNvPr id="62" name="Straight Arrow Connector 61"/>
          <p:cNvCxnSpPr/>
          <p:nvPr/>
        </p:nvCxnSpPr>
        <p:spPr>
          <a:xfrm rot="5400000">
            <a:off x="8547259" y="3718560"/>
            <a:ext cx="118872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9638684" y="4741408"/>
            <a:ext cx="203147" cy="152400"/>
          </a:xfrm>
          <a:prstGeom prst="ellipse">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147" y="381000"/>
            <a:ext cx="11782531" cy="6019800"/>
          </a:xfrm>
        </p:spPr>
        <p:txBody>
          <a:bodyPr/>
          <a:lstStyle/>
          <a:p>
            <a:pPr algn="ctr">
              <a:buNone/>
            </a:pPr>
            <a:endParaRPr lang="en-US" dirty="0"/>
          </a:p>
          <a:p>
            <a:pPr algn="ctr">
              <a:buNone/>
            </a:pPr>
            <a:endParaRPr lang="en-US" sz="3000" dirty="0">
              <a:latin typeface="Times New Roman" pitchFamily="18" charset="0"/>
              <a:ea typeface="Tahoma" pitchFamily="34" charset="0"/>
              <a:cs typeface="Times New Roman" pitchFamily="18" charset="0"/>
            </a:endParaRPr>
          </a:p>
          <a:p>
            <a:pPr algn="ctr">
              <a:buNone/>
            </a:pPr>
            <a:r>
              <a:rPr lang="en-US" sz="3000" dirty="0">
                <a:solidFill>
                  <a:srgbClr val="FF0000"/>
                </a:solidFill>
                <a:latin typeface="Times New Roman" pitchFamily="18" charset="0"/>
                <a:ea typeface="Tahoma" pitchFamily="34" charset="0"/>
                <a:cs typeface="Times New Roman" pitchFamily="18" charset="0"/>
              </a:rPr>
              <a:t>THANK YOU </a:t>
            </a:r>
          </a:p>
          <a:p>
            <a:pPr algn="ctr">
              <a:buNone/>
            </a:pPr>
            <a:endParaRPr lang="en-US" sz="3000" dirty="0">
              <a:latin typeface="Times New Roman" pitchFamily="18" charset="0"/>
              <a:ea typeface="Tahoma" pitchFamily="34" charset="0"/>
              <a:cs typeface="Times New Roman" pitchFamily="18" charset="0"/>
            </a:endParaRPr>
          </a:p>
          <a:p>
            <a:pPr algn="ctr">
              <a:buNone/>
            </a:pPr>
            <a:endParaRPr lang="en-US" sz="2400" dirty="0">
              <a:latin typeface="Times New Roman" pitchFamily="18" charset="0"/>
              <a:ea typeface="Tahoma" pitchFamily="34" charset="0"/>
              <a:cs typeface="Times New Roman" pitchFamily="18" charset="0"/>
            </a:endParaRPr>
          </a:p>
          <a:p>
            <a:pPr algn="ctr">
              <a:buNone/>
            </a:pPr>
            <a:endParaRPr lang="en-US" sz="2400" dirty="0">
              <a:latin typeface="Times New Roman" pitchFamily="18" charset="0"/>
              <a:ea typeface="Tahoma" pitchFamily="34" charset="0"/>
              <a:cs typeface="Times New Roman" pitchFamily="18" charset="0"/>
            </a:endParaRPr>
          </a:p>
          <a:p>
            <a:pPr algn="ctr">
              <a:buNone/>
            </a:pPr>
            <a:endParaRPr lang="en-US" sz="2400" dirty="0">
              <a:latin typeface="Times New Roman" pitchFamily="18" charset="0"/>
              <a:ea typeface="Tahoma" pitchFamily="34" charset="0"/>
              <a:cs typeface="Times New Roman" pitchFamily="18" charset="0"/>
            </a:endParaRPr>
          </a:p>
          <a:p>
            <a:pPr>
              <a:buNone/>
            </a:pPr>
            <a:r>
              <a:rPr lang="en-US" sz="2400" dirty="0">
                <a:latin typeface="Times New Roman" pitchFamily="18" charset="0"/>
                <a:cs typeface="Times New Roman" pitchFamily="18" charset="0"/>
                <a:hlinkClick r:id="rId2"/>
              </a:rPr>
              <a:t>shasansaeed@yolasite.com</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hlinkClick r:id="rId3"/>
              </a:rPr>
              <a:t>hasansaeed872726549.wordpress.com</a:t>
            </a:r>
          </a:p>
          <a:p>
            <a:pPr>
              <a:buNone/>
            </a:pPr>
            <a:r>
              <a:rPr lang="en-IN" sz="2400" dirty="0">
                <a:latin typeface="Times New Roman" pitchFamily="18" charset="0"/>
                <a:cs typeface="Times New Roman" pitchFamily="18" charset="0"/>
                <a:hlinkClick r:id="rId3"/>
              </a:rPr>
              <a:t>saeed.moodlecloud.com</a:t>
            </a:r>
          </a:p>
          <a:p>
            <a:pPr>
              <a:buNone/>
            </a:pPr>
            <a:r>
              <a:rPr lang="en-IN" sz="2400" dirty="0">
                <a:latin typeface="Times New Roman" pitchFamily="18" charset="0"/>
                <a:cs typeface="Times New Roman" pitchFamily="18" charset="0"/>
                <a:hlinkClick r:id="rId3"/>
              </a:rPr>
              <a:t>syedhasansaeed.gnomio.com</a:t>
            </a:r>
          </a:p>
          <a:p>
            <a:pPr algn="ctr">
              <a:buNone/>
            </a:pPr>
            <a:endParaRPr lang="en-US" sz="3000" dirty="0">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a:t>
            </a:r>
            <a:endParaRPr lang="en-US" dirty="0">
              <a:solidFill>
                <a:schemeClr val="tx1"/>
              </a:solidFill>
            </a:endParaRPr>
          </a:p>
        </p:txBody>
      </p:sp>
      <p:sp>
        <p:nvSpPr>
          <p:cNvPr id="5" name="Date Placeholder 4"/>
          <p:cNvSpPr>
            <a:spLocks noGrp="1"/>
          </p:cNvSpPr>
          <p:nvPr>
            <p:ph type="dt" sz="half" idx="10"/>
          </p:nvPr>
        </p:nvSpPr>
        <p:spPr/>
        <p:txBody>
          <a:bodyPr/>
          <a:lstStyle/>
          <a:p>
            <a:fld id="{25A0F86D-54C2-487D-8F2E-41FEC5990A8D}" type="datetime2">
              <a:rPr lang="en-US" smtClean="0"/>
              <a:pPr/>
              <a:t>Thursday, February 5, 2026</a:t>
            </a:fld>
            <a:endParaRPr lang="en-US"/>
          </a:p>
        </p:txBody>
      </p:sp>
      <p:sp>
        <p:nvSpPr>
          <p:cNvPr id="6" name="Slide Number Placeholder 5"/>
          <p:cNvSpPr>
            <a:spLocks noGrp="1"/>
          </p:cNvSpPr>
          <p:nvPr>
            <p:ph type="sldNum" sz="quarter" idx="12"/>
          </p:nvPr>
        </p:nvSpPr>
        <p:spPr/>
        <p:txBody>
          <a:bodyPr/>
          <a:lstStyle/>
          <a:p>
            <a:fld id="{FBBCD7F1-41F0-4350-8F85-8261AE808488}" type="slidenum">
              <a:rPr lang="en-US" smtClean="0"/>
              <a:pPr/>
              <a:t>17</a:t>
            </a:fld>
            <a:endParaRPr lang="en-US"/>
          </a:p>
        </p:txBody>
      </p:sp>
      <p:graphicFrame>
        <p:nvGraphicFramePr>
          <p:cNvPr id="2" name="Object 1">
            <a:extLst>
              <a:ext uri="{FF2B5EF4-FFF2-40B4-BE49-F238E27FC236}">
                <a16:creationId xmlns:a16="http://schemas.microsoft.com/office/drawing/2014/main" id="{6A99A58D-8577-C46A-DA3E-383AF91FF03A}"/>
              </a:ext>
            </a:extLst>
          </p:cNvPr>
          <p:cNvGraphicFramePr>
            <a:graphicFrameLocks noChangeAspect="1"/>
          </p:cNvGraphicFramePr>
          <p:nvPr>
            <p:extLst>
              <p:ext uri="{D42A27DB-BD31-4B8C-83A1-F6EECF244321}">
                <p14:modId xmlns:p14="http://schemas.microsoft.com/office/powerpoint/2010/main" val="866925281"/>
              </p:ext>
            </p:extLst>
          </p:nvPr>
        </p:nvGraphicFramePr>
        <p:xfrm>
          <a:off x="4556085" y="2622439"/>
          <a:ext cx="2528928" cy="489789"/>
        </p:xfrm>
        <a:graphic>
          <a:graphicData uri="http://schemas.openxmlformats.org/presentationml/2006/ole">
            <mc:AlternateContent xmlns:mc="http://schemas.openxmlformats.org/markup-compatibility/2006">
              <mc:Choice xmlns:v="urn:schemas-microsoft-com:vml" Requires="v">
                <p:oleObj name="Equation" r:id="rId4" imgW="1409400" imgH="419040" progId="Equation.3">
                  <p:embed/>
                </p:oleObj>
              </mc:Choice>
              <mc:Fallback>
                <p:oleObj name="Equation" r:id="rId4" imgW="1409400" imgH="41904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6085" y="2622439"/>
                        <a:ext cx="2528928" cy="489789"/>
                      </a:xfrm>
                      <a:prstGeom prst="rect">
                        <a:avLst/>
                      </a:prstGeom>
                      <a:noFill/>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1482</TotalTime>
  <Words>1220</Words>
  <Application>Microsoft Office PowerPoint</Application>
  <PresentationFormat>Custom</PresentationFormat>
  <Paragraphs>259</Paragraphs>
  <Slides>17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4" baseType="lpstr">
      <vt:lpstr>Arial</vt:lpstr>
      <vt:lpstr>Calibri</vt:lpstr>
      <vt:lpstr>Felix Titling</vt:lpstr>
      <vt:lpstr>Times New Roman</vt:lpstr>
      <vt:lpstr>Wingdings</vt:lpstr>
      <vt:lpstr>Office Theme</vt:lpstr>
      <vt:lpstr>Equation</vt:lpstr>
      <vt:lpstr>SYSTEM &amp; AUTOMATIC CONTROL EC217   CONCEPT OF POLES AND ZEROS</vt:lpstr>
      <vt:lpstr>PowerPoint Presentation</vt:lpstr>
      <vt:lpstr>OUTLINE</vt:lpstr>
      <vt:lpstr>PowerPoint Presentation</vt:lpstr>
      <vt:lpstr>CONCEPT OF POLES AND ZEROS</vt:lpstr>
      <vt:lpstr>CONCEPT OF POLES AND ZEROS</vt:lpstr>
      <vt:lpstr>CONCEPT OF POLES AND ZEROS</vt:lpstr>
      <vt:lpstr>CONCEPT OF POLES AND ZEROS</vt:lpstr>
      <vt:lpstr>PowerPoint Presentation</vt:lpstr>
      <vt:lpstr>  CONCEPT OF POLES AND ZEROS   Find the transfer function of the given figure.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SYSTEM</dc:title>
  <dc:creator>Mohammed</dc:creator>
  <cp:lastModifiedBy>hasansaeedcontrol@gmail.com</cp:lastModifiedBy>
  <cp:revision>208</cp:revision>
  <dcterms:created xsi:type="dcterms:W3CDTF">2015-06-28T12:59:07Z</dcterms:created>
  <dcterms:modified xsi:type="dcterms:W3CDTF">2026-02-05T04:36:42Z</dcterms:modified>
</cp:coreProperties>
</file>