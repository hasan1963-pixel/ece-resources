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3" d="100"/>
          <a:sy n="63" d="100"/>
        </p:scale>
        <p:origin x="-135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6175-8821-4261-849A-8BA0A2E7C667}" type="datetimeFigureOut">
              <a:rPr lang="en-US" smtClean="0"/>
              <a:pPr/>
              <a:t>22-Feb-22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1737-FE3A-4D27-BDA4-2639D345A9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B72F-59A6-4D21-A93E-8C32B60F3476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0D4-E9FD-475A-8A1F-507194BE26F2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A3B4-B80C-4BAA-B42A-D29C1A262EB4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398A-DD9E-4F67-8BE8-733568981ED1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CB6B-883C-45CB-BDCC-DD8D1951F28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EB60-18E2-4B65-ADFF-243B4D3F760F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7A89-8D7C-4B77-BE3B-E3B00DE9C014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522-51E0-4E81-8AD4-77D99CAC8BAB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17F3-CE34-42D2-8841-34156AC6B879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1D-447E-4331-BC4D-01738063DC6B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12AC-7040-4FD8-967C-B8A41408D514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282" y="214290"/>
            <a:ext cx="8758738" cy="6429420"/>
          </a:xfrm>
        </p:spPr>
        <p:txBody>
          <a:bodyPr/>
          <a:lstStyle/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hasansaeed872726549.wordpress.com</a:t>
            </a: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hasansaeed.yolasite.com</a:t>
            </a:r>
            <a:endParaRPr lang="en-GB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857233"/>
            <a:ext cx="8715436" cy="428627"/>
          </a:xfrm>
        </p:spPr>
        <p:txBody>
          <a:bodyPr>
            <a:noAutofit/>
          </a:bodyPr>
          <a:lstStyle/>
          <a:p>
            <a:r>
              <a:rPr lang="en-GB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146" y="785794"/>
            <a:ext cx="8786874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87679"/>
            <a:ext cx="8715436" cy="428627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THERMOMETER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281" y="571480"/>
            <a:ext cx="8725687" cy="5857916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IN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 a thermometer is immersed in a tub containing water as shown in fig.1 </a:t>
            </a:r>
          </a:p>
          <a:p>
            <a:pPr algn="l">
              <a:lnSpc>
                <a:spcPct val="150000"/>
              </a:lnSpc>
            </a:pPr>
            <a:endParaRPr lang="en-IN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</a:t>
            </a: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2DE9-AA53-49AD-8404-2983CAF44A4E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  <p:grpSp>
        <p:nvGrpSpPr>
          <p:cNvPr id="144" name="Group 143"/>
          <p:cNvGrpSpPr/>
          <p:nvPr/>
        </p:nvGrpSpPr>
        <p:grpSpPr>
          <a:xfrm>
            <a:off x="5550908" y="2364370"/>
            <a:ext cx="3157792" cy="3762258"/>
            <a:chOff x="4259724" y="1785932"/>
            <a:chExt cx="3612946" cy="4262333"/>
          </a:xfrm>
        </p:grpSpPr>
        <p:cxnSp>
          <p:nvCxnSpPr>
            <p:cNvPr id="45" name="Straight Connector 44"/>
            <p:cNvCxnSpPr/>
            <p:nvPr/>
          </p:nvCxnSpPr>
          <p:spPr>
            <a:xfrm rot="5400000">
              <a:off x="3189220" y="4975899"/>
              <a:ext cx="2143145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6800303" y="4975711"/>
              <a:ext cx="2143145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259724" y="6038287"/>
              <a:ext cx="36108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/>
            <p:cNvGrpSpPr/>
            <p:nvPr/>
          </p:nvGrpSpPr>
          <p:grpSpPr>
            <a:xfrm rot="10800000">
              <a:off x="6063940" y="4574442"/>
              <a:ext cx="357193" cy="727397"/>
              <a:chOff x="5830610" y="2416610"/>
              <a:chExt cx="571664" cy="577623"/>
            </a:xfrm>
          </p:grpSpPr>
          <p:sp>
            <p:nvSpPr>
              <p:cNvPr id="93" name="Arc 92"/>
              <p:cNvSpPr/>
              <p:nvPr/>
            </p:nvSpPr>
            <p:spPr>
              <a:xfrm rot="16200000">
                <a:off x="5830609" y="2416611"/>
                <a:ext cx="571505" cy="571503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Arc 93"/>
              <p:cNvSpPr/>
              <p:nvPr/>
            </p:nvSpPr>
            <p:spPr>
              <a:xfrm>
                <a:off x="5830770" y="2422729"/>
                <a:ext cx="571504" cy="571504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6063944" y="1785932"/>
              <a:ext cx="362964" cy="4033586"/>
              <a:chOff x="4711477" y="1717710"/>
              <a:chExt cx="579106" cy="4102356"/>
            </a:xfrm>
          </p:grpSpPr>
          <p:cxnSp>
            <p:nvCxnSpPr>
              <p:cNvPr id="50" name="Straight Connector 49"/>
              <p:cNvCxnSpPr/>
              <p:nvPr/>
            </p:nvCxnSpPr>
            <p:spPr>
              <a:xfrm rot="5400000">
                <a:off x="3799344" y="3476240"/>
                <a:ext cx="2952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rot="5400000">
                <a:off x="3236271" y="3475446"/>
                <a:ext cx="2952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/>
              <p:cNvGrpSpPr/>
              <p:nvPr/>
            </p:nvGrpSpPr>
            <p:grpSpPr>
              <a:xfrm>
                <a:off x="4920226" y="2214554"/>
                <a:ext cx="370357" cy="598398"/>
                <a:chOff x="4920226" y="2214554"/>
                <a:chExt cx="370357" cy="598398"/>
              </a:xfrm>
            </p:grpSpPr>
            <p:cxnSp>
              <p:nvCxnSpPr>
                <p:cNvPr id="53" name="Straight Connector 52"/>
                <p:cNvCxnSpPr/>
                <p:nvPr/>
              </p:nvCxnSpPr>
              <p:spPr>
                <a:xfrm>
                  <a:off x="4929190" y="2214554"/>
                  <a:ext cx="35719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5143504" y="23574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5147707" y="25098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5143504" y="26622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>
                  <a:off x="4920226" y="2811364"/>
                  <a:ext cx="35719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>
                <a:off x="4918993" y="2968437"/>
                <a:ext cx="370357" cy="455522"/>
                <a:chOff x="4920226" y="2357430"/>
                <a:chExt cx="370357" cy="455522"/>
              </a:xfrm>
            </p:grpSpPr>
            <p:cxnSp>
              <p:nvCxnSpPr>
                <p:cNvPr id="62" name="Straight Connector 61"/>
                <p:cNvCxnSpPr/>
                <p:nvPr/>
              </p:nvCxnSpPr>
              <p:spPr>
                <a:xfrm>
                  <a:off x="5143504" y="23574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5147707" y="25098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5143504" y="26622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>
                  <a:off x="4920226" y="2811364"/>
                  <a:ext cx="35719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/>
              <p:cNvGrpSpPr/>
              <p:nvPr/>
            </p:nvGrpSpPr>
            <p:grpSpPr>
              <a:xfrm>
                <a:off x="4919142" y="3616420"/>
                <a:ext cx="370357" cy="455522"/>
                <a:chOff x="4920226" y="2357430"/>
                <a:chExt cx="370357" cy="455522"/>
              </a:xfrm>
            </p:grpSpPr>
            <p:cxnSp>
              <p:nvCxnSpPr>
                <p:cNvPr id="76" name="Straight Connector 75"/>
                <p:cNvCxnSpPr/>
                <p:nvPr/>
              </p:nvCxnSpPr>
              <p:spPr>
                <a:xfrm>
                  <a:off x="5143504" y="23574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5147707" y="25098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>
                  <a:off x="5143504" y="26622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4920226" y="2811364"/>
                  <a:ext cx="35719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0" name="Group 79"/>
              <p:cNvGrpSpPr/>
              <p:nvPr/>
            </p:nvGrpSpPr>
            <p:grpSpPr>
              <a:xfrm>
                <a:off x="4919142" y="4259362"/>
                <a:ext cx="370357" cy="455522"/>
                <a:chOff x="4920226" y="2357430"/>
                <a:chExt cx="370357" cy="455522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5143504" y="23574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5147707" y="25098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>
                  <a:off x="5143504" y="2662230"/>
                  <a:ext cx="142876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4920226" y="2811364"/>
                  <a:ext cx="357190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/>
            </p:nvGrpSpPr>
            <p:grpSpPr>
              <a:xfrm>
                <a:off x="4711536" y="1717710"/>
                <a:ext cx="571661" cy="571524"/>
                <a:chOff x="5830594" y="2428868"/>
                <a:chExt cx="571661" cy="571524"/>
              </a:xfrm>
            </p:grpSpPr>
            <p:sp>
              <p:nvSpPr>
                <p:cNvPr id="89" name="Arc 88"/>
                <p:cNvSpPr/>
                <p:nvPr/>
              </p:nvSpPr>
              <p:spPr>
                <a:xfrm rot="16200000">
                  <a:off x="5830594" y="2428888"/>
                  <a:ext cx="571504" cy="571504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Arc 89"/>
                <p:cNvSpPr/>
                <p:nvPr/>
              </p:nvSpPr>
              <p:spPr>
                <a:xfrm>
                  <a:off x="5830751" y="2428868"/>
                  <a:ext cx="571504" cy="571504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1" name="Group 100"/>
              <p:cNvGrpSpPr/>
              <p:nvPr/>
            </p:nvGrpSpPr>
            <p:grpSpPr>
              <a:xfrm>
                <a:off x="4848140" y="5226497"/>
                <a:ext cx="331219" cy="593569"/>
                <a:chOff x="5559124" y="5125473"/>
                <a:chExt cx="623090" cy="611038"/>
              </a:xfrm>
            </p:grpSpPr>
            <p:cxnSp>
              <p:nvCxnSpPr>
                <p:cNvPr id="96" name="Straight Connector 95"/>
                <p:cNvCxnSpPr/>
                <p:nvPr/>
              </p:nvCxnSpPr>
              <p:spPr>
                <a:xfrm>
                  <a:off x="5559124" y="5125473"/>
                  <a:ext cx="3338" cy="34005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6148471" y="5146636"/>
                  <a:ext cx="3338" cy="34085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8" name="Group 97"/>
                <p:cNvGrpSpPr/>
                <p:nvPr/>
              </p:nvGrpSpPr>
              <p:grpSpPr>
                <a:xfrm rot="10800000">
                  <a:off x="5576075" y="5153447"/>
                  <a:ext cx="606139" cy="583064"/>
                  <a:chOff x="5792173" y="2407393"/>
                  <a:chExt cx="606139" cy="583064"/>
                </a:xfrm>
              </p:grpSpPr>
              <p:sp>
                <p:nvSpPr>
                  <p:cNvPr id="99" name="Arc 98"/>
                  <p:cNvSpPr/>
                  <p:nvPr/>
                </p:nvSpPr>
                <p:spPr>
                  <a:xfrm rot="16200000">
                    <a:off x="5818167" y="2418951"/>
                    <a:ext cx="571504" cy="571507"/>
                  </a:xfrm>
                  <a:prstGeom prst="arc">
                    <a:avLst>
                      <a:gd name="adj1" fmla="val 16200000"/>
                      <a:gd name="adj2" fmla="val 11"/>
                    </a:avLst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Arc 99"/>
                  <p:cNvSpPr/>
                  <p:nvPr/>
                </p:nvSpPr>
                <p:spPr>
                  <a:xfrm>
                    <a:off x="5792173" y="2407393"/>
                    <a:ext cx="606139" cy="571506"/>
                  </a:xfrm>
                  <a:prstGeom prst="arc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sp>
          <p:nvSpPr>
            <p:cNvPr id="49" name="Freeform 48"/>
            <p:cNvSpPr/>
            <p:nvPr/>
          </p:nvSpPr>
          <p:spPr>
            <a:xfrm>
              <a:off x="4274558" y="4430014"/>
              <a:ext cx="1773717" cy="197069"/>
            </a:xfrm>
            <a:custGeom>
              <a:avLst/>
              <a:gdLst>
                <a:gd name="connsiteX0" fmla="*/ 0 w 1773716"/>
                <a:gd name="connsiteY0" fmla="*/ 197068 h 197068"/>
                <a:gd name="connsiteX1" fmla="*/ 77118 w 1773716"/>
                <a:gd name="connsiteY1" fmla="*/ 186051 h 197068"/>
                <a:gd name="connsiteX2" fmla="*/ 143220 w 1773716"/>
                <a:gd name="connsiteY2" fmla="*/ 164018 h 197068"/>
                <a:gd name="connsiteX3" fmla="*/ 209321 w 1773716"/>
                <a:gd name="connsiteY3" fmla="*/ 186051 h 197068"/>
                <a:gd name="connsiteX4" fmla="*/ 374574 w 1773716"/>
                <a:gd name="connsiteY4" fmla="*/ 164018 h 197068"/>
                <a:gd name="connsiteX5" fmla="*/ 462709 w 1773716"/>
                <a:gd name="connsiteY5" fmla="*/ 141984 h 197068"/>
                <a:gd name="connsiteX6" fmla="*/ 561860 w 1773716"/>
                <a:gd name="connsiteY6" fmla="*/ 153001 h 197068"/>
                <a:gd name="connsiteX7" fmla="*/ 594911 w 1773716"/>
                <a:gd name="connsiteY7" fmla="*/ 164018 h 197068"/>
                <a:gd name="connsiteX8" fmla="*/ 892366 w 1773716"/>
                <a:gd name="connsiteY8" fmla="*/ 153001 h 197068"/>
                <a:gd name="connsiteX9" fmla="*/ 1013552 w 1773716"/>
                <a:gd name="connsiteY9" fmla="*/ 130967 h 197068"/>
                <a:gd name="connsiteX10" fmla="*/ 1057620 w 1773716"/>
                <a:gd name="connsiteY10" fmla="*/ 119950 h 197068"/>
                <a:gd name="connsiteX11" fmla="*/ 1090670 w 1773716"/>
                <a:gd name="connsiteY11" fmla="*/ 97917 h 197068"/>
                <a:gd name="connsiteX12" fmla="*/ 1156771 w 1773716"/>
                <a:gd name="connsiteY12" fmla="*/ 42832 h 197068"/>
                <a:gd name="connsiteX13" fmla="*/ 1167788 w 1773716"/>
                <a:gd name="connsiteY13" fmla="*/ 9782 h 197068"/>
                <a:gd name="connsiteX14" fmla="*/ 1211856 w 1773716"/>
                <a:gd name="connsiteY14" fmla="*/ 64866 h 197068"/>
                <a:gd name="connsiteX15" fmla="*/ 1277957 w 1773716"/>
                <a:gd name="connsiteY15" fmla="*/ 108933 h 197068"/>
                <a:gd name="connsiteX16" fmla="*/ 1476260 w 1773716"/>
                <a:gd name="connsiteY16" fmla="*/ 141984 h 197068"/>
                <a:gd name="connsiteX17" fmla="*/ 1553379 w 1773716"/>
                <a:gd name="connsiteY17" fmla="*/ 164018 h 197068"/>
                <a:gd name="connsiteX18" fmla="*/ 1586429 w 1773716"/>
                <a:gd name="connsiteY18" fmla="*/ 130967 h 197068"/>
                <a:gd name="connsiteX19" fmla="*/ 1619480 w 1773716"/>
                <a:gd name="connsiteY19" fmla="*/ 119950 h 197068"/>
                <a:gd name="connsiteX20" fmla="*/ 1652530 w 1773716"/>
                <a:gd name="connsiteY20" fmla="*/ 130967 h 197068"/>
                <a:gd name="connsiteX21" fmla="*/ 1685581 w 1773716"/>
                <a:gd name="connsiteY21" fmla="*/ 153001 h 197068"/>
                <a:gd name="connsiteX22" fmla="*/ 1729648 w 1773716"/>
                <a:gd name="connsiteY22" fmla="*/ 141984 h 197068"/>
                <a:gd name="connsiteX23" fmla="*/ 1773716 w 1773716"/>
                <a:gd name="connsiteY23" fmla="*/ 108933 h 19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73716" h="197068">
                  <a:moveTo>
                    <a:pt x="0" y="197068"/>
                  </a:moveTo>
                  <a:cubicBezTo>
                    <a:pt x="25706" y="193396"/>
                    <a:pt x="51816" y="191890"/>
                    <a:pt x="77118" y="186051"/>
                  </a:cubicBezTo>
                  <a:cubicBezTo>
                    <a:pt x="99749" y="180829"/>
                    <a:pt x="143220" y="164018"/>
                    <a:pt x="143220" y="164018"/>
                  </a:cubicBezTo>
                  <a:cubicBezTo>
                    <a:pt x="165254" y="171362"/>
                    <a:pt x="186141" y="184602"/>
                    <a:pt x="209321" y="186051"/>
                  </a:cubicBezTo>
                  <a:cubicBezTo>
                    <a:pt x="247882" y="188461"/>
                    <a:pt x="329086" y="174515"/>
                    <a:pt x="374574" y="164018"/>
                  </a:cubicBezTo>
                  <a:cubicBezTo>
                    <a:pt x="404081" y="157209"/>
                    <a:pt x="462709" y="141984"/>
                    <a:pt x="462709" y="141984"/>
                  </a:cubicBezTo>
                  <a:cubicBezTo>
                    <a:pt x="495759" y="145656"/>
                    <a:pt x="529059" y="147534"/>
                    <a:pt x="561860" y="153001"/>
                  </a:cubicBezTo>
                  <a:cubicBezTo>
                    <a:pt x="573315" y="154910"/>
                    <a:pt x="583298" y="164018"/>
                    <a:pt x="594911" y="164018"/>
                  </a:cubicBezTo>
                  <a:cubicBezTo>
                    <a:pt x="694131" y="164018"/>
                    <a:pt x="793214" y="156673"/>
                    <a:pt x="892366" y="153001"/>
                  </a:cubicBezTo>
                  <a:cubicBezTo>
                    <a:pt x="963277" y="129364"/>
                    <a:pt x="888979" y="151729"/>
                    <a:pt x="1013552" y="130967"/>
                  </a:cubicBezTo>
                  <a:cubicBezTo>
                    <a:pt x="1028487" y="128478"/>
                    <a:pt x="1042931" y="123622"/>
                    <a:pt x="1057620" y="119950"/>
                  </a:cubicBezTo>
                  <a:cubicBezTo>
                    <a:pt x="1068637" y="112606"/>
                    <a:pt x="1080498" y="106393"/>
                    <a:pt x="1090670" y="97917"/>
                  </a:cubicBezTo>
                  <a:cubicBezTo>
                    <a:pt x="1175503" y="27223"/>
                    <a:pt x="1074708" y="97542"/>
                    <a:pt x="1156771" y="42832"/>
                  </a:cubicBezTo>
                  <a:cubicBezTo>
                    <a:pt x="1160443" y="31815"/>
                    <a:pt x="1156522" y="12598"/>
                    <a:pt x="1167788" y="9782"/>
                  </a:cubicBezTo>
                  <a:cubicBezTo>
                    <a:pt x="1206915" y="0"/>
                    <a:pt x="1199797" y="52807"/>
                    <a:pt x="1211856" y="64866"/>
                  </a:cubicBezTo>
                  <a:cubicBezTo>
                    <a:pt x="1230581" y="83591"/>
                    <a:pt x="1255923" y="94244"/>
                    <a:pt x="1277957" y="108933"/>
                  </a:cubicBezTo>
                  <a:cubicBezTo>
                    <a:pt x="1356943" y="161591"/>
                    <a:pt x="1297787" y="130086"/>
                    <a:pt x="1476260" y="141984"/>
                  </a:cubicBezTo>
                  <a:cubicBezTo>
                    <a:pt x="1486949" y="145547"/>
                    <a:pt x="1545930" y="166146"/>
                    <a:pt x="1553379" y="164018"/>
                  </a:cubicBezTo>
                  <a:cubicBezTo>
                    <a:pt x="1568360" y="159738"/>
                    <a:pt x="1573466" y="139609"/>
                    <a:pt x="1586429" y="130967"/>
                  </a:cubicBezTo>
                  <a:cubicBezTo>
                    <a:pt x="1596092" y="124525"/>
                    <a:pt x="1608463" y="123622"/>
                    <a:pt x="1619480" y="119950"/>
                  </a:cubicBezTo>
                  <a:cubicBezTo>
                    <a:pt x="1630497" y="123622"/>
                    <a:pt x="1642143" y="125774"/>
                    <a:pt x="1652530" y="130967"/>
                  </a:cubicBezTo>
                  <a:cubicBezTo>
                    <a:pt x="1664373" y="136889"/>
                    <a:pt x="1672473" y="151128"/>
                    <a:pt x="1685581" y="153001"/>
                  </a:cubicBezTo>
                  <a:cubicBezTo>
                    <a:pt x="1700570" y="155142"/>
                    <a:pt x="1714959" y="145656"/>
                    <a:pt x="1729648" y="141984"/>
                  </a:cubicBezTo>
                  <a:cubicBezTo>
                    <a:pt x="1767020" y="117069"/>
                    <a:pt x="1753336" y="129313"/>
                    <a:pt x="1773716" y="108933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6444882" y="4461830"/>
              <a:ext cx="1421176" cy="165253"/>
            </a:xfrm>
            <a:custGeom>
              <a:avLst/>
              <a:gdLst>
                <a:gd name="connsiteX0" fmla="*/ 0 w 1421176"/>
                <a:gd name="connsiteY0" fmla="*/ 77118 h 165253"/>
                <a:gd name="connsiteX1" fmla="*/ 88135 w 1421176"/>
                <a:gd name="connsiteY1" fmla="*/ 66102 h 165253"/>
                <a:gd name="connsiteX2" fmla="*/ 165253 w 1421176"/>
                <a:gd name="connsiteY2" fmla="*/ 44068 h 165253"/>
                <a:gd name="connsiteX3" fmla="*/ 231354 w 1421176"/>
                <a:gd name="connsiteY3" fmla="*/ 77118 h 165253"/>
                <a:gd name="connsiteX4" fmla="*/ 264405 w 1421176"/>
                <a:gd name="connsiteY4" fmla="*/ 88135 h 165253"/>
                <a:gd name="connsiteX5" fmla="*/ 352540 w 1421176"/>
                <a:gd name="connsiteY5" fmla="*/ 77118 h 165253"/>
                <a:gd name="connsiteX6" fmla="*/ 418641 w 1421176"/>
                <a:gd name="connsiteY6" fmla="*/ 66102 h 165253"/>
                <a:gd name="connsiteX7" fmla="*/ 484742 w 1421176"/>
                <a:gd name="connsiteY7" fmla="*/ 77118 h 165253"/>
                <a:gd name="connsiteX8" fmla="*/ 605928 w 1421176"/>
                <a:gd name="connsiteY8" fmla="*/ 44068 h 165253"/>
                <a:gd name="connsiteX9" fmla="*/ 672029 w 1421176"/>
                <a:gd name="connsiteY9" fmla="*/ 0 h 165253"/>
                <a:gd name="connsiteX10" fmla="*/ 705080 w 1421176"/>
                <a:gd name="connsiteY10" fmla="*/ 22034 h 165253"/>
                <a:gd name="connsiteX11" fmla="*/ 738130 w 1421176"/>
                <a:gd name="connsiteY11" fmla="*/ 33051 h 165253"/>
                <a:gd name="connsiteX12" fmla="*/ 760164 w 1421176"/>
                <a:gd name="connsiteY12" fmla="*/ 66102 h 165253"/>
                <a:gd name="connsiteX13" fmla="*/ 793215 w 1421176"/>
                <a:gd name="connsiteY13" fmla="*/ 88135 h 165253"/>
                <a:gd name="connsiteX14" fmla="*/ 1079653 w 1421176"/>
                <a:gd name="connsiteY14" fmla="*/ 88135 h 165253"/>
                <a:gd name="connsiteX15" fmla="*/ 1145754 w 1421176"/>
                <a:gd name="connsiteY15" fmla="*/ 110169 h 165253"/>
                <a:gd name="connsiteX16" fmla="*/ 1178805 w 1421176"/>
                <a:gd name="connsiteY16" fmla="*/ 121186 h 165253"/>
                <a:gd name="connsiteX17" fmla="*/ 1211856 w 1421176"/>
                <a:gd name="connsiteY17" fmla="*/ 132203 h 165253"/>
                <a:gd name="connsiteX18" fmla="*/ 1277957 w 1421176"/>
                <a:gd name="connsiteY18" fmla="*/ 165253 h 165253"/>
                <a:gd name="connsiteX19" fmla="*/ 1355075 w 1421176"/>
                <a:gd name="connsiteY19" fmla="*/ 143220 h 165253"/>
                <a:gd name="connsiteX20" fmla="*/ 1399142 w 1421176"/>
                <a:gd name="connsiteY20" fmla="*/ 77118 h 165253"/>
                <a:gd name="connsiteX21" fmla="*/ 1421176 w 1421176"/>
                <a:gd name="connsiteY21" fmla="*/ 44068 h 16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1176" h="165253">
                  <a:moveTo>
                    <a:pt x="0" y="77118"/>
                  </a:moveTo>
                  <a:cubicBezTo>
                    <a:pt x="29378" y="73446"/>
                    <a:pt x="58931" y="70969"/>
                    <a:pt x="88135" y="66102"/>
                  </a:cubicBezTo>
                  <a:cubicBezTo>
                    <a:pt x="115803" y="61491"/>
                    <a:pt x="139057" y="52800"/>
                    <a:pt x="165253" y="44068"/>
                  </a:cubicBezTo>
                  <a:cubicBezTo>
                    <a:pt x="248329" y="71760"/>
                    <a:pt x="145928" y="34405"/>
                    <a:pt x="231354" y="77118"/>
                  </a:cubicBezTo>
                  <a:cubicBezTo>
                    <a:pt x="241741" y="82311"/>
                    <a:pt x="253388" y="84463"/>
                    <a:pt x="264405" y="88135"/>
                  </a:cubicBezTo>
                  <a:lnTo>
                    <a:pt x="352540" y="77118"/>
                  </a:lnTo>
                  <a:cubicBezTo>
                    <a:pt x="374653" y="73959"/>
                    <a:pt x="396303" y="66102"/>
                    <a:pt x="418641" y="66102"/>
                  </a:cubicBezTo>
                  <a:cubicBezTo>
                    <a:pt x="440979" y="66102"/>
                    <a:pt x="462708" y="73446"/>
                    <a:pt x="484742" y="77118"/>
                  </a:cubicBezTo>
                  <a:cubicBezTo>
                    <a:pt x="525137" y="66101"/>
                    <a:pt x="567211" y="60010"/>
                    <a:pt x="605928" y="44068"/>
                  </a:cubicBezTo>
                  <a:cubicBezTo>
                    <a:pt x="630415" y="33985"/>
                    <a:pt x="672029" y="0"/>
                    <a:pt x="672029" y="0"/>
                  </a:cubicBezTo>
                  <a:cubicBezTo>
                    <a:pt x="683046" y="7345"/>
                    <a:pt x="693237" y="16112"/>
                    <a:pt x="705080" y="22034"/>
                  </a:cubicBezTo>
                  <a:cubicBezTo>
                    <a:pt x="715467" y="27227"/>
                    <a:pt x="729062" y="25797"/>
                    <a:pt x="738130" y="33051"/>
                  </a:cubicBezTo>
                  <a:cubicBezTo>
                    <a:pt x="748469" y="41323"/>
                    <a:pt x="750801" y="56739"/>
                    <a:pt x="760164" y="66102"/>
                  </a:cubicBezTo>
                  <a:cubicBezTo>
                    <a:pt x="769527" y="75464"/>
                    <a:pt x="782198" y="80791"/>
                    <a:pt x="793215" y="88135"/>
                  </a:cubicBezTo>
                  <a:cubicBezTo>
                    <a:pt x="914563" y="80045"/>
                    <a:pt x="965482" y="67987"/>
                    <a:pt x="1079653" y="88135"/>
                  </a:cubicBezTo>
                  <a:cubicBezTo>
                    <a:pt x="1102525" y="92171"/>
                    <a:pt x="1123720" y="102824"/>
                    <a:pt x="1145754" y="110169"/>
                  </a:cubicBezTo>
                  <a:lnTo>
                    <a:pt x="1178805" y="121186"/>
                  </a:lnTo>
                  <a:cubicBezTo>
                    <a:pt x="1189822" y="124858"/>
                    <a:pt x="1202193" y="125761"/>
                    <a:pt x="1211856" y="132203"/>
                  </a:cubicBezTo>
                  <a:cubicBezTo>
                    <a:pt x="1254569" y="160678"/>
                    <a:pt x="1232345" y="150049"/>
                    <a:pt x="1277957" y="165253"/>
                  </a:cubicBezTo>
                  <a:cubicBezTo>
                    <a:pt x="1303663" y="157909"/>
                    <a:pt x="1333454" y="158945"/>
                    <a:pt x="1355075" y="143220"/>
                  </a:cubicBezTo>
                  <a:cubicBezTo>
                    <a:pt x="1376491" y="127644"/>
                    <a:pt x="1384453" y="99152"/>
                    <a:pt x="1399142" y="77118"/>
                  </a:cubicBezTo>
                  <a:lnTo>
                    <a:pt x="1421176" y="44068"/>
                  </a:ln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5" name="TextBox 144"/>
          <p:cNvSpPr txBox="1"/>
          <p:nvPr/>
        </p:nvSpPr>
        <p:spPr>
          <a:xfrm>
            <a:off x="8143900" y="6131502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Fig.1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6" name="Object 145"/>
          <p:cNvGraphicFramePr>
            <a:graphicFrameLocks noChangeAspect="1"/>
          </p:cNvGraphicFramePr>
          <p:nvPr/>
        </p:nvGraphicFramePr>
        <p:xfrm>
          <a:off x="875695" y="1214423"/>
          <a:ext cx="5410818" cy="5122726"/>
        </p:xfrm>
        <a:graphic>
          <a:graphicData uri="http://schemas.openxmlformats.org/presentationml/2006/ole">
            <p:oleObj spid="_x0000_s1026" name="Equation" r:id="rId3" imgW="2933640" imgH="28699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571480"/>
            <a:ext cx="8858312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Take the Laplace transform of equation (2)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2844" y="86380"/>
            <a:ext cx="8858312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70150" y="1058863"/>
          <a:ext cx="3632200" cy="5053012"/>
        </p:xfrm>
        <a:graphic>
          <a:graphicData uri="http://schemas.openxmlformats.org/presentationml/2006/ole">
            <p:oleObj spid="_x0000_s2050" name="Equation" r:id="rId3" imgW="1650960" imgH="229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2844" y="86380"/>
            <a:ext cx="8858312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42844" y="571480"/>
            <a:ext cx="8786874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A thermometer has a time constant of 15.33 sec. It is quickly taken from a temperature of 0</a:t>
            </a:r>
            <a:r>
              <a:rPr lang="en-IN" sz="2200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 to a water bath having temperature 100</a:t>
            </a:r>
            <a:r>
              <a:rPr lang="en-IN" sz="2200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C. What temperature will be indicated after 60 sec.? </a:t>
            </a:r>
          </a:p>
          <a:p>
            <a:pPr>
              <a:buNone/>
            </a:pPr>
            <a:r>
              <a:rPr lang="en-IN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Solution:  </a:t>
            </a:r>
          </a:p>
          <a:p>
            <a:pPr>
              <a:buNone/>
            </a:pP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312796" y="1701706"/>
          <a:ext cx="7500990" cy="4584814"/>
        </p:xfrm>
        <a:graphic>
          <a:graphicData uri="http://schemas.openxmlformats.org/presentationml/2006/ole">
            <p:oleObj spid="_x0000_s3074" name="Equation" r:id="rId3" imgW="3848040" imgH="248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35" y="285728"/>
            <a:ext cx="9001156" cy="6143668"/>
          </a:xfrm>
        </p:spPr>
        <p:txBody>
          <a:bodyPr/>
          <a:lstStyle/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22-Feb-22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160</Words>
  <Application>Microsoft Office PowerPoint</Application>
  <PresentationFormat>On-screen Show (4:3)</PresentationFormat>
  <Paragraphs>63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Equation</vt:lpstr>
      <vt:lpstr>Slide 1</vt:lpstr>
      <vt:lpstr>BOOKS</vt:lpstr>
      <vt:lpstr>THERMOMETER</vt:lpstr>
      <vt:lpstr>THERMAL SYSTEM</vt:lpstr>
      <vt:lpstr>THERMAL SYSTEM</vt:lpstr>
      <vt:lpstr>Slide 6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syed hasan saeed</cp:lastModifiedBy>
  <cp:revision>58</cp:revision>
  <dcterms:created xsi:type="dcterms:W3CDTF">2020-04-11T12:13:45Z</dcterms:created>
  <dcterms:modified xsi:type="dcterms:W3CDTF">2022-02-22T06:23:31Z</dcterms:modified>
</cp:coreProperties>
</file>