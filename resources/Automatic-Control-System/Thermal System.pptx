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644" y="-48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D76175-8821-4261-849A-8BA0A2E7C667}" type="datetimeFigureOut">
              <a:rPr lang="en-US" smtClean="0"/>
              <a:pPr/>
              <a:t>22-Feb-22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41737-FE3A-4D27-BDA4-2639D345A9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7"/>
            <a:ext cx="1036050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B72F-59A6-4D21-A93E-8C32B60F3476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5"/>
            <a:ext cx="103605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E0D4-E9FD-475A-8A1F-507194BE26F2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2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2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4A3B4-B80C-4BAA-B42A-D29C1A262EB4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6398A-DD9E-4F67-8BE8-733568981ED1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CB6B-883C-45CB-BDCC-DD8D1951F280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EB60-18E2-4B65-ADFF-243B4D3F760F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5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5" y="1435102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67A89-8D7C-4B77-BE3B-E3B00DE9C014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1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9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D6522-51E0-4E81-8AD4-77D99CAC8BAB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17F3-CE34-42D2-8841-34156AC6B879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0"/>
            <a:ext cx="274248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0"/>
            <a:ext cx="802431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1D-447E-4331-BC4D-01738063DC6B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2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2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312AC-7040-4FD8-967C-B8A41408D514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2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2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asansaeedcontrol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635" y="214290"/>
            <a:ext cx="11675276" cy="6429420"/>
          </a:xfrm>
        </p:spPr>
        <p:txBody>
          <a:bodyPr/>
          <a:lstStyle/>
          <a:p>
            <a:endParaRPr lang="en-GB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SYED HASAN SAEED</a:t>
            </a:r>
          </a:p>
          <a:p>
            <a:endParaRPr lang="en-GB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Email: </a:t>
            </a:r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hasansaeedcontrol@gmail.com</a:t>
            </a:r>
            <a:endParaRPr lang="en-GB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Web Page:</a:t>
            </a:r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 </a:t>
            </a:r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hasansaeed872726549.wordpress.com</a:t>
            </a:r>
          </a:p>
          <a:p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s</a:t>
            </a:r>
            <a:r>
              <a:rPr lang="en-GB" sz="2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hasansaeed.yolasite.com</a:t>
            </a:r>
            <a:endParaRPr lang="en-GB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hlinkClick r:id="rId2"/>
            </a:endParaRP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hlinkClick r:id="rId2"/>
            </a:endParaRP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306B2-EC7E-4BB8-8894-54A4B6770FA7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SYED HASAN SAEED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635" y="857235"/>
            <a:ext cx="11617555" cy="428627"/>
          </a:xfrm>
        </p:spPr>
        <p:txBody>
          <a:bodyPr>
            <a:noAutofit/>
          </a:bodyPr>
          <a:lstStyle/>
          <a:p>
            <a:r>
              <a:rPr lang="en-GB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BOOKS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130" y="785794"/>
            <a:ext cx="11712781" cy="5857916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KUO &amp; GOLANARAGHI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 CONTROL SYSTEM: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ANAND KUMAR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  AUTOMATIC CONTROL SYSTEM: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S. HASAN SAEED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ELECTRICAL MACINE &amp; AUTOMATIC CONTROL: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J.B.GUPTA  &amp;  S. HASAN SAEED</a:t>
            </a:r>
          </a:p>
          <a:p>
            <a:pPr marL="514350" indent="-514350" algn="l">
              <a:buAutoNum type="arabicPeriod" startAt="4"/>
            </a:pPr>
            <a:endParaRPr lang="en-GB" sz="2400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R. A . BARAPATE</a:t>
            </a:r>
            <a:endParaRPr lang="en-US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6435-E78B-422D-B0C9-AADEB5893BD0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SYED HASAN SAEED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635" y="87681"/>
            <a:ext cx="11617555" cy="428627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THERMAL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635" y="642918"/>
            <a:ext cx="11675276" cy="578647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thermal system, there is transfer of heat from one substance to another substance. The thermal system can be analysed in terms of resistance and capacitance. Let us consider a simple thermal system shown in Fig. 1. </a:t>
            </a:r>
          </a:p>
          <a:p>
            <a:pPr algn="l">
              <a:lnSpc>
                <a:spcPct val="150000"/>
              </a:lnSpc>
            </a:pPr>
            <a:endParaRPr lang="en-IN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2DE9-AA53-49AD-8404-2983CAF44A4E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SYED HASAN SAEED </a:t>
            </a:r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9236866" y="5572140"/>
            <a:ext cx="952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Fig.1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2440834" y="2364759"/>
            <a:ext cx="8187874" cy="3754173"/>
            <a:chOff x="1831101" y="2364757"/>
            <a:chExt cx="6142505" cy="3754173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320615" y="4568141"/>
              <a:ext cx="1049108" cy="7858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41" name="Group 40"/>
            <p:cNvGrpSpPr/>
            <p:nvPr/>
          </p:nvGrpSpPr>
          <p:grpSpPr>
            <a:xfrm>
              <a:off x="3325877" y="2364757"/>
              <a:ext cx="2998491" cy="3001190"/>
              <a:chOff x="2275532" y="3143248"/>
              <a:chExt cx="2998491" cy="3001190"/>
            </a:xfrm>
          </p:grpSpPr>
          <p:grpSp>
            <p:nvGrpSpPr>
              <p:cNvPr id="29" name="Group 28"/>
              <p:cNvGrpSpPr/>
              <p:nvPr/>
            </p:nvGrpSpPr>
            <p:grpSpPr>
              <a:xfrm>
                <a:off x="2350473" y="4143380"/>
                <a:ext cx="2916108" cy="2001058"/>
                <a:chOff x="2370272" y="4143380"/>
                <a:chExt cx="2916108" cy="2001058"/>
              </a:xfrm>
            </p:grpSpPr>
            <p:cxnSp>
              <p:nvCxnSpPr>
                <p:cNvPr id="8" name="Straight Connector 7"/>
                <p:cNvCxnSpPr/>
                <p:nvPr/>
              </p:nvCxnSpPr>
              <p:spPr>
                <a:xfrm>
                  <a:off x="2370272" y="5429264"/>
                  <a:ext cx="756000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2406656" y="5593130"/>
                  <a:ext cx="571504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 rot="5400000">
                  <a:off x="2706456" y="5864938"/>
                  <a:ext cx="554400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 rot="5400000">
                  <a:off x="2842684" y="5715016"/>
                  <a:ext cx="571504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>
                  <a:off x="3129280" y="6000768"/>
                  <a:ext cx="1296000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2979424" y="6142006"/>
                  <a:ext cx="1571636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/>
              </p:nvCxnSpPr>
              <p:spPr>
                <a:xfrm rot="5400000" flipH="1" flipV="1">
                  <a:off x="3629346" y="5214950"/>
                  <a:ext cx="1857388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 rot="5400000" flipH="1" flipV="1">
                  <a:off x="3500430" y="5072074"/>
                  <a:ext cx="1857388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4572000" y="4286256"/>
                  <a:ext cx="714380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4429124" y="4143380"/>
                  <a:ext cx="857256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>
              <a:xfrm rot="10800000">
                <a:off x="4443425" y="3856834"/>
                <a:ext cx="8100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rot="10800000">
                <a:off x="4590023" y="3692968"/>
                <a:ext cx="6840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rot="16200000">
                <a:off x="4301056" y="3421160"/>
                <a:ext cx="5544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 rot="16200000">
                <a:off x="4147724" y="3571082"/>
                <a:ext cx="571504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 rot="10800000">
                <a:off x="3136632" y="3285330"/>
                <a:ext cx="12960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rot="10800000">
                <a:off x="3010852" y="3144092"/>
                <a:ext cx="157163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rot="16200000" flipH="1" flipV="1">
                <a:off x="2075178" y="4071148"/>
                <a:ext cx="1857388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 rot="16200000" flipH="1" flipV="1">
                <a:off x="2204094" y="4214024"/>
                <a:ext cx="1857388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10800000">
                <a:off x="2275532" y="4999842"/>
                <a:ext cx="71438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rot="10800000">
                <a:off x="2275532" y="5142718"/>
                <a:ext cx="85725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Straight Arrow Connector 42"/>
            <p:cNvCxnSpPr/>
            <p:nvPr/>
          </p:nvCxnSpPr>
          <p:spPr>
            <a:xfrm>
              <a:off x="5970638" y="3224339"/>
              <a:ext cx="612000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3013071" y="4527941"/>
              <a:ext cx="648000" cy="15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6616284" y="3060994"/>
              <a:ext cx="13573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smtClean="0">
                  <a:latin typeface="Times New Roman" pitchFamily="18" charset="0"/>
                  <a:cs typeface="Times New Roman" pitchFamily="18" charset="0"/>
                </a:rPr>
                <a:t>Outlet Water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831101" y="4319675"/>
              <a:ext cx="13573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smtClean="0">
                  <a:latin typeface="Times New Roman" pitchFamily="18" charset="0"/>
                  <a:cs typeface="Times New Roman" pitchFamily="18" charset="0"/>
                </a:rPr>
                <a:t>Inlet Water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0800000" flipH="1" flipV="1">
              <a:off x="4419469" y="4961050"/>
              <a:ext cx="0" cy="737742"/>
            </a:xfrm>
            <a:prstGeom prst="line">
              <a:avLst/>
            </a:prstGeom>
            <a:ln w="15875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10800000" flipH="1" flipV="1">
              <a:off x="5249309" y="4965166"/>
              <a:ext cx="0" cy="737742"/>
            </a:xfrm>
            <a:prstGeom prst="line">
              <a:avLst/>
            </a:prstGeom>
            <a:ln w="15875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4051464" y="5749598"/>
              <a:ext cx="1894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smtClean="0">
                  <a:latin typeface="Times New Roman" pitchFamily="18" charset="0"/>
                  <a:cs typeface="Times New Roman" pitchFamily="18" charset="0"/>
                </a:rPr>
                <a:t>Heating Element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000760" y="4299703"/>
              <a:ext cx="1785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smtClean="0">
                  <a:latin typeface="Times New Roman" pitchFamily="18" charset="0"/>
                  <a:cs typeface="Times New Roman" pitchFamily="18" charset="0"/>
                </a:rPr>
                <a:t>Insulated Tank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73" name="Straight Arrow Connector 72"/>
            <p:cNvCxnSpPr>
              <a:stCxn id="71" idx="1"/>
            </p:cNvCxnSpPr>
            <p:nvPr/>
          </p:nvCxnSpPr>
          <p:spPr>
            <a:xfrm rot="10800000" flipV="1">
              <a:off x="5572132" y="4484368"/>
              <a:ext cx="428628" cy="2964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09" y="571480"/>
            <a:ext cx="11808007" cy="585791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tank is insulated to eliminate heat loss to the surrounding air.</a:t>
            </a:r>
          </a:p>
          <a:p>
            <a:pPr>
              <a:buFont typeface="Wingdings" pitchFamily="2" charset="2"/>
              <a:buChar char="v"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There is no heat storage in the insulation. </a:t>
            </a:r>
          </a:p>
          <a:p>
            <a:pPr>
              <a:buFont typeface="Wingdings" pitchFamily="2" charset="2"/>
              <a:buChar char="v"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Suppose  water inside the tank having uniform temperature.</a:t>
            </a: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1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THERMAL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522512" y="1928802"/>
          <a:ext cx="5741830" cy="3571901"/>
        </p:xfrm>
        <a:graphic>
          <a:graphicData uri="http://schemas.openxmlformats.org/presentationml/2006/ole">
            <p:oleObj spid="_x0000_s2050" name="Equation" r:id="rId3" imgW="3060360" imgH="1904760" progId="Equation.3">
              <p:embed/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41839" y="1870813"/>
            <a:ext cx="8570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Let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1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THERMAL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graphicFrame>
        <p:nvGraphicFramePr>
          <p:cNvPr id="8" name="Content Placeholder 7"/>
          <p:cNvGraphicFramePr>
            <a:graphicFrameLocks noChangeAspect="1"/>
          </p:cNvGraphicFramePr>
          <p:nvPr>
            <p:ph idx="1"/>
          </p:nvPr>
        </p:nvGraphicFramePr>
        <p:xfrm>
          <a:off x="2963863" y="746125"/>
          <a:ext cx="5511800" cy="5540375"/>
        </p:xfrm>
        <a:graphic>
          <a:graphicData uri="http://schemas.openxmlformats.org/presentationml/2006/ole">
            <p:oleObj spid="_x0000_s3074" name="Equation" r:id="rId3" imgW="2425680" imgH="24382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09" y="571480"/>
            <a:ext cx="11808007" cy="5857916"/>
          </a:xfrm>
        </p:spPr>
        <p:txBody>
          <a:bodyPr>
            <a:normAutofit/>
          </a:bodyPr>
          <a:lstStyle/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Take the Laplace transform of equation (5)</a:t>
            </a: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1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THERMAL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022314" y="2714620"/>
          <a:ext cx="6850062" cy="3746500"/>
        </p:xfrm>
        <a:graphic>
          <a:graphicData uri="http://schemas.openxmlformats.org/presentationml/2006/ole">
            <p:oleObj spid="_x0000_s4098" name="Equation" r:id="rId3" imgW="3098520" imgH="2006280" progId="Equation.3">
              <p:embed/>
            </p:oleObj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2788974" y="571481"/>
          <a:ext cx="4162694" cy="1616094"/>
        </p:xfrm>
        <a:graphic>
          <a:graphicData uri="http://schemas.openxmlformats.org/presentationml/2006/ole">
            <p:oleObj spid="_x0000_s4099" name="Equation" r:id="rId4" imgW="2145960" imgH="838080" progId="Equation.3">
              <p:embed/>
            </p:oleObj>
          </a:graphicData>
        </a:graphic>
      </p:graphicFrame>
      <p:grpSp>
        <p:nvGrpSpPr>
          <p:cNvPr id="26" name="Group 25"/>
          <p:cNvGrpSpPr/>
          <p:nvPr/>
        </p:nvGrpSpPr>
        <p:grpSpPr>
          <a:xfrm>
            <a:off x="7237420" y="2214554"/>
            <a:ext cx="3799902" cy="3143272"/>
            <a:chOff x="7237420" y="2214554"/>
            <a:chExt cx="3799902" cy="3143272"/>
          </a:xfrm>
        </p:grpSpPr>
        <p:grpSp>
          <p:nvGrpSpPr>
            <p:cNvPr id="24" name="Group 23"/>
            <p:cNvGrpSpPr/>
            <p:nvPr/>
          </p:nvGrpSpPr>
          <p:grpSpPr>
            <a:xfrm>
              <a:off x="7237420" y="2214554"/>
              <a:ext cx="3799902" cy="3143272"/>
              <a:chOff x="8086550" y="2143116"/>
              <a:chExt cx="3799902" cy="3143272"/>
            </a:xfrm>
          </p:grpSpPr>
          <p:cxnSp>
            <p:nvCxnSpPr>
              <p:cNvPr id="10" name="Straight Arrow Connector 9"/>
              <p:cNvCxnSpPr/>
              <p:nvPr/>
            </p:nvCxnSpPr>
            <p:spPr>
              <a:xfrm>
                <a:off x="8451866" y="4786322"/>
                <a:ext cx="3286148" cy="158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 rot="16200000" flipV="1">
                <a:off x="7308858" y="3714752"/>
                <a:ext cx="3143272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8884557" y="2941557"/>
                <a:ext cx="2786082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Freeform 14"/>
              <p:cNvSpPr/>
              <p:nvPr/>
            </p:nvSpPr>
            <p:spPr>
              <a:xfrm>
                <a:off x="8884117" y="2955158"/>
                <a:ext cx="2444519" cy="1831164"/>
              </a:xfrm>
              <a:custGeom>
                <a:avLst/>
                <a:gdLst>
                  <a:gd name="connsiteX0" fmla="*/ 0 w 3070459"/>
                  <a:gd name="connsiteY0" fmla="*/ 2123975 h 2123975"/>
                  <a:gd name="connsiteX1" fmla="*/ 875899 w 3070459"/>
                  <a:gd name="connsiteY1" fmla="*/ 343301 h 2123975"/>
                  <a:gd name="connsiteX2" fmla="*/ 3070459 w 3070459"/>
                  <a:gd name="connsiteY2" fmla="*/ 64169 h 2123975"/>
                  <a:gd name="connsiteX3" fmla="*/ 3070459 w 3070459"/>
                  <a:gd name="connsiteY3" fmla="*/ 64169 h 212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70459" h="2123975">
                    <a:moveTo>
                      <a:pt x="0" y="2123975"/>
                    </a:moveTo>
                    <a:cubicBezTo>
                      <a:pt x="182078" y="1405288"/>
                      <a:pt x="364156" y="686602"/>
                      <a:pt x="875899" y="343301"/>
                    </a:cubicBezTo>
                    <a:cubicBezTo>
                      <a:pt x="1387642" y="0"/>
                      <a:pt x="3070459" y="64169"/>
                      <a:pt x="3070459" y="64169"/>
                    </a:cubicBezTo>
                    <a:lnTo>
                      <a:pt x="3070459" y="64169"/>
                    </a:lnTo>
                  </a:path>
                </a:pathLst>
              </a:cu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 rot="5400000">
                <a:off x="8701899" y="4250537"/>
                <a:ext cx="1071570" cy="1588"/>
              </a:xfrm>
              <a:prstGeom prst="line">
                <a:avLst/>
              </a:prstGeom>
              <a:ln w="12700">
                <a:solidFill>
                  <a:srgbClr val="00B05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10800000">
                <a:off x="8889665" y="3714752"/>
                <a:ext cx="731520" cy="1588"/>
              </a:xfrm>
              <a:prstGeom prst="line">
                <a:avLst/>
              </a:prstGeom>
              <a:ln w="12700">
                <a:solidFill>
                  <a:srgbClr val="00B050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8548116" y="4780760"/>
                <a:ext cx="3571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0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8086550" y="3529313"/>
                <a:ext cx="8572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63.2%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8576991" y="2786058"/>
                <a:ext cx="3571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1529262" y="4790385"/>
                <a:ext cx="3571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t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5" name="TextBox 24"/>
            <p:cNvSpPr txBox="1"/>
            <p:nvPr/>
          </p:nvSpPr>
          <p:spPr>
            <a:xfrm>
              <a:off x="8229426" y="4786322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τ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7" name="Freeform 26"/>
          <p:cNvSpPr/>
          <p:nvPr/>
        </p:nvSpPr>
        <p:spPr>
          <a:xfrm>
            <a:off x="8037095" y="3224463"/>
            <a:ext cx="2541069" cy="1626670"/>
          </a:xfrm>
          <a:custGeom>
            <a:avLst/>
            <a:gdLst>
              <a:gd name="connsiteX0" fmla="*/ 0 w 2541069"/>
              <a:gd name="connsiteY0" fmla="*/ 1626670 h 1626670"/>
              <a:gd name="connsiteX1" fmla="*/ 1010652 w 2541069"/>
              <a:gd name="connsiteY1" fmla="*/ 327259 h 1626670"/>
              <a:gd name="connsiteX2" fmla="*/ 2541069 w 2541069"/>
              <a:gd name="connsiteY2" fmla="*/ 0 h 1626670"/>
              <a:gd name="connsiteX3" fmla="*/ 2541069 w 2541069"/>
              <a:gd name="connsiteY3" fmla="*/ 0 h 1626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1069" h="1626670">
                <a:moveTo>
                  <a:pt x="0" y="1626670"/>
                </a:moveTo>
                <a:cubicBezTo>
                  <a:pt x="293570" y="1112520"/>
                  <a:pt x="587141" y="598371"/>
                  <a:pt x="1010652" y="327259"/>
                </a:cubicBezTo>
                <a:cubicBezTo>
                  <a:pt x="1434164" y="56147"/>
                  <a:pt x="2541069" y="0"/>
                  <a:pt x="2541069" y="0"/>
                </a:cubicBezTo>
                <a:lnTo>
                  <a:pt x="2541069" y="0"/>
                </a:lnTo>
              </a:path>
            </a:pathLst>
          </a:cu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8212252" y="4321181"/>
            <a:ext cx="1071570" cy="1588"/>
          </a:xfrm>
          <a:prstGeom prst="line">
            <a:avLst/>
          </a:prstGeom>
          <a:ln w="12700"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23" y="285729"/>
            <a:ext cx="11998416" cy="6143668"/>
          </a:xfrm>
        </p:spPr>
        <p:txBody>
          <a:bodyPr/>
          <a:lstStyle/>
          <a:p>
            <a:pPr algn="ctr">
              <a:buNone/>
            </a:pPr>
            <a:endParaRPr lang="en-IN" dirty="0" smtClean="0"/>
          </a:p>
          <a:p>
            <a:pPr algn="ctr">
              <a:buNone/>
            </a:pPr>
            <a:endParaRPr lang="en-IN" dirty="0"/>
          </a:p>
          <a:p>
            <a:pPr algn="ctr">
              <a:buNone/>
            </a:pPr>
            <a:endParaRPr lang="en-IN" dirty="0" smtClean="0"/>
          </a:p>
          <a:p>
            <a:pPr algn="ctr">
              <a:buNone/>
            </a:pPr>
            <a:endParaRPr lang="en-IN" sz="36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200</Words>
  <Application>Microsoft Office PowerPoint</Application>
  <PresentationFormat>Custom</PresentationFormat>
  <Paragraphs>73</Paragraphs>
  <Slides>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Office Theme</vt:lpstr>
      <vt:lpstr>Equation</vt:lpstr>
      <vt:lpstr>Slide 1</vt:lpstr>
      <vt:lpstr>BOOKS</vt:lpstr>
      <vt:lpstr>THERMAL SYSTEM</vt:lpstr>
      <vt:lpstr>THERMAL SYSTEM</vt:lpstr>
      <vt:lpstr>THERMAL SYSTEM</vt:lpstr>
      <vt:lpstr>THERMAL SYSTEM</vt:lpstr>
      <vt:lpstr>Slide 7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SHS</dc:creator>
  <cp:lastModifiedBy>syed hasan saeed</cp:lastModifiedBy>
  <cp:revision>50</cp:revision>
  <dcterms:created xsi:type="dcterms:W3CDTF">2020-04-11T12:13:45Z</dcterms:created>
  <dcterms:modified xsi:type="dcterms:W3CDTF">2022-02-22T06:23:54Z</dcterms:modified>
</cp:coreProperties>
</file>