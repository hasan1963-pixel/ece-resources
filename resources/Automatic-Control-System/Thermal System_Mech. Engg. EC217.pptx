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0" r:id="rId4"/>
    <p:sldId id="261" r:id="rId5"/>
    <p:sldId id="265" r:id="rId6"/>
    <p:sldId id="266" r:id="rId7"/>
    <p:sldId id="267" r:id="rId8"/>
    <p:sldId id="262" r:id="rId9"/>
    <p:sldId id="264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2" y="84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41737-FE3A-4D27-BDA4-2639D345A9A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4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7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5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2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9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2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sansaeedcontrol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hasansaeedcontrol@gmail.com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 hasansaeed872726549.wordpress.com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3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5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236760" y="601880"/>
          <a:ext cx="8215370" cy="585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3680" imgH="2895480" progId="Equation.3">
                  <p:embed/>
                </p:oleObj>
              </mc:Choice>
              <mc:Fallback>
                <p:oleObj name="Equation" r:id="rId2" imgW="4063680" imgH="2895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60" y="601880"/>
                        <a:ext cx="8215370" cy="58557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9"/>
              <p:cNvSpPr txBox="1"/>
              <p:nvPr/>
            </p:nvSpPr>
            <p:spPr bwMode="auto">
              <a:xfrm>
                <a:off x="893762" y="476471"/>
                <a:ext cx="10401300" cy="505936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heat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flow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also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related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increase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body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tepmerature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as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den>
                      </m:f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−−−−−−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mass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specific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heat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body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den>
                      </m:f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increase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body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tepmerature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𝐶𝑝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equivalent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thermal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capacitance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Equation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becomes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i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den>
                      </m:f>
                      <m:r>
                        <m:rPr>
                          <m:nor/>
                        </m:rPr>
                        <a:rPr lang="en-IN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 −−−−−− 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762" y="476471"/>
                <a:ext cx="10401300" cy="5059362"/>
              </a:xfrm>
              <a:prstGeom prst="rect">
                <a:avLst/>
              </a:prstGeom>
              <a:blipFill>
                <a:blip r:embed="rId2"/>
                <a:stretch>
                  <a:fillRect b="-162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522380" y="785794"/>
          <a:ext cx="9240838" cy="512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5240" imgH="2387520" progId="Equation.3">
                  <p:embed/>
                </p:oleObj>
              </mc:Choice>
              <mc:Fallback>
                <p:oleObj name="Equation" r:id="rId2" imgW="4305240" imgH="23875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380" y="785794"/>
                        <a:ext cx="9240838" cy="512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79702" y="714356"/>
          <a:ext cx="53371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660240" progId="Equation.3">
                  <p:embed/>
                </p:oleObj>
              </mc:Choice>
              <mc:Fallback>
                <p:oleObj name="Equation" r:id="rId2" imgW="2476440" imgH="6602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02" y="714356"/>
                        <a:ext cx="5337175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" name="Group 78"/>
          <p:cNvGrpSpPr/>
          <p:nvPr/>
        </p:nvGrpSpPr>
        <p:grpSpPr>
          <a:xfrm>
            <a:off x="419476" y="2285992"/>
            <a:ext cx="6918195" cy="3620242"/>
            <a:chOff x="1236628" y="1974567"/>
            <a:chExt cx="6918195" cy="3669011"/>
          </a:xfrm>
        </p:grpSpPr>
        <p:grpSp>
          <p:nvGrpSpPr>
            <p:cNvPr id="9" name="Group 8"/>
            <p:cNvGrpSpPr/>
            <p:nvPr/>
          </p:nvGrpSpPr>
          <p:grpSpPr>
            <a:xfrm>
              <a:off x="1236628" y="1974567"/>
              <a:ext cx="6918195" cy="3669011"/>
              <a:chOff x="2968506" y="91872"/>
              <a:chExt cx="6918195" cy="3669011"/>
            </a:xfrm>
          </p:grpSpPr>
          <p:grpSp>
            <p:nvGrpSpPr>
              <p:cNvPr id="11" name="Group 10"/>
              <p:cNvGrpSpPr>
                <a:grpSpLocks/>
              </p:cNvGrpSpPr>
              <p:nvPr/>
            </p:nvGrpSpPr>
            <p:grpSpPr bwMode="auto">
              <a:xfrm>
                <a:off x="3290466" y="1571612"/>
                <a:ext cx="3769177" cy="500066"/>
                <a:chOff x="-1800" y="2700"/>
                <a:chExt cx="15995" cy="1440"/>
              </a:xfrm>
            </p:grpSpPr>
            <p:cxnSp>
              <p:nvCxnSpPr>
                <p:cNvPr id="26" name="AutoShape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3240" y="270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" name="AutoShape 4"/>
                <p:cNvCxnSpPr>
                  <a:cxnSpLocks noChangeShapeType="1"/>
                </p:cNvCxnSpPr>
                <p:nvPr/>
              </p:nvCxnSpPr>
              <p:spPr bwMode="auto">
                <a:xfrm>
                  <a:off x="360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8" name="AutoShape 5"/>
                <p:cNvCxnSpPr>
                  <a:cxnSpLocks noChangeShapeType="1"/>
                </p:cNvCxnSpPr>
                <p:nvPr/>
              </p:nvCxnSpPr>
              <p:spPr bwMode="auto">
                <a:xfrm flipV="1">
                  <a:off x="432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" name="AutoShape 6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504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" name="AutoShape 7"/>
                <p:cNvCxnSpPr>
                  <a:cxnSpLocks noChangeShapeType="1"/>
                </p:cNvCxnSpPr>
                <p:nvPr/>
              </p:nvCxnSpPr>
              <p:spPr bwMode="auto">
                <a:xfrm flipH="1">
                  <a:off x="576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1" name="AutoShape 8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648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2" name="AutoShape 9"/>
                <p:cNvCxnSpPr>
                  <a:cxnSpLocks noChangeShapeType="1"/>
                </p:cNvCxnSpPr>
                <p:nvPr/>
              </p:nvCxnSpPr>
              <p:spPr bwMode="auto">
                <a:xfrm>
                  <a:off x="2520" y="3420"/>
                  <a:ext cx="72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3" name="AutoShape 10"/>
                <p:cNvCxnSpPr>
                  <a:cxnSpLocks noChangeShapeType="1"/>
                </p:cNvCxnSpPr>
                <p:nvPr/>
              </p:nvCxnSpPr>
              <p:spPr bwMode="auto">
                <a:xfrm flipV="1">
                  <a:off x="3240" y="270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4" name="AutoShape 11"/>
                <p:cNvCxnSpPr>
                  <a:cxnSpLocks noChangeShapeType="1"/>
                </p:cNvCxnSpPr>
                <p:nvPr/>
              </p:nvCxnSpPr>
              <p:spPr bwMode="auto">
                <a:xfrm>
                  <a:off x="360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5" name="AutoShape 12"/>
                <p:cNvCxnSpPr>
                  <a:cxnSpLocks noChangeShapeType="1"/>
                </p:cNvCxnSpPr>
                <p:nvPr/>
              </p:nvCxnSpPr>
              <p:spPr bwMode="auto">
                <a:xfrm>
                  <a:off x="-1800" y="3420"/>
                  <a:ext cx="4656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6" name="AutoShape 13"/>
                <p:cNvCxnSpPr>
                  <a:cxnSpLocks noChangeShapeType="1"/>
                </p:cNvCxnSpPr>
                <p:nvPr/>
              </p:nvCxnSpPr>
              <p:spPr bwMode="auto">
                <a:xfrm flipV="1">
                  <a:off x="7200" y="342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7" name="AutoShape 14"/>
                <p:cNvCxnSpPr>
                  <a:cxnSpLocks noChangeShapeType="1"/>
                </p:cNvCxnSpPr>
                <p:nvPr/>
              </p:nvCxnSpPr>
              <p:spPr bwMode="auto">
                <a:xfrm>
                  <a:off x="7598" y="3420"/>
                  <a:ext cx="6597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 type="none"/>
                </a:ln>
              </p:spPr>
            </p:cxnSp>
          </p:grpSp>
          <p:grpSp>
            <p:nvGrpSpPr>
              <p:cNvPr id="12" name="Group 15"/>
              <p:cNvGrpSpPr>
                <a:grpSpLocks/>
              </p:cNvGrpSpPr>
              <p:nvPr/>
            </p:nvGrpSpPr>
            <p:grpSpPr bwMode="auto">
              <a:xfrm rot="5400000">
                <a:off x="9884924" y="93649"/>
                <a:ext cx="3553" cy="0"/>
                <a:chOff x="3167" y="6120"/>
                <a:chExt cx="3553" cy="0"/>
              </a:xfrm>
            </p:grpSpPr>
            <p:cxnSp>
              <p:nvCxnSpPr>
                <p:cNvPr id="22" name="AutoShape 20"/>
                <p:cNvCxnSpPr>
                  <a:cxnSpLocks noChangeShapeType="1"/>
                </p:cNvCxnSpPr>
                <p:nvPr/>
              </p:nvCxnSpPr>
              <p:spPr bwMode="auto">
                <a:xfrm>
                  <a:off x="5040" y="6120"/>
                  <a:ext cx="168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3" name="AutoShape 21"/>
                <p:cNvCxnSpPr>
                  <a:cxnSpLocks noChangeShapeType="1"/>
                </p:cNvCxnSpPr>
                <p:nvPr/>
              </p:nvCxnSpPr>
              <p:spPr bwMode="auto">
                <a:xfrm>
                  <a:off x="3167" y="6120"/>
                  <a:ext cx="168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13" name="Straight Connector 12"/>
              <p:cNvCxnSpPr/>
              <p:nvPr/>
            </p:nvCxnSpPr>
            <p:spPr>
              <a:xfrm rot="10800000">
                <a:off x="3272752" y="3759295"/>
                <a:ext cx="3786214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68506" y="2500306"/>
                <a:ext cx="642942" cy="64294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2938817" y="2157405"/>
                <a:ext cx="6858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16200000" flipH="1">
                <a:off x="2984255" y="3450289"/>
                <a:ext cx="59436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35"/>
              <p:cNvGrpSpPr/>
              <p:nvPr/>
            </p:nvGrpSpPr>
            <p:grpSpPr>
              <a:xfrm>
                <a:off x="3094014" y="2714621"/>
                <a:ext cx="372793" cy="274321"/>
                <a:chOff x="7880362" y="2357430"/>
                <a:chExt cx="3757077" cy="1774644"/>
              </a:xfrm>
            </p:grpSpPr>
            <p:sp>
              <p:nvSpPr>
                <p:cNvPr id="18" name="Freeform 17"/>
                <p:cNvSpPr/>
                <p:nvPr/>
              </p:nvSpPr>
              <p:spPr>
                <a:xfrm>
                  <a:off x="7880362" y="2357430"/>
                  <a:ext cx="1855694" cy="917388"/>
                </a:xfrm>
                <a:custGeom>
                  <a:avLst/>
                  <a:gdLst>
                    <a:gd name="connsiteX0" fmla="*/ 0 w 1855694"/>
                    <a:gd name="connsiteY0" fmla="*/ 917388 h 917388"/>
                    <a:gd name="connsiteX1" fmla="*/ 905436 w 1855694"/>
                    <a:gd name="connsiteY1" fmla="*/ 2988 h 917388"/>
                    <a:gd name="connsiteX2" fmla="*/ 1855694 w 1855694"/>
                    <a:gd name="connsiteY2" fmla="*/ 899459 h 917388"/>
                    <a:gd name="connsiteX3" fmla="*/ 1855694 w 1855694"/>
                    <a:gd name="connsiteY3" fmla="*/ 899459 h 9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5694" h="917388">
                      <a:moveTo>
                        <a:pt x="0" y="917388"/>
                      </a:moveTo>
                      <a:cubicBezTo>
                        <a:pt x="298077" y="461682"/>
                        <a:pt x="596154" y="5976"/>
                        <a:pt x="905436" y="2988"/>
                      </a:cubicBezTo>
                      <a:cubicBezTo>
                        <a:pt x="1214718" y="0"/>
                        <a:pt x="1855694" y="899459"/>
                        <a:pt x="1855694" y="899459"/>
                      </a:cubicBezTo>
                      <a:lnTo>
                        <a:pt x="1855694" y="899459"/>
                      </a:lnTo>
                    </a:path>
                  </a:pathLst>
                </a:cu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 flipV="1">
                  <a:off x="9781748" y="3214683"/>
                  <a:ext cx="1855691" cy="917391"/>
                </a:xfrm>
                <a:custGeom>
                  <a:avLst/>
                  <a:gdLst>
                    <a:gd name="connsiteX0" fmla="*/ 0 w 1855694"/>
                    <a:gd name="connsiteY0" fmla="*/ 917388 h 917388"/>
                    <a:gd name="connsiteX1" fmla="*/ 905436 w 1855694"/>
                    <a:gd name="connsiteY1" fmla="*/ 2988 h 917388"/>
                    <a:gd name="connsiteX2" fmla="*/ 1855694 w 1855694"/>
                    <a:gd name="connsiteY2" fmla="*/ 899459 h 917388"/>
                    <a:gd name="connsiteX3" fmla="*/ 1855694 w 1855694"/>
                    <a:gd name="connsiteY3" fmla="*/ 899459 h 9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5694" h="917388">
                      <a:moveTo>
                        <a:pt x="0" y="917388"/>
                      </a:moveTo>
                      <a:cubicBezTo>
                        <a:pt x="298077" y="461682"/>
                        <a:pt x="596154" y="5976"/>
                        <a:pt x="905436" y="2988"/>
                      </a:cubicBezTo>
                      <a:cubicBezTo>
                        <a:pt x="1214718" y="0"/>
                        <a:pt x="1855694" y="899459"/>
                        <a:pt x="1855694" y="899459"/>
                      </a:cubicBezTo>
                      <a:lnTo>
                        <a:pt x="1855694" y="899459"/>
                      </a:lnTo>
                    </a:path>
                  </a:pathLst>
                </a:cu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1" name="Group 70"/>
            <p:cNvGrpSpPr/>
            <p:nvPr/>
          </p:nvGrpSpPr>
          <p:grpSpPr>
            <a:xfrm>
              <a:off x="5077201" y="3694949"/>
              <a:ext cx="500066" cy="1933617"/>
              <a:chOff x="5077201" y="3694949"/>
              <a:chExt cx="500066" cy="1933617"/>
            </a:xfrm>
          </p:grpSpPr>
          <p:cxnSp>
            <p:nvCxnSpPr>
              <p:cNvPr id="38" name="AutoShape 16"/>
              <p:cNvCxnSpPr>
                <a:cxnSpLocks noChangeShapeType="1"/>
              </p:cNvCxnSpPr>
              <p:nvPr/>
            </p:nvCxnSpPr>
            <p:spPr bwMode="auto">
              <a:xfrm rot="5400000">
                <a:off x="5327929" y="4366977"/>
                <a:ext cx="0" cy="498677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39" name="Arc 18"/>
              <p:cNvSpPr>
                <a:spLocks/>
              </p:cNvSpPr>
              <p:nvPr/>
            </p:nvSpPr>
            <p:spPr bwMode="auto">
              <a:xfrm rot="16200000">
                <a:off x="5153238" y="4638239"/>
                <a:ext cx="97960" cy="25003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Arc 19"/>
              <p:cNvSpPr>
                <a:spLocks/>
              </p:cNvSpPr>
              <p:nvPr/>
            </p:nvSpPr>
            <p:spPr bwMode="auto">
              <a:xfrm rot="16200000" flipV="1">
                <a:off x="5403271" y="4638239"/>
                <a:ext cx="97960" cy="25003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41" name="AutoShape 20"/>
              <p:cNvCxnSpPr>
                <a:cxnSpLocks noChangeShapeType="1"/>
              </p:cNvCxnSpPr>
              <p:nvPr/>
            </p:nvCxnSpPr>
            <p:spPr bwMode="auto">
              <a:xfrm rot="5400000">
                <a:off x="4870089" y="5171421"/>
                <a:ext cx="914291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2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870089" y="4152095"/>
                <a:ext cx="914291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2205426" y="3292510"/>
          <a:ext cx="453842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15640" progId="Equation.3">
                  <p:embed/>
                </p:oleObj>
              </mc:Choice>
              <mc:Fallback>
                <p:oleObj name="Equation" r:id="rId4" imgW="2286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426" y="3292510"/>
                        <a:ext cx="453842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789773" y="4786313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15640" progId="Equation.3">
                  <p:embed/>
                </p:oleObj>
              </mc:Choice>
              <mc:Fallback>
                <p:oleObj name="Equation" r:id="rId6" imgW="2156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773" y="4786313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/>
          <p:cNvGraphicFramePr>
            <a:graphicFrameLocks noChangeAspect="1"/>
          </p:cNvGraphicFramePr>
          <p:nvPr/>
        </p:nvGraphicFramePr>
        <p:xfrm>
          <a:off x="809192" y="5328642"/>
          <a:ext cx="66675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28600" progId="Equation.3">
                  <p:embed/>
                </p:oleObj>
              </mc:Choice>
              <mc:Fallback>
                <p:oleObj name="Equation" r:id="rId8" imgW="35532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192" y="5328642"/>
                        <a:ext cx="666754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800511" y="4222214"/>
          <a:ext cx="6191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203040" progId="Equation.3">
                  <p:embed/>
                </p:oleObj>
              </mc:Choice>
              <mc:Fallback>
                <p:oleObj name="Equation" r:id="rId10" imgW="33012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511" y="4222214"/>
                        <a:ext cx="6191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3" name="Straight Connector 82"/>
          <p:cNvCxnSpPr/>
          <p:nvPr/>
        </p:nvCxnSpPr>
        <p:spPr>
          <a:xfrm>
            <a:off x="4806378" y="4000504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816106" y="5896804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>
            <a:off x="4767466" y="5601324"/>
            <a:ext cx="571504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16200000" flipV="1">
            <a:off x="4777988" y="4285462"/>
            <a:ext cx="571504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4812123" y="4738688"/>
          <a:ext cx="595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203040" progId="Equation.3">
                  <p:embed/>
                </p:oleObj>
              </mc:Choice>
              <mc:Fallback>
                <p:oleObj name="Equation" r:id="rId12" imgW="31716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123" y="4738688"/>
                        <a:ext cx="5953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5665784" y="3143248"/>
          <a:ext cx="6286544" cy="3089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0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itchFamily="18" charset="0"/>
                          <a:cs typeface="Times New Roman" pitchFamily="18" charset="0"/>
                        </a:rPr>
                        <a:t>THERMAL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itchFamily="18" charset="0"/>
                          <a:cs typeface="Times New Roman" pitchFamily="18" charset="0"/>
                        </a:rPr>
                        <a:t>ELECTRICAL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04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Temperature  T </a:t>
                      </a:r>
                      <a:r>
                        <a:rPr lang="en-US" sz="2200" baseline="-25000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Voltage  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04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Heat flow rate Q(t)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Current  I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65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Thermal Resistance</a:t>
                      </a:r>
                      <a:r>
                        <a:rPr lang="en-US" sz="2200" baseline="0" dirty="0">
                          <a:latin typeface="Times New Roman" pitchFamily="18" charset="0"/>
                          <a:cs typeface="Times New Roman" pitchFamily="18" charset="0"/>
                        </a:rPr>
                        <a:t>  R</a:t>
                      </a:r>
                      <a:r>
                        <a:rPr lang="en-US" sz="2200" baseline="-25000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Electrical Resistance  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65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Thermal Capacitance  C</a:t>
                      </a:r>
                      <a:r>
                        <a:rPr lang="en-US" sz="2200" baseline="-25000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Electrical Capacitance  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593686" y="2500306"/>
            <a:ext cx="614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TEMPERATURE-VOLTAGE ANALOGY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pSp>
        <p:nvGrpSpPr>
          <p:cNvPr id="2" name="Group 78"/>
          <p:cNvGrpSpPr/>
          <p:nvPr/>
        </p:nvGrpSpPr>
        <p:grpSpPr>
          <a:xfrm>
            <a:off x="419476" y="87464"/>
            <a:ext cx="6918195" cy="3620242"/>
            <a:chOff x="1236628" y="1974567"/>
            <a:chExt cx="6918195" cy="3669011"/>
          </a:xfrm>
        </p:grpSpPr>
        <p:grpSp>
          <p:nvGrpSpPr>
            <p:cNvPr id="3" name="Group 8"/>
            <p:cNvGrpSpPr/>
            <p:nvPr/>
          </p:nvGrpSpPr>
          <p:grpSpPr>
            <a:xfrm>
              <a:off x="1236628" y="1974567"/>
              <a:ext cx="6918195" cy="3669011"/>
              <a:chOff x="2968506" y="91872"/>
              <a:chExt cx="6918195" cy="3669011"/>
            </a:xfrm>
          </p:grpSpPr>
          <p:grpSp>
            <p:nvGrpSpPr>
              <p:cNvPr id="9" name="Group 10"/>
              <p:cNvGrpSpPr>
                <a:grpSpLocks/>
              </p:cNvGrpSpPr>
              <p:nvPr/>
            </p:nvGrpSpPr>
            <p:grpSpPr bwMode="auto">
              <a:xfrm>
                <a:off x="3290466" y="1571612"/>
                <a:ext cx="3769177" cy="500066"/>
                <a:chOff x="-1800" y="2700"/>
                <a:chExt cx="15995" cy="1440"/>
              </a:xfrm>
            </p:grpSpPr>
            <p:cxnSp>
              <p:nvCxnSpPr>
                <p:cNvPr id="26" name="AutoShape 3"/>
                <p:cNvCxnSpPr>
                  <a:cxnSpLocks noChangeShapeType="1"/>
                </p:cNvCxnSpPr>
                <p:nvPr/>
              </p:nvCxnSpPr>
              <p:spPr bwMode="auto">
                <a:xfrm flipV="1">
                  <a:off x="3240" y="270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" name="AutoShape 4"/>
                <p:cNvCxnSpPr>
                  <a:cxnSpLocks noChangeShapeType="1"/>
                </p:cNvCxnSpPr>
                <p:nvPr/>
              </p:nvCxnSpPr>
              <p:spPr bwMode="auto">
                <a:xfrm>
                  <a:off x="360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8" name="AutoShape 5"/>
                <p:cNvCxnSpPr>
                  <a:cxnSpLocks noChangeShapeType="1"/>
                </p:cNvCxnSpPr>
                <p:nvPr/>
              </p:nvCxnSpPr>
              <p:spPr bwMode="auto">
                <a:xfrm flipV="1">
                  <a:off x="432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9" name="AutoShape 6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504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" name="AutoShape 7"/>
                <p:cNvCxnSpPr>
                  <a:cxnSpLocks noChangeShapeType="1"/>
                </p:cNvCxnSpPr>
                <p:nvPr/>
              </p:nvCxnSpPr>
              <p:spPr bwMode="auto">
                <a:xfrm flipH="1">
                  <a:off x="576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1" name="AutoShape 8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648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2" name="AutoShape 9"/>
                <p:cNvCxnSpPr>
                  <a:cxnSpLocks noChangeShapeType="1"/>
                </p:cNvCxnSpPr>
                <p:nvPr/>
              </p:nvCxnSpPr>
              <p:spPr bwMode="auto">
                <a:xfrm>
                  <a:off x="2520" y="3420"/>
                  <a:ext cx="72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3" name="AutoShape 10"/>
                <p:cNvCxnSpPr>
                  <a:cxnSpLocks noChangeShapeType="1"/>
                </p:cNvCxnSpPr>
                <p:nvPr/>
              </p:nvCxnSpPr>
              <p:spPr bwMode="auto">
                <a:xfrm flipV="1">
                  <a:off x="3240" y="270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4" name="AutoShape 11"/>
                <p:cNvCxnSpPr>
                  <a:cxnSpLocks noChangeShapeType="1"/>
                </p:cNvCxnSpPr>
                <p:nvPr/>
              </p:nvCxnSpPr>
              <p:spPr bwMode="auto">
                <a:xfrm>
                  <a:off x="3600" y="2700"/>
                  <a:ext cx="720" cy="144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5" name="AutoShape 12"/>
                <p:cNvCxnSpPr>
                  <a:cxnSpLocks noChangeShapeType="1"/>
                </p:cNvCxnSpPr>
                <p:nvPr/>
              </p:nvCxnSpPr>
              <p:spPr bwMode="auto">
                <a:xfrm>
                  <a:off x="-1800" y="3420"/>
                  <a:ext cx="4656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6" name="AutoShape 13"/>
                <p:cNvCxnSpPr>
                  <a:cxnSpLocks noChangeShapeType="1"/>
                </p:cNvCxnSpPr>
                <p:nvPr/>
              </p:nvCxnSpPr>
              <p:spPr bwMode="auto">
                <a:xfrm flipV="1">
                  <a:off x="7200" y="3420"/>
                  <a:ext cx="360" cy="72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7" name="AutoShape 14"/>
                <p:cNvCxnSpPr>
                  <a:cxnSpLocks noChangeShapeType="1"/>
                </p:cNvCxnSpPr>
                <p:nvPr/>
              </p:nvCxnSpPr>
              <p:spPr bwMode="auto">
                <a:xfrm>
                  <a:off x="7598" y="3420"/>
                  <a:ext cx="6597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 type="none"/>
                </a:ln>
              </p:spPr>
            </p:cxnSp>
          </p:grpSp>
          <p:grpSp>
            <p:nvGrpSpPr>
              <p:cNvPr id="10" name="Group 15"/>
              <p:cNvGrpSpPr>
                <a:grpSpLocks/>
              </p:cNvGrpSpPr>
              <p:nvPr/>
            </p:nvGrpSpPr>
            <p:grpSpPr bwMode="auto">
              <a:xfrm rot="5400000">
                <a:off x="9884924" y="93649"/>
                <a:ext cx="3553" cy="0"/>
                <a:chOff x="3167" y="6120"/>
                <a:chExt cx="3553" cy="0"/>
              </a:xfrm>
            </p:grpSpPr>
            <p:cxnSp>
              <p:nvCxnSpPr>
                <p:cNvPr id="22" name="AutoShape 20"/>
                <p:cNvCxnSpPr>
                  <a:cxnSpLocks noChangeShapeType="1"/>
                </p:cNvCxnSpPr>
                <p:nvPr/>
              </p:nvCxnSpPr>
              <p:spPr bwMode="auto">
                <a:xfrm>
                  <a:off x="5040" y="6120"/>
                  <a:ext cx="168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3" name="AutoShape 21"/>
                <p:cNvCxnSpPr>
                  <a:cxnSpLocks noChangeShapeType="1"/>
                </p:cNvCxnSpPr>
                <p:nvPr/>
              </p:nvCxnSpPr>
              <p:spPr bwMode="auto">
                <a:xfrm>
                  <a:off x="3167" y="6120"/>
                  <a:ext cx="1680" cy="0"/>
                </a:xfrm>
                <a:prstGeom prst="straightConnector1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13" name="Straight Connector 12"/>
              <p:cNvCxnSpPr/>
              <p:nvPr/>
            </p:nvCxnSpPr>
            <p:spPr>
              <a:xfrm rot="10800000">
                <a:off x="3272752" y="3759295"/>
                <a:ext cx="3786214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68506" y="2500306"/>
                <a:ext cx="642942" cy="64294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2938817" y="2157405"/>
                <a:ext cx="6858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16200000" flipH="1">
                <a:off x="2984255" y="3450289"/>
                <a:ext cx="59436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35"/>
              <p:cNvGrpSpPr/>
              <p:nvPr/>
            </p:nvGrpSpPr>
            <p:grpSpPr>
              <a:xfrm>
                <a:off x="3094014" y="2714621"/>
                <a:ext cx="372793" cy="274321"/>
                <a:chOff x="7880362" y="2357430"/>
                <a:chExt cx="3757077" cy="1774644"/>
              </a:xfrm>
            </p:grpSpPr>
            <p:sp>
              <p:nvSpPr>
                <p:cNvPr id="18" name="Freeform 17"/>
                <p:cNvSpPr/>
                <p:nvPr/>
              </p:nvSpPr>
              <p:spPr>
                <a:xfrm>
                  <a:off x="7880362" y="2357430"/>
                  <a:ext cx="1855694" cy="917388"/>
                </a:xfrm>
                <a:custGeom>
                  <a:avLst/>
                  <a:gdLst>
                    <a:gd name="connsiteX0" fmla="*/ 0 w 1855694"/>
                    <a:gd name="connsiteY0" fmla="*/ 917388 h 917388"/>
                    <a:gd name="connsiteX1" fmla="*/ 905436 w 1855694"/>
                    <a:gd name="connsiteY1" fmla="*/ 2988 h 917388"/>
                    <a:gd name="connsiteX2" fmla="*/ 1855694 w 1855694"/>
                    <a:gd name="connsiteY2" fmla="*/ 899459 h 917388"/>
                    <a:gd name="connsiteX3" fmla="*/ 1855694 w 1855694"/>
                    <a:gd name="connsiteY3" fmla="*/ 899459 h 9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5694" h="917388">
                      <a:moveTo>
                        <a:pt x="0" y="917388"/>
                      </a:moveTo>
                      <a:cubicBezTo>
                        <a:pt x="298077" y="461682"/>
                        <a:pt x="596154" y="5976"/>
                        <a:pt x="905436" y="2988"/>
                      </a:cubicBezTo>
                      <a:cubicBezTo>
                        <a:pt x="1214718" y="0"/>
                        <a:pt x="1855694" y="899459"/>
                        <a:pt x="1855694" y="899459"/>
                      </a:cubicBezTo>
                      <a:lnTo>
                        <a:pt x="1855694" y="899459"/>
                      </a:lnTo>
                    </a:path>
                  </a:pathLst>
                </a:cu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 flipV="1">
                  <a:off x="9781748" y="3214683"/>
                  <a:ext cx="1855691" cy="917391"/>
                </a:xfrm>
                <a:custGeom>
                  <a:avLst/>
                  <a:gdLst>
                    <a:gd name="connsiteX0" fmla="*/ 0 w 1855694"/>
                    <a:gd name="connsiteY0" fmla="*/ 917388 h 917388"/>
                    <a:gd name="connsiteX1" fmla="*/ 905436 w 1855694"/>
                    <a:gd name="connsiteY1" fmla="*/ 2988 h 917388"/>
                    <a:gd name="connsiteX2" fmla="*/ 1855694 w 1855694"/>
                    <a:gd name="connsiteY2" fmla="*/ 899459 h 917388"/>
                    <a:gd name="connsiteX3" fmla="*/ 1855694 w 1855694"/>
                    <a:gd name="connsiteY3" fmla="*/ 899459 h 91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5694" h="917388">
                      <a:moveTo>
                        <a:pt x="0" y="917388"/>
                      </a:moveTo>
                      <a:cubicBezTo>
                        <a:pt x="298077" y="461682"/>
                        <a:pt x="596154" y="5976"/>
                        <a:pt x="905436" y="2988"/>
                      </a:cubicBezTo>
                      <a:cubicBezTo>
                        <a:pt x="1214718" y="0"/>
                        <a:pt x="1855694" y="899459"/>
                        <a:pt x="1855694" y="899459"/>
                      </a:cubicBezTo>
                      <a:lnTo>
                        <a:pt x="1855694" y="899459"/>
                      </a:lnTo>
                    </a:path>
                  </a:pathLst>
                </a:cu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" name="Group 70"/>
            <p:cNvGrpSpPr/>
            <p:nvPr/>
          </p:nvGrpSpPr>
          <p:grpSpPr>
            <a:xfrm>
              <a:off x="5077201" y="3694949"/>
              <a:ext cx="500066" cy="1933617"/>
              <a:chOff x="5077201" y="3694949"/>
              <a:chExt cx="500066" cy="1933617"/>
            </a:xfrm>
          </p:grpSpPr>
          <p:cxnSp>
            <p:nvCxnSpPr>
              <p:cNvPr id="38" name="AutoShape 16"/>
              <p:cNvCxnSpPr>
                <a:cxnSpLocks noChangeShapeType="1"/>
              </p:cNvCxnSpPr>
              <p:nvPr/>
            </p:nvCxnSpPr>
            <p:spPr bwMode="auto">
              <a:xfrm rot="5400000">
                <a:off x="5327929" y="4366977"/>
                <a:ext cx="0" cy="498677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39" name="Arc 18"/>
              <p:cNvSpPr>
                <a:spLocks/>
              </p:cNvSpPr>
              <p:nvPr/>
            </p:nvSpPr>
            <p:spPr bwMode="auto">
              <a:xfrm rot="16200000">
                <a:off x="5153238" y="4638239"/>
                <a:ext cx="97960" cy="25003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Arc 19"/>
              <p:cNvSpPr>
                <a:spLocks/>
              </p:cNvSpPr>
              <p:nvPr/>
            </p:nvSpPr>
            <p:spPr bwMode="auto">
              <a:xfrm rot="16200000" flipV="1">
                <a:off x="5403271" y="4638239"/>
                <a:ext cx="97960" cy="25003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41" name="AutoShape 20"/>
              <p:cNvCxnSpPr>
                <a:cxnSpLocks noChangeShapeType="1"/>
              </p:cNvCxnSpPr>
              <p:nvPr/>
            </p:nvCxnSpPr>
            <p:spPr bwMode="auto">
              <a:xfrm rot="5400000">
                <a:off x="4870089" y="5171421"/>
                <a:ext cx="914291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2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870089" y="4152095"/>
                <a:ext cx="914291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2266950" y="1144588"/>
          <a:ext cx="3286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164880" progId="Equation.3">
                  <p:embed/>
                </p:oleObj>
              </mc:Choice>
              <mc:Fallback>
                <p:oleObj name="Equation" r:id="rId2" imgW="164880" imgH="164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1144588"/>
                        <a:ext cx="32861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851275" y="2624138"/>
          <a:ext cx="3032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177480" progId="Equation.3">
                  <p:embed/>
                </p:oleObj>
              </mc:Choice>
              <mc:Fallback>
                <p:oleObj name="Equation" r:id="rId4" imgW="15228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24138"/>
                        <a:ext cx="303213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/>
          <p:cNvGraphicFramePr>
            <a:graphicFrameLocks noChangeAspect="1"/>
          </p:cNvGraphicFramePr>
          <p:nvPr/>
        </p:nvGraphicFramePr>
        <p:xfrm>
          <a:off x="1113208" y="2513375"/>
          <a:ext cx="357190" cy="506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215640" progId="Equation.3">
                  <p:embed/>
                </p:oleObj>
              </mc:Choice>
              <mc:Fallback>
                <p:oleObj name="Equation" r:id="rId6" imgW="1522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208" y="2513375"/>
                        <a:ext cx="357190" cy="5060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1022314" y="1214422"/>
          <a:ext cx="476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00" imgH="203040" progId="Equation.3">
                  <p:embed/>
                </p:oleObj>
              </mc:Choice>
              <mc:Fallback>
                <p:oleObj name="Equation" r:id="rId8" imgW="25380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14" y="1214422"/>
                        <a:ext cx="476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3" name="Straight Connector 82"/>
          <p:cNvCxnSpPr/>
          <p:nvPr/>
        </p:nvCxnSpPr>
        <p:spPr>
          <a:xfrm>
            <a:off x="4806378" y="1792248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816106" y="3688548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>
            <a:off x="4767466" y="3393068"/>
            <a:ext cx="571504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rot="16200000" flipV="1">
            <a:off x="4777988" y="2077206"/>
            <a:ext cx="571504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4807356" y="2516188"/>
          <a:ext cx="642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228600" progId="Equation.3">
                  <p:embed/>
                </p:oleObj>
              </mc:Choice>
              <mc:Fallback>
                <p:oleObj name="Equation" r:id="rId10" imgW="3427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356" y="2516188"/>
                        <a:ext cx="6429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593686" y="538443"/>
            <a:ext cx="614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RC CIRCUIT (VOLTAGE SOURCE)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1022314" y="1643050"/>
            <a:ext cx="64008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2163000" y="2143116"/>
          <a:ext cx="69056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" imgH="215640" progId="Equation.3">
                  <p:embed/>
                </p:oleObj>
              </mc:Choice>
              <mc:Fallback>
                <p:oleObj name="Equation" r:id="rId12" imgW="36828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000" y="2143116"/>
                        <a:ext cx="690562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Straight Connector 52"/>
          <p:cNvCxnSpPr/>
          <p:nvPr/>
        </p:nvCxnSpPr>
        <p:spPr>
          <a:xfrm rot="5400000">
            <a:off x="3022429" y="2393149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2915272" y="2357430"/>
            <a:ext cx="35719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1623002" y="2380228"/>
            <a:ext cx="35719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1364035" y="2415153"/>
            <a:ext cx="500066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861215" y="558800"/>
          <a:ext cx="4948237" cy="597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55800" imgH="3327120" progId="Equation.3">
                  <p:embed/>
                </p:oleObj>
              </mc:Choice>
              <mc:Fallback>
                <p:oleObj name="Equation" r:id="rId14" imgW="2755800" imgH="33271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215" y="558800"/>
                        <a:ext cx="4948237" cy="597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Straight Connector 59"/>
          <p:cNvCxnSpPr/>
          <p:nvPr/>
        </p:nvCxnSpPr>
        <p:spPr>
          <a:xfrm rot="16200000" flipH="1">
            <a:off x="3629801" y="3679033"/>
            <a:ext cx="50720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85729"/>
            <a:ext cx="11998416" cy="6143668"/>
          </a:xfrm>
        </p:spPr>
        <p:txBody>
          <a:bodyPr/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0409" y="157818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3522644" y="1644838"/>
          <a:ext cx="5508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431640" progId="Equation.3">
                  <p:embed/>
                </p:oleObj>
              </mc:Choice>
              <mc:Fallback>
                <p:oleObj name="Equation" r:id="rId2" imgW="2664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44" y="1644838"/>
                        <a:ext cx="550862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5022842" y="1930590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15640" progId="Equation.3">
                  <p:embed/>
                </p:oleObj>
              </mc:Choice>
              <mc:Fallback>
                <p:oleObj name="Equation" r:id="rId4" imgW="2156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42" y="1930590"/>
                        <a:ext cx="444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>
            <a:grpSpLocks/>
          </p:cNvGrpSpPr>
          <p:nvPr/>
        </p:nvGrpSpPr>
        <p:grpSpPr bwMode="auto">
          <a:xfrm rot="16200000">
            <a:off x="1979763" y="1895711"/>
            <a:ext cx="2587595" cy="365760"/>
            <a:chOff x="-2022" y="2700"/>
            <a:chExt cx="14818" cy="1440"/>
          </a:xfrm>
        </p:grpSpPr>
        <p:cxnSp>
          <p:nvCxnSpPr>
            <p:cNvPr id="9" name="AutoShape 5"/>
            <p:cNvCxnSpPr>
              <a:cxnSpLocks noChangeShapeType="1"/>
            </p:cNvCxnSpPr>
            <p:nvPr/>
          </p:nvCxnSpPr>
          <p:spPr bwMode="auto">
            <a:xfrm flipV="1">
              <a:off x="4320" y="2700"/>
              <a:ext cx="720" cy="144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" name="AutoShape 6"/>
            <p:cNvCxnSpPr>
              <a:cxnSpLocks noChangeShapeType="1"/>
            </p:cNvCxnSpPr>
            <p:nvPr/>
          </p:nvCxnSpPr>
          <p:spPr bwMode="auto">
            <a:xfrm flipH="1" flipV="1">
              <a:off x="5040" y="2700"/>
              <a:ext cx="720" cy="144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" name="AutoShape 7"/>
            <p:cNvCxnSpPr>
              <a:cxnSpLocks noChangeShapeType="1"/>
            </p:cNvCxnSpPr>
            <p:nvPr/>
          </p:nvCxnSpPr>
          <p:spPr bwMode="auto">
            <a:xfrm flipH="1">
              <a:off x="5760" y="2700"/>
              <a:ext cx="720" cy="144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" name="AutoShape 8"/>
            <p:cNvCxnSpPr>
              <a:cxnSpLocks noChangeShapeType="1"/>
            </p:cNvCxnSpPr>
            <p:nvPr/>
          </p:nvCxnSpPr>
          <p:spPr bwMode="auto">
            <a:xfrm flipH="1" flipV="1">
              <a:off x="6480" y="2700"/>
              <a:ext cx="720" cy="144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" name="AutoShape 9"/>
            <p:cNvCxnSpPr>
              <a:cxnSpLocks noChangeShapeType="1"/>
            </p:cNvCxnSpPr>
            <p:nvPr/>
          </p:nvCxnSpPr>
          <p:spPr bwMode="auto">
            <a:xfrm flipV="1">
              <a:off x="3240" y="2700"/>
              <a:ext cx="360" cy="72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" name="AutoShape 10"/>
            <p:cNvCxnSpPr>
              <a:cxnSpLocks noChangeShapeType="1"/>
            </p:cNvCxnSpPr>
            <p:nvPr/>
          </p:nvCxnSpPr>
          <p:spPr bwMode="auto">
            <a:xfrm>
              <a:off x="3600" y="2700"/>
              <a:ext cx="720" cy="144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5" name="AutoShape 11"/>
            <p:cNvCxnSpPr>
              <a:cxnSpLocks noChangeShapeType="1"/>
            </p:cNvCxnSpPr>
            <p:nvPr/>
          </p:nvCxnSpPr>
          <p:spPr bwMode="auto">
            <a:xfrm>
              <a:off x="-2022" y="3420"/>
              <a:ext cx="5236" cy="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6" name="AutoShape 12"/>
            <p:cNvCxnSpPr>
              <a:cxnSpLocks noChangeShapeType="1"/>
            </p:cNvCxnSpPr>
            <p:nvPr/>
          </p:nvCxnSpPr>
          <p:spPr bwMode="auto">
            <a:xfrm flipV="1">
              <a:off x="7200" y="3420"/>
              <a:ext cx="360" cy="72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7" name="AutoShape 13"/>
            <p:cNvCxnSpPr>
              <a:cxnSpLocks noChangeShapeType="1"/>
            </p:cNvCxnSpPr>
            <p:nvPr/>
          </p:nvCxnSpPr>
          <p:spPr bwMode="auto">
            <a:xfrm>
              <a:off x="7560" y="3420"/>
              <a:ext cx="5236" cy="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8" name="Group 14"/>
          <p:cNvGrpSpPr>
            <a:grpSpLocks/>
          </p:cNvGrpSpPr>
          <p:nvPr/>
        </p:nvGrpSpPr>
        <p:grpSpPr bwMode="auto">
          <a:xfrm rot="5400000">
            <a:off x="4466492" y="1882622"/>
            <a:ext cx="2555836" cy="365760"/>
            <a:chOff x="-5345" y="10440"/>
            <a:chExt cx="22699" cy="2347"/>
          </a:xfrm>
        </p:grpSpPr>
        <p:grpSp>
          <p:nvGrpSpPr>
            <p:cNvPr id="19" name="Group 15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24" name="Arc 16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Arc 17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18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22" name="Arc 19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Arc 20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21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21526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27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528" name="Group 24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21529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30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1531" name="AutoShape 27"/>
            <p:cNvCxnSpPr>
              <a:cxnSpLocks noChangeShapeType="1"/>
            </p:cNvCxnSpPr>
            <p:nvPr/>
          </p:nvCxnSpPr>
          <p:spPr bwMode="auto">
            <a:xfrm flipH="1">
              <a:off x="-5345" y="11704"/>
              <a:ext cx="8608" cy="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1532" name="AutoShape 28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7634" cy="0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21533" name="Group 29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21534" name="Arc 30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35" name="Arc 31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536" name="Group 32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21537" name="Arc 33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38" name="Arc 34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539" name="Group 35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21540" name="Arc 36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41" name="Arc 37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21" name="Straight Connector 120"/>
          <p:cNvCxnSpPr/>
          <p:nvPr/>
        </p:nvCxnSpPr>
        <p:spPr>
          <a:xfrm>
            <a:off x="1379504" y="774512"/>
            <a:ext cx="4357718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1376256" y="3339894"/>
            <a:ext cx="4357718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1061226" y="1739074"/>
            <a:ext cx="640080" cy="64008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/>
          <p:cNvCxnSpPr/>
          <p:nvPr/>
        </p:nvCxnSpPr>
        <p:spPr>
          <a:xfrm rot="16200000" flipV="1">
            <a:off x="905429" y="2856091"/>
            <a:ext cx="951492" cy="334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rot="16200000" flipV="1">
            <a:off x="918499" y="1261657"/>
            <a:ext cx="951492" cy="334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rot="5400000" flipH="1" flipV="1">
            <a:off x="1129471" y="2057203"/>
            <a:ext cx="500066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543" name="Object 39"/>
          <p:cNvGraphicFramePr>
            <a:graphicFrameLocks noChangeAspect="1"/>
          </p:cNvGraphicFramePr>
          <p:nvPr/>
        </p:nvGraphicFramePr>
        <p:xfrm>
          <a:off x="2165322" y="1800784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15640" progId="Equation.3">
                  <p:embed/>
                </p:oleObj>
              </mc:Choice>
              <mc:Fallback>
                <p:oleObj name="Equation" r:id="rId6" imgW="215640" imgH="21564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22" y="1800784"/>
                        <a:ext cx="444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2" name="Straight Arrow Connector 131"/>
          <p:cNvCxnSpPr/>
          <p:nvPr/>
        </p:nvCxnSpPr>
        <p:spPr>
          <a:xfrm rot="5400000">
            <a:off x="1915289" y="2823565"/>
            <a:ext cx="928694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6200000" flipV="1">
            <a:off x="1916083" y="1251135"/>
            <a:ext cx="928694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544" name="Object 40"/>
          <p:cNvGraphicFramePr>
            <a:graphicFrameLocks noChangeAspect="1"/>
          </p:cNvGraphicFramePr>
          <p:nvPr/>
        </p:nvGraphicFramePr>
        <p:xfrm>
          <a:off x="4237024" y="859020"/>
          <a:ext cx="654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53800" progId="Equation.3">
                  <p:embed/>
                </p:oleObj>
              </mc:Choice>
              <mc:Fallback>
                <p:oleObj name="Equation" r:id="rId8" imgW="317160" imgH="2538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24" y="859020"/>
                        <a:ext cx="6540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5" name="Object 41"/>
          <p:cNvGraphicFramePr>
            <a:graphicFrameLocks noChangeAspect="1"/>
          </p:cNvGraphicFramePr>
          <p:nvPr/>
        </p:nvGraphicFramePr>
        <p:xfrm>
          <a:off x="350188" y="1820240"/>
          <a:ext cx="7064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215640" progId="Equation.3">
                  <p:embed/>
                </p:oleObj>
              </mc:Choice>
              <mc:Fallback>
                <p:oleObj name="Equation" r:id="rId10" imgW="342720" imgH="21564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188" y="1820240"/>
                        <a:ext cx="70643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4665652" y="3623560"/>
          <a:ext cx="6215106" cy="266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7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7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5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THERMAL SYSTEM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ELECTRICAL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17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Temperature  T(t)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Current   </a:t>
                      </a:r>
                      <a:r>
                        <a:rPr lang="en-US" sz="2200" dirty="0" err="1"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917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Heat Flow Rate   Q(t)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Voltage  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709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Thermal Resistance  R(t)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Electrical Compliance (Conductance G) 1/ R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17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Thermal Capacitance C</a:t>
                      </a:r>
                      <a:r>
                        <a:rPr lang="en-US" sz="2200" baseline="-25000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Electrical Inductance  L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5" name="TextBox 134"/>
          <p:cNvSpPr txBox="1"/>
          <p:nvPr/>
        </p:nvSpPr>
        <p:spPr>
          <a:xfrm>
            <a:off x="6308726" y="857232"/>
            <a:ext cx="550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TEMPERATURE- CURRENT ANALOGY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85729"/>
            <a:ext cx="11998416" cy="6143668"/>
          </a:xfrm>
        </p:spPr>
        <p:txBody>
          <a:bodyPr/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289</Words>
  <Application>Microsoft Office PowerPoint</Application>
  <PresentationFormat>Custom</PresentationFormat>
  <Paragraphs>87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Office Theme</vt:lpstr>
      <vt:lpstr>Equation</vt:lpstr>
      <vt:lpstr>PowerPoint Presentation</vt:lpstr>
      <vt:lpstr>BOOKS</vt:lpstr>
      <vt:lpstr>THERMAL SYSTEM</vt:lpstr>
      <vt:lpstr>THERMAL SYSTEM</vt:lpstr>
      <vt:lpstr>THERMAL SYSTEM</vt:lpstr>
      <vt:lpstr>THERMAL SYSTEM</vt:lpstr>
      <vt:lpstr>THERMAL SYSTEM</vt:lpstr>
      <vt:lpstr>THERMAL SYSTEM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77</cp:revision>
  <dcterms:created xsi:type="dcterms:W3CDTF">2020-04-11T12:13:45Z</dcterms:created>
  <dcterms:modified xsi:type="dcterms:W3CDTF">2025-01-22T05:28:40Z</dcterms:modified>
</cp:coreProperties>
</file>