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7" r:id="rId2"/>
    <p:sldId id="258" r:id="rId3"/>
    <p:sldId id="259" r:id="rId4"/>
    <p:sldId id="274" r:id="rId5"/>
    <p:sldId id="275" r:id="rId6"/>
    <p:sldId id="278" r:id="rId7"/>
    <p:sldId id="279" r:id="rId8"/>
    <p:sldId id="281" r:id="rId9"/>
    <p:sldId id="280" r:id="rId10"/>
    <p:sldId id="284" r:id="rId11"/>
    <p:sldId id="283" r:id="rId12"/>
    <p:sldId id="285" r:id="rId13"/>
    <p:sldId id="286" r:id="rId14"/>
    <p:sldId id="260" r:id="rId15"/>
    <p:sldId id="287" r:id="rId16"/>
    <p:sldId id="288" r:id="rId17"/>
    <p:sldId id="289" r:id="rId18"/>
    <p:sldId id="292" r:id="rId19"/>
    <p:sldId id="290" r:id="rId20"/>
    <p:sldId id="268" r:id="rId21"/>
    <p:sldId id="267" r:id="rId22"/>
    <p:sldId id="266" r:id="rId23"/>
    <p:sldId id="265" r:id="rId24"/>
    <p:sldId id="293" r:id="rId25"/>
    <p:sldId id="294" r:id="rId26"/>
    <p:sldId id="295" r:id="rId27"/>
    <p:sldId id="296" r:id="rId28"/>
    <p:sldId id="262" r:id="rId29"/>
  </p:sldIdLst>
  <p:sldSz cx="12188825" cy="64008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16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1176" y="90"/>
      </p:cViewPr>
      <p:guideLst>
        <p:guide orient="horz" pos="2016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D76175-8821-4261-849A-8BA0A2E7C667}" type="datetimeFigureOut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5100" y="685800"/>
            <a:ext cx="65278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41737-FE3A-4D27-BDA4-2639D345A9A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65100" y="685800"/>
            <a:ext cx="65278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F41737-FE3A-4D27-BDA4-2639D345A9A9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163" y="1988398"/>
            <a:ext cx="10360501" cy="137202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324" y="3627120"/>
            <a:ext cx="8532178" cy="163576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3B72F-59A6-4D21-A93E-8C32B60F3476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834" y="4113108"/>
            <a:ext cx="10360501" cy="127127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2834" y="2712932"/>
            <a:ext cx="10360501" cy="1400175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1E0D4-E9FD-475A-8A1F-507194BE26F2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441" y="1493521"/>
            <a:ext cx="5383398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986" y="1493521"/>
            <a:ext cx="5383398" cy="422423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4A3B4-B80C-4BAA-B42A-D29C1A262EB4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432772"/>
            <a:ext cx="5385514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441" y="2029883"/>
            <a:ext cx="5385514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1754" y="1432772"/>
            <a:ext cx="5387630" cy="59711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1754" y="2029883"/>
            <a:ext cx="5387630" cy="3687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6398A-DD9E-4F67-8BE8-733568981ED1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C8CB6B-883C-45CB-BDCC-DD8D1951F28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FDEB60-18E2-4B65-ADFF-243B4D3F760F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3" y="254847"/>
            <a:ext cx="4010039" cy="108458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5492" y="254848"/>
            <a:ext cx="6813892" cy="546290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443" y="1339428"/>
            <a:ext cx="4010039" cy="43783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67A89-8D7C-4B77-BE3B-E3B00DE9C014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096" y="4480560"/>
            <a:ext cx="7313295" cy="52895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096" y="571923"/>
            <a:ext cx="7313295" cy="384048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096" y="5009515"/>
            <a:ext cx="7313295" cy="75120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D6522-51E0-4E81-8AD4-77D99CAC8BAB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717F3-CE34-42D2-8841-34156AC6B879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256330"/>
            <a:ext cx="2742486" cy="546142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441" y="256330"/>
            <a:ext cx="8024310" cy="546142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73A1D-447E-4331-BC4D-01738063DC6B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2" y="256329"/>
            <a:ext cx="10969943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2" y="1493521"/>
            <a:ext cx="10969943" cy="4224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5932595"/>
            <a:ext cx="2844059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312AC-7040-4FD8-967C-B8A41408D514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6" y="5932595"/>
            <a:ext cx="3859795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6" y="5932595"/>
            <a:ext cx="2844059" cy="3407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A7292-26A6-4C7C-A984-82D3DCDC7B1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hasansaeedcontrol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oleObject" Target="../embeddings/oleObject18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24.wmf"/><Relationship Id="rId3" Type="http://schemas.openxmlformats.org/officeDocument/2006/relationships/image" Target="../media/image19.wmf"/><Relationship Id="rId7" Type="http://schemas.openxmlformats.org/officeDocument/2006/relationships/image" Target="../media/image21.wmf"/><Relationship Id="rId12" Type="http://schemas.openxmlformats.org/officeDocument/2006/relationships/oleObject" Target="../embeddings/oleObject24.bin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23.wmf"/><Relationship Id="rId5" Type="http://schemas.openxmlformats.org/officeDocument/2006/relationships/image" Target="../media/image20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22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8.bin"/><Relationship Id="rId13" Type="http://schemas.openxmlformats.org/officeDocument/2006/relationships/image" Target="../media/image30.wmf"/><Relationship Id="rId18" Type="http://schemas.openxmlformats.org/officeDocument/2006/relationships/oleObject" Target="../embeddings/oleObject33.bin"/><Relationship Id="rId3" Type="http://schemas.openxmlformats.org/officeDocument/2006/relationships/image" Target="../media/image25.wmf"/><Relationship Id="rId21" Type="http://schemas.openxmlformats.org/officeDocument/2006/relationships/image" Target="../media/image34.wmf"/><Relationship Id="rId7" Type="http://schemas.openxmlformats.org/officeDocument/2006/relationships/image" Target="../media/image27.wmf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32.wmf"/><Relationship Id="rId2" Type="http://schemas.openxmlformats.org/officeDocument/2006/relationships/oleObject" Target="../embeddings/oleObject25.bin"/><Relationship Id="rId16" Type="http://schemas.openxmlformats.org/officeDocument/2006/relationships/oleObject" Target="../embeddings/oleObject32.bin"/><Relationship Id="rId20" Type="http://schemas.openxmlformats.org/officeDocument/2006/relationships/oleObject" Target="../embeddings/oleObject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27.bin"/><Relationship Id="rId11" Type="http://schemas.openxmlformats.org/officeDocument/2006/relationships/image" Target="../media/image29.wmf"/><Relationship Id="rId5" Type="http://schemas.openxmlformats.org/officeDocument/2006/relationships/image" Target="../media/image26.wmf"/><Relationship Id="rId15" Type="http://schemas.openxmlformats.org/officeDocument/2006/relationships/image" Target="../media/image31.wmf"/><Relationship Id="rId10" Type="http://schemas.openxmlformats.org/officeDocument/2006/relationships/oleObject" Target="../embeddings/oleObject29.bin"/><Relationship Id="rId19" Type="http://schemas.openxmlformats.org/officeDocument/2006/relationships/image" Target="../media/image33.wmf"/><Relationship Id="rId4" Type="http://schemas.openxmlformats.org/officeDocument/2006/relationships/oleObject" Target="../embeddings/oleObject26.bin"/><Relationship Id="rId9" Type="http://schemas.openxmlformats.org/officeDocument/2006/relationships/image" Target="../media/image28.wmf"/><Relationship Id="rId14" Type="http://schemas.openxmlformats.org/officeDocument/2006/relationships/oleObject" Target="../embeddings/oleObject31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0.wmf"/><Relationship Id="rId18" Type="http://schemas.openxmlformats.org/officeDocument/2006/relationships/oleObject" Target="../embeddings/oleObject43.bin"/><Relationship Id="rId3" Type="http://schemas.openxmlformats.org/officeDocument/2006/relationships/image" Target="../media/image35.wmf"/><Relationship Id="rId21" Type="http://schemas.openxmlformats.org/officeDocument/2006/relationships/image" Target="../media/image44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2.wmf"/><Relationship Id="rId25" Type="http://schemas.openxmlformats.org/officeDocument/2006/relationships/image" Target="../media/image46.w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39.w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36.wmf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3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0.bin"/><Relationship Id="rId13" Type="http://schemas.openxmlformats.org/officeDocument/2006/relationships/image" Target="../media/image51.wmf"/><Relationship Id="rId18" Type="http://schemas.openxmlformats.org/officeDocument/2006/relationships/oleObject" Target="../embeddings/oleObject55.bin"/><Relationship Id="rId3" Type="http://schemas.openxmlformats.org/officeDocument/2006/relationships/image" Target="../media/image47.wmf"/><Relationship Id="rId21" Type="http://schemas.openxmlformats.org/officeDocument/2006/relationships/image" Target="../media/image55.wmf"/><Relationship Id="rId7" Type="http://schemas.openxmlformats.org/officeDocument/2006/relationships/image" Target="../media/image48.wmf"/><Relationship Id="rId12" Type="http://schemas.openxmlformats.org/officeDocument/2006/relationships/oleObject" Target="../embeddings/oleObject52.bin"/><Relationship Id="rId17" Type="http://schemas.openxmlformats.org/officeDocument/2006/relationships/image" Target="../media/image53.wmf"/><Relationship Id="rId25" Type="http://schemas.openxmlformats.org/officeDocument/2006/relationships/image" Target="../media/image57.wmf"/><Relationship Id="rId2" Type="http://schemas.openxmlformats.org/officeDocument/2006/relationships/oleObject" Target="../embeddings/oleObject47.bin"/><Relationship Id="rId16" Type="http://schemas.openxmlformats.org/officeDocument/2006/relationships/oleObject" Target="../embeddings/oleObject54.bin"/><Relationship Id="rId20" Type="http://schemas.openxmlformats.org/officeDocument/2006/relationships/oleObject" Target="../embeddings/oleObject5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9.bin"/><Relationship Id="rId11" Type="http://schemas.openxmlformats.org/officeDocument/2006/relationships/image" Target="../media/image50.wmf"/><Relationship Id="rId24" Type="http://schemas.openxmlformats.org/officeDocument/2006/relationships/oleObject" Target="../embeddings/oleObject58.bin"/><Relationship Id="rId5" Type="http://schemas.openxmlformats.org/officeDocument/2006/relationships/image" Target="../media/image25.wmf"/><Relationship Id="rId15" Type="http://schemas.openxmlformats.org/officeDocument/2006/relationships/image" Target="../media/image52.wmf"/><Relationship Id="rId23" Type="http://schemas.openxmlformats.org/officeDocument/2006/relationships/image" Target="../media/image56.wmf"/><Relationship Id="rId10" Type="http://schemas.openxmlformats.org/officeDocument/2006/relationships/oleObject" Target="../embeddings/oleObject51.bin"/><Relationship Id="rId19" Type="http://schemas.openxmlformats.org/officeDocument/2006/relationships/image" Target="../media/image54.wmf"/><Relationship Id="rId4" Type="http://schemas.openxmlformats.org/officeDocument/2006/relationships/oleObject" Target="../embeddings/oleObject48.bin"/><Relationship Id="rId9" Type="http://schemas.openxmlformats.org/officeDocument/2006/relationships/image" Target="../media/image49.wmf"/><Relationship Id="rId14" Type="http://schemas.openxmlformats.org/officeDocument/2006/relationships/oleObject" Target="../embeddings/oleObject53.bin"/><Relationship Id="rId22" Type="http://schemas.openxmlformats.org/officeDocument/2006/relationships/oleObject" Target="../embeddings/oleObject5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2.bin"/><Relationship Id="rId13" Type="http://schemas.openxmlformats.org/officeDocument/2006/relationships/image" Target="../media/image62.wmf"/><Relationship Id="rId3" Type="http://schemas.openxmlformats.org/officeDocument/2006/relationships/image" Target="../media/image58.wmf"/><Relationship Id="rId7" Type="http://schemas.openxmlformats.org/officeDocument/2006/relationships/image" Target="../media/image60.wmf"/><Relationship Id="rId12" Type="http://schemas.openxmlformats.org/officeDocument/2006/relationships/oleObject" Target="../embeddings/oleObject64.bin"/><Relationship Id="rId2" Type="http://schemas.openxmlformats.org/officeDocument/2006/relationships/oleObject" Target="../embeddings/oleObject5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1.bin"/><Relationship Id="rId11" Type="http://schemas.openxmlformats.org/officeDocument/2006/relationships/image" Target="../media/image61.wmf"/><Relationship Id="rId5" Type="http://schemas.openxmlformats.org/officeDocument/2006/relationships/image" Target="../media/image59.wmf"/><Relationship Id="rId10" Type="http://schemas.openxmlformats.org/officeDocument/2006/relationships/oleObject" Target="../embeddings/oleObject63.bin"/><Relationship Id="rId4" Type="http://schemas.openxmlformats.org/officeDocument/2006/relationships/oleObject" Target="../embeddings/oleObject60.bin"/><Relationship Id="rId9" Type="http://schemas.openxmlformats.org/officeDocument/2006/relationships/image" Target="../media/image37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67.wmf"/><Relationship Id="rId3" Type="http://schemas.openxmlformats.org/officeDocument/2006/relationships/image" Target="../media/image63.wmf"/><Relationship Id="rId7" Type="http://schemas.openxmlformats.org/officeDocument/2006/relationships/image" Target="../media/image37.wmf"/><Relationship Id="rId12" Type="http://schemas.openxmlformats.org/officeDocument/2006/relationships/oleObject" Target="../embeddings/oleObject70.bin"/><Relationship Id="rId2" Type="http://schemas.openxmlformats.org/officeDocument/2006/relationships/oleObject" Target="../embeddings/oleObject6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66.wmf"/><Relationship Id="rId5" Type="http://schemas.openxmlformats.org/officeDocument/2006/relationships/image" Target="../media/image64.wmf"/><Relationship Id="rId10" Type="http://schemas.openxmlformats.org/officeDocument/2006/relationships/oleObject" Target="../embeddings/oleObject69.bin"/><Relationship Id="rId4" Type="http://schemas.openxmlformats.org/officeDocument/2006/relationships/oleObject" Target="../embeddings/oleObject66.bin"/><Relationship Id="rId9" Type="http://schemas.openxmlformats.org/officeDocument/2006/relationships/image" Target="../media/image65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4.bin"/><Relationship Id="rId3" Type="http://schemas.openxmlformats.org/officeDocument/2006/relationships/image" Target="../media/image68.wmf"/><Relationship Id="rId7" Type="http://schemas.openxmlformats.org/officeDocument/2006/relationships/image" Target="../media/image65.wmf"/><Relationship Id="rId2" Type="http://schemas.openxmlformats.org/officeDocument/2006/relationships/oleObject" Target="../embeddings/oleObject7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3.bin"/><Relationship Id="rId11" Type="http://schemas.openxmlformats.org/officeDocument/2006/relationships/image" Target="../media/image70.wmf"/><Relationship Id="rId5" Type="http://schemas.openxmlformats.org/officeDocument/2006/relationships/image" Target="../media/image69.wmf"/><Relationship Id="rId10" Type="http://schemas.openxmlformats.org/officeDocument/2006/relationships/oleObject" Target="../embeddings/oleObject75.bin"/><Relationship Id="rId4" Type="http://schemas.openxmlformats.org/officeDocument/2006/relationships/oleObject" Target="../embeddings/oleObject72.bin"/><Relationship Id="rId9" Type="http://schemas.openxmlformats.org/officeDocument/2006/relationships/image" Target="../media/image66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9.bin"/><Relationship Id="rId13" Type="http://schemas.openxmlformats.org/officeDocument/2006/relationships/image" Target="../media/image76.wmf"/><Relationship Id="rId18" Type="http://schemas.openxmlformats.org/officeDocument/2006/relationships/oleObject" Target="../embeddings/oleObject84.bin"/><Relationship Id="rId3" Type="http://schemas.openxmlformats.org/officeDocument/2006/relationships/image" Target="../media/image71.wmf"/><Relationship Id="rId7" Type="http://schemas.openxmlformats.org/officeDocument/2006/relationships/image" Target="../media/image73.wmf"/><Relationship Id="rId12" Type="http://schemas.openxmlformats.org/officeDocument/2006/relationships/oleObject" Target="../embeddings/oleObject81.bin"/><Relationship Id="rId17" Type="http://schemas.openxmlformats.org/officeDocument/2006/relationships/image" Target="../media/image78.wmf"/><Relationship Id="rId2" Type="http://schemas.openxmlformats.org/officeDocument/2006/relationships/oleObject" Target="../embeddings/oleObject76.bin"/><Relationship Id="rId16" Type="http://schemas.openxmlformats.org/officeDocument/2006/relationships/oleObject" Target="../embeddings/oleObject8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8.bin"/><Relationship Id="rId11" Type="http://schemas.openxmlformats.org/officeDocument/2006/relationships/image" Target="../media/image75.wmf"/><Relationship Id="rId5" Type="http://schemas.openxmlformats.org/officeDocument/2006/relationships/image" Target="../media/image72.wmf"/><Relationship Id="rId15" Type="http://schemas.openxmlformats.org/officeDocument/2006/relationships/image" Target="../media/image77.wmf"/><Relationship Id="rId10" Type="http://schemas.openxmlformats.org/officeDocument/2006/relationships/oleObject" Target="../embeddings/oleObject80.bin"/><Relationship Id="rId19" Type="http://schemas.openxmlformats.org/officeDocument/2006/relationships/image" Target="../media/image79.wmf"/><Relationship Id="rId4" Type="http://schemas.openxmlformats.org/officeDocument/2006/relationships/oleObject" Target="../embeddings/oleObject77.bin"/><Relationship Id="rId9" Type="http://schemas.openxmlformats.org/officeDocument/2006/relationships/image" Target="../media/image74.wmf"/><Relationship Id="rId14" Type="http://schemas.openxmlformats.org/officeDocument/2006/relationships/oleObject" Target="../embeddings/oleObject82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oleObject" Target="../embeddings/oleObject85.bin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635" y="200004"/>
            <a:ext cx="11675276" cy="6000792"/>
          </a:xfrm>
        </p:spPr>
        <p:txBody>
          <a:bodyPr/>
          <a:lstStyle/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SYED HASAN SAEED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Email: </a:t>
            </a:r>
            <a:r>
              <a:rPr lang="en-GB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hasansaeedcontrol@gmail.com</a:t>
            </a:r>
            <a:endParaRPr lang="en-GB" sz="20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GB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Web Page:</a:t>
            </a:r>
            <a:r>
              <a:rPr lang="en-GB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 hasansaeed872726549.wordpress.com</a:t>
            </a:r>
          </a:p>
          <a:p>
            <a:r>
              <a:rPr lang="en-GB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shasansaeed.yolasite.com</a:t>
            </a:r>
          </a:p>
          <a:p>
            <a:r>
              <a:rPr lang="en-GB" sz="20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  <a:hlinkClick r:id="rId2"/>
              </a:rPr>
              <a:t>syedhasansaeed.gnomio.com</a:t>
            </a:r>
          </a:p>
          <a:p>
            <a:endParaRPr lang="en-GB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  <a:hlinkClick r:id="rId2"/>
            </a:endParaRPr>
          </a:p>
          <a:p>
            <a:endParaRPr lang="en-US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306B2-EC7E-4BB8-8894-54A4B6770FA7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6" y="800085"/>
            <a:ext cx="11617555" cy="400052"/>
          </a:xfrm>
        </p:spPr>
        <p:txBody>
          <a:bodyPr>
            <a:noAutofit/>
          </a:bodyPr>
          <a:lstStyle/>
          <a:p>
            <a:r>
              <a:rPr lang="en-GB" sz="32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BOOKS</a:t>
            </a:r>
            <a:endParaRPr lang="en-US" sz="32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496" y="128566"/>
            <a:ext cx="11712781" cy="5824578"/>
          </a:xfrm>
        </p:spPr>
        <p:txBody>
          <a:bodyPr>
            <a:normAutofit/>
          </a:bodyPr>
          <a:lstStyle/>
          <a:p>
            <a:pPr marL="514350" indent="-514350" algn="l"/>
            <a:r>
              <a:rPr lang="en-GB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</a:t>
            </a:r>
          </a:p>
          <a:p>
            <a:pPr marL="514350" indent="-514350" algn="l"/>
            <a:endParaRPr lang="en-GB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endParaRPr lang="en-GB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Font typeface="+mj-lt"/>
              <a:buAutoNum type="arabicPeriod"/>
            </a:pPr>
            <a:r>
              <a:rPr lang="en-GB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KUO &amp; GOLANARAGHI</a:t>
            </a:r>
          </a:p>
          <a:p>
            <a:pPr marL="514350" indent="-514350" algn="l">
              <a:buFont typeface="+mj-lt"/>
              <a:buAutoNum type="arabicPeriod"/>
            </a:pPr>
            <a:endParaRPr lang="en-GB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  CONTROL SYSTEM: </a:t>
            </a:r>
            <a:r>
              <a:rPr lang="en-GB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ANAND KUMAR</a:t>
            </a:r>
          </a:p>
          <a:p>
            <a:pPr marL="514350" indent="-514350" algn="l">
              <a:buFont typeface="+mj-lt"/>
              <a:buAutoNum type="arabicPeriod"/>
            </a:pPr>
            <a:endParaRPr lang="en-GB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/>
            <a:r>
              <a:rPr lang="en-GB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3.   AUTOMATIC CONTROL SYSTEM: </a:t>
            </a:r>
            <a:r>
              <a:rPr lang="en-GB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S. HASAN SAEED</a:t>
            </a:r>
          </a:p>
          <a:p>
            <a:pPr marL="514350" indent="-514350" algn="l">
              <a:buFont typeface="+mj-lt"/>
              <a:buAutoNum type="arabicPeriod"/>
            </a:pPr>
            <a:endParaRPr lang="en-GB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ELECTRICAL MACINE &amp; AUTOMATIC CONTROL: </a:t>
            </a:r>
            <a:r>
              <a:rPr lang="en-GB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J.B.GUPTA  &amp;  S. HASAN SAEED</a:t>
            </a:r>
          </a:p>
          <a:p>
            <a:pPr marL="514350" indent="-514350" algn="l">
              <a:buAutoNum type="arabicPeriod" startAt="4"/>
            </a:pPr>
            <a:endParaRPr lang="en-GB" sz="22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  <a:p>
            <a:pPr marL="514350" indent="-514350" algn="l">
              <a:buAutoNum type="arabicPeriod" startAt="4"/>
            </a:pPr>
            <a:r>
              <a:rPr lang="en-GB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AUTOMATIC CONTROL SYSTEM: </a:t>
            </a:r>
            <a:r>
              <a:rPr lang="en-GB" sz="22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R. A . BARAPATE</a:t>
            </a:r>
            <a:endParaRPr lang="en-US" sz="2200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36435-E78B-422D-B0C9-AADEB5893BD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6" y="42445"/>
            <a:ext cx="11617555" cy="400052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58" y="466706"/>
            <a:ext cx="11858708" cy="530546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r>
              <a:rPr lang="en-IN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RESISTANCE OF LIQUID LEVEL SYSTEM: </a:t>
            </a:r>
          </a:p>
          <a:p>
            <a:pPr algn="l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Consider the flow through a short pipe connecting tank. The resistance R for liquid flow in which a pipe is defined as the change in the level difference necessary to cause a unit change in flow rate i.e.</a:t>
            </a: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</a:t>
            </a: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   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2DE9-AA53-49AD-8404-2983CAF44A4E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087" y="5467366"/>
            <a:ext cx="1114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71313" y="5770384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latin typeface="Times New Roman" pitchFamily="18" charset="0"/>
                <a:cs typeface="Times New Roman" pitchFamily="18" charset="0"/>
              </a:rPr>
              <a:t>Reference: 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3665520" y="2066918"/>
          <a:ext cx="4091008" cy="688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23800" imgH="419040" progId="Equation.3">
                  <p:embed/>
                </p:oleObj>
              </mc:Choice>
              <mc:Fallback>
                <p:oleObj name="Equation" r:id="rId2" imgW="2323800" imgH="4190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5520" y="2066918"/>
                        <a:ext cx="4091008" cy="68854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Straight Connector 50"/>
          <p:cNvCxnSpPr/>
          <p:nvPr/>
        </p:nvCxnSpPr>
        <p:spPr>
          <a:xfrm rot="5400000">
            <a:off x="3159429" y="3238747"/>
            <a:ext cx="142876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c 61"/>
          <p:cNvSpPr/>
          <p:nvPr/>
        </p:nvSpPr>
        <p:spPr>
          <a:xfrm>
            <a:off x="2658903" y="2947073"/>
            <a:ext cx="571504" cy="285752"/>
          </a:xfrm>
          <a:prstGeom prst="arc">
            <a:avLst>
              <a:gd name="adj1" fmla="val 16200000"/>
              <a:gd name="adj2" fmla="val 91478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2861771" y="3798799"/>
            <a:ext cx="1645920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4504564" y="5030893"/>
            <a:ext cx="841248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6485540" y="5031175"/>
            <a:ext cx="841248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87" name="Group 86"/>
          <p:cNvGrpSpPr/>
          <p:nvPr/>
        </p:nvGrpSpPr>
        <p:grpSpPr>
          <a:xfrm>
            <a:off x="1212466" y="2700334"/>
            <a:ext cx="6124415" cy="2751786"/>
            <a:chOff x="1212466" y="2700334"/>
            <a:chExt cx="6124415" cy="2751786"/>
          </a:xfrm>
        </p:grpSpPr>
        <p:grpSp>
          <p:nvGrpSpPr>
            <p:cNvPr id="35" name="Group 34"/>
            <p:cNvGrpSpPr/>
            <p:nvPr/>
          </p:nvGrpSpPr>
          <p:grpSpPr>
            <a:xfrm>
              <a:off x="2831213" y="3373894"/>
              <a:ext cx="4505668" cy="1926402"/>
              <a:chOff x="2831213" y="2516645"/>
              <a:chExt cx="4505668" cy="1926402"/>
            </a:xfrm>
          </p:grpSpPr>
          <p:grpSp>
            <p:nvGrpSpPr>
              <p:cNvPr id="27" name="Group 26"/>
              <p:cNvGrpSpPr/>
              <p:nvPr/>
            </p:nvGrpSpPr>
            <p:grpSpPr>
              <a:xfrm>
                <a:off x="6479625" y="4164954"/>
                <a:ext cx="857256" cy="278093"/>
                <a:chOff x="6479625" y="4164954"/>
                <a:chExt cx="857256" cy="278093"/>
              </a:xfrm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6479625" y="4164954"/>
                  <a:ext cx="857256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6479625" y="4441459"/>
                  <a:ext cx="857256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" name="Straight Connector 28"/>
              <p:cNvCxnSpPr/>
              <p:nvPr/>
            </p:nvCxnSpPr>
            <p:spPr>
              <a:xfrm>
                <a:off x="4522776" y="4164954"/>
                <a:ext cx="857256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831213" y="4441459"/>
                <a:ext cx="256032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5400000" flipH="1" flipV="1">
                <a:off x="3707980" y="3338811"/>
                <a:ext cx="164592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rot="5400000">
                <a:off x="1891736" y="3486747"/>
                <a:ext cx="1892808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/>
            <p:cNvGrpSpPr/>
            <p:nvPr/>
          </p:nvGrpSpPr>
          <p:grpSpPr>
            <a:xfrm>
              <a:off x="1212466" y="2700334"/>
              <a:ext cx="2298300" cy="670710"/>
              <a:chOff x="7860708" y="3486152"/>
              <a:chExt cx="2298300" cy="67071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7884886" y="3486152"/>
                <a:ext cx="1928826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/>
              <p:cNvSpPr/>
              <p:nvPr/>
            </p:nvSpPr>
            <p:spPr>
              <a:xfrm>
                <a:off x="9883596" y="4019702"/>
                <a:ext cx="274320" cy="13716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44" name="Group 43"/>
              <p:cNvGrpSpPr/>
              <p:nvPr/>
            </p:nvGrpSpPr>
            <p:grpSpPr>
              <a:xfrm>
                <a:off x="9434869" y="3486152"/>
                <a:ext cx="724139" cy="611486"/>
                <a:chOff x="9434869" y="3486152"/>
                <a:chExt cx="724139" cy="611486"/>
              </a:xfrm>
            </p:grpSpPr>
            <p:sp>
              <p:nvSpPr>
                <p:cNvPr id="40" name="Arc 39"/>
                <p:cNvSpPr/>
                <p:nvPr/>
              </p:nvSpPr>
              <p:spPr>
                <a:xfrm>
                  <a:off x="9434869" y="3486152"/>
                  <a:ext cx="714380" cy="500066"/>
                </a:xfrm>
                <a:prstGeom prst="arc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2" name="Straight Connector 41"/>
                <p:cNvCxnSpPr/>
                <p:nvPr/>
              </p:nvCxnSpPr>
              <p:spPr>
                <a:xfrm rot="5400000">
                  <a:off x="9975334" y="3913964"/>
                  <a:ext cx="365760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>
              <a:xfrm rot="5400000">
                <a:off x="9835721" y="3921547"/>
                <a:ext cx="82226" cy="79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rot="10800000">
                <a:off x="7860708" y="3728886"/>
                <a:ext cx="1737360" cy="8164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5" name="Group 74"/>
            <p:cNvGrpSpPr/>
            <p:nvPr/>
          </p:nvGrpSpPr>
          <p:grpSpPr>
            <a:xfrm>
              <a:off x="3045845" y="3316941"/>
              <a:ext cx="813597" cy="502024"/>
              <a:chOff x="3045845" y="3316941"/>
              <a:chExt cx="813597" cy="502024"/>
            </a:xfrm>
          </p:grpSpPr>
          <p:sp>
            <p:nvSpPr>
              <p:cNvPr id="65" name="Freeform 64"/>
              <p:cNvSpPr/>
              <p:nvPr/>
            </p:nvSpPr>
            <p:spPr>
              <a:xfrm>
                <a:off x="3487271" y="3379694"/>
                <a:ext cx="224117" cy="412377"/>
              </a:xfrm>
              <a:custGeom>
                <a:avLst/>
                <a:gdLst>
                  <a:gd name="connsiteX0" fmla="*/ 0 w 224117"/>
                  <a:gd name="connsiteY0" fmla="*/ 0 h 412377"/>
                  <a:gd name="connsiteX1" fmla="*/ 53788 w 224117"/>
                  <a:gd name="connsiteY1" fmla="*/ 26894 h 412377"/>
                  <a:gd name="connsiteX2" fmla="*/ 62753 w 224117"/>
                  <a:gd name="connsiteY2" fmla="*/ 53788 h 412377"/>
                  <a:gd name="connsiteX3" fmla="*/ 80682 w 224117"/>
                  <a:gd name="connsiteY3" fmla="*/ 71718 h 412377"/>
                  <a:gd name="connsiteX4" fmla="*/ 89647 w 224117"/>
                  <a:gd name="connsiteY4" fmla="*/ 107577 h 412377"/>
                  <a:gd name="connsiteX5" fmla="*/ 98611 w 224117"/>
                  <a:gd name="connsiteY5" fmla="*/ 134471 h 412377"/>
                  <a:gd name="connsiteX6" fmla="*/ 80682 w 224117"/>
                  <a:gd name="connsiteY6" fmla="*/ 251012 h 412377"/>
                  <a:gd name="connsiteX7" fmla="*/ 89647 w 224117"/>
                  <a:gd name="connsiteY7" fmla="*/ 322730 h 412377"/>
                  <a:gd name="connsiteX8" fmla="*/ 152400 w 224117"/>
                  <a:gd name="connsiteY8" fmla="*/ 349624 h 412377"/>
                  <a:gd name="connsiteX9" fmla="*/ 215153 w 224117"/>
                  <a:gd name="connsiteY9" fmla="*/ 367553 h 412377"/>
                  <a:gd name="connsiteX10" fmla="*/ 224117 w 224117"/>
                  <a:gd name="connsiteY10" fmla="*/ 412377 h 412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4117" h="412377">
                    <a:moveTo>
                      <a:pt x="0" y="0"/>
                    </a:moveTo>
                    <a:cubicBezTo>
                      <a:pt x="17716" y="5906"/>
                      <a:pt x="41150" y="11096"/>
                      <a:pt x="53788" y="26894"/>
                    </a:cubicBezTo>
                    <a:cubicBezTo>
                      <a:pt x="59691" y="34273"/>
                      <a:pt x="57891" y="45685"/>
                      <a:pt x="62753" y="53788"/>
                    </a:cubicBezTo>
                    <a:cubicBezTo>
                      <a:pt x="67101" y="61036"/>
                      <a:pt x="74706" y="65741"/>
                      <a:pt x="80682" y="71718"/>
                    </a:cubicBezTo>
                    <a:cubicBezTo>
                      <a:pt x="83670" y="83671"/>
                      <a:pt x="86262" y="95730"/>
                      <a:pt x="89647" y="107577"/>
                    </a:cubicBezTo>
                    <a:cubicBezTo>
                      <a:pt x="92243" y="116663"/>
                      <a:pt x="98611" y="125021"/>
                      <a:pt x="98611" y="134471"/>
                    </a:cubicBezTo>
                    <a:cubicBezTo>
                      <a:pt x="98611" y="146014"/>
                      <a:pt x="83199" y="235913"/>
                      <a:pt x="80682" y="251012"/>
                    </a:cubicBezTo>
                    <a:cubicBezTo>
                      <a:pt x="83670" y="274918"/>
                      <a:pt x="75477" y="303246"/>
                      <a:pt x="89647" y="322730"/>
                    </a:cubicBezTo>
                    <a:cubicBezTo>
                      <a:pt x="103032" y="341135"/>
                      <a:pt x="131270" y="341172"/>
                      <a:pt x="152400" y="349624"/>
                    </a:cubicBezTo>
                    <a:cubicBezTo>
                      <a:pt x="173829" y="358195"/>
                      <a:pt x="192493" y="361888"/>
                      <a:pt x="215153" y="367553"/>
                    </a:cubicBezTo>
                    <a:lnTo>
                      <a:pt x="224117" y="412377"/>
                    </a:lnTo>
                  </a:path>
                </a:pathLst>
              </a:cu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74" name="Group 73"/>
              <p:cNvGrpSpPr/>
              <p:nvPr/>
            </p:nvGrpSpPr>
            <p:grpSpPr>
              <a:xfrm>
                <a:off x="3045845" y="3316941"/>
                <a:ext cx="813597" cy="502024"/>
                <a:chOff x="3045845" y="3316941"/>
                <a:chExt cx="813597" cy="502024"/>
              </a:xfrm>
            </p:grpSpPr>
            <p:sp>
              <p:nvSpPr>
                <p:cNvPr id="63" name="Freeform 62"/>
                <p:cNvSpPr/>
                <p:nvPr/>
              </p:nvSpPr>
              <p:spPr>
                <a:xfrm>
                  <a:off x="3370729" y="3415553"/>
                  <a:ext cx="88971" cy="403412"/>
                </a:xfrm>
                <a:custGeom>
                  <a:avLst/>
                  <a:gdLst>
                    <a:gd name="connsiteX0" fmla="*/ 0 w 88971"/>
                    <a:gd name="connsiteY0" fmla="*/ 0 h 403412"/>
                    <a:gd name="connsiteX1" fmla="*/ 35859 w 88971"/>
                    <a:gd name="connsiteY1" fmla="*/ 8965 h 403412"/>
                    <a:gd name="connsiteX2" fmla="*/ 62753 w 88971"/>
                    <a:gd name="connsiteY2" fmla="*/ 71718 h 403412"/>
                    <a:gd name="connsiteX3" fmla="*/ 53789 w 88971"/>
                    <a:gd name="connsiteY3" fmla="*/ 152400 h 403412"/>
                    <a:gd name="connsiteX4" fmla="*/ 35859 w 88971"/>
                    <a:gd name="connsiteY4" fmla="*/ 170329 h 403412"/>
                    <a:gd name="connsiteX5" fmla="*/ 17930 w 88971"/>
                    <a:gd name="connsiteY5" fmla="*/ 224118 h 403412"/>
                    <a:gd name="connsiteX6" fmla="*/ 8965 w 88971"/>
                    <a:gd name="connsiteY6" fmla="*/ 251012 h 403412"/>
                    <a:gd name="connsiteX7" fmla="*/ 26895 w 88971"/>
                    <a:gd name="connsiteY7" fmla="*/ 295835 h 403412"/>
                    <a:gd name="connsiteX8" fmla="*/ 53789 w 88971"/>
                    <a:gd name="connsiteY8" fmla="*/ 304800 h 403412"/>
                    <a:gd name="connsiteX9" fmla="*/ 62753 w 88971"/>
                    <a:gd name="connsiteY9" fmla="*/ 331694 h 403412"/>
                    <a:gd name="connsiteX10" fmla="*/ 80683 w 88971"/>
                    <a:gd name="connsiteY10" fmla="*/ 403412 h 403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8971" h="403412">
                      <a:moveTo>
                        <a:pt x="0" y="0"/>
                      </a:moveTo>
                      <a:cubicBezTo>
                        <a:pt x="11953" y="2988"/>
                        <a:pt x="25607" y="2131"/>
                        <a:pt x="35859" y="8965"/>
                      </a:cubicBezTo>
                      <a:cubicBezTo>
                        <a:pt x="54433" y="21348"/>
                        <a:pt x="58255" y="53723"/>
                        <a:pt x="62753" y="71718"/>
                      </a:cubicBezTo>
                      <a:cubicBezTo>
                        <a:pt x="59765" y="98612"/>
                        <a:pt x="60909" y="126294"/>
                        <a:pt x="53789" y="152400"/>
                      </a:cubicBezTo>
                      <a:cubicBezTo>
                        <a:pt x="51565" y="160554"/>
                        <a:pt x="39639" y="162769"/>
                        <a:pt x="35859" y="170329"/>
                      </a:cubicBezTo>
                      <a:cubicBezTo>
                        <a:pt x="27407" y="187233"/>
                        <a:pt x="23906" y="206188"/>
                        <a:pt x="17930" y="224118"/>
                      </a:cubicBezTo>
                      <a:lnTo>
                        <a:pt x="8965" y="251012"/>
                      </a:lnTo>
                      <a:cubicBezTo>
                        <a:pt x="14942" y="265953"/>
                        <a:pt x="16593" y="283473"/>
                        <a:pt x="26895" y="295835"/>
                      </a:cubicBezTo>
                      <a:cubicBezTo>
                        <a:pt x="32945" y="303094"/>
                        <a:pt x="47107" y="298118"/>
                        <a:pt x="53789" y="304800"/>
                      </a:cubicBezTo>
                      <a:cubicBezTo>
                        <a:pt x="60471" y="311482"/>
                        <a:pt x="58527" y="323242"/>
                        <a:pt x="62753" y="331694"/>
                      </a:cubicBezTo>
                      <a:cubicBezTo>
                        <a:pt x="88971" y="384130"/>
                        <a:pt x="80683" y="329633"/>
                        <a:pt x="80683" y="403412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3045845" y="3379694"/>
                  <a:ext cx="214270" cy="421341"/>
                </a:xfrm>
                <a:custGeom>
                  <a:avLst/>
                  <a:gdLst>
                    <a:gd name="connsiteX0" fmla="*/ 208343 w 214270"/>
                    <a:gd name="connsiteY0" fmla="*/ 0 h 421341"/>
                    <a:gd name="connsiteX1" fmla="*/ 199379 w 214270"/>
                    <a:gd name="connsiteY1" fmla="*/ 53788 h 421341"/>
                    <a:gd name="connsiteX2" fmla="*/ 118696 w 214270"/>
                    <a:gd name="connsiteY2" fmla="*/ 62753 h 421341"/>
                    <a:gd name="connsiteX3" fmla="*/ 91802 w 214270"/>
                    <a:gd name="connsiteY3" fmla="*/ 80682 h 421341"/>
                    <a:gd name="connsiteX4" fmla="*/ 91802 w 214270"/>
                    <a:gd name="connsiteY4" fmla="*/ 242047 h 421341"/>
                    <a:gd name="connsiteX5" fmla="*/ 82837 w 214270"/>
                    <a:gd name="connsiteY5" fmla="*/ 277906 h 421341"/>
                    <a:gd name="connsiteX6" fmla="*/ 55943 w 214270"/>
                    <a:gd name="connsiteY6" fmla="*/ 286871 h 421341"/>
                    <a:gd name="connsiteX7" fmla="*/ 29049 w 214270"/>
                    <a:gd name="connsiteY7" fmla="*/ 304800 h 421341"/>
                    <a:gd name="connsiteX8" fmla="*/ 20084 w 214270"/>
                    <a:gd name="connsiteY8" fmla="*/ 331694 h 421341"/>
                    <a:gd name="connsiteX9" fmla="*/ 2155 w 214270"/>
                    <a:gd name="connsiteY9" fmla="*/ 349624 h 421341"/>
                    <a:gd name="connsiteX10" fmla="*/ 11120 w 214270"/>
                    <a:gd name="connsiteY10" fmla="*/ 394447 h 421341"/>
                    <a:gd name="connsiteX11" fmla="*/ 11120 w 214270"/>
                    <a:gd name="connsiteY11" fmla="*/ 421341 h 421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14270" h="421341">
                      <a:moveTo>
                        <a:pt x="208343" y="0"/>
                      </a:moveTo>
                      <a:cubicBezTo>
                        <a:pt x="205355" y="17929"/>
                        <a:pt x="214270" y="43364"/>
                        <a:pt x="199379" y="53788"/>
                      </a:cubicBezTo>
                      <a:cubicBezTo>
                        <a:pt x="177211" y="69306"/>
                        <a:pt x="144948" y="56190"/>
                        <a:pt x="118696" y="62753"/>
                      </a:cubicBezTo>
                      <a:cubicBezTo>
                        <a:pt x="108244" y="65366"/>
                        <a:pt x="100767" y="74706"/>
                        <a:pt x="91802" y="80682"/>
                      </a:cubicBezTo>
                      <a:cubicBezTo>
                        <a:pt x="66613" y="156249"/>
                        <a:pt x="91802" y="69367"/>
                        <a:pt x="91802" y="242047"/>
                      </a:cubicBezTo>
                      <a:cubicBezTo>
                        <a:pt x="91802" y="254368"/>
                        <a:pt x="90534" y="268285"/>
                        <a:pt x="82837" y="277906"/>
                      </a:cubicBezTo>
                      <a:cubicBezTo>
                        <a:pt x="76934" y="285285"/>
                        <a:pt x="64395" y="282645"/>
                        <a:pt x="55943" y="286871"/>
                      </a:cubicBezTo>
                      <a:cubicBezTo>
                        <a:pt x="46306" y="291689"/>
                        <a:pt x="38014" y="298824"/>
                        <a:pt x="29049" y="304800"/>
                      </a:cubicBezTo>
                      <a:cubicBezTo>
                        <a:pt x="26061" y="313765"/>
                        <a:pt x="24946" y="323591"/>
                        <a:pt x="20084" y="331694"/>
                      </a:cubicBezTo>
                      <a:cubicBezTo>
                        <a:pt x="15736" y="338942"/>
                        <a:pt x="3350" y="341257"/>
                        <a:pt x="2155" y="349624"/>
                      </a:cubicBezTo>
                      <a:cubicBezTo>
                        <a:pt x="0" y="364708"/>
                        <a:pt x="9230" y="379328"/>
                        <a:pt x="11120" y="394447"/>
                      </a:cubicBezTo>
                      <a:cubicBezTo>
                        <a:pt x="12232" y="403342"/>
                        <a:pt x="11120" y="412376"/>
                        <a:pt x="11120" y="421341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Freeform 66"/>
                <p:cNvSpPr/>
                <p:nvPr/>
              </p:nvSpPr>
              <p:spPr>
                <a:xfrm>
                  <a:off x="3243523" y="3433482"/>
                  <a:ext cx="100312" cy="286871"/>
                </a:xfrm>
                <a:custGeom>
                  <a:avLst/>
                  <a:gdLst>
                    <a:gd name="connsiteX0" fmla="*/ 100312 w 100312"/>
                    <a:gd name="connsiteY0" fmla="*/ 0 h 286871"/>
                    <a:gd name="connsiteX1" fmla="*/ 91348 w 100312"/>
                    <a:gd name="connsiteY1" fmla="*/ 44824 h 286871"/>
                    <a:gd name="connsiteX2" fmla="*/ 19630 w 100312"/>
                    <a:gd name="connsiteY2" fmla="*/ 71718 h 286871"/>
                    <a:gd name="connsiteX3" fmla="*/ 19630 w 100312"/>
                    <a:gd name="connsiteY3" fmla="*/ 170330 h 286871"/>
                    <a:gd name="connsiteX4" fmla="*/ 46524 w 100312"/>
                    <a:gd name="connsiteY4" fmla="*/ 179294 h 286871"/>
                    <a:gd name="connsiteX5" fmla="*/ 55489 w 100312"/>
                    <a:gd name="connsiteY5" fmla="*/ 206189 h 286871"/>
                    <a:gd name="connsiteX6" fmla="*/ 10665 w 100312"/>
                    <a:gd name="connsiteY6" fmla="*/ 259977 h 286871"/>
                    <a:gd name="connsiteX7" fmla="*/ 1701 w 100312"/>
                    <a:gd name="connsiteY7" fmla="*/ 286871 h 286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0312" h="286871">
                      <a:moveTo>
                        <a:pt x="100312" y="0"/>
                      </a:moveTo>
                      <a:cubicBezTo>
                        <a:pt x="97324" y="14941"/>
                        <a:pt x="98908" y="31594"/>
                        <a:pt x="91348" y="44824"/>
                      </a:cubicBezTo>
                      <a:cubicBezTo>
                        <a:pt x="79435" y="65672"/>
                        <a:pt x="35902" y="68463"/>
                        <a:pt x="19630" y="71718"/>
                      </a:cubicBezTo>
                      <a:cubicBezTo>
                        <a:pt x="10743" y="107265"/>
                        <a:pt x="0" y="131070"/>
                        <a:pt x="19630" y="170330"/>
                      </a:cubicBezTo>
                      <a:cubicBezTo>
                        <a:pt x="23856" y="178782"/>
                        <a:pt x="37559" y="176306"/>
                        <a:pt x="46524" y="179294"/>
                      </a:cubicBezTo>
                      <a:cubicBezTo>
                        <a:pt x="49512" y="188259"/>
                        <a:pt x="57043" y="196868"/>
                        <a:pt x="55489" y="206189"/>
                      </a:cubicBezTo>
                      <a:cubicBezTo>
                        <a:pt x="52993" y="221165"/>
                        <a:pt x="18742" y="251900"/>
                        <a:pt x="10665" y="259977"/>
                      </a:cubicBezTo>
                      <a:lnTo>
                        <a:pt x="1701" y="286871"/>
                      </a:ln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Freeform 67"/>
                <p:cNvSpPr/>
                <p:nvPr/>
              </p:nvSpPr>
              <p:spPr>
                <a:xfrm>
                  <a:off x="3558988" y="3316941"/>
                  <a:ext cx="300454" cy="379494"/>
                </a:xfrm>
                <a:custGeom>
                  <a:avLst/>
                  <a:gdLst>
                    <a:gd name="connsiteX0" fmla="*/ 0 w 300454"/>
                    <a:gd name="connsiteY0" fmla="*/ 0 h 379494"/>
                    <a:gd name="connsiteX1" fmla="*/ 80683 w 300454"/>
                    <a:gd name="connsiteY1" fmla="*/ 8965 h 379494"/>
                    <a:gd name="connsiteX2" fmla="*/ 116541 w 300454"/>
                    <a:gd name="connsiteY2" fmla="*/ 35859 h 379494"/>
                    <a:gd name="connsiteX3" fmla="*/ 143436 w 300454"/>
                    <a:gd name="connsiteY3" fmla="*/ 53788 h 379494"/>
                    <a:gd name="connsiteX4" fmla="*/ 152400 w 300454"/>
                    <a:gd name="connsiteY4" fmla="*/ 188259 h 379494"/>
                    <a:gd name="connsiteX5" fmla="*/ 179294 w 300454"/>
                    <a:gd name="connsiteY5" fmla="*/ 197224 h 379494"/>
                    <a:gd name="connsiteX6" fmla="*/ 224118 w 300454"/>
                    <a:gd name="connsiteY6" fmla="*/ 224118 h 379494"/>
                    <a:gd name="connsiteX7" fmla="*/ 277906 w 300454"/>
                    <a:gd name="connsiteY7" fmla="*/ 277906 h 379494"/>
                    <a:gd name="connsiteX8" fmla="*/ 259977 w 300454"/>
                    <a:gd name="connsiteY8" fmla="*/ 376518 h 379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454" h="379494">
                      <a:moveTo>
                        <a:pt x="0" y="0"/>
                      </a:moveTo>
                      <a:cubicBezTo>
                        <a:pt x="26894" y="2988"/>
                        <a:pt x="54820" y="1007"/>
                        <a:pt x="80683" y="8965"/>
                      </a:cubicBezTo>
                      <a:cubicBezTo>
                        <a:pt x="94963" y="13359"/>
                        <a:pt x="104383" y="27175"/>
                        <a:pt x="116541" y="35859"/>
                      </a:cubicBezTo>
                      <a:cubicBezTo>
                        <a:pt x="125309" y="42121"/>
                        <a:pt x="134471" y="47812"/>
                        <a:pt x="143436" y="53788"/>
                      </a:cubicBezTo>
                      <a:cubicBezTo>
                        <a:pt x="146424" y="98612"/>
                        <a:pt x="141505" y="144677"/>
                        <a:pt x="152400" y="188259"/>
                      </a:cubicBezTo>
                      <a:cubicBezTo>
                        <a:pt x="154692" y="197426"/>
                        <a:pt x="171191" y="192362"/>
                        <a:pt x="179294" y="197224"/>
                      </a:cubicBezTo>
                      <a:cubicBezTo>
                        <a:pt x="240823" y="234141"/>
                        <a:pt x="147932" y="198722"/>
                        <a:pt x="224118" y="224118"/>
                      </a:cubicBezTo>
                      <a:cubicBezTo>
                        <a:pt x="234298" y="231753"/>
                        <a:pt x="276422" y="257130"/>
                        <a:pt x="277906" y="277906"/>
                      </a:cubicBezTo>
                      <a:cubicBezTo>
                        <a:pt x="285162" y="379494"/>
                        <a:pt x="300454" y="376518"/>
                        <a:pt x="259977" y="376518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Freeform 68"/>
                <p:cNvSpPr/>
                <p:nvPr/>
              </p:nvSpPr>
              <p:spPr>
                <a:xfrm>
                  <a:off x="3541059" y="3343835"/>
                  <a:ext cx="194212" cy="412377"/>
                </a:xfrm>
                <a:custGeom>
                  <a:avLst/>
                  <a:gdLst>
                    <a:gd name="connsiteX0" fmla="*/ 0 w 194212"/>
                    <a:gd name="connsiteY0" fmla="*/ 0 h 412377"/>
                    <a:gd name="connsiteX1" fmla="*/ 35859 w 194212"/>
                    <a:gd name="connsiteY1" fmla="*/ 8965 h 412377"/>
                    <a:gd name="connsiteX2" fmla="*/ 53788 w 194212"/>
                    <a:gd name="connsiteY2" fmla="*/ 35859 h 412377"/>
                    <a:gd name="connsiteX3" fmla="*/ 80682 w 194212"/>
                    <a:gd name="connsiteY3" fmla="*/ 53789 h 412377"/>
                    <a:gd name="connsiteX4" fmla="*/ 107576 w 194212"/>
                    <a:gd name="connsiteY4" fmla="*/ 80683 h 412377"/>
                    <a:gd name="connsiteX5" fmla="*/ 125506 w 194212"/>
                    <a:gd name="connsiteY5" fmla="*/ 179294 h 412377"/>
                    <a:gd name="connsiteX6" fmla="*/ 143435 w 194212"/>
                    <a:gd name="connsiteY6" fmla="*/ 197224 h 412377"/>
                    <a:gd name="connsiteX7" fmla="*/ 134470 w 194212"/>
                    <a:gd name="connsiteY7" fmla="*/ 233083 h 412377"/>
                    <a:gd name="connsiteX8" fmla="*/ 134470 w 194212"/>
                    <a:gd name="connsiteY8" fmla="*/ 286871 h 412377"/>
                    <a:gd name="connsiteX9" fmla="*/ 161365 w 194212"/>
                    <a:gd name="connsiteY9" fmla="*/ 304800 h 412377"/>
                    <a:gd name="connsiteX10" fmla="*/ 179294 w 194212"/>
                    <a:gd name="connsiteY10" fmla="*/ 412377 h 412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4212" h="412377">
                      <a:moveTo>
                        <a:pt x="0" y="0"/>
                      </a:moveTo>
                      <a:cubicBezTo>
                        <a:pt x="11953" y="2988"/>
                        <a:pt x="25607" y="2131"/>
                        <a:pt x="35859" y="8965"/>
                      </a:cubicBezTo>
                      <a:cubicBezTo>
                        <a:pt x="44824" y="14941"/>
                        <a:pt x="46170" y="28240"/>
                        <a:pt x="53788" y="35859"/>
                      </a:cubicBezTo>
                      <a:cubicBezTo>
                        <a:pt x="61407" y="43478"/>
                        <a:pt x="72405" y="46891"/>
                        <a:pt x="80682" y="53789"/>
                      </a:cubicBezTo>
                      <a:cubicBezTo>
                        <a:pt x="90421" y="61905"/>
                        <a:pt x="98611" y="71718"/>
                        <a:pt x="107576" y="80683"/>
                      </a:cubicBezTo>
                      <a:cubicBezTo>
                        <a:pt x="108812" y="90574"/>
                        <a:pt x="112413" y="157473"/>
                        <a:pt x="125506" y="179294"/>
                      </a:cubicBezTo>
                      <a:cubicBezTo>
                        <a:pt x="129854" y="186542"/>
                        <a:pt x="137459" y="191247"/>
                        <a:pt x="143435" y="197224"/>
                      </a:cubicBezTo>
                      <a:cubicBezTo>
                        <a:pt x="140447" y="209177"/>
                        <a:pt x="137855" y="221236"/>
                        <a:pt x="134470" y="233083"/>
                      </a:cubicBezTo>
                      <a:cubicBezTo>
                        <a:pt x="128180" y="255100"/>
                        <a:pt x="116856" y="264854"/>
                        <a:pt x="134470" y="286871"/>
                      </a:cubicBezTo>
                      <a:cubicBezTo>
                        <a:pt x="141201" y="295284"/>
                        <a:pt x="152400" y="298824"/>
                        <a:pt x="161365" y="304800"/>
                      </a:cubicBezTo>
                      <a:cubicBezTo>
                        <a:pt x="194212" y="354072"/>
                        <a:pt x="179294" y="320920"/>
                        <a:pt x="179294" y="412377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86" name="Group 85"/>
            <p:cNvGrpSpPr/>
            <p:nvPr/>
          </p:nvGrpSpPr>
          <p:grpSpPr>
            <a:xfrm rot="16200000">
              <a:off x="5517192" y="4492000"/>
              <a:ext cx="822960" cy="1097280"/>
              <a:chOff x="8876323" y="3201246"/>
              <a:chExt cx="1362287" cy="1856542"/>
            </a:xfrm>
          </p:grpSpPr>
          <p:sp>
            <p:nvSpPr>
              <p:cNvPr id="80" name="Isosceles Triangle 79"/>
              <p:cNvSpPr/>
              <p:nvPr/>
            </p:nvSpPr>
            <p:spPr>
              <a:xfrm>
                <a:off x="8880494" y="4129094"/>
                <a:ext cx="1000132" cy="928694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Isosceles Triangle 80"/>
              <p:cNvSpPr/>
              <p:nvPr/>
            </p:nvSpPr>
            <p:spPr>
              <a:xfrm rot="10800000">
                <a:off x="8876323" y="3201246"/>
                <a:ext cx="1000132" cy="928694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Straight Connector 82"/>
              <p:cNvCxnSpPr>
                <a:stCxn id="81" idx="0"/>
              </p:cNvCxnSpPr>
              <p:nvPr/>
            </p:nvCxnSpPr>
            <p:spPr>
              <a:xfrm rot="5400000" flipH="1" flipV="1">
                <a:off x="9806679" y="3698803"/>
                <a:ext cx="846" cy="861427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9844907" y="4111305"/>
                <a:ext cx="785818" cy="1588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/>
          <p:cNvSpPr txBox="1"/>
          <p:nvPr/>
        </p:nvSpPr>
        <p:spPr>
          <a:xfrm>
            <a:off x="10094940" y="5343540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Fig.1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7451734" y="5173769"/>
            <a:ext cx="857256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/>
          <p:cNvCxnSpPr/>
          <p:nvPr/>
        </p:nvCxnSpPr>
        <p:spPr>
          <a:xfrm>
            <a:off x="596548" y="2825280"/>
            <a:ext cx="640080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5309158" y="4129094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Load Valve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379504" y="2914366"/>
            <a:ext cx="1714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Control Valve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55367" y="5423661"/>
            <a:ext cx="1723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Resistance R</a:t>
            </a:r>
          </a:p>
        </p:txBody>
      </p:sp>
      <p:grpSp>
        <p:nvGrpSpPr>
          <p:cNvPr id="103" name="Group 102"/>
          <p:cNvGrpSpPr/>
          <p:nvPr/>
        </p:nvGrpSpPr>
        <p:grpSpPr>
          <a:xfrm>
            <a:off x="1879570" y="2486302"/>
            <a:ext cx="429768" cy="466344"/>
            <a:chOff x="9478893" y="2771771"/>
            <a:chExt cx="714380" cy="785819"/>
          </a:xfrm>
        </p:grpSpPr>
        <p:sp>
          <p:nvSpPr>
            <p:cNvPr id="98" name="Flowchart: Manual Operation 97"/>
            <p:cNvSpPr/>
            <p:nvPr/>
          </p:nvSpPr>
          <p:spPr>
            <a:xfrm>
              <a:off x="9478893" y="3128962"/>
              <a:ext cx="714380" cy="428628"/>
            </a:xfrm>
            <a:prstGeom prst="flowChartManualOperation">
              <a:avLst/>
            </a:prstGeom>
            <a:solidFill>
              <a:schemeClr val="bg1">
                <a:lumMod val="5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/>
            <p:nvPr/>
          </p:nvCxnSpPr>
          <p:spPr>
            <a:xfrm rot="16200000" flipH="1">
              <a:off x="9657488" y="2950366"/>
              <a:ext cx="357190" cy="0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>
              <a:off x="9648382" y="2771772"/>
              <a:ext cx="365760" cy="1588"/>
            </a:xfrm>
            <a:prstGeom prst="line">
              <a:avLst/>
            </a:prstGeom>
            <a:ln w="22225">
              <a:solidFill>
                <a:schemeClr val="tx1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Freeform 105"/>
          <p:cNvSpPr/>
          <p:nvPr/>
        </p:nvSpPr>
        <p:spPr>
          <a:xfrm>
            <a:off x="2859484" y="3791346"/>
            <a:ext cx="1667692" cy="57894"/>
          </a:xfrm>
          <a:custGeom>
            <a:avLst/>
            <a:gdLst>
              <a:gd name="connsiteX0" fmla="*/ 257 w 1667692"/>
              <a:gd name="connsiteY0" fmla="*/ 725 h 57894"/>
              <a:gd name="connsiteX1" fmla="*/ 116798 w 1667692"/>
              <a:gd name="connsiteY1" fmla="*/ 725 h 57894"/>
              <a:gd name="connsiteX2" fmla="*/ 143692 w 1667692"/>
              <a:gd name="connsiteY2" fmla="*/ 9689 h 57894"/>
              <a:gd name="connsiteX3" fmla="*/ 188516 w 1667692"/>
              <a:gd name="connsiteY3" fmla="*/ 27619 h 57894"/>
              <a:gd name="connsiteX4" fmla="*/ 367810 w 1667692"/>
              <a:gd name="connsiteY4" fmla="*/ 36583 h 57894"/>
              <a:gd name="connsiteX5" fmla="*/ 627787 w 1667692"/>
              <a:gd name="connsiteY5" fmla="*/ 27619 h 57894"/>
              <a:gd name="connsiteX6" fmla="*/ 735363 w 1667692"/>
              <a:gd name="connsiteY6" fmla="*/ 27619 h 57894"/>
              <a:gd name="connsiteX7" fmla="*/ 771222 w 1667692"/>
              <a:gd name="connsiteY7" fmla="*/ 45548 h 57894"/>
              <a:gd name="connsiteX8" fmla="*/ 1013269 w 1667692"/>
              <a:gd name="connsiteY8" fmla="*/ 18654 h 57894"/>
              <a:gd name="connsiteX9" fmla="*/ 1237387 w 1667692"/>
              <a:gd name="connsiteY9" fmla="*/ 27619 h 57894"/>
              <a:gd name="connsiteX10" fmla="*/ 1264281 w 1667692"/>
              <a:gd name="connsiteY10" fmla="*/ 36583 h 57894"/>
              <a:gd name="connsiteX11" fmla="*/ 1533222 w 1667692"/>
              <a:gd name="connsiteY11" fmla="*/ 45548 h 57894"/>
              <a:gd name="connsiteX12" fmla="*/ 1667692 w 1667692"/>
              <a:gd name="connsiteY12" fmla="*/ 54513 h 5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67692" h="57894">
                <a:moveTo>
                  <a:pt x="257" y="725"/>
                </a:moveTo>
                <a:cubicBezTo>
                  <a:pt x="58371" y="39467"/>
                  <a:pt x="0" y="9710"/>
                  <a:pt x="116798" y="725"/>
                </a:cubicBezTo>
                <a:cubicBezTo>
                  <a:pt x="126220" y="0"/>
                  <a:pt x="134844" y="6371"/>
                  <a:pt x="143692" y="9689"/>
                </a:cubicBezTo>
                <a:cubicBezTo>
                  <a:pt x="158760" y="15339"/>
                  <a:pt x="172538" y="25702"/>
                  <a:pt x="188516" y="27619"/>
                </a:cubicBezTo>
                <a:cubicBezTo>
                  <a:pt x="247929" y="34749"/>
                  <a:pt x="308045" y="33595"/>
                  <a:pt x="367810" y="36583"/>
                </a:cubicBezTo>
                <a:cubicBezTo>
                  <a:pt x="454469" y="33595"/>
                  <a:pt x="541235" y="32864"/>
                  <a:pt x="627787" y="27619"/>
                </a:cubicBezTo>
                <a:cubicBezTo>
                  <a:pt x="747461" y="20366"/>
                  <a:pt x="533226" y="2351"/>
                  <a:pt x="735363" y="27619"/>
                </a:cubicBezTo>
                <a:cubicBezTo>
                  <a:pt x="747316" y="33595"/>
                  <a:pt x="757871" y="44968"/>
                  <a:pt x="771222" y="45548"/>
                </a:cubicBezTo>
                <a:cubicBezTo>
                  <a:pt x="902318" y="51247"/>
                  <a:pt x="914063" y="43455"/>
                  <a:pt x="1013269" y="18654"/>
                </a:cubicBezTo>
                <a:cubicBezTo>
                  <a:pt x="1087975" y="21642"/>
                  <a:pt x="1162811" y="22292"/>
                  <a:pt x="1237387" y="27619"/>
                </a:cubicBezTo>
                <a:cubicBezTo>
                  <a:pt x="1246813" y="28292"/>
                  <a:pt x="1254849" y="36011"/>
                  <a:pt x="1264281" y="36583"/>
                </a:cubicBezTo>
                <a:cubicBezTo>
                  <a:pt x="1353814" y="42009"/>
                  <a:pt x="1443575" y="42560"/>
                  <a:pt x="1533222" y="45548"/>
                </a:cubicBezTo>
                <a:cubicBezTo>
                  <a:pt x="1619640" y="57894"/>
                  <a:pt x="1574845" y="54513"/>
                  <a:pt x="1667692" y="5451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 106"/>
          <p:cNvSpPr/>
          <p:nvPr/>
        </p:nvSpPr>
        <p:spPr>
          <a:xfrm>
            <a:off x="3460376" y="3379694"/>
            <a:ext cx="134471" cy="439271"/>
          </a:xfrm>
          <a:custGeom>
            <a:avLst/>
            <a:gdLst>
              <a:gd name="connsiteX0" fmla="*/ 0 w 134471"/>
              <a:gd name="connsiteY0" fmla="*/ 0 h 439271"/>
              <a:gd name="connsiteX1" fmla="*/ 8965 w 134471"/>
              <a:gd name="connsiteY1" fmla="*/ 35859 h 439271"/>
              <a:gd name="connsiteX2" fmla="*/ 17930 w 134471"/>
              <a:gd name="connsiteY2" fmla="*/ 80682 h 439271"/>
              <a:gd name="connsiteX3" fmla="*/ 35859 w 134471"/>
              <a:gd name="connsiteY3" fmla="*/ 107577 h 439271"/>
              <a:gd name="connsiteX4" fmla="*/ 62753 w 134471"/>
              <a:gd name="connsiteY4" fmla="*/ 161365 h 439271"/>
              <a:gd name="connsiteX5" fmla="*/ 71718 w 134471"/>
              <a:gd name="connsiteY5" fmla="*/ 367553 h 439271"/>
              <a:gd name="connsiteX6" fmla="*/ 116542 w 134471"/>
              <a:gd name="connsiteY6" fmla="*/ 421341 h 439271"/>
              <a:gd name="connsiteX7" fmla="*/ 134471 w 134471"/>
              <a:gd name="connsiteY7" fmla="*/ 439271 h 439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471" h="439271">
                <a:moveTo>
                  <a:pt x="0" y="0"/>
                </a:moveTo>
                <a:cubicBezTo>
                  <a:pt x="2988" y="11953"/>
                  <a:pt x="6292" y="23832"/>
                  <a:pt x="8965" y="35859"/>
                </a:cubicBezTo>
                <a:cubicBezTo>
                  <a:pt x="12270" y="50733"/>
                  <a:pt x="12580" y="66415"/>
                  <a:pt x="17930" y="80682"/>
                </a:cubicBezTo>
                <a:cubicBezTo>
                  <a:pt x="21713" y="90770"/>
                  <a:pt x="31041" y="97940"/>
                  <a:pt x="35859" y="107577"/>
                </a:cubicBezTo>
                <a:cubicBezTo>
                  <a:pt x="72971" y="181803"/>
                  <a:pt x="11374" y="84296"/>
                  <a:pt x="62753" y="161365"/>
                </a:cubicBezTo>
                <a:cubicBezTo>
                  <a:pt x="65741" y="230094"/>
                  <a:pt x="64121" y="299180"/>
                  <a:pt x="71718" y="367553"/>
                </a:cubicBezTo>
                <a:cubicBezTo>
                  <a:pt x="75814" y="404414"/>
                  <a:pt x="93566" y="402960"/>
                  <a:pt x="116542" y="421341"/>
                </a:cubicBezTo>
                <a:cubicBezTo>
                  <a:pt x="123142" y="426621"/>
                  <a:pt x="134471" y="439271"/>
                  <a:pt x="134471" y="43927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 107"/>
          <p:cNvSpPr/>
          <p:nvPr/>
        </p:nvSpPr>
        <p:spPr>
          <a:xfrm>
            <a:off x="3124456" y="3388659"/>
            <a:ext cx="198048" cy="421341"/>
          </a:xfrm>
          <a:custGeom>
            <a:avLst/>
            <a:gdLst>
              <a:gd name="connsiteX0" fmla="*/ 192485 w 198048"/>
              <a:gd name="connsiteY0" fmla="*/ 0 h 421341"/>
              <a:gd name="connsiteX1" fmla="*/ 183520 w 198048"/>
              <a:gd name="connsiteY1" fmla="*/ 80682 h 421341"/>
              <a:gd name="connsiteX2" fmla="*/ 129732 w 198048"/>
              <a:gd name="connsiteY2" fmla="*/ 98612 h 421341"/>
              <a:gd name="connsiteX3" fmla="*/ 120768 w 198048"/>
              <a:gd name="connsiteY3" fmla="*/ 125506 h 421341"/>
              <a:gd name="connsiteX4" fmla="*/ 93873 w 198048"/>
              <a:gd name="connsiteY4" fmla="*/ 134470 h 421341"/>
              <a:gd name="connsiteX5" fmla="*/ 75944 w 198048"/>
              <a:gd name="connsiteY5" fmla="*/ 152400 h 421341"/>
              <a:gd name="connsiteX6" fmla="*/ 66979 w 198048"/>
              <a:gd name="connsiteY6" fmla="*/ 322729 h 421341"/>
              <a:gd name="connsiteX7" fmla="*/ 49050 w 198048"/>
              <a:gd name="connsiteY7" fmla="*/ 376517 h 421341"/>
              <a:gd name="connsiteX8" fmla="*/ 22156 w 198048"/>
              <a:gd name="connsiteY8" fmla="*/ 385482 h 421341"/>
              <a:gd name="connsiteX9" fmla="*/ 4226 w 198048"/>
              <a:gd name="connsiteY9" fmla="*/ 421341 h 42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8048" h="421341">
                <a:moveTo>
                  <a:pt x="192485" y="0"/>
                </a:moveTo>
                <a:cubicBezTo>
                  <a:pt x="189497" y="26894"/>
                  <a:pt x="198048" y="57853"/>
                  <a:pt x="183520" y="80682"/>
                </a:cubicBezTo>
                <a:cubicBezTo>
                  <a:pt x="173373" y="96627"/>
                  <a:pt x="129732" y="98612"/>
                  <a:pt x="129732" y="98612"/>
                </a:cubicBezTo>
                <a:cubicBezTo>
                  <a:pt x="126744" y="107577"/>
                  <a:pt x="127450" y="118824"/>
                  <a:pt x="120768" y="125506"/>
                </a:cubicBezTo>
                <a:cubicBezTo>
                  <a:pt x="114086" y="132188"/>
                  <a:pt x="101976" y="129608"/>
                  <a:pt x="93873" y="134470"/>
                </a:cubicBezTo>
                <a:cubicBezTo>
                  <a:pt x="86625" y="138818"/>
                  <a:pt x="81920" y="146423"/>
                  <a:pt x="75944" y="152400"/>
                </a:cubicBezTo>
                <a:cubicBezTo>
                  <a:pt x="72956" y="209176"/>
                  <a:pt x="73753" y="266279"/>
                  <a:pt x="66979" y="322729"/>
                </a:cubicBezTo>
                <a:cubicBezTo>
                  <a:pt x="64727" y="341494"/>
                  <a:pt x="66979" y="370540"/>
                  <a:pt x="49050" y="376517"/>
                </a:cubicBezTo>
                <a:lnTo>
                  <a:pt x="22156" y="385482"/>
                </a:lnTo>
                <a:cubicBezTo>
                  <a:pt x="0" y="407638"/>
                  <a:pt x="4226" y="394960"/>
                  <a:pt x="4226" y="42134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8"/>
          <p:cNvSpPr/>
          <p:nvPr/>
        </p:nvSpPr>
        <p:spPr>
          <a:xfrm>
            <a:off x="3316941" y="3442447"/>
            <a:ext cx="80683" cy="367553"/>
          </a:xfrm>
          <a:custGeom>
            <a:avLst/>
            <a:gdLst>
              <a:gd name="connsiteX0" fmla="*/ 62753 w 80683"/>
              <a:gd name="connsiteY0" fmla="*/ 0 h 367553"/>
              <a:gd name="connsiteX1" fmla="*/ 80683 w 80683"/>
              <a:gd name="connsiteY1" fmla="*/ 71718 h 367553"/>
              <a:gd name="connsiteX2" fmla="*/ 71718 w 80683"/>
              <a:gd name="connsiteY2" fmla="*/ 143435 h 367553"/>
              <a:gd name="connsiteX3" fmla="*/ 35859 w 80683"/>
              <a:gd name="connsiteY3" fmla="*/ 188259 h 367553"/>
              <a:gd name="connsiteX4" fmla="*/ 17930 w 80683"/>
              <a:gd name="connsiteY4" fmla="*/ 215153 h 367553"/>
              <a:gd name="connsiteX5" fmla="*/ 0 w 80683"/>
              <a:gd name="connsiteY5" fmla="*/ 367553 h 36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683" h="367553">
                <a:moveTo>
                  <a:pt x="62753" y="0"/>
                </a:moveTo>
                <a:cubicBezTo>
                  <a:pt x="69827" y="21223"/>
                  <a:pt x="80683" y="50081"/>
                  <a:pt x="80683" y="71718"/>
                </a:cubicBezTo>
                <a:cubicBezTo>
                  <a:pt x="80683" y="95810"/>
                  <a:pt x="78057" y="120192"/>
                  <a:pt x="71718" y="143435"/>
                </a:cubicBezTo>
                <a:cubicBezTo>
                  <a:pt x="66010" y="164364"/>
                  <a:pt x="48141" y="172906"/>
                  <a:pt x="35859" y="188259"/>
                </a:cubicBezTo>
                <a:cubicBezTo>
                  <a:pt x="29129" y="196672"/>
                  <a:pt x="23906" y="206188"/>
                  <a:pt x="17930" y="215153"/>
                </a:cubicBezTo>
                <a:cubicBezTo>
                  <a:pt x="8701" y="362806"/>
                  <a:pt x="42839" y="324714"/>
                  <a:pt x="0" y="36755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0" name="Object 109"/>
          <p:cNvGraphicFramePr>
            <a:graphicFrameLocks noChangeAspect="1"/>
          </p:cNvGraphicFramePr>
          <p:nvPr/>
        </p:nvGraphicFramePr>
        <p:xfrm>
          <a:off x="450810" y="2843210"/>
          <a:ext cx="800855" cy="4610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241200" progId="Equation.3">
                  <p:embed/>
                </p:oleObj>
              </mc:Choice>
              <mc:Fallback>
                <p:oleObj name="Equation" r:id="rId4" imgW="419040" imgH="2412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10" y="2843210"/>
                        <a:ext cx="800855" cy="4610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3"/>
          <p:cNvGraphicFramePr>
            <a:graphicFrameLocks noChangeAspect="1"/>
          </p:cNvGraphicFramePr>
          <p:nvPr/>
        </p:nvGraphicFramePr>
        <p:xfrm>
          <a:off x="3022578" y="4325478"/>
          <a:ext cx="642942" cy="3316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93480" imgH="203040" progId="Equation.3">
                  <p:embed/>
                </p:oleObj>
              </mc:Choice>
              <mc:Fallback>
                <p:oleObj name="Equation" r:id="rId6" imgW="393480" imgH="2030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2578" y="4325478"/>
                        <a:ext cx="642942" cy="3316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2" name="Straight Arrow Connector 111"/>
          <p:cNvCxnSpPr/>
          <p:nvPr/>
        </p:nvCxnSpPr>
        <p:spPr>
          <a:xfrm rot="5400000" flipH="1" flipV="1">
            <a:off x="3076086" y="4084551"/>
            <a:ext cx="571504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rot="16200000" flipH="1">
            <a:off x="3067915" y="4967908"/>
            <a:ext cx="571504" cy="1588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8369300" y="4903788"/>
          <a:ext cx="823913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31640" imgH="253800" progId="Equation.3">
                  <p:embed/>
                </p:oleObj>
              </mc:Choice>
              <mc:Fallback>
                <p:oleObj name="Equation" r:id="rId8" imgW="431640" imgH="25380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9300" y="4903788"/>
                        <a:ext cx="823913" cy="484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442" y="128566"/>
            <a:ext cx="10969943" cy="500066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65058" y="628632"/>
            <a:ext cx="11858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the liquid level system as shown in Fig.1</a:t>
            </a: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1165190" y="1200136"/>
          <a:ext cx="7462837" cy="2363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71720" imgH="1193760" progId="Equation.3">
                  <p:embed/>
                </p:oleObj>
              </mc:Choice>
              <mc:Fallback>
                <p:oleObj name="Equation" r:id="rId2" imgW="3771720" imgH="119376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5190" y="1200136"/>
                        <a:ext cx="7462837" cy="2363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2"/>
          <p:cNvGrpSpPr/>
          <p:nvPr/>
        </p:nvGrpSpPr>
        <p:grpSpPr>
          <a:xfrm>
            <a:off x="236496" y="3700466"/>
            <a:ext cx="11787270" cy="2123658"/>
            <a:chOff x="236496" y="3700466"/>
            <a:chExt cx="11787270" cy="2123658"/>
          </a:xfrm>
        </p:grpSpPr>
        <p:sp>
          <p:nvSpPr>
            <p:cNvPr id="10" name="TextBox 9"/>
            <p:cNvSpPr txBox="1"/>
            <p:nvPr/>
          </p:nvSpPr>
          <p:spPr>
            <a:xfrm>
              <a:off x="236496" y="3700466"/>
              <a:ext cx="11787270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If the flow is laminar, then the relationship between the steady state flow rate and steady state head at the level is given by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Q = K H                                   (1)</a:t>
              </a:r>
            </a:p>
            <a:p>
              <a:pPr>
                <a:lnSpc>
                  <a:spcPct val="150000"/>
                </a:lnSpc>
              </a:pP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Where, Q = steady state liquid flow rate, m</a:t>
              </a:r>
              <a:r>
                <a:rPr lang="en-US" sz="2200" baseline="30000" dirty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2200" dirty="0">
                  <a:latin typeface="Times New Roman" pitchFamily="18" charset="0"/>
                  <a:cs typeface="Times New Roman" pitchFamily="18" charset="0"/>
                </a:rPr>
                <a:t> / sec</a:t>
              </a:r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1504450" y="5049105"/>
              <a:ext cx="2071702" cy="158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139784"/>
            <a:ext cx="10969943" cy="703162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5</a:t>
            </a:fld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736694" y="887489"/>
          <a:ext cx="7570787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32040" imgH="2349360" progId="Equation.3">
                  <p:embed/>
                </p:oleObj>
              </mc:Choice>
              <mc:Fallback>
                <p:oleObj name="Equation" r:id="rId2" imgW="3632040" imgH="23493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694" y="887489"/>
                        <a:ext cx="7570787" cy="489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139784"/>
            <a:ext cx="10969943" cy="703162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6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154238" y="825500"/>
          <a:ext cx="7532687" cy="4989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25880" imgH="2666880" progId="Equation.3">
                  <p:embed/>
                </p:oleObj>
              </mc:Choice>
              <mc:Fallback>
                <p:oleObj name="Equation" r:id="rId2" imgW="4025880" imgH="26668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4238" y="825500"/>
                        <a:ext cx="7532687" cy="49895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139784"/>
            <a:ext cx="10969943" cy="703162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7</a:t>
            </a:fld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736694" y="771508"/>
          <a:ext cx="8572500" cy="171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254480" imgH="850680" progId="Equation.3">
                  <p:embed/>
                </p:oleObj>
              </mc:Choice>
              <mc:Fallback>
                <p:oleObj name="Equation" r:id="rId2" imgW="4254480" imgH="8506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6694" y="771508"/>
                        <a:ext cx="8572500" cy="171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139784"/>
            <a:ext cx="10969943" cy="703162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65058" y="700071"/>
            <a:ext cx="11858708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MATHEMATICAL MODEL OF LIQUID LEVEL SYSTEM: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Fluid can be divided into two categories (1) Incompressible     (2) Compressible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density of the fluid remains constant despite in pressure, then the fluid is known as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incompressible.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If the density of the fluid changes with pressure, then the fluid is known as </a:t>
            </a:r>
            <a:r>
              <a:rPr lang="en-US" sz="2200" b="1" dirty="0">
                <a:latin typeface="Times New Roman" pitchFamily="18" charset="0"/>
                <a:cs typeface="Times New Roman" pitchFamily="18" charset="0"/>
              </a:rPr>
              <a:t>compressible.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All real fluids are compressible to some extent. As far as the level process is concerned, the liquid is assumed as incompressible.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a liquid level system shown in fig.2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 = cross-sectional area if the tank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h = level of the liquid in tank</a:t>
            </a:r>
          </a:p>
          <a:p>
            <a:pPr algn="just">
              <a:lnSpc>
                <a:spcPct val="150000"/>
              </a:lnSpc>
            </a:pP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5636" y="42445"/>
            <a:ext cx="11617555" cy="400052"/>
          </a:xfrm>
        </p:spPr>
        <p:txBody>
          <a:bodyPr>
            <a:no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58" y="466706"/>
            <a:ext cx="11858708" cy="5305462"/>
          </a:xfrm>
        </p:spPr>
        <p:txBody>
          <a:bodyPr>
            <a:noAutofit/>
          </a:bodyPr>
          <a:lstStyle/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</a:t>
            </a: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endParaRPr lang="en-IN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>
              <a:lnSpc>
                <a:spcPct val="150000"/>
              </a:lnSpc>
            </a:pPr>
            <a:r>
              <a:rPr lang="en-IN" sz="2200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                                                                                                              </a:t>
            </a:r>
            <a:endParaRPr lang="en-US" sz="22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A2DE9-AA53-49AD-8404-2983CAF44A4E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2E60A1-684A-48DF-84CC-789FBCB3E9EE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SYED HASAN SAEED </a:t>
            </a:r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087" y="5467366"/>
            <a:ext cx="11141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71313" y="5770384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latin typeface="Times New Roman" pitchFamily="18" charset="0"/>
                <a:cs typeface="Times New Roman" pitchFamily="18" charset="0"/>
              </a:rPr>
              <a:t>Reference: 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51" name="Straight Connector 50"/>
          <p:cNvCxnSpPr/>
          <p:nvPr/>
        </p:nvCxnSpPr>
        <p:spPr>
          <a:xfrm rot="5400000">
            <a:off x="2684112" y="1815389"/>
            <a:ext cx="142876" cy="1588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c 61"/>
          <p:cNvSpPr/>
          <p:nvPr/>
        </p:nvSpPr>
        <p:spPr>
          <a:xfrm>
            <a:off x="2182970" y="1521748"/>
            <a:ext cx="571504" cy="285752"/>
          </a:xfrm>
          <a:prstGeom prst="arc">
            <a:avLst>
              <a:gd name="adj1" fmla="val 16200000"/>
              <a:gd name="adj2" fmla="val 91478"/>
            </a:avLst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2376790" y="2370039"/>
            <a:ext cx="1645920" cy="147732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7" name="TextBox 76"/>
          <p:cNvSpPr txBox="1"/>
          <p:nvPr/>
        </p:nvSpPr>
        <p:spPr>
          <a:xfrm>
            <a:off x="4022710" y="3602415"/>
            <a:ext cx="841248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8" name="TextBox 77"/>
          <p:cNvSpPr txBox="1"/>
          <p:nvPr/>
        </p:nvSpPr>
        <p:spPr>
          <a:xfrm>
            <a:off x="6005044" y="3611098"/>
            <a:ext cx="841248" cy="2560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7" name="Group 86"/>
          <p:cNvGrpSpPr/>
          <p:nvPr/>
        </p:nvGrpSpPr>
        <p:grpSpPr>
          <a:xfrm>
            <a:off x="736562" y="1271574"/>
            <a:ext cx="6124415" cy="2751786"/>
            <a:chOff x="1212466" y="2700334"/>
            <a:chExt cx="6124415" cy="2751786"/>
          </a:xfrm>
        </p:grpSpPr>
        <p:grpSp>
          <p:nvGrpSpPr>
            <p:cNvPr id="8" name="Group 34"/>
            <p:cNvGrpSpPr/>
            <p:nvPr/>
          </p:nvGrpSpPr>
          <p:grpSpPr>
            <a:xfrm>
              <a:off x="2831213" y="3373894"/>
              <a:ext cx="4505668" cy="1926402"/>
              <a:chOff x="2831213" y="2516645"/>
              <a:chExt cx="4505668" cy="1926402"/>
            </a:xfrm>
          </p:grpSpPr>
          <p:grpSp>
            <p:nvGrpSpPr>
              <p:cNvPr id="12" name="Group 26"/>
              <p:cNvGrpSpPr/>
              <p:nvPr/>
            </p:nvGrpSpPr>
            <p:grpSpPr>
              <a:xfrm>
                <a:off x="6479625" y="4164954"/>
                <a:ext cx="857256" cy="278093"/>
                <a:chOff x="6479625" y="4164954"/>
                <a:chExt cx="857256" cy="278093"/>
              </a:xfrm>
            </p:grpSpPr>
            <p:cxnSp>
              <p:nvCxnSpPr>
                <p:cNvPr id="25" name="Straight Connector 24"/>
                <p:cNvCxnSpPr/>
                <p:nvPr/>
              </p:nvCxnSpPr>
              <p:spPr>
                <a:xfrm>
                  <a:off x="6479625" y="4164954"/>
                  <a:ext cx="857256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Straight Connector 25"/>
                <p:cNvCxnSpPr/>
                <p:nvPr/>
              </p:nvCxnSpPr>
              <p:spPr>
                <a:xfrm>
                  <a:off x="6479625" y="4441459"/>
                  <a:ext cx="857256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29" name="Straight Connector 28"/>
              <p:cNvCxnSpPr/>
              <p:nvPr/>
            </p:nvCxnSpPr>
            <p:spPr>
              <a:xfrm>
                <a:off x="4522776" y="4164954"/>
                <a:ext cx="857256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/>
              <p:cNvCxnSpPr/>
              <p:nvPr/>
            </p:nvCxnSpPr>
            <p:spPr>
              <a:xfrm>
                <a:off x="2831213" y="4441459"/>
                <a:ext cx="256032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/>
              <p:cNvCxnSpPr/>
              <p:nvPr/>
            </p:nvCxnSpPr>
            <p:spPr>
              <a:xfrm rot="5400000" flipH="1" flipV="1">
                <a:off x="3707980" y="3338811"/>
                <a:ext cx="164592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/>
              <p:nvPr/>
            </p:nvCxnSpPr>
            <p:spPr>
              <a:xfrm rot="5400000">
                <a:off x="1891736" y="3486747"/>
                <a:ext cx="1892808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60"/>
            <p:cNvGrpSpPr/>
            <p:nvPr/>
          </p:nvGrpSpPr>
          <p:grpSpPr>
            <a:xfrm>
              <a:off x="1212466" y="2700334"/>
              <a:ext cx="2298300" cy="670710"/>
              <a:chOff x="7860708" y="3486152"/>
              <a:chExt cx="2298300" cy="670710"/>
            </a:xfrm>
          </p:grpSpPr>
          <p:cxnSp>
            <p:nvCxnSpPr>
              <p:cNvPr id="38" name="Straight Connector 37"/>
              <p:cNvCxnSpPr/>
              <p:nvPr/>
            </p:nvCxnSpPr>
            <p:spPr>
              <a:xfrm>
                <a:off x="7884886" y="3486152"/>
                <a:ext cx="1928826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/>
              <p:cNvSpPr/>
              <p:nvPr/>
            </p:nvSpPr>
            <p:spPr>
              <a:xfrm>
                <a:off x="9883596" y="4019702"/>
                <a:ext cx="274320" cy="137160"/>
              </a:xfrm>
              <a:prstGeom prst="ellipse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4" name="Group 43"/>
              <p:cNvGrpSpPr/>
              <p:nvPr/>
            </p:nvGrpSpPr>
            <p:grpSpPr>
              <a:xfrm>
                <a:off x="9434869" y="3486152"/>
                <a:ext cx="724139" cy="611486"/>
                <a:chOff x="9434869" y="3486152"/>
                <a:chExt cx="724139" cy="611486"/>
              </a:xfrm>
            </p:grpSpPr>
            <p:sp>
              <p:nvSpPr>
                <p:cNvPr id="40" name="Arc 39"/>
                <p:cNvSpPr/>
                <p:nvPr/>
              </p:nvSpPr>
              <p:spPr>
                <a:xfrm>
                  <a:off x="9434869" y="3486152"/>
                  <a:ext cx="714380" cy="500066"/>
                </a:xfrm>
                <a:prstGeom prst="arc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2" name="Straight Connector 41"/>
                <p:cNvCxnSpPr/>
                <p:nvPr/>
              </p:nvCxnSpPr>
              <p:spPr>
                <a:xfrm rot="5400000">
                  <a:off x="9975334" y="3913964"/>
                  <a:ext cx="365760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47" name="Straight Connector 46"/>
              <p:cNvCxnSpPr/>
              <p:nvPr/>
            </p:nvCxnSpPr>
            <p:spPr>
              <a:xfrm rot="5400000">
                <a:off x="9835721" y="3921547"/>
                <a:ext cx="82226" cy="793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rot="10800000">
                <a:off x="7860708" y="3728886"/>
                <a:ext cx="1737360" cy="8164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5" name="Group 74"/>
            <p:cNvGrpSpPr/>
            <p:nvPr/>
          </p:nvGrpSpPr>
          <p:grpSpPr>
            <a:xfrm>
              <a:off x="3045845" y="3316941"/>
              <a:ext cx="813597" cy="502024"/>
              <a:chOff x="3045845" y="3316941"/>
              <a:chExt cx="813597" cy="502024"/>
            </a:xfrm>
          </p:grpSpPr>
          <p:sp>
            <p:nvSpPr>
              <p:cNvPr id="65" name="Freeform 64"/>
              <p:cNvSpPr/>
              <p:nvPr/>
            </p:nvSpPr>
            <p:spPr>
              <a:xfrm>
                <a:off x="3487271" y="3379694"/>
                <a:ext cx="224117" cy="412377"/>
              </a:xfrm>
              <a:custGeom>
                <a:avLst/>
                <a:gdLst>
                  <a:gd name="connsiteX0" fmla="*/ 0 w 224117"/>
                  <a:gd name="connsiteY0" fmla="*/ 0 h 412377"/>
                  <a:gd name="connsiteX1" fmla="*/ 53788 w 224117"/>
                  <a:gd name="connsiteY1" fmla="*/ 26894 h 412377"/>
                  <a:gd name="connsiteX2" fmla="*/ 62753 w 224117"/>
                  <a:gd name="connsiteY2" fmla="*/ 53788 h 412377"/>
                  <a:gd name="connsiteX3" fmla="*/ 80682 w 224117"/>
                  <a:gd name="connsiteY3" fmla="*/ 71718 h 412377"/>
                  <a:gd name="connsiteX4" fmla="*/ 89647 w 224117"/>
                  <a:gd name="connsiteY4" fmla="*/ 107577 h 412377"/>
                  <a:gd name="connsiteX5" fmla="*/ 98611 w 224117"/>
                  <a:gd name="connsiteY5" fmla="*/ 134471 h 412377"/>
                  <a:gd name="connsiteX6" fmla="*/ 80682 w 224117"/>
                  <a:gd name="connsiteY6" fmla="*/ 251012 h 412377"/>
                  <a:gd name="connsiteX7" fmla="*/ 89647 w 224117"/>
                  <a:gd name="connsiteY7" fmla="*/ 322730 h 412377"/>
                  <a:gd name="connsiteX8" fmla="*/ 152400 w 224117"/>
                  <a:gd name="connsiteY8" fmla="*/ 349624 h 412377"/>
                  <a:gd name="connsiteX9" fmla="*/ 215153 w 224117"/>
                  <a:gd name="connsiteY9" fmla="*/ 367553 h 412377"/>
                  <a:gd name="connsiteX10" fmla="*/ 224117 w 224117"/>
                  <a:gd name="connsiteY10" fmla="*/ 412377 h 4123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24117" h="412377">
                    <a:moveTo>
                      <a:pt x="0" y="0"/>
                    </a:moveTo>
                    <a:cubicBezTo>
                      <a:pt x="17716" y="5906"/>
                      <a:pt x="41150" y="11096"/>
                      <a:pt x="53788" y="26894"/>
                    </a:cubicBezTo>
                    <a:cubicBezTo>
                      <a:pt x="59691" y="34273"/>
                      <a:pt x="57891" y="45685"/>
                      <a:pt x="62753" y="53788"/>
                    </a:cubicBezTo>
                    <a:cubicBezTo>
                      <a:pt x="67101" y="61036"/>
                      <a:pt x="74706" y="65741"/>
                      <a:pt x="80682" y="71718"/>
                    </a:cubicBezTo>
                    <a:cubicBezTo>
                      <a:pt x="83670" y="83671"/>
                      <a:pt x="86262" y="95730"/>
                      <a:pt x="89647" y="107577"/>
                    </a:cubicBezTo>
                    <a:cubicBezTo>
                      <a:pt x="92243" y="116663"/>
                      <a:pt x="98611" y="125021"/>
                      <a:pt x="98611" y="134471"/>
                    </a:cubicBezTo>
                    <a:cubicBezTo>
                      <a:pt x="98611" y="146014"/>
                      <a:pt x="83199" y="235913"/>
                      <a:pt x="80682" y="251012"/>
                    </a:cubicBezTo>
                    <a:cubicBezTo>
                      <a:pt x="83670" y="274918"/>
                      <a:pt x="75477" y="303246"/>
                      <a:pt x="89647" y="322730"/>
                    </a:cubicBezTo>
                    <a:cubicBezTo>
                      <a:pt x="103032" y="341135"/>
                      <a:pt x="131270" y="341172"/>
                      <a:pt x="152400" y="349624"/>
                    </a:cubicBezTo>
                    <a:cubicBezTo>
                      <a:pt x="173829" y="358195"/>
                      <a:pt x="192493" y="361888"/>
                      <a:pt x="215153" y="367553"/>
                    </a:cubicBezTo>
                    <a:lnTo>
                      <a:pt x="224117" y="412377"/>
                    </a:lnTo>
                  </a:path>
                </a:pathLst>
              </a:custGeom>
              <a:ln w="12700">
                <a:solidFill>
                  <a:schemeClr val="accent5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16" name="Group 73"/>
              <p:cNvGrpSpPr/>
              <p:nvPr/>
            </p:nvGrpSpPr>
            <p:grpSpPr>
              <a:xfrm>
                <a:off x="3045845" y="3316941"/>
                <a:ext cx="813597" cy="502024"/>
                <a:chOff x="3045845" y="3316941"/>
                <a:chExt cx="813597" cy="502024"/>
              </a:xfrm>
            </p:grpSpPr>
            <p:sp>
              <p:nvSpPr>
                <p:cNvPr id="63" name="Freeform 62"/>
                <p:cNvSpPr/>
                <p:nvPr/>
              </p:nvSpPr>
              <p:spPr>
                <a:xfrm>
                  <a:off x="3370729" y="3415553"/>
                  <a:ext cx="88971" cy="403412"/>
                </a:xfrm>
                <a:custGeom>
                  <a:avLst/>
                  <a:gdLst>
                    <a:gd name="connsiteX0" fmla="*/ 0 w 88971"/>
                    <a:gd name="connsiteY0" fmla="*/ 0 h 403412"/>
                    <a:gd name="connsiteX1" fmla="*/ 35859 w 88971"/>
                    <a:gd name="connsiteY1" fmla="*/ 8965 h 403412"/>
                    <a:gd name="connsiteX2" fmla="*/ 62753 w 88971"/>
                    <a:gd name="connsiteY2" fmla="*/ 71718 h 403412"/>
                    <a:gd name="connsiteX3" fmla="*/ 53789 w 88971"/>
                    <a:gd name="connsiteY3" fmla="*/ 152400 h 403412"/>
                    <a:gd name="connsiteX4" fmla="*/ 35859 w 88971"/>
                    <a:gd name="connsiteY4" fmla="*/ 170329 h 403412"/>
                    <a:gd name="connsiteX5" fmla="*/ 17930 w 88971"/>
                    <a:gd name="connsiteY5" fmla="*/ 224118 h 403412"/>
                    <a:gd name="connsiteX6" fmla="*/ 8965 w 88971"/>
                    <a:gd name="connsiteY6" fmla="*/ 251012 h 403412"/>
                    <a:gd name="connsiteX7" fmla="*/ 26895 w 88971"/>
                    <a:gd name="connsiteY7" fmla="*/ 295835 h 403412"/>
                    <a:gd name="connsiteX8" fmla="*/ 53789 w 88971"/>
                    <a:gd name="connsiteY8" fmla="*/ 304800 h 403412"/>
                    <a:gd name="connsiteX9" fmla="*/ 62753 w 88971"/>
                    <a:gd name="connsiteY9" fmla="*/ 331694 h 403412"/>
                    <a:gd name="connsiteX10" fmla="*/ 80683 w 88971"/>
                    <a:gd name="connsiteY10" fmla="*/ 403412 h 4034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88971" h="403412">
                      <a:moveTo>
                        <a:pt x="0" y="0"/>
                      </a:moveTo>
                      <a:cubicBezTo>
                        <a:pt x="11953" y="2988"/>
                        <a:pt x="25607" y="2131"/>
                        <a:pt x="35859" y="8965"/>
                      </a:cubicBezTo>
                      <a:cubicBezTo>
                        <a:pt x="54433" y="21348"/>
                        <a:pt x="58255" y="53723"/>
                        <a:pt x="62753" y="71718"/>
                      </a:cubicBezTo>
                      <a:cubicBezTo>
                        <a:pt x="59765" y="98612"/>
                        <a:pt x="60909" y="126294"/>
                        <a:pt x="53789" y="152400"/>
                      </a:cubicBezTo>
                      <a:cubicBezTo>
                        <a:pt x="51565" y="160554"/>
                        <a:pt x="39639" y="162769"/>
                        <a:pt x="35859" y="170329"/>
                      </a:cubicBezTo>
                      <a:cubicBezTo>
                        <a:pt x="27407" y="187233"/>
                        <a:pt x="23906" y="206188"/>
                        <a:pt x="17930" y="224118"/>
                      </a:cubicBezTo>
                      <a:lnTo>
                        <a:pt x="8965" y="251012"/>
                      </a:lnTo>
                      <a:cubicBezTo>
                        <a:pt x="14942" y="265953"/>
                        <a:pt x="16593" y="283473"/>
                        <a:pt x="26895" y="295835"/>
                      </a:cubicBezTo>
                      <a:cubicBezTo>
                        <a:pt x="32945" y="303094"/>
                        <a:pt x="47107" y="298118"/>
                        <a:pt x="53789" y="304800"/>
                      </a:cubicBezTo>
                      <a:cubicBezTo>
                        <a:pt x="60471" y="311482"/>
                        <a:pt x="58527" y="323242"/>
                        <a:pt x="62753" y="331694"/>
                      </a:cubicBezTo>
                      <a:cubicBezTo>
                        <a:pt x="88971" y="384130"/>
                        <a:pt x="80683" y="329633"/>
                        <a:pt x="80683" y="403412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3045845" y="3379694"/>
                  <a:ext cx="214270" cy="421341"/>
                </a:xfrm>
                <a:custGeom>
                  <a:avLst/>
                  <a:gdLst>
                    <a:gd name="connsiteX0" fmla="*/ 208343 w 214270"/>
                    <a:gd name="connsiteY0" fmla="*/ 0 h 421341"/>
                    <a:gd name="connsiteX1" fmla="*/ 199379 w 214270"/>
                    <a:gd name="connsiteY1" fmla="*/ 53788 h 421341"/>
                    <a:gd name="connsiteX2" fmla="*/ 118696 w 214270"/>
                    <a:gd name="connsiteY2" fmla="*/ 62753 h 421341"/>
                    <a:gd name="connsiteX3" fmla="*/ 91802 w 214270"/>
                    <a:gd name="connsiteY3" fmla="*/ 80682 h 421341"/>
                    <a:gd name="connsiteX4" fmla="*/ 91802 w 214270"/>
                    <a:gd name="connsiteY4" fmla="*/ 242047 h 421341"/>
                    <a:gd name="connsiteX5" fmla="*/ 82837 w 214270"/>
                    <a:gd name="connsiteY5" fmla="*/ 277906 h 421341"/>
                    <a:gd name="connsiteX6" fmla="*/ 55943 w 214270"/>
                    <a:gd name="connsiteY6" fmla="*/ 286871 h 421341"/>
                    <a:gd name="connsiteX7" fmla="*/ 29049 w 214270"/>
                    <a:gd name="connsiteY7" fmla="*/ 304800 h 421341"/>
                    <a:gd name="connsiteX8" fmla="*/ 20084 w 214270"/>
                    <a:gd name="connsiteY8" fmla="*/ 331694 h 421341"/>
                    <a:gd name="connsiteX9" fmla="*/ 2155 w 214270"/>
                    <a:gd name="connsiteY9" fmla="*/ 349624 h 421341"/>
                    <a:gd name="connsiteX10" fmla="*/ 11120 w 214270"/>
                    <a:gd name="connsiteY10" fmla="*/ 394447 h 421341"/>
                    <a:gd name="connsiteX11" fmla="*/ 11120 w 214270"/>
                    <a:gd name="connsiteY11" fmla="*/ 421341 h 42134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214270" h="421341">
                      <a:moveTo>
                        <a:pt x="208343" y="0"/>
                      </a:moveTo>
                      <a:cubicBezTo>
                        <a:pt x="205355" y="17929"/>
                        <a:pt x="214270" y="43364"/>
                        <a:pt x="199379" y="53788"/>
                      </a:cubicBezTo>
                      <a:cubicBezTo>
                        <a:pt x="177211" y="69306"/>
                        <a:pt x="144948" y="56190"/>
                        <a:pt x="118696" y="62753"/>
                      </a:cubicBezTo>
                      <a:cubicBezTo>
                        <a:pt x="108244" y="65366"/>
                        <a:pt x="100767" y="74706"/>
                        <a:pt x="91802" y="80682"/>
                      </a:cubicBezTo>
                      <a:cubicBezTo>
                        <a:pt x="66613" y="156249"/>
                        <a:pt x="91802" y="69367"/>
                        <a:pt x="91802" y="242047"/>
                      </a:cubicBezTo>
                      <a:cubicBezTo>
                        <a:pt x="91802" y="254368"/>
                        <a:pt x="90534" y="268285"/>
                        <a:pt x="82837" y="277906"/>
                      </a:cubicBezTo>
                      <a:cubicBezTo>
                        <a:pt x="76934" y="285285"/>
                        <a:pt x="64395" y="282645"/>
                        <a:pt x="55943" y="286871"/>
                      </a:cubicBezTo>
                      <a:cubicBezTo>
                        <a:pt x="46306" y="291689"/>
                        <a:pt x="38014" y="298824"/>
                        <a:pt x="29049" y="304800"/>
                      </a:cubicBezTo>
                      <a:cubicBezTo>
                        <a:pt x="26061" y="313765"/>
                        <a:pt x="24946" y="323591"/>
                        <a:pt x="20084" y="331694"/>
                      </a:cubicBezTo>
                      <a:cubicBezTo>
                        <a:pt x="15736" y="338942"/>
                        <a:pt x="3350" y="341257"/>
                        <a:pt x="2155" y="349624"/>
                      </a:cubicBezTo>
                      <a:cubicBezTo>
                        <a:pt x="0" y="364708"/>
                        <a:pt x="9230" y="379328"/>
                        <a:pt x="11120" y="394447"/>
                      </a:cubicBezTo>
                      <a:cubicBezTo>
                        <a:pt x="12232" y="403342"/>
                        <a:pt x="11120" y="412376"/>
                        <a:pt x="11120" y="421341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Freeform 66"/>
                <p:cNvSpPr/>
                <p:nvPr/>
              </p:nvSpPr>
              <p:spPr>
                <a:xfrm>
                  <a:off x="3308802" y="3433482"/>
                  <a:ext cx="100312" cy="286871"/>
                </a:xfrm>
                <a:custGeom>
                  <a:avLst/>
                  <a:gdLst>
                    <a:gd name="connsiteX0" fmla="*/ 100312 w 100312"/>
                    <a:gd name="connsiteY0" fmla="*/ 0 h 286871"/>
                    <a:gd name="connsiteX1" fmla="*/ 91348 w 100312"/>
                    <a:gd name="connsiteY1" fmla="*/ 44824 h 286871"/>
                    <a:gd name="connsiteX2" fmla="*/ 19630 w 100312"/>
                    <a:gd name="connsiteY2" fmla="*/ 71718 h 286871"/>
                    <a:gd name="connsiteX3" fmla="*/ 19630 w 100312"/>
                    <a:gd name="connsiteY3" fmla="*/ 170330 h 286871"/>
                    <a:gd name="connsiteX4" fmla="*/ 46524 w 100312"/>
                    <a:gd name="connsiteY4" fmla="*/ 179294 h 286871"/>
                    <a:gd name="connsiteX5" fmla="*/ 55489 w 100312"/>
                    <a:gd name="connsiteY5" fmla="*/ 206189 h 286871"/>
                    <a:gd name="connsiteX6" fmla="*/ 10665 w 100312"/>
                    <a:gd name="connsiteY6" fmla="*/ 259977 h 286871"/>
                    <a:gd name="connsiteX7" fmla="*/ 1701 w 100312"/>
                    <a:gd name="connsiteY7" fmla="*/ 286871 h 28687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</a:cxnLst>
                  <a:rect l="l" t="t" r="r" b="b"/>
                  <a:pathLst>
                    <a:path w="100312" h="286871">
                      <a:moveTo>
                        <a:pt x="100312" y="0"/>
                      </a:moveTo>
                      <a:cubicBezTo>
                        <a:pt x="97324" y="14941"/>
                        <a:pt x="98908" y="31594"/>
                        <a:pt x="91348" y="44824"/>
                      </a:cubicBezTo>
                      <a:cubicBezTo>
                        <a:pt x="79435" y="65672"/>
                        <a:pt x="35902" y="68463"/>
                        <a:pt x="19630" y="71718"/>
                      </a:cubicBezTo>
                      <a:cubicBezTo>
                        <a:pt x="10743" y="107265"/>
                        <a:pt x="0" y="131070"/>
                        <a:pt x="19630" y="170330"/>
                      </a:cubicBezTo>
                      <a:cubicBezTo>
                        <a:pt x="23856" y="178782"/>
                        <a:pt x="37559" y="176306"/>
                        <a:pt x="46524" y="179294"/>
                      </a:cubicBezTo>
                      <a:cubicBezTo>
                        <a:pt x="49512" y="188259"/>
                        <a:pt x="57043" y="196868"/>
                        <a:pt x="55489" y="206189"/>
                      </a:cubicBezTo>
                      <a:cubicBezTo>
                        <a:pt x="52993" y="221165"/>
                        <a:pt x="18742" y="251900"/>
                        <a:pt x="10665" y="259977"/>
                      </a:cubicBezTo>
                      <a:lnTo>
                        <a:pt x="1701" y="286871"/>
                      </a:ln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Freeform 67"/>
                <p:cNvSpPr/>
                <p:nvPr/>
              </p:nvSpPr>
              <p:spPr>
                <a:xfrm>
                  <a:off x="3558988" y="3316941"/>
                  <a:ext cx="300454" cy="379494"/>
                </a:xfrm>
                <a:custGeom>
                  <a:avLst/>
                  <a:gdLst>
                    <a:gd name="connsiteX0" fmla="*/ 0 w 300454"/>
                    <a:gd name="connsiteY0" fmla="*/ 0 h 379494"/>
                    <a:gd name="connsiteX1" fmla="*/ 80683 w 300454"/>
                    <a:gd name="connsiteY1" fmla="*/ 8965 h 379494"/>
                    <a:gd name="connsiteX2" fmla="*/ 116541 w 300454"/>
                    <a:gd name="connsiteY2" fmla="*/ 35859 h 379494"/>
                    <a:gd name="connsiteX3" fmla="*/ 143436 w 300454"/>
                    <a:gd name="connsiteY3" fmla="*/ 53788 h 379494"/>
                    <a:gd name="connsiteX4" fmla="*/ 152400 w 300454"/>
                    <a:gd name="connsiteY4" fmla="*/ 188259 h 379494"/>
                    <a:gd name="connsiteX5" fmla="*/ 179294 w 300454"/>
                    <a:gd name="connsiteY5" fmla="*/ 197224 h 379494"/>
                    <a:gd name="connsiteX6" fmla="*/ 224118 w 300454"/>
                    <a:gd name="connsiteY6" fmla="*/ 224118 h 379494"/>
                    <a:gd name="connsiteX7" fmla="*/ 277906 w 300454"/>
                    <a:gd name="connsiteY7" fmla="*/ 277906 h 379494"/>
                    <a:gd name="connsiteX8" fmla="*/ 259977 w 300454"/>
                    <a:gd name="connsiteY8" fmla="*/ 376518 h 37949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300454" h="379494">
                      <a:moveTo>
                        <a:pt x="0" y="0"/>
                      </a:moveTo>
                      <a:cubicBezTo>
                        <a:pt x="26894" y="2988"/>
                        <a:pt x="54820" y="1007"/>
                        <a:pt x="80683" y="8965"/>
                      </a:cubicBezTo>
                      <a:cubicBezTo>
                        <a:pt x="94963" y="13359"/>
                        <a:pt x="104383" y="27175"/>
                        <a:pt x="116541" y="35859"/>
                      </a:cubicBezTo>
                      <a:cubicBezTo>
                        <a:pt x="125309" y="42121"/>
                        <a:pt x="134471" y="47812"/>
                        <a:pt x="143436" y="53788"/>
                      </a:cubicBezTo>
                      <a:cubicBezTo>
                        <a:pt x="146424" y="98612"/>
                        <a:pt x="141505" y="144677"/>
                        <a:pt x="152400" y="188259"/>
                      </a:cubicBezTo>
                      <a:cubicBezTo>
                        <a:pt x="154692" y="197426"/>
                        <a:pt x="171191" y="192362"/>
                        <a:pt x="179294" y="197224"/>
                      </a:cubicBezTo>
                      <a:cubicBezTo>
                        <a:pt x="240823" y="234141"/>
                        <a:pt x="147932" y="198722"/>
                        <a:pt x="224118" y="224118"/>
                      </a:cubicBezTo>
                      <a:cubicBezTo>
                        <a:pt x="234298" y="231753"/>
                        <a:pt x="276422" y="257130"/>
                        <a:pt x="277906" y="277906"/>
                      </a:cubicBezTo>
                      <a:cubicBezTo>
                        <a:pt x="285162" y="379494"/>
                        <a:pt x="300454" y="376518"/>
                        <a:pt x="259977" y="376518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Freeform 68"/>
                <p:cNvSpPr/>
                <p:nvPr/>
              </p:nvSpPr>
              <p:spPr>
                <a:xfrm>
                  <a:off x="3541059" y="3343835"/>
                  <a:ext cx="194212" cy="412377"/>
                </a:xfrm>
                <a:custGeom>
                  <a:avLst/>
                  <a:gdLst>
                    <a:gd name="connsiteX0" fmla="*/ 0 w 194212"/>
                    <a:gd name="connsiteY0" fmla="*/ 0 h 412377"/>
                    <a:gd name="connsiteX1" fmla="*/ 35859 w 194212"/>
                    <a:gd name="connsiteY1" fmla="*/ 8965 h 412377"/>
                    <a:gd name="connsiteX2" fmla="*/ 53788 w 194212"/>
                    <a:gd name="connsiteY2" fmla="*/ 35859 h 412377"/>
                    <a:gd name="connsiteX3" fmla="*/ 80682 w 194212"/>
                    <a:gd name="connsiteY3" fmla="*/ 53789 h 412377"/>
                    <a:gd name="connsiteX4" fmla="*/ 107576 w 194212"/>
                    <a:gd name="connsiteY4" fmla="*/ 80683 h 412377"/>
                    <a:gd name="connsiteX5" fmla="*/ 125506 w 194212"/>
                    <a:gd name="connsiteY5" fmla="*/ 179294 h 412377"/>
                    <a:gd name="connsiteX6" fmla="*/ 143435 w 194212"/>
                    <a:gd name="connsiteY6" fmla="*/ 197224 h 412377"/>
                    <a:gd name="connsiteX7" fmla="*/ 134470 w 194212"/>
                    <a:gd name="connsiteY7" fmla="*/ 233083 h 412377"/>
                    <a:gd name="connsiteX8" fmla="*/ 134470 w 194212"/>
                    <a:gd name="connsiteY8" fmla="*/ 286871 h 412377"/>
                    <a:gd name="connsiteX9" fmla="*/ 161365 w 194212"/>
                    <a:gd name="connsiteY9" fmla="*/ 304800 h 412377"/>
                    <a:gd name="connsiteX10" fmla="*/ 179294 w 194212"/>
                    <a:gd name="connsiteY10" fmla="*/ 412377 h 41237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194212" h="412377">
                      <a:moveTo>
                        <a:pt x="0" y="0"/>
                      </a:moveTo>
                      <a:cubicBezTo>
                        <a:pt x="11953" y="2988"/>
                        <a:pt x="25607" y="2131"/>
                        <a:pt x="35859" y="8965"/>
                      </a:cubicBezTo>
                      <a:cubicBezTo>
                        <a:pt x="44824" y="14941"/>
                        <a:pt x="46170" y="28240"/>
                        <a:pt x="53788" y="35859"/>
                      </a:cubicBezTo>
                      <a:cubicBezTo>
                        <a:pt x="61407" y="43478"/>
                        <a:pt x="72405" y="46891"/>
                        <a:pt x="80682" y="53789"/>
                      </a:cubicBezTo>
                      <a:cubicBezTo>
                        <a:pt x="90421" y="61905"/>
                        <a:pt x="98611" y="71718"/>
                        <a:pt x="107576" y="80683"/>
                      </a:cubicBezTo>
                      <a:cubicBezTo>
                        <a:pt x="108812" y="90574"/>
                        <a:pt x="112413" y="157473"/>
                        <a:pt x="125506" y="179294"/>
                      </a:cubicBezTo>
                      <a:cubicBezTo>
                        <a:pt x="129854" y="186542"/>
                        <a:pt x="137459" y="191247"/>
                        <a:pt x="143435" y="197224"/>
                      </a:cubicBezTo>
                      <a:cubicBezTo>
                        <a:pt x="140447" y="209177"/>
                        <a:pt x="137855" y="221236"/>
                        <a:pt x="134470" y="233083"/>
                      </a:cubicBezTo>
                      <a:cubicBezTo>
                        <a:pt x="128180" y="255100"/>
                        <a:pt x="116856" y="264854"/>
                        <a:pt x="134470" y="286871"/>
                      </a:cubicBezTo>
                      <a:cubicBezTo>
                        <a:pt x="141201" y="295284"/>
                        <a:pt x="152400" y="298824"/>
                        <a:pt x="161365" y="304800"/>
                      </a:cubicBezTo>
                      <a:cubicBezTo>
                        <a:pt x="194212" y="354072"/>
                        <a:pt x="179294" y="320920"/>
                        <a:pt x="179294" y="412377"/>
                      </a:cubicBezTo>
                    </a:path>
                  </a:pathLst>
                </a:custGeom>
                <a:ln w="12700">
                  <a:solidFill>
                    <a:schemeClr val="accent5">
                      <a:lumMod val="7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grpSp>
          <p:nvGrpSpPr>
            <p:cNvPr id="17" name="Group 85"/>
            <p:cNvGrpSpPr/>
            <p:nvPr/>
          </p:nvGrpSpPr>
          <p:grpSpPr>
            <a:xfrm rot="16200000">
              <a:off x="5517192" y="4492000"/>
              <a:ext cx="822960" cy="1097280"/>
              <a:chOff x="8876323" y="3201246"/>
              <a:chExt cx="1362287" cy="1856542"/>
            </a:xfrm>
          </p:grpSpPr>
          <p:sp>
            <p:nvSpPr>
              <p:cNvPr id="80" name="Isosceles Triangle 79"/>
              <p:cNvSpPr/>
              <p:nvPr/>
            </p:nvSpPr>
            <p:spPr>
              <a:xfrm>
                <a:off x="8880494" y="4129094"/>
                <a:ext cx="1000132" cy="928694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1" name="Isosceles Triangle 80"/>
              <p:cNvSpPr/>
              <p:nvPr/>
            </p:nvSpPr>
            <p:spPr>
              <a:xfrm rot="10800000">
                <a:off x="8876323" y="3201246"/>
                <a:ext cx="1000132" cy="928694"/>
              </a:xfrm>
              <a:prstGeom prst="triangle">
                <a:avLst/>
              </a:prstGeom>
              <a:solidFill>
                <a:schemeClr val="bg1">
                  <a:lumMod val="85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3" name="Straight Connector 82"/>
              <p:cNvCxnSpPr>
                <a:stCxn id="81" idx="0"/>
              </p:cNvCxnSpPr>
              <p:nvPr/>
            </p:nvCxnSpPr>
            <p:spPr>
              <a:xfrm rot="5400000" flipH="1" flipV="1">
                <a:off x="9806679" y="3698803"/>
                <a:ext cx="846" cy="861427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>
                <a:off x="9844907" y="4111305"/>
                <a:ext cx="785818" cy="1588"/>
              </a:xfrm>
              <a:prstGeom prst="line">
                <a:avLst/>
              </a:prstGeom>
              <a:ln w="25400">
                <a:solidFill>
                  <a:schemeClr val="bg1">
                    <a:lumMod val="50000"/>
                  </a:schemeClr>
                </a:solidFill>
                <a:headEnd type="oval"/>
                <a:tailEnd type="oval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6" name="TextBox 45"/>
          <p:cNvSpPr txBox="1"/>
          <p:nvPr/>
        </p:nvSpPr>
        <p:spPr>
          <a:xfrm>
            <a:off x="3236892" y="4057656"/>
            <a:ext cx="9286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Fig.2</a:t>
            </a:r>
          </a:p>
        </p:txBody>
      </p:sp>
      <p:cxnSp>
        <p:nvCxnSpPr>
          <p:cNvPr id="79" name="Straight Arrow Connector 78"/>
          <p:cNvCxnSpPr/>
          <p:nvPr/>
        </p:nvCxnSpPr>
        <p:spPr>
          <a:xfrm>
            <a:off x="6880230" y="3753974"/>
            <a:ext cx="857256" cy="1588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4825048" y="4039444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Load Valve</a:t>
            </a:r>
          </a:p>
        </p:txBody>
      </p:sp>
      <p:sp>
        <p:nvSpPr>
          <p:cNvPr id="106" name="Freeform 105"/>
          <p:cNvSpPr/>
          <p:nvPr/>
        </p:nvSpPr>
        <p:spPr>
          <a:xfrm>
            <a:off x="2379636" y="2343144"/>
            <a:ext cx="1667692" cy="57894"/>
          </a:xfrm>
          <a:custGeom>
            <a:avLst/>
            <a:gdLst>
              <a:gd name="connsiteX0" fmla="*/ 257 w 1667692"/>
              <a:gd name="connsiteY0" fmla="*/ 725 h 57894"/>
              <a:gd name="connsiteX1" fmla="*/ 116798 w 1667692"/>
              <a:gd name="connsiteY1" fmla="*/ 725 h 57894"/>
              <a:gd name="connsiteX2" fmla="*/ 143692 w 1667692"/>
              <a:gd name="connsiteY2" fmla="*/ 9689 h 57894"/>
              <a:gd name="connsiteX3" fmla="*/ 188516 w 1667692"/>
              <a:gd name="connsiteY3" fmla="*/ 27619 h 57894"/>
              <a:gd name="connsiteX4" fmla="*/ 367810 w 1667692"/>
              <a:gd name="connsiteY4" fmla="*/ 36583 h 57894"/>
              <a:gd name="connsiteX5" fmla="*/ 627787 w 1667692"/>
              <a:gd name="connsiteY5" fmla="*/ 27619 h 57894"/>
              <a:gd name="connsiteX6" fmla="*/ 735363 w 1667692"/>
              <a:gd name="connsiteY6" fmla="*/ 27619 h 57894"/>
              <a:gd name="connsiteX7" fmla="*/ 771222 w 1667692"/>
              <a:gd name="connsiteY7" fmla="*/ 45548 h 57894"/>
              <a:gd name="connsiteX8" fmla="*/ 1013269 w 1667692"/>
              <a:gd name="connsiteY8" fmla="*/ 18654 h 57894"/>
              <a:gd name="connsiteX9" fmla="*/ 1237387 w 1667692"/>
              <a:gd name="connsiteY9" fmla="*/ 27619 h 57894"/>
              <a:gd name="connsiteX10" fmla="*/ 1264281 w 1667692"/>
              <a:gd name="connsiteY10" fmla="*/ 36583 h 57894"/>
              <a:gd name="connsiteX11" fmla="*/ 1533222 w 1667692"/>
              <a:gd name="connsiteY11" fmla="*/ 45548 h 57894"/>
              <a:gd name="connsiteX12" fmla="*/ 1667692 w 1667692"/>
              <a:gd name="connsiteY12" fmla="*/ 54513 h 57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667692" h="57894">
                <a:moveTo>
                  <a:pt x="257" y="725"/>
                </a:moveTo>
                <a:cubicBezTo>
                  <a:pt x="58371" y="39467"/>
                  <a:pt x="0" y="9710"/>
                  <a:pt x="116798" y="725"/>
                </a:cubicBezTo>
                <a:cubicBezTo>
                  <a:pt x="126220" y="0"/>
                  <a:pt x="134844" y="6371"/>
                  <a:pt x="143692" y="9689"/>
                </a:cubicBezTo>
                <a:cubicBezTo>
                  <a:pt x="158760" y="15339"/>
                  <a:pt x="172538" y="25702"/>
                  <a:pt x="188516" y="27619"/>
                </a:cubicBezTo>
                <a:cubicBezTo>
                  <a:pt x="247929" y="34749"/>
                  <a:pt x="308045" y="33595"/>
                  <a:pt x="367810" y="36583"/>
                </a:cubicBezTo>
                <a:cubicBezTo>
                  <a:pt x="454469" y="33595"/>
                  <a:pt x="541235" y="32864"/>
                  <a:pt x="627787" y="27619"/>
                </a:cubicBezTo>
                <a:cubicBezTo>
                  <a:pt x="747461" y="20366"/>
                  <a:pt x="533226" y="2351"/>
                  <a:pt x="735363" y="27619"/>
                </a:cubicBezTo>
                <a:cubicBezTo>
                  <a:pt x="747316" y="33595"/>
                  <a:pt x="757871" y="44968"/>
                  <a:pt x="771222" y="45548"/>
                </a:cubicBezTo>
                <a:cubicBezTo>
                  <a:pt x="902318" y="51247"/>
                  <a:pt x="914063" y="43455"/>
                  <a:pt x="1013269" y="18654"/>
                </a:cubicBezTo>
                <a:cubicBezTo>
                  <a:pt x="1087975" y="21642"/>
                  <a:pt x="1162811" y="22292"/>
                  <a:pt x="1237387" y="27619"/>
                </a:cubicBezTo>
                <a:cubicBezTo>
                  <a:pt x="1246813" y="28292"/>
                  <a:pt x="1254849" y="36011"/>
                  <a:pt x="1264281" y="36583"/>
                </a:cubicBezTo>
                <a:cubicBezTo>
                  <a:pt x="1353814" y="42009"/>
                  <a:pt x="1443575" y="42560"/>
                  <a:pt x="1533222" y="45548"/>
                </a:cubicBezTo>
                <a:cubicBezTo>
                  <a:pt x="1619640" y="57894"/>
                  <a:pt x="1574845" y="54513"/>
                  <a:pt x="1667692" y="5451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Freeform 106"/>
          <p:cNvSpPr/>
          <p:nvPr/>
        </p:nvSpPr>
        <p:spPr>
          <a:xfrm>
            <a:off x="3001308" y="1950094"/>
            <a:ext cx="134471" cy="439271"/>
          </a:xfrm>
          <a:custGeom>
            <a:avLst/>
            <a:gdLst>
              <a:gd name="connsiteX0" fmla="*/ 0 w 134471"/>
              <a:gd name="connsiteY0" fmla="*/ 0 h 439271"/>
              <a:gd name="connsiteX1" fmla="*/ 8965 w 134471"/>
              <a:gd name="connsiteY1" fmla="*/ 35859 h 439271"/>
              <a:gd name="connsiteX2" fmla="*/ 17930 w 134471"/>
              <a:gd name="connsiteY2" fmla="*/ 80682 h 439271"/>
              <a:gd name="connsiteX3" fmla="*/ 35859 w 134471"/>
              <a:gd name="connsiteY3" fmla="*/ 107577 h 439271"/>
              <a:gd name="connsiteX4" fmla="*/ 62753 w 134471"/>
              <a:gd name="connsiteY4" fmla="*/ 161365 h 439271"/>
              <a:gd name="connsiteX5" fmla="*/ 71718 w 134471"/>
              <a:gd name="connsiteY5" fmla="*/ 367553 h 439271"/>
              <a:gd name="connsiteX6" fmla="*/ 116542 w 134471"/>
              <a:gd name="connsiteY6" fmla="*/ 421341 h 439271"/>
              <a:gd name="connsiteX7" fmla="*/ 134471 w 134471"/>
              <a:gd name="connsiteY7" fmla="*/ 439271 h 439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471" h="439271">
                <a:moveTo>
                  <a:pt x="0" y="0"/>
                </a:moveTo>
                <a:cubicBezTo>
                  <a:pt x="2988" y="11953"/>
                  <a:pt x="6292" y="23832"/>
                  <a:pt x="8965" y="35859"/>
                </a:cubicBezTo>
                <a:cubicBezTo>
                  <a:pt x="12270" y="50733"/>
                  <a:pt x="12580" y="66415"/>
                  <a:pt x="17930" y="80682"/>
                </a:cubicBezTo>
                <a:cubicBezTo>
                  <a:pt x="21713" y="90770"/>
                  <a:pt x="31041" y="97940"/>
                  <a:pt x="35859" y="107577"/>
                </a:cubicBezTo>
                <a:cubicBezTo>
                  <a:pt x="72971" y="181803"/>
                  <a:pt x="11374" y="84296"/>
                  <a:pt x="62753" y="161365"/>
                </a:cubicBezTo>
                <a:cubicBezTo>
                  <a:pt x="65741" y="230094"/>
                  <a:pt x="64121" y="299180"/>
                  <a:pt x="71718" y="367553"/>
                </a:cubicBezTo>
                <a:cubicBezTo>
                  <a:pt x="75814" y="404414"/>
                  <a:pt x="93566" y="402960"/>
                  <a:pt x="116542" y="421341"/>
                </a:cubicBezTo>
                <a:cubicBezTo>
                  <a:pt x="123142" y="426621"/>
                  <a:pt x="134471" y="439271"/>
                  <a:pt x="134471" y="43927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reeform 107"/>
          <p:cNvSpPr/>
          <p:nvPr/>
        </p:nvSpPr>
        <p:spPr>
          <a:xfrm>
            <a:off x="2665388" y="1959059"/>
            <a:ext cx="198048" cy="421341"/>
          </a:xfrm>
          <a:custGeom>
            <a:avLst/>
            <a:gdLst>
              <a:gd name="connsiteX0" fmla="*/ 192485 w 198048"/>
              <a:gd name="connsiteY0" fmla="*/ 0 h 421341"/>
              <a:gd name="connsiteX1" fmla="*/ 183520 w 198048"/>
              <a:gd name="connsiteY1" fmla="*/ 80682 h 421341"/>
              <a:gd name="connsiteX2" fmla="*/ 129732 w 198048"/>
              <a:gd name="connsiteY2" fmla="*/ 98612 h 421341"/>
              <a:gd name="connsiteX3" fmla="*/ 120768 w 198048"/>
              <a:gd name="connsiteY3" fmla="*/ 125506 h 421341"/>
              <a:gd name="connsiteX4" fmla="*/ 93873 w 198048"/>
              <a:gd name="connsiteY4" fmla="*/ 134470 h 421341"/>
              <a:gd name="connsiteX5" fmla="*/ 75944 w 198048"/>
              <a:gd name="connsiteY5" fmla="*/ 152400 h 421341"/>
              <a:gd name="connsiteX6" fmla="*/ 66979 w 198048"/>
              <a:gd name="connsiteY6" fmla="*/ 322729 h 421341"/>
              <a:gd name="connsiteX7" fmla="*/ 49050 w 198048"/>
              <a:gd name="connsiteY7" fmla="*/ 376517 h 421341"/>
              <a:gd name="connsiteX8" fmla="*/ 22156 w 198048"/>
              <a:gd name="connsiteY8" fmla="*/ 385482 h 421341"/>
              <a:gd name="connsiteX9" fmla="*/ 4226 w 198048"/>
              <a:gd name="connsiteY9" fmla="*/ 421341 h 421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8048" h="421341">
                <a:moveTo>
                  <a:pt x="192485" y="0"/>
                </a:moveTo>
                <a:cubicBezTo>
                  <a:pt x="189497" y="26894"/>
                  <a:pt x="198048" y="57853"/>
                  <a:pt x="183520" y="80682"/>
                </a:cubicBezTo>
                <a:cubicBezTo>
                  <a:pt x="173373" y="96627"/>
                  <a:pt x="129732" y="98612"/>
                  <a:pt x="129732" y="98612"/>
                </a:cubicBezTo>
                <a:cubicBezTo>
                  <a:pt x="126744" y="107577"/>
                  <a:pt x="127450" y="118824"/>
                  <a:pt x="120768" y="125506"/>
                </a:cubicBezTo>
                <a:cubicBezTo>
                  <a:pt x="114086" y="132188"/>
                  <a:pt x="101976" y="129608"/>
                  <a:pt x="93873" y="134470"/>
                </a:cubicBezTo>
                <a:cubicBezTo>
                  <a:pt x="86625" y="138818"/>
                  <a:pt x="81920" y="146423"/>
                  <a:pt x="75944" y="152400"/>
                </a:cubicBezTo>
                <a:cubicBezTo>
                  <a:pt x="72956" y="209176"/>
                  <a:pt x="73753" y="266279"/>
                  <a:pt x="66979" y="322729"/>
                </a:cubicBezTo>
                <a:cubicBezTo>
                  <a:pt x="64727" y="341494"/>
                  <a:pt x="66979" y="370540"/>
                  <a:pt x="49050" y="376517"/>
                </a:cubicBezTo>
                <a:lnTo>
                  <a:pt x="22156" y="385482"/>
                </a:lnTo>
                <a:cubicBezTo>
                  <a:pt x="0" y="407638"/>
                  <a:pt x="4226" y="394960"/>
                  <a:pt x="4226" y="421341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Freeform 108"/>
          <p:cNvSpPr/>
          <p:nvPr/>
        </p:nvSpPr>
        <p:spPr>
          <a:xfrm>
            <a:off x="2942175" y="1994073"/>
            <a:ext cx="80683" cy="367553"/>
          </a:xfrm>
          <a:custGeom>
            <a:avLst/>
            <a:gdLst>
              <a:gd name="connsiteX0" fmla="*/ 62753 w 80683"/>
              <a:gd name="connsiteY0" fmla="*/ 0 h 367553"/>
              <a:gd name="connsiteX1" fmla="*/ 80683 w 80683"/>
              <a:gd name="connsiteY1" fmla="*/ 71718 h 367553"/>
              <a:gd name="connsiteX2" fmla="*/ 71718 w 80683"/>
              <a:gd name="connsiteY2" fmla="*/ 143435 h 367553"/>
              <a:gd name="connsiteX3" fmla="*/ 35859 w 80683"/>
              <a:gd name="connsiteY3" fmla="*/ 188259 h 367553"/>
              <a:gd name="connsiteX4" fmla="*/ 17930 w 80683"/>
              <a:gd name="connsiteY4" fmla="*/ 215153 h 367553"/>
              <a:gd name="connsiteX5" fmla="*/ 0 w 80683"/>
              <a:gd name="connsiteY5" fmla="*/ 367553 h 367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0683" h="367553">
                <a:moveTo>
                  <a:pt x="62753" y="0"/>
                </a:moveTo>
                <a:cubicBezTo>
                  <a:pt x="69827" y="21223"/>
                  <a:pt x="80683" y="50081"/>
                  <a:pt x="80683" y="71718"/>
                </a:cubicBezTo>
                <a:cubicBezTo>
                  <a:pt x="80683" y="95810"/>
                  <a:pt x="78057" y="120192"/>
                  <a:pt x="71718" y="143435"/>
                </a:cubicBezTo>
                <a:cubicBezTo>
                  <a:pt x="66010" y="164364"/>
                  <a:pt x="48141" y="172906"/>
                  <a:pt x="35859" y="188259"/>
                </a:cubicBezTo>
                <a:cubicBezTo>
                  <a:pt x="29129" y="196672"/>
                  <a:pt x="23906" y="206188"/>
                  <a:pt x="17930" y="215153"/>
                </a:cubicBezTo>
                <a:cubicBezTo>
                  <a:pt x="8701" y="362806"/>
                  <a:pt x="42839" y="324714"/>
                  <a:pt x="0" y="367553"/>
                </a:cubicBezTo>
              </a:path>
            </a:pathLst>
          </a:cu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7737486" y="3486152"/>
          <a:ext cx="412750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5640" imgH="228600" progId="Equation.3">
                  <p:embed/>
                </p:oleObj>
              </mc:Choice>
              <mc:Fallback>
                <p:oleObj name="Equation" r:id="rId2" imgW="2156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486" y="3486152"/>
                        <a:ext cx="412750" cy="4365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02" name="Object 4"/>
          <p:cNvGraphicFramePr>
            <a:graphicFrameLocks noChangeAspect="1"/>
          </p:cNvGraphicFramePr>
          <p:nvPr/>
        </p:nvGraphicFramePr>
        <p:xfrm>
          <a:off x="3117850" y="1427163"/>
          <a:ext cx="3635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90440" imgH="215640" progId="Equation.3">
                  <p:embed/>
                </p:oleObj>
              </mc:Choice>
              <mc:Fallback>
                <p:oleObj name="Equation" r:id="rId4" imgW="19044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1427163"/>
                        <a:ext cx="363538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TextBox 72"/>
          <p:cNvSpPr txBox="1"/>
          <p:nvPr/>
        </p:nvSpPr>
        <p:spPr>
          <a:xfrm>
            <a:off x="5272734" y="2789984"/>
            <a:ext cx="57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36892" y="2557458"/>
            <a:ext cx="571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rot="5400000">
            <a:off x="2522512" y="3557590"/>
            <a:ext cx="571504" cy="1588"/>
          </a:xfrm>
          <a:prstGeom prst="straightConnector1">
            <a:avLst/>
          </a:prstGeom>
          <a:ln w="158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638775" y="2897000"/>
            <a:ext cx="4286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cxnSp>
        <p:nvCxnSpPr>
          <p:cNvPr id="87" name="Straight Arrow Connector 86"/>
          <p:cNvCxnSpPr/>
          <p:nvPr/>
        </p:nvCxnSpPr>
        <p:spPr>
          <a:xfrm rot="16200000" flipV="1">
            <a:off x="2523306" y="2663681"/>
            <a:ext cx="571504" cy="1588"/>
          </a:xfrm>
          <a:prstGeom prst="straightConnector1">
            <a:avLst/>
          </a:prstGeom>
          <a:ln w="15875"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8094676" y="557194"/>
            <a:ext cx="392909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m = total mass in tank</a:t>
            </a:r>
          </a:p>
          <a:p>
            <a:pPr>
              <a:lnSpc>
                <a:spcPct val="150000"/>
              </a:lnSpc>
            </a:pPr>
            <a:r>
              <a:rPr lang="el-GR" sz="2200" dirty="0">
                <a:latin typeface="Times New Roman" pitchFamily="18" charset="0"/>
                <a:cs typeface="Times New Roman" pitchFamily="18" charset="0"/>
              </a:rPr>
              <a:t>ρ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fluid density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volume inflow rate</a:t>
            </a:r>
          </a:p>
          <a:p>
            <a:pPr>
              <a:lnSpc>
                <a:spcPct val="150000"/>
              </a:lnSpc>
            </a:pPr>
            <a:r>
              <a:rPr lang="en-US" sz="2200" dirty="0" err="1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US" sz="2200" baseline="-25000" dirty="0" err="1">
                <a:latin typeface="Times New Roman" pitchFamily="18" charset="0"/>
                <a:cs typeface="Times New Roman" pitchFamily="18" charset="0"/>
              </a:rPr>
              <a:t>o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volume outflow rate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07934" y="4852085"/>
            <a:ext cx="1150151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   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128566"/>
            <a:ext cx="10969943" cy="586617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5058" y="700070"/>
            <a:ext cx="11858708" cy="52864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Total mass in the tank    m = </a:t>
            </a:r>
            <a:r>
              <a:rPr lang="el-GR" sz="2200" dirty="0">
                <a:latin typeface="Times New Roman" pitchFamily="18" charset="0"/>
                <a:cs typeface="Times New Roman" pitchFamily="18" charset="0"/>
              </a:rPr>
              <a:t>ρ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 h  --------- (1)                                               ( </a:t>
            </a:r>
            <a:r>
              <a:rPr lang="en-US" sz="2200" i="1" dirty="0">
                <a:latin typeface="Times New Roman" pitchFamily="18" charset="0"/>
                <a:cs typeface="Times New Roman" pitchFamily="18" charset="0"/>
              </a:rPr>
              <a:t>Density = mass / volume 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50000"/>
              </a:lnSpc>
              <a:buNone/>
            </a:pPr>
            <a:endParaRPr lang="en-US" sz="2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10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963647" y="1816117"/>
          <a:ext cx="10131425" cy="3741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25800" imgH="1777680" progId="Equation.3">
                  <p:embed/>
                </p:oleObj>
              </mc:Choice>
              <mc:Fallback>
                <p:oleObj name="Equation" r:id="rId2" imgW="4825800" imgH="177768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647" y="1816117"/>
                        <a:ext cx="10131425" cy="37417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11</a:t>
            </a:fld>
            <a:endParaRPr lang="en-US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2308198" y="914384"/>
          <a:ext cx="7432675" cy="478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70200" imgH="2361960" progId="Equation.3">
                  <p:embed/>
                </p:oleObj>
              </mc:Choice>
              <mc:Fallback>
                <p:oleObj name="Equation" r:id="rId2" imgW="3670200" imgH="236196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198" y="914384"/>
                        <a:ext cx="7432675" cy="4784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442" y="128566"/>
            <a:ext cx="10969943" cy="586617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12</a:t>
            </a:fld>
            <a:endParaRPr lang="en-US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093822" y="771508"/>
          <a:ext cx="10001250" cy="508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51360" imgH="2463480" progId="Equation.3">
                  <p:embed/>
                </p:oleObj>
              </mc:Choice>
              <mc:Fallback>
                <p:oleObj name="Equation" r:id="rId2" imgW="4851360" imgH="246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822" y="771508"/>
                        <a:ext cx="10001250" cy="5081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442" y="128566"/>
            <a:ext cx="10969943" cy="586617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609442" y="128566"/>
            <a:ext cx="10969943" cy="586617"/>
          </a:xfrm>
        </p:spPr>
        <p:txBody>
          <a:bodyPr>
            <a:norm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400" dirty="0"/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/>
        </p:nvGraphicFramePr>
        <p:xfrm>
          <a:off x="879438" y="771508"/>
          <a:ext cx="10429875" cy="490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44840" imgH="2463480" progId="Equation.3">
                  <p:embed/>
                </p:oleObj>
              </mc:Choice>
              <mc:Fallback>
                <p:oleObj name="Equation" r:id="rId2" imgW="5244840" imgH="246348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38" y="771508"/>
                        <a:ext cx="10429875" cy="4908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Straight Connector 10"/>
          <p:cNvCxnSpPr/>
          <p:nvPr/>
        </p:nvCxnSpPr>
        <p:spPr>
          <a:xfrm rot="10800000" flipV="1">
            <a:off x="2665388" y="4843474"/>
            <a:ext cx="500066" cy="28575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10800000" flipV="1">
            <a:off x="808000" y="4843474"/>
            <a:ext cx="500066" cy="285752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0410" y="533381"/>
            <a:ext cx="11808007" cy="5467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sz="2200" i="1" dirty="0">
                <a:latin typeface="Times New Roman" pitchFamily="18" charset="0"/>
                <a:cs typeface="Times New Roman" pitchFamily="18" charset="0"/>
              </a:rPr>
              <a:t> Fig.1 Liquid level System</a:t>
            </a: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pSp>
        <p:nvGrpSpPr>
          <p:cNvPr id="95" name="Group 94"/>
          <p:cNvGrpSpPr/>
          <p:nvPr/>
        </p:nvGrpSpPr>
        <p:grpSpPr>
          <a:xfrm>
            <a:off x="1256007" y="1846560"/>
            <a:ext cx="10000974" cy="2954996"/>
            <a:chOff x="942251" y="1978456"/>
            <a:chExt cx="7502684" cy="3166067"/>
          </a:xfrm>
        </p:grpSpPr>
        <p:grpSp>
          <p:nvGrpSpPr>
            <p:cNvPr id="88" name="Group 87"/>
            <p:cNvGrpSpPr/>
            <p:nvPr/>
          </p:nvGrpSpPr>
          <p:grpSpPr>
            <a:xfrm>
              <a:off x="942251" y="1978456"/>
              <a:ext cx="7209521" cy="2884380"/>
              <a:chOff x="1680218" y="1978456"/>
              <a:chExt cx="7209521" cy="2884380"/>
            </a:xfrm>
          </p:grpSpPr>
          <p:grpSp>
            <p:nvGrpSpPr>
              <p:cNvPr id="62" name="Group 61"/>
              <p:cNvGrpSpPr/>
              <p:nvPr/>
            </p:nvGrpSpPr>
            <p:grpSpPr>
              <a:xfrm>
                <a:off x="4150550" y="4359572"/>
                <a:ext cx="785818" cy="503264"/>
                <a:chOff x="4167470" y="4334452"/>
                <a:chExt cx="785818" cy="503264"/>
              </a:xfrm>
            </p:grpSpPr>
            <p:cxnSp>
              <p:nvCxnSpPr>
                <p:cNvPr id="9" name="Straight Connector 8"/>
                <p:cNvCxnSpPr/>
                <p:nvPr/>
              </p:nvCxnSpPr>
              <p:spPr>
                <a:xfrm rot="5400000">
                  <a:off x="399737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" name="Straight Connector 9"/>
                <p:cNvCxnSpPr/>
                <p:nvPr/>
              </p:nvCxnSpPr>
              <p:spPr>
                <a:xfrm rot="5400000">
                  <a:off x="477982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" name="Straight Connector 11"/>
                <p:cNvCxnSpPr/>
                <p:nvPr/>
              </p:nvCxnSpPr>
              <p:spPr>
                <a:xfrm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Straight Connector 13"/>
                <p:cNvCxnSpPr/>
                <p:nvPr/>
              </p:nvCxnSpPr>
              <p:spPr>
                <a:xfrm flipV="1"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/>
                <p:cNvCxnSpPr/>
                <p:nvPr/>
              </p:nvCxnSpPr>
              <p:spPr>
                <a:xfrm rot="5400000">
                  <a:off x="4390292" y="4504415"/>
                  <a:ext cx="340189" cy="1344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Straight Connector 18"/>
                <p:cNvCxnSpPr/>
                <p:nvPr/>
              </p:nvCxnSpPr>
              <p:spPr>
                <a:xfrm>
                  <a:off x="4320604" y="4334452"/>
                  <a:ext cx="483580" cy="1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3" name="Group 62"/>
              <p:cNvGrpSpPr/>
              <p:nvPr/>
            </p:nvGrpSpPr>
            <p:grpSpPr>
              <a:xfrm>
                <a:off x="7769322" y="4357694"/>
                <a:ext cx="785818" cy="503264"/>
                <a:chOff x="4167470" y="4334452"/>
                <a:chExt cx="785818" cy="503264"/>
              </a:xfrm>
            </p:grpSpPr>
            <p:cxnSp>
              <p:nvCxnSpPr>
                <p:cNvPr id="64" name="Straight Connector 63"/>
                <p:cNvCxnSpPr/>
                <p:nvPr/>
              </p:nvCxnSpPr>
              <p:spPr>
                <a:xfrm rot="5400000">
                  <a:off x="399737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Straight Connector 64"/>
                <p:cNvCxnSpPr/>
                <p:nvPr/>
              </p:nvCxnSpPr>
              <p:spPr>
                <a:xfrm rot="5400000">
                  <a:off x="4779826" y="4667622"/>
                  <a:ext cx="340189" cy="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Straight Connector 65"/>
                <p:cNvCxnSpPr/>
                <p:nvPr/>
              </p:nvCxnSpPr>
              <p:spPr>
                <a:xfrm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Straight Connector 66"/>
                <p:cNvCxnSpPr/>
                <p:nvPr/>
              </p:nvCxnSpPr>
              <p:spPr>
                <a:xfrm flipV="1">
                  <a:off x="4167470" y="4497527"/>
                  <a:ext cx="785818" cy="3401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/>
                <p:nvPr/>
              </p:nvCxnSpPr>
              <p:spPr>
                <a:xfrm rot="5400000">
                  <a:off x="4390292" y="4504415"/>
                  <a:ext cx="340189" cy="1344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/>
                <p:cNvCxnSpPr/>
                <p:nvPr/>
              </p:nvCxnSpPr>
              <p:spPr>
                <a:xfrm>
                  <a:off x="4320604" y="4334452"/>
                  <a:ext cx="483580" cy="1080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1" name="Straight Connector 70"/>
              <p:cNvCxnSpPr/>
              <p:nvPr/>
            </p:nvCxnSpPr>
            <p:spPr>
              <a:xfrm>
                <a:off x="4929190" y="4857760"/>
                <a:ext cx="2844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1680218" y="4857760"/>
                <a:ext cx="2484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 rot="5400000" flipH="1" flipV="1">
                <a:off x="247559" y="3417662"/>
                <a:ext cx="2880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>
              <a:xfrm rot="10800000">
                <a:off x="3846798" y="4524135"/>
                <a:ext cx="306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/>
              <p:cNvCxnSpPr/>
              <p:nvPr/>
            </p:nvCxnSpPr>
            <p:spPr>
              <a:xfrm rot="10800000">
                <a:off x="4931052" y="4522090"/>
                <a:ext cx="3456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/>
              <p:cNvCxnSpPr/>
              <p:nvPr/>
            </p:nvCxnSpPr>
            <p:spPr>
              <a:xfrm rot="5400000" flipH="1" flipV="1">
                <a:off x="2579476" y="3256598"/>
                <a:ext cx="253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/>
              <p:cNvCxnSpPr/>
              <p:nvPr/>
            </p:nvCxnSpPr>
            <p:spPr>
              <a:xfrm rot="5400000" flipH="1" flipV="1">
                <a:off x="4010274" y="3259369"/>
                <a:ext cx="253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 rot="10800000">
                <a:off x="7437638" y="4521183"/>
                <a:ext cx="3384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 rot="5400000" flipH="1" flipV="1">
                <a:off x="6165678" y="3257560"/>
                <a:ext cx="253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rot="10800000">
                <a:off x="8551339" y="4520034"/>
                <a:ext cx="3384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/>
              <p:cNvCxnSpPr/>
              <p:nvPr/>
            </p:nvCxnSpPr>
            <p:spPr>
              <a:xfrm rot="10800000">
                <a:off x="8551640" y="4856171"/>
                <a:ext cx="2880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9" name="Arc 88"/>
            <p:cNvSpPr/>
            <p:nvPr/>
          </p:nvSpPr>
          <p:spPr>
            <a:xfrm>
              <a:off x="7843772" y="4522666"/>
              <a:ext cx="601163" cy="336105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1" name="Straight Connector 90"/>
            <p:cNvCxnSpPr>
              <a:stCxn id="89" idx="2"/>
            </p:cNvCxnSpPr>
            <p:nvPr/>
          </p:nvCxnSpPr>
          <p:spPr>
            <a:xfrm rot="5400000">
              <a:off x="8218033" y="4917621"/>
              <a:ext cx="453804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" name="Arc 91"/>
            <p:cNvSpPr/>
            <p:nvPr/>
          </p:nvSpPr>
          <p:spPr>
            <a:xfrm>
              <a:off x="8062523" y="4857905"/>
              <a:ext cx="71438" cy="71438"/>
            </a:xfrm>
            <a:prstGeom prst="arc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94" name="Straight Connector 93"/>
            <p:cNvCxnSpPr/>
            <p:nvPr/>
          </p:nvCxnSpPr>
          <p:spPr>
            <a:xfrm rot="16200000" flipH="1">
              <a:off x="8010950" y="5016634"/>
              <a:ext cx="246022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9" name="Group 128"/>
          <p:cNvGrpSpPr/>
          <p:nvPr/>
        </p:nvGrpSpPr>
        <p:grpSpPr>
          <a:xfrm>
            <a:off x="676334" y="1362413"/>
            <a:ext cx="1869106" cy="813805"/>
            <a:chOff x="718402" y="1262776"/>
            <a:chExt cx="1402195" cy="871934"/>
          </a:xfrm>
        </p:grpSpPr>
        <p:cxnSp>
          <p:nvCxnSpPr>
            <p:cNvPr id="97" name="Straight Connector 96"/>
            <p:cNvCxnSpPr/>
            <p:nvPr/>
          </p:nvCxnSpPr>
          <p:spPr>
            <a:xfrm>
              <a:off x="755527" y="1272413"/>
              <a:ext cx="1357322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5400000">
              <a:off x="1726894" y="1654891"/>
              <a:ext cx="785818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>
              <a:off x="718402" y="1513517"/>
              <a:ext cx="1116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5400000">
              <a:off x="1559667" y="1775495"/>
              <a:ext cx="540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Oval 101"/>
            <p:cNvSpPr/>
            <p:nvPr/>
          </p:nvSpPr>
          <p:spPr>
            <a:xfrm>
              <a:off x="1830462" y="1991834"/>
              <a:ext cx="288000" cy="142876"/>
            </a:xfrm>
            <a:prstGeom prst="ellipse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6" name="Straight Arrow Connector 105"/>
          <p:cNvCxnSpPr/>
          <p:nvPr/>
        </p:nvCxnSpPr>
        <p:spPr>
          <a:xfrm rot="5400000">
            <a:off x="2472944" y="1698861"/>
            <a:ext cx="466728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/>
          <p:nvPr/>
        </p:nvCxnSpPr>
        <p:spPr>
          <a:xfrm>
            <a:off x="485971" y="2493846"/>
            <a:ext cx="666581" cy="1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Connector 108"/>
          <p:cNvCxnSpPr/>
          <p:nvPr/>
        </p:nvCxnSpPr>
        <p:spPr>
          <a:xfrm>
            <a:off x="460258" y="4532427"/>
            <a:ext cx="666581" cy="1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/>
          <p:cNvCxnSpPr>
            <a:cxnSpLocks/>
          </p:cNvCxnSpPr>
          <p:nvPr/>
        </p:nvCxnSpPr>
        <p:spPr>
          <a:xfrm flipV="1">
            <a:off x="760705" y="2493846"/>
            <a:ext cx="3" cy="35962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/>
          <p:cNvCxnSpPr/>
          <p:nvPr/>
        </p:nvCxnSpPr>
        <p:spPr>
          <a:xfrm rot="16200000" flipH="1" flipV="1">
            <a:off x="255132" y="4017417"/>
            <a:ext cx="1008000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/>
          <p:cNvCxnSpPr/>
          <p:nvPr/>
        </p:nvCxnSpPr>
        <p:spPr>
          <a:xfrm rot="16200000" flipH="1" flipV="1">
            <a:off x="5504065" y="4255316"/>
            <a:ext cx="548640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rot="5400000" flipH="1" flipV="1">
            <a:off x="5417346" y="3244899"/>
            <a:ext cx="731520" cy="2117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5308594" y="2871233"/>
            <a:ext cx="666581" cy="148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>
            <a:off x="4570800" y="4667260"/>
            <a:ext cx="952259" cy="14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/>
          <p:cNvCxnSpPr/>
          <p:nvPr/>
        </p:nvCxnSpPr>
        <p:spPr>
          <a:xfrm>
            <a:off x="9427068" y="4645094"/>
            <a:ext cx="952259" cy="1482"/>
          </a:xfrm>
          <a:prstGeom prst="straightConnector1">
            <a:avLst/>
          </a:prstGeom>
          <a:ln w="127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/>
          <p:cNvSpPr txBox="1"/>
          <p:nvPr/>
        </p:nvSpPr>
        <p:spPr>
          <a:xfrm>
            <a:off x="4824067" y="3634487"/>
            <a:ext cx="7618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GB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9713247" y="3673571"/>
            <a:ext cx="76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GB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4856477" y="4589852"/>
            <a:ext cx="571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GB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9712996" y="4567510"/>
            <a:ext cx="5713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q</a:t>
            </a:r>
            <a:r>
              <a:rPr lang="en-GB" sz="2000" baseline="-25000" dirty="0">
                <a:latin typeface="Times New Roman" pitchFamily="18" charset="0"/>
                <a:cs typeface="Times New Roman" pitchFamily="18" charset="0"/>
              </a:rPr>
              <a:t>0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539154" y="2989115"/>
            <a:ext cx="666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5576698" y="3558436"/>
            <a:ext cx="666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GB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000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7" name="TextBox 126"/>
          <p:cNvSpPr txBox="1"/>
          <p:nvPr/>
        </p:nvSpPr>
        <p:spPr>
          <a:xfrm>
            <a:off x="2685035" y="1439553"/>
            <a:ext cx="4761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latin typeface="Times New Roman" pitchFamily="18" charset="0"/>
                <a:cs typeface="Times New Roman" pitchFamily="18" charset="0"/>
              </a:rPr>
              <a:t>q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Oval 127"/>
          <p:cNvSpPr/>
          <p:nvPr/>
        </p:nvSpPr>
        <p:spPr>
          <a:xfrm>
            <a:off x="10844152" y="4727936"/>
            <a:ext cx="412693" cy="137396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571313" y="5730994"/>
            <a:ext cx="11046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i="1" dirty="0">
                <a:latin typeface="Times New Roman" pitchFamily="18" charset="0"/>
                <a:cs typeface="Times New Roman" pitchFamily="18" charset="0"/>
              </a:rPr>
              <a:t>Reference: </a:t>
            </a:r>
            <a:r>
              <a:rPr lang="en-GB" sz="1100" i="1" dirty="0" err="1">
                <a:latin typeface="Times New Roman" pitchFamily="18" charset="0"/>
                <a:cs typeface="Times New Roman" pitchFamily="18" charset="0"/>
              </a:rPr>
              <a:t>Onkar</a:t>
            </a:r>
            <a:r>
              <a:rPr lang="en-GB" sz="1100" i="1" dirty="0">
                <a:latin typeface="Times New Roman" pitchFamily="18" charset="0"/>
                <a:cs typeface="Times New Roman" pitchFamily="18" charset="0"/>
              </a:rPr>
              <a:t> N. </a:t>
            </a:r>
            <a:r>
              <a:rPr lang="en-GB" sz="1100" i="1" dirty="0" err="1">
                <a:latin typeface="Times New Roman" pitchFamily="18" charset="0"/>
                <a:cs typeface="Times New Roman" pitchFamily="18" charset="0"/>
              </a:rPr>
              <a:t>Pandey</a:t>
            </a:r>
            <a:r>
              <a:rPr lang="en-GB" sz="1100" i="1" dirty="0">
                <a:latin typeface="Times New Roman" pitchFamily="18" charset="0"/>
                <a:cs typeface="Times New Roman" pitchFamily="18" charset="0"/>
              </a:rPr>
              <a:t>, Instrumentation and Process Control </a:t>
            </a:r>
            <a:r>
              <a:rPr lang="en-GB" sz="1100" i="1" dirty="0" err="1">
                <a:latin typeface="Times New Roman" pitchFamily="18" charset="0"/>
                <a:cs typeface="Times New Roman" pitchFamily="18" charset="0"/>
              </a:rPr>
              <a:t>S.K.Kataria</a:t>
            </a:r>
            <a:r>
              <a:rPr lang="en-GB" sz="1100" i="1" dirty="0">
                <a:latin typeface="Times New Roman" pitchFamily="18" charset="0"/>
                <a:cs typeface="Times New Roman" pitchFamily="18" charset="0"/>
              </a:rPr>
              <a:t> &amp; Sons, New Delhi, Edition: 2008-09</a:t>
            </a:r>
            <a:endParaRPr lang="en-US" sz="11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281171" y="2511505"/>
            <a:ext cx="2834640" cy="201168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Freeform 102"/>
          <p:cNvSpPr/>
          <p:nvPr/>
        </p:nvSpPr>
        <p:spPr>
          <a:xfrm>
            <a:off x="1262959" y="2505078"/>
            <a:ext cx="2849336" cy="68738"/>
          </a:xfrm>
          <a:custGeom>
            <a:avLst/>
            <a:gdLst>
              <a:gd name="connsiteX0" fmla="*/ 0 w 2137559"/>
              <a:gd name="connsiteY0" fmla="*/ 38022 h 73648"/>
              <a:gd name="connsiteX1" fmla="*/ 35626 w 2137559"/>
              <a:gd name="connsiteY1" fmla="*/ 26147 h 73648"/>
              <a:gd name="connsiteX2" fmla="*/ 83128 w 2137559"/>
              <a:gd name="connsiteY2" fmla="*/ 2396 h 73648"/>
              <a:gd name="connsiteX3" fmla="*/ 154380 w 2137559"/>
              <a:gd name="connsiteY3" fmla="*/ 14271 h 73648"/>
              <a:gd name="connsiteX4" fmla="*/ 344385 w 2137559"/>
              <a:gd name="connsiteY4" fmla="*/ 26147 h 73648"/>
              <a:gd name="connsiteX5" fmla="*/ 415637 w 2137559"/>
              <a:gd name="connsiteY5" fmla="*/ 61773 h 73648"/>
              <a:gd name="connsiteX6" fmla="*/ 451263 w 2137559"/>
              <a:gd name="connsiteY6" fmla="*/ 73648 h 73648"/>
              <a:gd name="connsiteX7" fmla="*/ 605642 w 2137559"/>
              <a:gd name="connsiteY7" fmla="*/ 61773 h 73648"/>
              <a:gd name="connsiteX8" fmla="*/ 688769 w 2137559"/>
              <a:gd name="connsiteY8" fmla="*/ 26147 h 73648"/>
              <a:gd name="connsiteX9" fmla="*/ 771896 w 2137559"/>
              <a:gd name="connsiteY9" fmla="*/ 2396 h 73648"/>
              <a:gd name="connsiteX10" fmla="*/ 878774 w 2137559"/>
              <a:gd name="connsiteY10" fmla="*/ 14271 h 73648"/>
              <a:gd name="connsiteX11" fmla="*/ 914400 w 2137559"/>
              <a:gd name="connsiteY11" fmla="*/ 38022 h 73648"/>
              <a:gd name="connsiteX12" fmla="*/ 950026 w 2137559"/>
              <a:gd name="connsiteY12" fmla="*/ 49897 h 73648"/>
              <a:gd name="connsiteX13" fmla="*/ 1175657 w 2137559"/>
              <a:gd name="connsiteY13" fmla="*/ 38022 h 73648"/>
              <a:gd name="connsiteX14" fmla="*/ 1211283 w 2137559"/>
              <a:gd name="connsiteY14" fmla="*/ 26147 h 73648"/>
              <a:gd name="connsiteX15" fmla="*/ 1472541 w 2137559"/>
              <a:gd name="connsiteY15" fmla="*/ 38022 h 73648"/>
              <a:gd name="connsiteX16" fmla="*/ 1638795 w 2137559"/>
              <a:gd name="connsiteY16" fmla="*/ 49897 h 73648"/>
              <a:gd name="connsiteX17" fmla="*/ 1710047 w 2137559"/>
              <a:gd name="connsiteY17" fmla="*/ 26147 h 73648"/>
              <a:gd name="connsiteX18" fmla="*/ 1745673 w 2137559"/>
              <a:gd name="connsiteY18" fmla="*/ 14271 h 73648"/>
              <a:gd name="connsiteX19" fmla="*/ 1900052 w 2137559"/>
              <a:gd name="connsiteY19" fmla="*/ 26147 h 73648"/>
              <a:gd name="connsiteX20" fmla="*/ 1983180 w 2137559"/>
              <a:gd name="connsiteY20" fmla="*/ 61773 h 73648"/>
              <a:gd name="connsiteX21" fmla="*/ 2018805 w 2137559"/>
              <a:gd name="connsiteY21" fmla="*/ 73648 h 73648"/>
              <a:gd name="connsiteX22" fmla="*/ 2101933 w 2137559"/>
              <a:gd name="connsiteY22" fmla="*/ 61773 h 73648"/>
              <a:gd name="connsiteX23" fmla="*/ 2137559 w 2137559"/>
              <a:gd name="connsiteY23" fmla="*/ 38022 h 73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37559" h="73648">
                <a:moveTo>
                  <a:pt x="0" y="38022"/>
                </a:moveTo>
                <a:cubicBezTo>
                  <a:pt x="11875" y="34064"/>
                  <a:pt x="24120" y="31078"/>
                  <a:pt x="35626" y="26147"/>
                </a:cubicBezTo>
                <a:cubicBezTo>
                  <a:pt x="51898" y="19174"/>
                  <a:pt x="65513" y="4158"/>
                  <a:pt x="83128" y="2396"/>
                </a:cubicBezTo>
                <a:cubicBezTo>
                  <a:pt x="107087" y="0"/>
                  <a:pt x="130401" y="12091"/>
                  <a:pt x="154380" y="14271"/>
                </a:cubicBezTo>
                <a:cubicBezTo>
                  <a:pt x="217578" y="20016"/>
                  <a:pt x="281050" y="22188"/>
                  <a:pt x="344385" y="26147"/>
                </a:cubicBezTo>
                <a:cubicBezTo>
                  <a:pt x="433932" y="55995"/>
                  <a:pt x="323554" y="15732"/>
                  <a:pt x="415637" y="61773"/>
                </a:cubicBezTo>
                <a:cubicBezTo>
                  <a:pt x="426833" y="67371"/>
                  <a:pt x="439388" y="69690"/>
                  <a:pt x="451263" y="73648"/>
                </a:cubicBezTo>
                <a:cubicBezTo>
                  <a:pt x="502723" y="69690"/>
                  <a:pt x="554429" y="68175"/>
                  <a:pt x="605642" y="61773"/>
                </a:cubicBezTo>
                <a:cubicBezTo>
                  <a:pt x="631849" y="58497"/>
                  <a:pt x="667142" y="35416"/>
                  <a:pt x="688769" y="26147"/>
                </a:cubicBezTo>
                <a:cubicBezTo>
                  <a:pt x="712626" y="15923"/>
                  <a:pt x="747783" y="8424"/>
                  <a:pt x="771896" y="2396"/>
                </a:cubicBezTo>
                <a:cubicBezTo>
                  <a:pt x="807522" y="6354"/>
                  <a:pt x="843999" y="5577"/>
                  <a:pt x="878774" y="14271"/>
                </a:cubicBezTo>
                <a:cubicBezTo>
                  <a:pt x="892620" y="17733"/>
                  <a:pt x="901634" y="31639"/>
                  <a:pt x="914400" y="38022"/>
                </a:cubicBezTo>
                <a:cubicBezTo>
                  <a:pt x="925596" y="43620"/>
                  <a:pt x="938151" y="45939"/>
                  <a:pt x="950026" y="49897"/>
                </a:cubicBezTo>
                <a:cubicBezTo>
                  <a:pt x="1025236" y="45939"/>
                  <a:pt x="1100652" y="44840"/>
                  <a:pt x="1175657" y="38022"/>
                </a:cubicBezTo>
                <a:cubicBezTo>
                  <a:pt x="1188123" y="36889"/>
                  <a:pt x="1198765" y="26147"/>
                  <a:pt x="1211283" y="26147"/>
                </a:cubicBezTo>
                <a:cubicBezTo>
                  <a:pt x="1298459" y="26147"/>
                  <a:pt x="1385455" y="34064"/>
                  <a:pt x="1472541" y="38022"/>
                </a:cubicBezTo>
                <a:cubicBezTo>
                  <a:pt x="1567531" y="61770"/>
                  <a:pt x="1552585" y="71450"/>
                  <a:pt x="1638795" y="49897"/>
                </a:cubicBezTo>
                <a:cubicBezTo>
                  <a:pt x="1663083" y="43825"/>
                  <a:pt x="1686296" y="34064"/>
                  <a:pt x="1710047" y="26147"/>
                </a:cubicBezTo>
                <a:lnTo>
                  <a:pt x="1745673" y="14271"/>
                </a:lnTo>
                <a:cubicBezTo>
                  <a:pt x="1797133" y="18230"/>
                  <a:pt x="1848839" y="19745"/>
                  <a:pt x="1900052" y="26147"/>
                </a:cubicBezTo>
                <a:cubicBezTo>
                  <a:pt x="1926265" y="29424"/>
                  <a:pt x="1961545" y="52501"/>
                  <a:pt x="1983180" y="61773"/>
                </a:cubicBezTo>
                <a:cubicBezTo>
                  <a:pt x="1994685" y="66704"/>
                  <a:pt x="2006930" y="69690"/>
                  <a:pt x="2018805" y="73648"/>
                </a:cubicBezTo>
                <a:cubicBezTo>
                  <a:pt x="2046514" y="69690"/>
                  <a:pt x="2075123" y="69816"/>
                  <a:pt x="2101933" y="61773"/>
                </a:cubicBezTo>
                <a:cubicBezTo>
                  <a:pt x="2115604" y="57672"/>
                  <a:pt x="2137559" y="38022"/>
                  <a:pt x="2137559" y="38022"/>
                </a:cubicBezTo>
              </a:path>
            </a:pathLst>
          </a:custGeom>
          <a:ln w="15875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4111796" y="4245357"/>
            <a:ext cx="428628" cy="28575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80"/>
          <p:cNvSpPr/>
          <p:nvPr/>
        </p:nvSpPr>
        <p:spPr>
          <a:xfrm>
            <a:off x="6058552" y="2843210"/>
            <a:ext cx="2857520" cy="167893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Freeform 103"/>
          <p:cNvSpPr/>
          <p:nvPr/>
        </p:nvSpPr>
        <p:spPr>
          <a:xfrm>
            <a:off x="6085522" y="2834527"/>
            <a:ext cx="2849336" cy="68738"/>
          </a:xfrm>
          <a:custGeom>
            <a:avLst/>
            <a:gdLst>
              <a:gd name="connsiteX0" fmla="*/ 0 w 2137559"/>
              <a:gd name="connsiteY0" fmla="*/ 38022 h 73648"/>
              <a:gd name="connsiteX1" fmla="*/ 35626 w 2137559"/>
              <a:gd name="connsiteY1" fmla="*/ 26147 h 73648"/>
              <a:gd name="connsiteX2" fmla="*/ 83128 w 2137559"/>
              <a:gd name="connsiteY2" fmla="*/ 2396 h 73648"/>
              <a:gd name="connsiteX3" fmla="*/ 154380 w 2137559"/>
              <a:gd name="connsiteY3" fmla="*/ 14271 h 73648"/>
              <a:gd name="connsiteX4" fmla="*/ 344385 w 2137559"/>
              <a:gd name="connsiteY4" fmla="*/ 26147 h 73648"/>
              <a:gd name="connsiteX5" fmla="*/ 415637 w 2137559"/>
              <a:gd name="connsiteY5" fmla="*/ 61773 h 73648"/>
              <a:gd name="connsiteX6" fmla="*/ 451263 w 2137559"/>
              <a:gd name="connsiteY6" fmla="*/ 73648 h 73648"/>
              <a:gd name="connsiteX7" fmla="*/ 605642 w 2137559"/>
              <a:gd name="connsiteY7" fmla="*/ 61773 h 73648"/>
              <a:gd name="connsiteX8" fmla="*/ 688769 w 2137559"/>
              <a:gd name="connsiteY8" fmla="*/ 26147 h 73648"/>
              <a:gd name="connsiteX9" fmla="*/ 771896 w 2137559"/>
              <a:gd name="connsiteY9" fmla="*/ 2396 h 73648"/>
              <a:gd name="connsiteX10" fmla="*/ 878774 w 2137559"/>
              <a:gd name="connsiteY10" fmla="*/ 14271 h 73648"/>
              <a:gd name="connsiteX11" fmla="*/ 914400 w 2137559"/>
              <a:gd name="connsiteY11" fmla="*/ 38022 h 73648"/>
              <a:gd name="connsiteX12" fmla="*/ 950026 w 2137559"/>
              <a:gd name="connsiteY12" fmla="*/ 49897 h 73648"/>
              <a:gd name="connsiteX13" fmla="*/ 1175657 w 2137559"/>
              <a:gd name="connsiteY13" fmla="*/ 38022 h 73648"/>
              <a:gd name="connsiteX14" fmla="*/ 1211283 w 2137559"/>
              <a:gd name="connsiteY14" fmla="*/ 26147 h 73648"/>
              <a:gd name="connsiteX15" fmla="*/ 1472541 w 2137559"/>
              <a:gd name="connsiteY15" fmla="*/ 38022 h 73648"/>
              <a:gd name="connsiteX16" fmla="*/ 1638795 w 2137559"/>
              <a:gd name="connsiteY16" fmla="*/ 49897 h 73648"/>
              <a:gd name="connsiteX17" fmla="*/ 1710047 w 2137559"/>
              <a:gd name="connsiteY17" fmla="*/ 26147 h 73648"/>
              <a:gd name="connsiteX18" fmla="*/ 1745673 w 2137559"/>
              <a:gd name="connsiteY18" fmla="*/ 14271 h 73648"/>
              <a:gd name="connsiteX19" fmla="*/ 1900052 w 2137559"/>
              <a:gd name="connsiteY19" fmla="*/ 26147 h 73648"/>
              <a:gd name="connsiteX20" fmla="*/ 1983180 w 2137559"/>
              <a:gd name="connsiteY20" fmla="*/ 61773 h 73648"/>
              <a:gd name="connsiteX21" fmla="*/ 2018805 w 2137559"/>
              <a:gd name="connsiteY21" fmla="*/ 73648 h 73648"/>
              <a:gd name="connsiteX22" fmla="*/ 2101933 w 2137559"/>
              <a:gd name="connsiteY22" fmla="*/ 61773 h 73648"/>
              <a:gd name="connsiteX23" fmla="*/ 2137559 w 2137559"/>
              <a:gd name="connsiteY23" fmla="*/ 38022 h 736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2137559" h="73648">
                <a:moveTo>
                  <a:pt x="0" y="38022"/>
                </a:moveTo>
                <a:cubicBezTo>
                  <a:pt x="11875" y="34064"/>
                  <a:pt x="24120" y="31078"/>
                  <a:pt x="35626" y="26147"/>
                </a:cubicBezTo>
                <a:cubicBezTo>
                  <a:pt x="51898" y="19174"/>
                  <a:pt x="65513" y="4158"/>
                  <a:pt x="83128" y="2396"/>
                </a:cubicBezTo>
                <a:cubicBezTo>
                  <a:pt x="107087" y="0"/>
                  <a:pt x="130401" y="12091"/>
                  <a:pt x="154380" y="14271"/>
                </a:cubicBezTo>
                <a:cubicBezTo>
                  <a:pt x="217578" y="20016"/>
                  <a:pt x="281050" y="22188"/>
                  <a:pt x="344385" y="26147"/>
                </a:cubicBezTo>
                <a:cubicBezTo>
                  <a:pt x="433932" y="55995"/>
                  <a:pt x="323554" y="15732"/>
                  <a:pt x="415637" y="61773"/>
                </a:cubicBezTo>
                <a:cubicBezTo>
                  <a:pt x="426833" y="67371"/>
                  <a:pt x="439388" y="69690"/>
                  <a:pt x="451263" y="73648"/>
                </a:cubicBezTo>
                <a:cubicBezTo>
                  <a:pt x="502723" y="69690"/>
                  <a:pt x="554429" y="68175"/>
                  <a:pt x="605642" y="61773"/>
                </a:cubicBezTo>
                <a:cubicBezTo>
                  <a:pt x="631849" y="58497"/>
                  <a:pt x="667142" y="35416"/>
                  <a:pt x="688769" y="26147"/>
                </a:cubicBezTo>
                <a:cubicBezTo>
                  <a:pt x="712626" y="15923"/>
                  <a:pt x="747783" y="8424"/>
                  <a:pt x="771896" y="2396"/>
                </a:cubicBezTo>
                <a:cubicBezTo>
                  <a:pt x="807522" y="6354"/>
                  <a:pt x="843999" y="5577"/>
                  <a:pt x="878774" y="14271"/>
                </a:cubicBezTo>
                <a:cubicBezTo>
                  <a:pt x="892620" y="17733"/>
                  <a:pt x="901634" y="31639"/>
                  <a:pt x="914400" y="38022"/>
                </a:cubicBezTo>
                <a:cubicBezTo>
                  <a:pt x="925596" y="43620"/>
                  <a:pt x="938151" y="45939"/>
                  <a:pt x="950026" y="49897"/>
                </a:cubicBezTo>
                <a:cubicBezTo>
                  <a:pt x="1025236" y="45939"/>
                  <a:pt x="1100652" y="44840"/>
                  <a:pt x="1175657" y="38022"/>
                </a:cubicBezTo>
                <a:cubicBezTo>
                  <a:pt x="1188123" y="36889"/>
                  <a:pt x="1198765" y="26147"/>
                  <a:pt x="1211283" y="26147"/>
                </a:cubicBezTo>
                <a:cubicBezTo>
                  <a:pt x="1298459" y="26147"/>
                  <a:pt x="1385455" y="34064"/>
                  <a:pt x="1472541" y="38022"/>
                </a:cubicBezTo>
                <a:cubicBezTo>
                  <a:pt x="1567531" y="61770"/>
                  <a:pt x="1552585" y="71450"/>
                  <a:pt x="1638795" y="49897"/>
                </a:cubicBezTo>
                <a:cubicBezTo>
                  <a:pt x="1663083" y="43825"/>
                  <a:pt x="1686296" y="34064"/>
                  <a:pt x="1710047" y="26147"/>
                </a:cubicBezTo>
                <a:lnTo>
                  <a:pt x="1745673" y="14271"/>
                </a:lnTo>
                <a:cubicBezTo>
                  <a:pt x="1797133" y="18230"/>
                  <a:pt x="1848839" y="19745"/>
                  <a:pt x="1900052" y="26147"/>
                </a:cubicBezTo>
                <a:cubicBezTo>
                  <a:pt x="1926265" y="29424"/>
                  <a:pt x="1961545" y="52501"/>
                  <a:pt x="1983180" y="61773"/>
                </a:cubicBezTo>
                <a:cubicBezTo>
                  <a:pt x="1994685" y="66704"/>
                  <a:pt x="2006930" y="69690"/>
                  <a:pt x="2018805" y="73648"/>
                </a:cubicBezTo>
                <a:cubicBezTo>
                  <a:pt x="2046514" y="69690"/>
                  <a:pt x="2075123" y="69816"/>
                  <a:pt x="2101933" y="61773"/>
                </a:cubicBezTo>
                <a:cubicBezTo>
                  <a:pt x="2115604" y="57672"/>
                  <a:pt x="2137559" y="38022"/>
                  <a:pt x="2137559" y="38022"/>
                </a:cubicBezTo>
              </a:path>
            </a:pathLst>
          </a:custGeom>
          <a:ln w="158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/>
          <p:cNvSpPr/>
          <p:nvPr/>
        </p:nvSpPr>
        <p:spPr>
          <a:xfrm>
            <a:off x="8907107" y="4227145"/>
            <a:ext cx="448056" cy="29260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 89"/>
          <p:cNvSpPr/>
          <p:nvPr/>
        </p:nvSpPr>
        <p:spPr>
          <a:xfrm>
            <a:off x="2017059" y="2196353"/>
            <a:ext cx="179294" cy="297493"/>
          </a:xfrm>
          <a:custGeom>
            <a:avLst/>
            <a:gdLst>
              <a:gd name="connsiteX0" fmla="*/ 179294 w 179294"/>
              <a:gd name="connsiteY0" fmla="*/ 0 h 297493"/>
              <a:gd name="connsiteX1" fmla="*/ 170329 w 179294"/>
              <a:gd name="connsiteY1" fmla="*/ 53788 h 297493"/>
              <a:gd name="connsiteX2" fmla="*/ 125506 w 179294"/>
              <a:gd name="connsiteY2" fmla="*/ 98612 h 297493"/>
              <a:gd name="connsiteX3" fmla="*/ 71717 w 179294"/>
              <a:gd name="connsiteY3" fmla="*/ 134471 h 297493"/>
              <a:gd name="connsiteX4" fmla="*/ 62753 w 179294"/>
              <a:gd name="connsiteY4" fmla="*/ 161365 h 297493"/>
              <a:gd name="connsiteX5" fmla="*/ 35859 w 179294"/>
              <a:gd name="connsiteY5" fmla="*/ 277906 h 297493"/>
              <a:gd name="connsiteX6" fmla="*/ 0 w 179294"/>
              <a:gd name="connsiteY6" fmla="*/ 295835 h 29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294" h="297493">
                <a:moveTo>
                  <a:pt x="179294" y="0"/>
                </a:moveTo>
                <a:cubicBezTo>
                  <a:pt x="176306" y="17929"/>
                  <a:pt x="176077" y="36544"/>
                  <a:pt x="170329" y="53788"/>
                </a:cubicBezTo>
                <a:cubicBezTo>
                  <a:pt x="160550" y="83126"/>
                  <a:pt x="147238" y="81226"/>
                  <a:pt x="125506" y="98612"/>
                </a:cubicBezTo>
                <a:cubicBezTo>
                  <a:pt x="79876" y="135116"/>
                  <a:pt x="143991" y="98333"/>
                  <a:pt x="71717" y="134471"/>
                </a:cubicBezTo>
                <a:cubicBezTo>
                  <a:pt x="68729" y="143436"/>
                  <a:pt x="64089" y="152010"/>
                  <a:pt x="62753" y="161365"/>
                </a:cubicBezTo>
                <a:cubicBezTo>
                  <a:pt x="51946" y="237018"/>
                  <a:pt x="77402" y="244671"/>
                  <a:pt x="35859" y="277906"/>
                </a:cubicBezTo>
                <a:cubicBezTo>
                  <a:pt x="11376" y="297493"/>
                  <a:pt x="18381" y="295835"/>
                  <a:pt x="0" y="295835"/>
                </a:cubicBezTo>
              </a:path>
            </a:pathLst>
          </a:custGeom>
          <a:ln w="158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Freeform 92"/>
          <p:cNvSpPr/>
          <p:nvPr/>
        </p:nvSpPr>
        <p:spPr>
          <a:xfrm>
            <a:off x="2169459" y="2200268"/>
            <a:ext cx="179294" cy="297493"/>
          </a:xfrm>
          <a:custGeom>
            <a:avLst/>
            <a:gdLst>
              <a:gd name="connsiteX0" fmla="*/ 179294 w 179294"/>
              <a:gd name="connsiteY0" fmla="*/ 0 h 297493"/>
              <a:gd name="connsiteX1" fmla="*/ 170329 w 179294"/>
              <a:gd name="connsiteY1" fmla="*/ 53788 h 297493"/>
              <a:gd name="connsiteX2" fmla="*/ 125506 w 179294"/>
              <a:gd name="connsiteY2" fmla="*/ 98612 h 297493"/>
              <a:gd name="connsiteX3" fmla="*/ 71717 w 179294"/>
              <a:gd name="connsiteY3" fmla="*/ 134471 h 297493"/>
              <a:gd name="connsiteX4" fmla="*/ 62753 w 179294"/>
              <a:gd name="connsiteY4" fmla="*/ 161365 h 297493"/>
              <a:gd name="connsiteX5" fmla="*/ 35859 w 179294"/>
              <a:gd name="connsiteY5" fmla="*/ 277906 h 297493"/>
              <a:gd name="connsiteX6" fmla="*/ 0 w 179294"/>
              <a:gd name="connsiteY6" fmla="*/ 295835 h 29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9294" h="297493">
                <a:moveTo>
                  <a:pt x="179294" y="0"/>
                </a:moveTo>
                <a:cubicBezTo>
                  <a:pt x="176306" y="17929"/>
                  <a:pt x="176077" y="36544"/>
                  <a:pt x="170329" y="53788"/>
                </a:cubicBezTo>
                <a:cubicBezTo>
                  <a:pt x="160550" y="83126"/>
                  <a:pt x="147238" y="81226"/>
                  <a:pt x="125506" y="98612"/>
                </a:cubicBezTo>
                <a:cubicBezTo>
                  <a:pt x="79876" y="135116"/>
                  <a:pt x="143991" y="98333"/>
                  <a:pt x="71717" y="134471"/>
                </a:cubicBezTo>
                <a:cubicBezTo>
                  <a:pt x="68729" y="143436"/>
                  <a:pt x="64089" y="152010"/>
                  <a:pt x="62753" y="161365"/>
                </a:cubicBezTo>
                <a:cubicBezTo>
                  <a:pt x="51946" y="237018"/>
                  <a:pt x="77402" y="244671"/>
                  <a:pt x="35859" y="277906"/>
                </a:cubicBezTo>
                <a:cubicBezTo>
                  <a:pt x="11376" y="297493"/>
                  <a:pt x="18381" y="295835"/>
                  <a:pt x="0" y="295835"/>
                </a:cubicBezTo>
              </a:path>
            </a:pathLst>
          </a:custGeom>
          <a:ln w="158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7"/>
          <p:cNvSpPr/>
          <p:nvPr/>
        </p:nvSpPr>
        <p:spPr>
          <a:xfrm>
            <a:off x="2401023" y="2232212"/>
            <a:ext cx="82926" cy="268941"/>
          </a:xfrm>
          <a:custGeom>
            <a:avLst/>
            <a:gdLst>
              <a:gd name="connsiteX0" fmla="*/ 1518 w 82926"/>
              <a:gd name="connsiteY0" fmla="*/ 0 h 268941"/>
              <a:gd name="connsiteX1" fmla="*/ 10483 w 82926"/>
              <a:gd name="connsiteY1" fmla="*/ 152400 h 268941"/>
              <a:gd name="connsiteX2" fmla="*/ 37377 w 82926"/>
              <a:gd name="connsiteY2" fmla="*/ 170329 h 268941"/>
              <a:gd name="connsiteX3" fmla="*/ 73236 w 82926"/>
              <a:gd name="connsiteY3" fmla="*/ 224117 h 268941"/>
              <a:gd name="connsiteX4" fmla="*/ 82201 w 82926"/>
              <a:gd name="connsiteY4" fmla="*/ 268941 h 268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26" h="268941">
                <a:moveTo>
                  <a:pt x="1518" y="0"/>
                </a:moveTo>
                <a:cubicBezTo>
                  <a:pt x="4506" y="50800"/>
                  <a:pt x="0" y="102604"/>
                  <a:pt x="10483" y="152400"/>
                </a:cubicBezTo>
                <a:cubicBezTo>
                  <a:pt x="12703" y="162943"/>
                  <a:pt x="30282" y="162221"/>
                  <a:pt x="37377" y="170329"/>
                </a:cubicBezTo>
                <a:cubicBezTo>
                  <a:pt x="51567" y="186546"/>
                  <a:pt x="73236" y="224117"/>
                  <a:pt x="73236" y="224117"/>
                </a:cubicBezTo>
                <a:cubicBezTo>
                  <a:pt x="82926" y="262875"/>
                  <a:pt x="82201" y="247655"/>
                  <a:pt x="82201" y="268941"/>
                </a:cubicBezTo>
              </a:path>
            </a:pathLst>
          </a:custGeom>
          <a:ln w="158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4" name="Group 123"/>
          <p:cNvGrpSpPr/>
          <p:nvPr/>
        </p:nvGrpSpPr>
        <p:grpSpPr>
          <a:xfrm>
            <a:off x="1950526" y="2178424"/>
            <a:ext cx="819568" cy="358588"/>
            <a:chOff x="1950526" y="2178424"/>
            <a:chExt cx="819568" cy="358588"/>
          </a:xfrm>
        </p:grpSpPr>
        <p:sp>
          <p:nvSpPr>
            <p:cNvPr id="96" name="Freeform 95"/>
            <p:cNvSpPr/>
            <p:nvPr/>
          </p:nvSpPr>
          <p:spPr>
            <a:xfrm>
              <a:off x="2438400" y="2214282"/>
              <a:ext cx="148536" cy="286871"/>
            </a:xfrm>
            <a:custGeom>
              <a:avLst/>
              <a:gdLst>
                <a:gd name="connsiteX0" fmla="*/ 0 w 148536"/>
                <a:gd name="connsiteY0" fmla="*/ 0 h 286871"/>
                <a:gd name="connsiteX1" fmla="*/ 35859 w 148536"/>
                <a:gd name="connsiteY1" fmla="*/ 8965 h 286871"/>
                <a:gd name="connsiteX2" fmla="*/ 44824 w 148536"/>
                <a:gd name="connsiteY2" fmla="*/ 35859 h 286871"/>
                <a:gd name="connsiteX3" fmla="*/ 53788 w 148536"/>
                <a:gd name="connsiteY3" fmla="*/ 107577 h 286871"/>
                <a:gd name="connsiteX4" fmla="*/ 80682 w 148536"/>
                <a:gd name="connsiteY4" fmla="*/ 134471 h 286871"/>
                <a:gd name="connsiteX5" fmla="*/ 125506 w 148536"/>
                <a:gd name="connsiteY5" fmla="*/ 170330 h 286871"/>
                <a:gd name="connsiteX6" fmla="*/ 143435 w 148536"/>
                <a:gd name="connsiteY6" fmla="*/ 286871 h 286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8536" h="286871">
                  <a:moveTo>
                    <a:pt x="0" y="0"/>
                  </a:moveTo>
                  <a:cubicBezTo>
                    <a:pt x="11953" y="2988"/>
                    <a:pt x="26238" y="1268"/>
                    <a:pt x="35859" y="8965"/>
                  </a:cubicBezTo>
                  <a:cubicBezTo>
                    <a:pt x="43238" y="14868"/>
                    <a:pt x="43134" y="26562"/>
                    <a:pt x="44824" y="35859"/>
                  </a:cubicBezTo>
                  <a:cubicBezTo>
                    <a:pt x="49134" y="59562"/>
                    <a:pt x="45555" y="84935"/>
                    <a:pt x="53788" y="107577"/>
                  </a:cubicBezTo>
                  <a:cubicBezTo>
                    <a:pt x="58121" y="119492"/>
                    <a:pt x="70942" y="126355"/>
                    <a:pt x="80682" y="134471"/>
                  </a:cubicBezTo>
                  <a:cubicBezTo>
                    <a:pt x="148536" y="191015"/>
                    <a:pt x="73342" y="118166"/>
                    <a:pt x="125506" y="170330"/>
                  </a:cubicBezTo>
                  <a:cubicBezTo>
                    <a:pt x="134822" y="282117"/>
                    <a:pt x="109029" y="252461"/>
                    <a:pt x="143435" y="286871"/>
                  </a:cubicBezTo>
                </a:path>
              </a:pathLst>
            </a:custGeom>
            <a:ln w="158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2554941" y="2187388"/>
              <a:ext cx="215153" cy="313765"/>
            </a:xfrm>
            <a:custGeom>
              <a:avLst/>
              <a:gdLst>
                <a:gd name="connsiteX0" fmla="*/ 0 w 215153"/>
                <a:gd name="connsiteY0" fmla="*/ 0 h 313765"/>
                <a:gd name="connsiteX1" fmla="*/ 53788 w 215153"/>
                <a:gd name="connsiteY1" fmla="*/ 44824 h 313765"/>
                <a:gd name="connsiteX2" fmla="*/ 98612 w 215153"/>
                <a:gd name="connsiteY2" fmla="*/ 98612 h 313765"/>
                <a:gd name="connsiteX3" fmla="*/ 107577 w 215153"/>
                <a:gd name="connsiteY3" fmla="*/ 188259 h 313765"/>
                <a:gd name="connsiteX4" fmla="*/ 134471 w 215153"/>
                <a:gd name="connsiteY4" fmla="*/ 206188 h 313765"/>
                <a:gd name="connsiteX5" fmla="*/ 170330 w 215153"/>
                <a:gd name="connsiteY5" fmla="*/ 242047 h 313765"/>
                <a:gd name="connsiteX6" fmla="*/ 206188 w 215153"/>
                <a:gd name="connsiteY6" fmla="*/ 286871 h 313765"/>
                <a:gd name="connsiteX7" fmla="*/ 215153 w 215153"/>
                <a:gd name="connsiteY7" fmla="*/ 313765 h 31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5153" h="313765">
                  <a:moveTo>
                    <a:pt x="0" y="0"/>
                  </a:moveTo>
                  <a:cubicBezTo>
                    <a:pt x="26444" y="17630"/>
                    <a:pt x="32218" y="18940"/>
                    <a:pt x="53788" y="44824"/>
                  </a:cubicBezTo>
                  <a:cubicBezTo>
                    <a:pt x="116193" y="119709"/>
                    <a:pt x="20041" y="20041"/>
                    <a:pt x="98612" y="98612"/>
                  </a:cubicBezTo>
                  <a:cubicBezTo>
                    <a:pt x="101600" y="128494"/>
                    <a:pt x="98080" y="159769"/>
                    <a:pt x="107577" y="188259"/>
                  </a:cubicBezTo>
                  <a:cubicBezTo>
                    <a:pt x="110984" y="198480"/>
                    <a:pt x="126291" y="199176"/>
                    <a:pt x="134471" y="206188"/>
                  </a:cubicBezTo>
                  <a:cubicBezTo>
                    <a:pt x="147306" y="217189"/>
                    <a:pt x="158377" y="230094"/>
                    <a:pt x="170330" y="242047"/>
                  </a:cubicBezTo>
                  <a:cubicBezTo>
                    <a:pt x="187005" y="258723"/>
                    <a:pt x="194880" y="264255"/>
                    <a:pt x="206188" y="286871"/>
                  </a:cubicBezTo>
                  <a:cubicBezTo>
                    <a:pt x="210414" y="295323"/>
                    <a:pt x="215153" y="313765"/>
                    <a:pt x="215153" y="313765"/>
                  </a:cubicBezTo>
                </a:path>
              </a:pathLst>
            </a:custGeom>
            <a:ln w="158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950526" y="2178424"/>
              <a:ext cx="183074" cy="358588"/>
            </a:xfrm>
            <a:custGeom>
              <a:avLst/>
              <a:gdLst>
                <a:gd name="connsiteX0" fmla="*/ 183074 w 183074"/>
                <a:gd name="connsiteY0" fmla="*/ 0 h 358588"/>
                <a:gd name="connsiteX1" fmla="*/ 138250 w 183074"/>
                <a:gd name="connsiteY1" fmla="*/ 44823 h 358588"/>
                <a:gd name="connsiteX2" fmla="*/ 120321 w 183074"/>
                <a:gd name="connsiteY2" fmla="*/ 98611 h 358588"/>
                <a:gd name="connsiteX3" fmla="*/ 75498 w 183074"/>
                <a:gd name="connsiteY3" fmla="*/ 134470 h 358588"/>
                <a:gd name="connsiteX4" fmla="*/ 66533 w 183074"/>
                <a:gd name="connsiteY4" fmla="*/ 161364 h 358588"/>
                <a:gd name="connsiteX5" fmla="*/ 57568 w 183074"/>
                <a:gd name="connsiteY5" fmla="*/ 197223 h 358588"/>
                <a:gd name="connsiteX6" fmla="*/ 39639 w 183074"/>
                <a:gd name="connsiteY6" fmla="*/ 251011 h 358588"/>
                <a:gd name="connsiteX7" fmla="*/ 21709 w 183074"/>
                <a:gd name="connsiteY7" fmla="*/ 268941 h 358588"/>
                <a:gd name="connsiteX8" fmla="*/ 3780 w 183074"/>
                <a:gd name="connsiteY8" fmla="*/ 358588 h 35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3074" h="358588">
                  <a:moveTo>
                    <a:pt x="183074" y="0"/>
                  </a:moveTo>
                  <a:cubicBezTo>
                    <a:pt x="158540" y="16356"/>
                    <a:pt x="150832" y="16514"/>
                    <a:pt x="138250" y="44823"/>
                  </a:cubicBezTo>
                  <a:cubicBezTo>
                    <a:pt x="130574" y="62093"/>
                    <a:pt x="133684" y="85247"/>
                    <a:pt x="120321" y="98611"/>
                  </a:cubicBezTo>
                  <a:cubicBezTo>
                    <a:pt x="94774" y="124160"/>
                    <a:pt x="109425" y="111853"/>
                    <a:pt x="75498" y="134470"/>
                  </a:cubicBezTo>
                  <a:cubicBezTo>
                    <a:pt x="72510" y="143435"/>
                    <a:pt x="69129" y="152278"/>
                    <a:pt x="66533" y="161364"/>
                  </a:cubicBezTo>
                  <a:cubicBezTo>
                    <a:pt x="63148" y="173211"/>
                    <a:pt x="61108" y="185422"/>
                    <a:pt x="57568" y="197223"/>
                  </a:cubicBezTo>
                  <a:cubicBezTo>
                    <a:pt x="52137" y="215325"/>
                    <a:pt x="53003" y="237647"/>
                    <a:pt x="39639" y="251011"/>
                  </a:cubicBezTo>
                  <a:lnTo>
                    <a:pt x="21709" y="268941"/>
                  </a:lnTo>
                  <a:cubicBezTo>
                    <a:pt x="0" y="334069"/>
                    <a:pt x="3780" y="303830"/>
                    <a:pt x="3780" y="358588"/>
                  </a:cubicBezTo>
                </a:path>
              </a:pathLst>
            </a:custGeom>
            <a:ln w="158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2151529" y="2187388"/>
              <a:ext cx="125537" cy="313765"/>
            </a:xfrm>
            <a:custGeom>
              <a:avLst/>
              <a:gdLst>
                <a:gd name="connsiteX0" fmla="*/ 125506 w 125537"/>
                <a:gd name="connsiteY0" fmla="*/ 0 h 313765"/>
                <a:gd name="connsiteX1" fmla="*/ 89647 w 125537"/>
                <a:gd name="connsiteY1" fmla="*/ 107577 h 313765"/>
                <a:gd name="connsiteX2" fmla="*/ 62753 w 125537"/>
                <a:gd name="connsiteY2" fmla="*/ 116541 h 313765"/>
                <a:gd name="connsiteX3" fmla="*/ 44824 w 125537"/>
                <a:gd name="connsiteY3" fmla="*/ 170330 h 313765"/>
                <a:gd name="connsiteX4" fmla="*/ 35859 w 125537"/>
                <a:gd name="connsiteY4" fmla="*/ 224118 h 313765"/>
                <a:gd name="connsiteX5" fmla="*/ 17930 w 125537"/>
                <a:gd name="connsiteY5" fmla="*/ 251012 h 313765"/>
                <a:gd name="connsiteX6" fmla="*/ 8965 w 125537"/>
                <a:gd name="connsiteY6" fmla="*/ 277906 h 313765"/>
                <a:gd name="connsiteX7" fmla="*/ 0 w 125537"/>
                <a:gd name="connsiteY7" fmla="*/ 313765 h 313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5537" h="313765">
                  <a:moveTo>
                    <a:pt x="125506" y="0"/>
                  </a:moveTo>
                  <a:cubicBezTo>
                    <a:pt x="118859" y="33236"/>
                    <a:pt x="125537" y="86044"/>
                    <a:pt x="89647" y="107577"/>
                  </a:cubicBezTo>
                  <a:cubicBezTo>
                    <a:pt x="81544" y="112439"/>
                    <a:pt x="71718" y="113553"/>
                    <a:pt x="62753" y="116541"/>
                  </a:cubicBezTo>
                  <a:cubicBezTo>
                    <a:pt x="56777" y="134471"/>
                    <a:pt x="47931" y="151688"/>
                    <a:pt x="44824" y="170330"/>
                  </a:cubicBezTo>
                  <a:cubicBezTo>
                    <a:pt x="41836" y="188259"/>
                    <a:pt x="41607" y="206874"/>
                    <a:pt x="35859" y="224118"/>
                  </a:cubicBezTo>
                  <a:cubicBezTo>
                    <a:pt x="32452" y="234339"/>
                    <a:pt x="22748" y="241375"/>
                    <a:pt x="17930" y="251012"/>
                  </a:cubicBezTo>
                  <a:cubicBezTo>
                    <a:pt x="13704" y="259464"/>
                    <a:pt x="11561" y="268820"/>
                    <a:pt x="8965" y="277906"/>
                  </a:cubicBezTo>
                  <a:cubicBezTo>
                    <a:pt x="5580" y="289753"/>
                    <a:pt x="0" y="313765"/>
                    <a:pt x="0" y="313765"/>
                  </a:cubicBezTo>
                </a:path>
              </a:pathLst>
            </a:custGeom>
            <a:ln w="158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2323890" y="2259106"/>
              <a:ext cx="87073" cy="251012"/>
            </a:xfrm>
            <a:custGeom>
              <a:avLst/>
              <a:gdLst>
                <a:gd name="connsiteX0" fmla="*/ 69686 w 87073"/>
                <a:gd name="connsiteY0" fmla="*/ 0 h 251012"/>
                <a:gd name="connsiteX1" fmla="*/ 69686 w 87073"/>
                <a:gd name="connsiteY1" fmla="*/ 71718 h 251012"/>
                <a:gd name="connsiteX2" fmla="*/ 42792 w 87073"/>
                <a:gd name="connsiteY2" fmla="*/ 89647 h 251012"/>
                <a:gd name="connsiteX3" fmla="*/ 24863 w 87073"/>
                <a:gd name="connsiteY3" fmla="*/ 251012 h 251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7073" h="251012">
                  <a:moveTo>
                    <a:pt x="69686" y="0"/>
                  </a:moveTo>
                  <a:cubicBezTo>
                    <a:pt x="76206" y="26080"/>
                    <a:pt x="87073" y="45638"/>
                    <a:pt x="69686" y="71718"/>
                  </a:cubicBezTo>
                  <a:cubicBezTo>
                    <a:pt x="63710" y="80683"/>
                    <a:pt x="51757" y="83671"/>
                    <a:pt x="42792" y="89647"/>
                  </a:cubicBezTo>
                  <a:cubicBezTo>
                    <a:pt x="0" y="153837"/>
                    <a:pt x="24863" y="105767"/>
                    <a:pt x="24863" y="251012"/>
                  </a:cubicBezTo>
                </a:path>
              </a:pathLst>
            </a:custGeom>
            <a:ln w="15875"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1" name="Freeform 120"/>
          <p:cNvSpPr/>
          <p:nvPr/>
        </p:nvSpPr>
        <p:spPr>
          <a:xfrm>
            <a:off x="2485124" y="2181271"/>
            <a:ext cx="204288" cy="346776"/>
          </a:xfrm>
          <a:custGeom>
            <a:avLst/>
            <a:gdLst>
              <a:gd name="connsiteX0" fmla="*/ 42923 w 204288"/>
              <a:gd name="connsiteY0" fmla="*/ 50941 h 346776"/>
              <a:gd name="connsiteX1" fmla="*/ 87747 w 204288"/>
              <a:gd name="connsiteY1" fmla="*/ 131623 h 346776"/>
              <a:gd name="connsiteX2" fmla="*/ 141535 w 204288"/>
              <a:gd name="connsiteY2" fmla="*/ 194376 h 346776"/>
              <a:gd name="connsiteX3" fmla="*/ 168429 w 204288"/>
              <a:gd name="connsiteY3" fmla="*/ 230235 h 346776"/>
              <a:gd name="connsiteX4" fmla="*/ 186358 w 204288"/>
              <a:gd name="connsiteY4" fmla="*/ 328847 h 346776"/>
              <a:gd name="connsiteX5" fmla="*/ 204288 w 204288"/>
              <a:gd name="connsiteY5" fmla="*/ 346776 h 3467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4288" h="346776">
                <a:moveTo>
                  <a:pt x="42923" y="50941"/>
                </a:moveTo>
                <a:cubicBezTo>
                  <a:pt x="127326" y="135344"/>
                  <a:pt x="0" y="0"/>
                  <a:pt x="87747" y="131623"/>
                </a:cubicBezTo>
                <a:cubicBezTo>
                  <a:pt x="126137" y="189209"/>
                  <a:pt x="80667" y="124812"/>
                  <a:pt x="141535" y="194376"/>
                </a:cubicBezTo>
                <a:cubicBezTo>
                  <a:pt x="151374" y="205620"/>
                  <a:pt x="159464" y="218282"/>
                  <a:pt x="168429" y="230235"/>
                </a:cubicBezTo>
                <a:cubicBezTo>
                  <a:pt x="169470" y="237521"/>
                  <a:pt x="177906" y="311943"/>
                  <a:pt x="186358" y="328847"/>
                </a:cubicBezTo>
                <a:cubicBezTo>
                  <a:pt x="190138" y="336407"/>
                  <a:pt x="204288" y="346776"/>
                  <a:pt x="204288" y="346776"/>
                </a:cubicBezTo>
              </a:path>
            </a:pathLst>
          </a:custGeom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2236760" y="2986086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237420" y="3414714"/>
            <a:ext cx="500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7934" y="628632"/>
            <a:ext cx="11644394" cy="36471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Consider two tanks connected as shown in fig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Where, 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&amp; 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level of the liquid in tanks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&amp;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= cross-sectional area of the tanks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Since 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&gt; 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, the mass flow rate q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is going from tank 1 to tank 2. 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Total mass in the tank 1 = </a:t>
            </a:r>
            <a:r>
              <a:rPr lang="el-GR" sz="2200" dirty="0">
                <a:latin typeface="Times New Roman" pitchFamily="18" charset="0"/>
                <a:cs typeface="Times New Roman" pitchFamily="18" charset="0"/>
              </a:rPr>
              <a:t>ρ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A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h</a:t>
            </a:r>
            <a:r>
              <a:rPr lang="en-US" sz="22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  ------------- (1)</a:t>
            </a:r>
          </a:p>
          <a:p>
            <a:pPr>
              <a:lnSpc>
                <a:spcPct val="150000"/>
              </a:lnSpc>
            </a:pPr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Rate of change of mass in tank 1 = mass inflow rate – mass outflow rate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2" name="Object 11"/>
          <p:cNvGraphicFramePr>
            <a:graphicFrameLocks noChangeAspect="1"/>
          </p:cNvGraphicFramePr>
          <p:nvPr/>
        </p:nvGraphicFramePr>
        <p:xfrm>
          <a:off x="1450942" y="3700466"/>
          <a:ext cx="4594013" cy="20833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84120" imgH="990360" progId="Equation.3">
                  <p:embed/>
                </p:oleObj>
              </mc:Choice>
              <mc:Fallback>
                <p:oleObj name="Equation" r:id="rId2" imgW="2184120" imgH="99036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0942" y="3700466"/>
                        <a:ext cx="4594013" cy="208333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950876" y="708042"/>
          <a:ext cx="10439400" cy="4992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44840" imgH="2514600" progId="Equation.3">
                  <p:embed/>
                </p:oleObj>
              </mc:Choice>
              <mc:Fallback>
                <p:oleObj name="Equation" r:id="rId2" imgW="5244840" imgH="25146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876" y="708042"/>
                        <a:ext cx="10439400" cy="4992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593686" y="521117"/>
          <a:ext cx="11144328" cy="5465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930640" imgH="2908080" progId="Equation.3">
                  <p:embed/>
                </p:oleObj>
              </mc:Choice>
              <mc:Fallback>
                <p:oleObj name="Equation" r:id="rId2" imgW="5930640" imgH="290808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86" y="521117"/>
                        <a:ext cx="11144328" cy="54653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308066" y="557194"/>
          <a:ext cx="5072098" cy="53808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05040" imgH="2869920" progId="Equation.3">
                  <p:embed/>
                </p:oleObj>
              </mc:Choice>
              <mc:Fallback>
                <p:oleObj name="Equation" r:id="rId2" imgW="2705040" imgH="286992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8066" y="557194"/>
                        <a:ext cx="5072098" cy="538089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736826" y="700070"/>
          <a:ext cx="6235517" cy="185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984400" imgH="888840" progId="Equation.3">
                  <p:embed/>
                </p:oleObj>
              </mc:Choice>
              <mc:Fallback>
                <p:oleObj name="Equation" r:id="rId2" imgW="2984400" imgH="888840" progId="Equation.3">
                  <p:embed/>
                  <p:pic>
                    <p:nvPicPr>
                      <p:cNvPr id="0" name="Picture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26" y="700070"/>
                        <a:ext cx="6235517" cy="185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2445716" y="3647063"/>
            <a:ext cx="7149158" cy="1553601"/>
            <a:chOff x="3517286" y="3450292"/>
            <a:chExt cx="7149158" cy="1553601"/>
          </a:xfrm>
        </p:grpSpPr>
        <p:sp>
          <p:nvSpPr>
            <p:cNvPr id="20" name="Flowchart: Summing Junction 19"/>
            <p:cNvSpPr/>
            <p:nvPr/>
          </p:nvSpPr>
          <p:spPr>
            <a:xfrm>
              <a:off x="4522776" y="3557590"/>
              <a:ext cx="750240" cy="678520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/>
            <p:cNvGrpSpPr/>
            <p:nvPr/>
          </p:nvGrpSpPr>
          <p:grpSpPr>
            <a:xfrm>
              <a:off x="3517286" y="3450292"/>
              <a:ext cx="7149158" cy="1553601"/>
              <a:chOff x="3522644" y="3450292"/>
              <a:chExt cx="7149158" cy="1553601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3526516" y="3544724"/>
                <a:ext cx="7145286" cy="1405768"/>
                <a:chOff x="1076006" y="3701776"/>
                <a:chExt cx="5360360" cy="1506177"/>
              </a:xfrm>
            </p:grpSpPr>
            <p:cxnSp>
              <p:nvCxnSpPr>
                <p:cNvPr id="12" name="Straight Arrow Connector 11"/>
                <p:cNvCxnSpPr/>
                <p:nvPr/>
              </p:nvCxnSpPr>
              <p:spPr>
                <a:xfrm>
                  <a:off x="2386656" y="4137883"/>
                  <a:ext cx="178354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Rectangle 12"/>
                <p:cNvSpPr/>
                <p:nvPr/>
              </p:nvSpPr>
              <p:spPr>
                <a:xfrm>
                  <a:off x="4165516" y="3701776"/>
                  <a:ext cx="1500198" cy="857254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" name="Straight Arrow Connector 13"/>
                <p:cNvCxnSpPr/>
                <p:nvPr/>
              </p:nvCxnSpPr>
              <p:spPr>
                <a:xfrm>
                  <a:off x="5679782" y="4135536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Arrow Connector 14"/>
                <p:cNvCxnSpPr/>
                <p:nvPr/>
              </p:nvCxnSpPr>
              <p:spPr>
                <a:xfrm>
                  <a:off x="1076006" y="4060942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Arrow Connector 15"/>
                <p:cNvCxnSpPr/>
                <p:nvPr/>
              </p:nvCxnSpPr>
              <p:spPr>
                <a:xfrm rot="16200000">
                  <a:off x="1741968" y="4826917"/>
                  <a:ext cx="756583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/>
                <p:cNvSpPr txBox="1"/>
                <p:nvPr/>
              </p:nvSpPr>
              <p:spPr>
                <a:xfrm>
                  <a:off x="1609026" y="4011816"/>
                  <a:ext cx="357190" cy="461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19" name="TextBox 18"/>
                <p:cNvSpPr txBox="1"/>
                <p:nvPr/>
              </p:nvSpPr>
              <p:spPr>
                <a:xfrm>
                  <a:off x="2144337" y="4289751"/>
                  <a:ext cx="357190" cy="461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21" name="Object 20"/>
              <p:cNvGraphicFramePr>
                <a:graphicFrameLocks noChangeAspect="1"/>
              </p:cNvGraphicFramePr>
              <p:nvPr/>
            </p:nvGraphicFramePr>
            <p:xfrm>
              <a:off x="5683432" y="3486716"/>
              <a:ext cx="1465270" cy="4017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787320" imgH="215640" progId="Equation.3">
                      <p:embed/>
                    </p:oleObj>
                  </mc:Choice>
                  <mc:Fallback>
                    <p:oleObj name="Equation" r:id="rId4" imgW="787320" imgH="215640" progId="Equation.3">
                      <p:embed/>
                      <p:pic>
                        <p:nvPicPr>
                          <p:cNvPr id="0" name="Picture 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683432" y="3486716"/>
                            <a:ext cx="1465270" cy="4017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091" name="Object 3"/>
              <p:cNvGraphicFramePr>
                <a:graphicFrameLocks noChangeAspect="1"/>
              </p:cNvGraphicFramePr>
              <p:nvPr/>
            </p:nvGraphicFramePr>
            <p:xfrm>
              <a:off x="4960087" y="4602255"/>
              <a:ext cx="733425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93480" imgH="215640" progId="Equation.3">
                      <p:embed/>
                    </p:oleObj>
                  </mc:Choice>
                  <mc:Fallback>
                    <p:oleObj name="Equation" r:id="rId6" imgW="393480" imgH="215640" progId="Equation.3">
                      <p:embed/>
                      <p:pic>
                        <p:nvPicPr>
                          <p:cNvPr id="0" name="Picture 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60087" y="4602255"/>
                            <a:ext cx="733425" cy="4016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092" name="Object 4"/>
              <p:cNvGraphicFramePr>
                <a:graphicFrameLocks noChangeAspect="1"/>
              </p:cNvGraphicFramePr>
              <p:nvPr/>
            </p:nvGraphicFramePr>
            <p:xfrm>
              <a:off x="3522644" y="3450292"/>
              <a:ext cx="638175" cy="3778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342720" imgH="203040" progId="Equation.3">
                      <p:embed/>
                    </p:oleObj>
                  </mc:Choice>
                  <mc:Fallback>
                    <p:oleObj name="Equation" r:id="rId8" imgW="342720" imgH="203040" progId="Equation.3">
                      <p:embed/>
                      <p:pic>
                        <p:nvPicPr>
                          <p:cNvPr id="0" name="Picture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22644" y="3450292"/>
                            <a:ext cx="638175" cy="37782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21"/>
              <p:cNvGraphicFramePr>
                <a:graphicFrameLocks noChangeAspect="1"/>
              </p:cNvGraphicFramePr>
              <p:nvPr/>
            </p:nvGraphicFramePr>
            <p:xfrm>
              <a:off x="8308990" y="3590296"/>
              <a:ext cx="500066" cy="70842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304560" imgH="431640" progId="Equation.3">
                      <p:embed/>
                    </p:oleObj>
                  </mc:Choice>
                  <mc:Fallback>
                    <p:oleObj name="Equation" r:id="rId10" imgW="304560" imgH="431640" progId="Equation.3">
                      <p:embed/>
                      <p:pic>
                        <p:nvPicPr>
                          <p:cNvPr id="0" name="Picture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308990" y="3590296"/>
                            <a:ext cx="500066" cy="70842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9094" name="Object 6"/>
              <p:cNvGraphicFramePr>
                <a:graphicFrameLocks noChangeAspect="1"/>
              </p:cNvGraphicFramePr>
              <p:nvPr/>
            </p:nvGraphicFramePr>
            <p:xfrm>
              <a:off x="9737750" y="3513142"/>
              <a:ext cx="757238" cy="40163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2" imgW="406080" imgH="215640" progId="Equation.3">
                      <p:embed/>
                    </p:oleObj>
                  </mc:Choice>
                  <mc:Fallback>
                    <p:oleObj name="Equation" r:id="rId12" imgW="406080" imgH="215640" progId="Equation.3">
                      <p:embed/>
                      <p:pic>
                        <p:nvPicPr>
                          <p:cNvPr id="0" name="Picture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9737750" y="3513142"/>
                            <a:ext cx="757238" cy="40163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6" name="TextBox 25"/>
          <p:cNvSpPr txBox="1"/>
          <p:nvPr/>
        </p:nvSpPr>
        <p:spPr>
          <a:xfrm>
            <a:off x="950876" y="2700334"/>
            <a:ext cx="978700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Block Diagram of equation (9 A)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10" y="533381"/>
            <a:ext cx="11712781" cy="5467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Block Diagram of equation (10A)</a:t>
            </a: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Block Diagram of equation (12A)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308348" y="976857"/>
            <a:ext cx="8184823" cy="1450591"/>
            <a:chOff x="968398" y="3692176"/>
            <a:chExt cx="6140215" cy="1554204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386656" y="4118679"/>
              <a:ext cx="2195131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4582497" y="3692176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6079645" y="4125936"/>
              <a:ext cx="1028968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968398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1474166" y="3735903"/>
              <a:ext cx="357190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808062" y="4337782"/>
              <a:ext cx="357190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20" name="Object 19"/>
          <p:cNvGraphicFramePr>
            <a:graphicFrameLocks noChangeAspect="1"/>
          </p:cNvGraphicFramePr>
          <p:nvPr/>
        </p:nvGraphicFramePr>
        <p:xfrm>
          <a:off x="6737503" y="1050313"/>
          <a:ext cx="571355" cy="7158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200" imgH="431640" progId="Equation.3">
                  <p:embed/>
                </p:oleObj>
              </mc:Choice>
              <mc:Fallback>
                <p:oleObj name="Equation" r:id="rId2" imgW="2412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7503" y="1050313"/>
                        <a:ext cx="571355" cy="7158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23"/>
          <p:cNvGrpSpPr/>
          <p:nvPr/>
        </p:nvGrpSpPr>
        <p:grpSpPr>
          <a:xfrm>
            <a:off x="1183119" y="3464209"/>
            <a:ext cx="8660534" cy="1463569"/>
            <a:chOff x="921319" y="3678271"/>
            <a:chExt cx="6497094" cy="1568109"/>
          </a:xfrm>
        </p:grpSpPr>
        <p:cxnSp>
          <p:nvCxnSpPr>
            <p:cNvPr id="26" name="Straight Arrow Connector 25"/>
            <p:cNvCxnSpPr/>
            <p:nvPr/>
          </p:nvCxnSpPr>
          <p:spPr>
            <a:xfrm>
              <a:off x="2427009" y="4137890"/>
              <a:ext cx="212653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26"/>
            <p:cNvSpPr/>
            <p:nvPr/>
          </p:nvSpPr>
          <p:spPr>
            <a:xfrm>
              <a:off x="4539519" y="3701783"/>
              <a:ext cx="1500198" cy="85725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/>
            <p:cNvCxnSpPr/>
            <p:nvPr/>
          </p:nvCxnSpPr>
          <p:spPr>
            <a:xfrm>
              <a:off x="6046455" y="4135542"/>
              <a:ext cx="1371958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921319" y="4129312"/>
              <a:ext cx="960370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6200000">
              <a:off x="1755419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2137690" y="5244184"/>
              <a:ext cx="1928826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1595225" y="3678271"/>
              <a:ext cx="357190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1895494" y="4337782"/>
              <a:ext cx="357190" cy="461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6701494" y="3495117"/>
          <a:ext cx="814387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30120" imgH="431640" progId="Equation.3">
                  <p:embed/>
                </p:oleObj>
              </mc:Choice>
              <mc:Fallback>
                <p:oleObj name="Equation" r:id="rId4" imgW="33012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1494" y="3495117"/>
                        <a:ext cx="814387" cy="746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Flowchart: Summing Junction 36"/>
          <p:cNvSpPr/>
          <p:nvPr/>
        </p:nvSpPr>
        <p:spPr>
          <a:xfrm>
            <a:off x="2326128" y="1012435"/>
            <a:ext cx="857256" cy="714380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Object 38"/>
          <p:cNvGraphicFramePr>
            <a:graphicFrameLocks noChangeAspect="1"/>
          </p:cNvGraphicFramePr>
          <p:nvPr/>
        </p:nvGraphicFramePr>
        <p:xfrm>
          <a:off x="1379504" y="1414450"/>
          <a:ext cx="787404" cy="393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31640" imgH="215640" progId="Equation.3">
                  <p:embed/>
                </p:oleObj>
              </mc:Choice>
              <mc:Fallback>
                <p:oleObj name="Equation" r:id="rId6" imgW="431640" imgH="215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04" y="1414450"/>
                        <a:ext cx="787404" cy="393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5"/>
          <p:cNvGraphicFramePr>
            <a:graphicFrameLocks noChangeAspect="1"/>
          </p:cNvGraphicFramePr>
          <p:nvPr/>
        </p:nvGraphicFramePr>
        <p:xfrm>
          <a:off x="2795588" y="1985963"/>
          <a:ext cx="8112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44240" imgH="215640" progId="Equation.3">
                  <p:embed/>
                </p:oleObj>
              </mc:Choice>
              <mc:Fallback>
                <p:oleObj name="Equation" r:id="rId8" imgW="44424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5588" y="1985963"/>
                        <a:ext cx="811212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39"/>
          <p:cNvGraphicFramePr>
            <a:graphicFrameLocks noChangeAspect="1"/>
          </p:cNvGraphicFramePr>
          <p:nvPr/>
        </p:nvGraphicFramePr>
        <p:xfrm>
          <a:off x="3879834" y="958927"/>
          <a:ext cx="1521208" cy="3747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876240" imgH="215640" progId="Equation.3">
                  <p:embed/>
                </p:oleObj>
              </mc:Choice>
              <mc:Fallback>
                <p:oleObj name="Equation" r:id="rId10" imgW="876240" imgH="215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34" y="958927"/>
                        <a:ext cx="1521208" cy="3747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9" name="Object 7"/>
          <p:cNvGraphicFramePr>
            <a:graphicFrameLocks noChangeAspect="1"/>
          </p:cNvGraphicFramePr>
          <p:nvPr/>
        </p:nvGraphicFramePr>
        <p:xfrm>
          <a:off x="8437563" y="941480"/>
          <a:ext cx="763587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215640" progId="Equation.3">
                  <p:embed/>
                </p:oleObj>
              </mc:Choice>
              <mc:Fallback>
                <p:oleObj name="Equation" r:id="rId12" imgW="419040" imgH="215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37563" y="941480"/>
                        <a:ext cx="763587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0" name="Object 8"/>
          <p:cNvGraphicFramePr>
            <a:graphicFrameLocks noChangeAspect="1"/>
          </p:cNvGraphicFramePr>
          <p:nvPr/>
        </p:nvGraphicFramePr>
        <p:xfrm>
          <a:off x="8488008" y="3450292"/>
          <a:ext cx="8096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44240" imgH="215640" progId="Equation.3">
                  <p:embed/>
                </p:oleObj>
              </mc:Choice>
              <mc:Fallback>
                <p:oleObj name="Equation" r:id="rId14" imgW="44424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88008" y="3450292"/>
                        <a:ext cx="809625" cy="393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1" name="Object 9"/>
          <p:cNvGraphicFramePr>
            <a:graphicFrameLocks noChangeAspect="1"/>
          </p:cNvGraphicFramePr>
          <p:nvPr/>
        </p:nvGraphicFramePr>
        <p:xfrm>
          <a:off x="2857783" y="4439585"/>
          <a:ext cx="8096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44240" imgH="228600" progId="Equation.3">
                  <p:embed/>
                </p:oleObj>
              </mc:Choice>
              <mc:Fallback>
                <p:oleObj name="Equation" r:id="rId16" imgW="444240" imgH="22860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783" y="4439585"/>
                        <a:ext cx="809625" cy="4159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Flowchart: Summing Junction 37"/>
          <p:cNvSpPr/>
          <p:nvPr/>
        </p:nvSpPr>
        <p:spPr>
          <a:xfrm>
            <a:off x="2460603" y="3504082"/>
            <a:ext cx="714380" cy="714380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082" name="Object 10"/>
          <p:cNvGraphicFramePr>
            <a:graphicFrameLocks noChangeAspect="1"/>
          </p:cNvGraphicFramePr>
          <p:nvPr/>
        </p:nvGraphicFramePr>
        <p:xfrm>
          <a:off x="830263" y="3443473"/>
          <a:ext cx="7635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19040" imgH="215640" progId="Equation.3">
                  <p:embed/>
                </p:oleObj>
              </mc:Choice>
              <mc:Fallback>
                <p:oleObj name="Equation" r:id="rId18" imgW="419040" imgH="21564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0263" y="3443473"/>
                        <a:ext cx="763587" cy="392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83" name="Object 11"/>
          <p:cNvGraphicFramePr>
            <a:graphicFrameLocks noChangeAspect="1"/>
          </p:cNvGraphicFramePr>
          <p:nvPr/>
        </p:nvGraphicFramePr>
        <p:xfrm>
          <a:off x="3598035" y="3448708"/>
          <a:ext cx="1689100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27000" imgH="228600" progId="Equation.3">
                  <p:embed/>
                </p:oleObj>
              </mc:Choice>
              <mc:Fallback>
                <p:oleObj name="Equation" r:id="rId20" imgW="927000" imgH="22860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98035" y="3448708"/>
                        <a:ext cx="1689100" cy="4143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10" y="533381"/>
            <a:ext cx="11712781" cy="546738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Block Diagram of equation (11A) </a:t>
            </a: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Combining block diagrams (9A) and (10A) , we get</a:t>
            </a: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3676262" y="1057260"/>
            <a:ext cx="4035527" cy="800106"/>
            <a:chOff x="2386656" y="3701782"/>
            <a:chExt cx="3027434" cy="857256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4657506" y="413554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5350531" y="1079336"/>
          <a:ext cx="666581" cy="793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3800" imgH="431640" progId="Equation.3">
                  <p:embed/>
                </p:oleObj>
              </mc:Choice>
              <mc:Fallback>
                <p:oleObj name="Equation" r:id="rId2" imgW="2538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50531" y="1079336"/>
                        <a:ext cx="666581" cy="7934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43"/>
          <p:cNvGraphicFramePr>
            <a:graphicFrameLocks noChangeAspect="1"/>
          </p:cNvGraphicFramePr>
          <p:nvPr/>
        </p:nvGraphicFramePr>
        <p:xfrm>
          <a:off x="3630613" y="3000375"/>
          <a:ext cx="63976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04560" imgH="431640" progId="Equation.3">
                  <p:embed/>
                </p:oleObj>
              </mc:Choice>
              <mc:Fallback>
                <p:oleObj name="Equation" r:id="rId4" imgW="30456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0613" y="3000375"/>
                        <a:ext cx="639762" cy="635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4"/>
          <p:cNvGraphicFramePr>
            <a:graphicFrameLocks noChangeAspect="1"/>
          </p:cNvGraphicFramePr>
          <p:nvPr/>
        </p:nvGraphicFramePr>
        <p:xfrm>
          <a:off x="9166246" y="3012981"/>
          <a:ext cx="476129" cy="59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1200" imgH="431640" progId="Equation.3">
                  <p:embed/>
                </p:oleObj>
              </mc:Choice>
              <mc:Fallback>
                <p:oleObj name="Equation" r:id="rId6" imgW="24120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66246" y="3012981"/>
                        <a:ext cx="476129" cy="59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41"/>
          <p:cNvGraphicFramePr>
            <a:graphicFrameLocks noChangeAspect="1"/>
          </p:cNvGraphicFramePr>
          <p:nvPr/>
        </p:nvGraphicFramePr>
        <p:xfrm>
          <a:off x="2808264" y="1200136"/>
          <a:ext cx="832043" cy="428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40" imgH="215640" progId="Equation.3">
                  <p:embed/>
                </p:oleObj>
              </mc:Choice>
              <mc:Fallback>
                <p:oleObj name="Equation" r:id="rId8" imgW="419040" imgH="215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8264" y="1200136"/>
                        <a:ext cx="832043" cy="42862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2" name="Object 6"/>
          <p:cNvGraphicFramePr>
            <a:graphicFrameLocks noChangeAspect="1"/>
          </p:cNvGraphicFramePr>
          <p:nvPr/>
        </p:nvGraphicFramePr>
        <p:xfrm>
          <a:off x="6821488" y="982385"/>
          <a:ext cx="806450" cy="45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228600" progId="Equation.3">
                  <p:embed/>
                </p:oleObj>
              </mc:Choice>
              <mc:Fallback>
                <p:oleObj name="Equation" r:id="rId10" imgW="40608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21488" y="982385"/>
                        <a:ext cx="806450" cy="454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Flowchart: Summing Junction 51"/>
          <p:cNvSpPr/>
          <p:nvPr/>
        </p:nvSpPr>
        <p:spPr>
          <a:xfrm>
            <a:off x="6442637" y="2986086"/>
            <a:ext cx="642942" cy="642942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107" name="Object 11"/>
          <p:cNvGraphicFramePr>
            <a:graphicFrameLocks noChangeAspect="1"/>
          </p:cNvGraphicFramePr>
          <p:nvPr/>
        </p:nvGraphicFramePr>
        <p:xfrm>
          <a:off x="5237156" y="2914648"/>
          <a:ext cx="6683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15640" progId="Equation.3">
                  <p:embed/>
                </p:oleObj>
              </mc:Choice>
              <mc:Fallback>
                <p:oleObj name="Equation" r:id="rId12" imgW="406080" imgH="2156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7156" y="2914648"/>
                        <a:ext cx="668337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Group 54"/>
          <p:cNvGrpSpPr/>
          <p:nvPr/>
        </p:nvGrpSpPr>
        <p:grpSpPr>
          <a:xfrm>
            <a:off x="593686" y="2914650"/>
            <a:ext cx="10684264" cy="1347413"/>
            <a:chOff x="593686" y="2914650"/>
            <a:chExt cx="10684264" cy="1347413"/>
          </a:xfrm>
        </p:grpSpPr>
        <p:grpSp>
          <p:nvGrpSpPr>
            <p:cNvPr id="23" name="Group 22"/>
            <p:cNvGrpSpPr/>
            <p:nvPr/>
          </p:nvGrpSpPr>
          <p:grpSpPr>
            <a:xfrm>
              <a:off x="593686" y="3000389"/>
              <a:ext cx="5856365" cy="1183857"/>
              <a:chOff x="458419" y="3701782"/>
              <a:chExt cx="5887610" cy="1613237"/>
            </a:xfrm>
          </p:grpSpPr>
          <p:cxnSp>
            <p:nvCxnSpPr>
              <p:cNvPr id="25" name="Straight Arrow Connector 24"/>
              <p:cNvCxnSpPr/>
              <p:nvPr/>
            </p:nvCxnSpPr>
            <p:spPr>
              <a:xfrm>
                <a:off x="1856408" y="4137891"/>
                <a:ext cx="1286990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Rectangle 25"/>
              <p:cNvSpPr/>
              <p:nvPr/>
            </p:nvSpPr>
            <p:spPr>
              <a:xfrm>
                <a:off x="3143240" y="3701782"/>
                <a:ext cx="1500198" cy="857256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Arrow Connector 26"/>
              <p:cNvCxnSpPr/>
              <p:nvPr/>
            </p:nvCxnSpPr>
            <p:spPr>
              <a:xfrm>
                <a:off x="4657505" y="4135541"/>
                <a:ext cx="1688524" cy="5491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/>
              <p:cNvCxnSpPr/>
              <p:nvPr/>
            </p:nvCxnSpPr>
            <p:spPr>
              <a:xfrm>
                <a:off x="458419" y="4129303"/>
                <a:ext cx="7565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TextBox 30"/>
              <p:cNvSpPr txBox="1"/>
              <p:nvPr/>
            </p:nvSpPr>
            <p:spPr>
              <a:xfrm>
                <a:off x="871592" y="4049557"/>
                <a:ext cx="357190" cy="5871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endParaRPr lang="en-US" sz="22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32" name="TextBox 31"/>
              <p:cNvSpPr txBox="1"/>
              <p:nvPr/>
            </p:nvSpPr>
            <p:spPr>
              <a:xfrm>
                <a:off x="1275184" y="4461090"/>
                <a:ext cx="357190" cy="5871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cxnSp>
            <p:nvCxnSpPr>
              <p:cNvPr id="53" name="Straight Arrow Connector 52"/>
              <p:cNvCxnSpPr/>
              <p:nvPr/>
            </p:nvCxnSpPr>
            <p:spPr>
              <a:xfrm rot="16200000">
                <a:off x="1160160" y="4933983"/>
                <a:ext cx="756582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3" name="Group 32"/>
            <p:cNvGrpSpPr/>
            <p:nvPr/>
          </p:nvGrpSpPr>
          <p:grpSpPr>
            <a:xfrm>
              <a:off x="6094412" y="3006104"/>
              <a:ext cx="5183538" cy="910089"/>
              <a:chOff x="1340426" y="3740725"/>
              <a:chExt cx="5442770" cy="1317685"/>
            </a:xfrm>
          </p:grpSpPr>
          <p:cxnSp>
            <p:nvCxnSpPr>
              <p:cNvPr id="35" name="Straight Arrow Connector 34"/>
              <p:cNvCxnSpPr/>
              <p:nvPr/>
            </p:nvCxnSpPr>
            <p:spPr>
              <a:xfrm>
                <a:off x="2386648" y="4163854"/>
                <a:ext cx="1632221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Rectangle 35"/>
              <p:cNvSpPr/>
              <p:nvPr/>
            </p:nvSpPr>
            <p:spPr>
              <a:xfrm>
                <a:off x="4009255" y="3740725"/>
                <a:ext cx="1500188" cy="857257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7" name="Straight Arrow Connector 36"/>
              <p:cNvCxnSpPr/>
              <p:nvPr/>
            </p:nvCxnSpPr>
            <p:spPr>
              <a:xfrm>
                <a:off x="5523512" y="4135532"/>
                <a:ext cx="1259684" cy="549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TextBox 39"/>
              <p:cNvSpPr txBox="1"/>
              <p:nvPr/>
            </p:nvSpPr>
            <p:spPr>
              <a:xfrm>
                <a:off x="1340426" y="4072732"/>
                <a:ext cx="357190" cy="6238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b="1" dirty="0">
                    <a:latin typeface="Times New Roman" pitchFamily="18" charset="0"/>
                    <a:cs typeface="Times New Roman" pitchFamily="18" charset="0"/>
                  </a:rPr>
                  <a:t>+</a:t>
                </a:r>
                <a:endParaRPr lang="en-US" sz="2200" b="1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1734602" y="4434544"/>
                <a:ext cx="357187" cy="6238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200" dirty="0">
                    <a:latin typeface="Times New Roman" pitchFamily="18" charset="0"/>
                    <a:cs typeface="Times New Roman" pitchFamily="18" charset="0"/>
                  </a:rPr>
                  <a:t>-</a:t>
                </a:r>
                <a:endParaRPr lang="en-US" sz="22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50" name="Flowchart: Summing Junction 49"/>
            <p:cNvSpPr/>
            <p:nvPr/>
          </p:nvSpPr>
          <p:spPr>
            <a:xfrm>
              <a:off x="1350635" y="2995051"/>
              <a:ext cx="642942" cy="642942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4103" name="Object 7"/>
            <p:cNvGraphicFramePr>
              <a:graphicFrameLocks noChangeAspect="1"/>
            </p:cNvGraphicFramePr>
            <p:nvPr/>
          </p:nvGraphicFramePr>
          <p:xfrm>
            <a:off x="2003952" y="2933783"/>
            <a:ext cx="1168914" cy="3204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787320" imgH="215640" progId="Equation.3">
                    <p:embed/>
                  </p:oleObj>
                </mc:Choice>
                <mc:Fallback>
                  <p:oleObj name="Equation" r:id="rId14" imgW="78732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3952" y="2933783"/>
                          <a:ext cx="1168914" cy="32040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4" name="Object 8"/>
            <p:cNvGraphicFramePr>
              <a:graphicFrameLocks noChangeAspect="1"/>
            </p:cNvGraphicFramePr>
            <p:nvPr/>
          </p:nvGraphicFramePr>
          <p:xfrm>
            <a:off x="7110413" y="2914650"/>
            <a:ext cx="1439862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6" imgW="876240" imgH="215640" progId="Equation.3">
                    <p:embed/>
                  </p:oleObj>
                </mc:Choice>
                <mc:Fallback>
                  <p:oleObj name="Equation" r:id="rId16" imgW="876240" imgH="2156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110413" y="2914650"/>
                          <a:ext cx="1439862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5" name="Object 9"/>
            <p:cNvGraphicFramePr>
              <a:graphicFrameLocks noChangeAspect="1"/>
            </p:cNvGraphicFramePr>
            <p:nvPr/>
          </p:nvGraphicFramePr>
          <p:xfrm>
            <a:off x="700710" y="2941543"/>
            <a:ext cx="509587" cy="3016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42720" imgH="203040" progId="Equation.3">
                    <p:embed/>
                  </p:oleObj>
                </mc:Choice>
                <mc:Fallback>
                  <p:oleObj name="Equation" r:id="rId18" imgW="342720" imgH="203040" progId="Equation.3">
                    <p:embed/>
                    <p:pic>
                      <p:nvPicPr>
                        <p:cNvPr id="0" name="Picture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0710" y="2941543"/>
                          <a:ext cx="509587" cy="30162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6" name="Object 10"/>
            <p:cNvGraphicFramePr>
              <a:graphicFrameLocks noChangeAspect="1"/>
            </p:cNvGraphicFramePr>
            <p:nvPr/>
          </p:nvGraphicFramePr>
          <p:xfrm>
            <a:off x="1723733" y="3941388"/>
            <a:ext cx="584200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393480" imgH="215640" progId="Equation.3">
                    <p:embed/>
                  </p:oleObj>
                </mc:Choice>
                <mc:Fallback>
                  <p:oleObj name="Equation" r:id="rId20" imgW="393480" imgH="215640" progId="Equation.3">
                    <p:embed/>
                    <p:pic>
                      <p:nvPicPr>
                        <p:cNvPr id="0" name="Picture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3733" y="3941388"/>
                          <a:ext cx="584200" cy="320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54" name="Straight Arrow Connector 53"/>
            <p:cNvCxnSpPr/>
            <p:nvPr/>
          </p:nvCxnSpPr>
          <p:spPr>
            <a:xfrm rot="16200000">
              <a:off x="6498058" y="3903902"/>
              <a:ext cx="555209" cy="546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108" name="Object 12"/>
            <p:cNvGraphicFramePr>
              <a:graphicFrameLocks noChangeAspect="1"/>
            </p:cNvGraphicFramePr>
            <p:nvPr/>
          </p:nvGraphicFramePr>
          <p:xfrm>
            <a:off x="6835405" y="3825690"/>
            <a:ext cx="688975" cy="355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19040" imgH="215640" progId="Equation.3">
                    <p:embed/>
                  </p:oleObj>
                </mc:Choice>
                <mc:Fallback>
                  <p:oleObj name="Equation" r:id="rId22" imgW="419040" imgH="215640" progId="Equation.3">
                    <p:embed/>
                    <p:pic>
                      <p:nvPicPr>
                        <p:cNvPr id="0" name="Picture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835405" y="3825690"/>
                          <a:ext cx="688975" cy="3556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09" name="Object 13"/>
            <p:cNvGraphicFramePr>
              <a:graphicFrameLocks noChangeAspect="1"/>
            </p:cNvGraphicFramePr>
            <p:nvPr/>
          </p:nvGraphicFramePr>
          <p:xfrm>
            <a:off x="10237816" y="2914650"/>
            <a:ext cx="584200" cy="3206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393480" imgH="215640" progId="Equation.3">
                    <p:embed/>
                  </p:oleObj>
                </mc:Choice>
                <mc:Fallback>
                  <p:oleObj name="Equation" r:id="rId24" imgW="393480" imgH="215640" progId="Equation.3">
                    <p:embed/>
                    <p:pic>
                      <p:nvPicPr>
                        <p:cNvPr id="0" name="Picture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37816" y="2914650"/>
                          <a:ext cx="584200" cy="3206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10" y="533381"/>
            <a:ext cx="11712781" cy="5467388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666539" y="3339124"/>
            <a:ext cx="5959605" cy="931429"/>
            <a:chOff x="914594" y="3701782"/>
            <a:chExt cx="8558444" cy="1544598"/>
          </a:xfrm>
        </p:grpSpPr>
        <p:cxnSp>
          <p:nvCxnSpPr>
            <p:cNvPr id="44" name="Straight Arrow Connector 43"/>
            <p:cNvCxnSpPr/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Rectangle 44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>
              <a:off x="4657505" y="4135541"/>
              <a:ext cx="1688524" cy="5491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Arrow Connector 46"/>
            <p:cNvCxnSpPr/>
            <p:nvPr/>
          </p:nvCxnSpPr>
          <p:spPr>
            <a:xfrm>
              <a:off x="914594" y="4129312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rot="16200000">
              <a:off x="1667987" y="4865343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>
              <a:off x="2043533" y="5244184"/>
              <a:ext cx="7429505" cy="1589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/>
            <p:cNvSpPr txBox="1"/>
            <p:nvPr/>
          </p:nvSpPr>
          <p:spPr>
            <a:xfrm>
              <a:off x="1273505" y="4026378"/>
              <a:ext cx="357189" cy="714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1613704" y="4263311"/>
              <a:ext cx="357189" cy="7145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52" name="Object 51"/>
          <p:cNvGraphicFramePr>
            <a:graphicFrameLocks noChangeAspect="1"/>
          </p:cNvGraphicFramePr>
          <p:nvPr/>
        </p:nvGraphicFramePr>
        <p:xfrm>
          <a:off x="2392363" y="3351378"/>
          <a:ext cx="579437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560" imgH="431640" progId="Equation.3">
                  <p:embed/>
                </p:oleObj>
              </mc:Choice>
              <mc:Fallback>
                <p:oleObj name="Equation" r:id="rId2" imgW="304560" imgH="431640" progId="Equation.3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92363" y="3351378"/>
                        <a:ext cx="579437" cy="5095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" name="Object 4"/>
          <p:cNvGraphicFramePr>
            <a:graphicFrameLocks noChangeAspect="1"/>
          </p:cNvGraphicFramePr>
          <p:nvPr/>
        </p:nvGraphicFramePr>
        <p:xfrm>
          <a:off x="5737222" y="3343276"/>
          <a:ext cx="369665" cy="463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41200" imgH="431640" progId="Equation.3">
                  <p:embed/>
                </p:oleObj>
              </mc:Choice>
              <mc:Fallback>
                <p:oleObj name="Equation" r:id="rId4" imgW="241200" imgH="431640" progId="Equation.3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7222" y="3343276"/>
                        <a:ext cx="369665" cy="46302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9" name="Group 58"/>
          <p:cNvGrpSpPr/>
          <p:nvPr/>
        </p:nvGrpSpPr>
        <p:grpSpPr>
          <a:xfrm>
            <a:off x="4129435" y="2804812"/>
            <a:ext cx="3311191" cy="1163198"/>
            <a:chOff x="1202558" y="2732494"/>
            <a:chExt cx="4966456" cy="2049490"/>
          </a:xfrm>
        </p:grpSpPr>
        <p:cxnSp>
          <p:nvCxnSpPr>
            <p:cNvPr id="61" name="Straight Arrow Connector 60"/>
            <p:cNvCxnSpPr/>
            <p:nvPr/>
          </p:nvCxnSpPr>
          <p:spPr>
            <a:xfrm>
              <a:off x="2386656" y="4137890"/>
              <a:ext cx="756584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61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3" name="Straight Arrow Connector 62"/>
            <p:cNvCxnSpPr/>
            <p:nvPr/>
          </p:nvCxnSpPr>
          <p:spPr>
            <a:xfrm>
              <a:off x="4657507" y="4135530"/>
              <a:ext cx="1511507" cy="5489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 rot="5400000" flipV="1">
              <a:off x="1506045" y="3253365"/>
              <a:ext cx="1047229" cy="5488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1202558" y="4022786"/>
              <a:ext cx="357189" cy="759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1532853" y="3139170"/>
              <a:ext cx="357190" cy="7591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cxnSp>
        <p:nvCxnSpPr>
          <p:cNvPr id="68" name="Straight Connector 67"/>
          <p:cNvCxnSpPr/>
          <p:nvPr/>
        </p:nvCxnSpPr>
        <p:spPr>
          <a:xfrm rot="5400000" flipH="1" flipV="1">
            <a:off x="6296541" y="3934170"/>
            <a:ext cx="666755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9" name="Group 68"/>
          <p:cNvGrpSpPr/>
          <p:nvPr/>
        </p:nvGrpSpPr>
        <p:grpSpPr>
          <a:xfrm>
            <a:off x="7129399" y="3311995"/>
            <a:ext cx="4373377" cy="987581"/>
            <a:chOff x="1282766" y="3701782"/>
            <a:chExt cx="6226157" cy="1525215"/>
          </a:xfrm>
        </p:grpSpPr>
        <p:cxnSp>
          <p:nvCxnSpPr>
            <p:cNvPr id="71" name="Straight Arrow Connector 70"/>
            <p:cNvCxnSpPr/>
            <p:nvPr/>
          </p:nvCxnSpPr>
          <p:spPr>
            <a:xfrm flipV="1">
              <a:off x="2456692" y="4128844"/>
              <a:ext cx="68654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ectangle 71"/>
            <p:cNvSpPr/>
            <p:nvPr/>
          </p:nvSpPr>
          <p:spPr>
            <a:xfrm>
              <a:off x="3143240" y="3701782"/>
              <a:ext cx="1500198" cy="857256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3" name="Straight Arrow Connector 72"/>
            <p:cNvCxnSpPr/>
            <p:nvPr/>
          </p:nvCxnSpPr>
          <p:spPr>
            <a:xfrm>
              <a:off x="4657502" y="4135542"/>
              <a:ext cx="819808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Arrow Connector 74"/>
            <p:cNvCxnSpPr/>
            <p:nvPr/>
          </p:nvCxnSpPr>
          <p:spPr>
            <a:xfrm rot="16200000">
              <a:off x="1637632" y="4815606"/>
              <a:ext cx="817293" cy="549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2043532" y="5224802"/>
              <a:ext cx="5465391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7" name="TextBox 76"/>
            <p:cNvSpPr txBox="1"/>
            <p:nvPr/>
          </p:nvSpPr>
          <p:spPr>
            <a:xfrm>
              <a:off x="1282766" y="4049467"/>
              <a:ext cx="357189" cy="665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b="1" dirty="0">
                  <a:latin typeface="Times New Roman" pitchFamily="18" charset="0"/>
                  <a:cs typeface="Times New Roman" pitchFamily="18" charset="0"/>
                </a:rPr>
                <a:t>+</a:t>
              </a:r>
              <a:endParaRPr lang="en-US" sz="2200" b="1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1543817" y="4255414"/>
              <a:ext cx="357189" cy="6654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200" dirty="0">
                  <a:latin typeface="Times New Roman" pitchFamily="18" charset="0"/>
                  <a:cs typeface="Times New Roman" pitchFamily="18" charset="0"/>
                </a:rPr>
                <a:t>-</a:t>
              </a:r>
              <a:endParaRPr lang="en-US" sz="2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aphicFrame>
        <p:nvGraphicFramePr>
          <p:cNvPr id="5126" name="Object 6"/>
          <p:cNvGraphicFramePr>
            <a:graphicFrameLocks noChangeAspect="1"/>
          </p:cNvGraphicFramePr>
          <p:nvPr/>
        </p:nvGraphicFramePr>
        <p:xfrm>
          <a:off x="10379577" y="3334117"/>
          <a:ext cx="564269" cy="561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3800" imgH="431640" progId="Equation.3">
                  <p:embed/>
                </p:oleObj>
              </mc:Choice>
              <mc:Fallback>
                <p:oleObj name="Equation" r:id="rId6" imgW="253800" imgH="43164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79577" y="3334117"/>
                        <a:ext cx="564269" cy="56148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7"/>
          <p:cNvGraphicFramePr>
            <a:graphicFrameLocks noChangeAspect="1"/>
          </p:cNvGraphicFramePr>
          <p:nvPr/>
        </p:nvGraphicFramePr>
        <p:xfrm>
          <a:off x="8678863" y="3287878"/>
          <a:ext cx="649287" cy="593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30120" imgH="431640" progId="Equation.3">
                  <p:embed/>
                </p:oleObj>
              </mc:Choice>
              <mc:Fallback>
                <p:oleObj name="Equation" r:id="rId8" imgW="330120" imgH="431640" progId="Equation.3">
                  <p:embed/>
                  <p:pic>
                    <p:nvPicPr>
                      <p:cNvPr id="0" name="Picture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78863" y="3287878"/>
                        <a:ext cx="649287" cy="5937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" name="Rectangle 78"/>
          <p:cNvSpPr/>
          <p:nvPr/>
        </p:nvSpPr>
        <p:spPr>
          <a:xfrm>
            <a:off x="10094940" y="3290050"/>
            <a:ext cx="1103835" cy="629103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11209726" y="3563282"/>
            <a:ext cx="671825" cy="3555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Straight Connector 81"/>
          <p:cNvCxnSpPr/>
          <p:nvPr/>
        </p:nvCxnSpPr>
        <p:spPr>
          <a:xfrm rot="5400000" flipH="1" flipV="1">
            <a:off x="11147746" y="3921549"/>
            <a:ext cx="713232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/>
          <p:nvPr/>
        </p:nvCxnSpPr>
        <p:spPr>
          <a:xfrm>
            <a:off x="4676596" y="2804812"/>
            <a:ext cx="4965192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rot="5400000">
            <a:off x="9252926" y="3187981"/>
            <a:ext cx="786384" cy="2117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522248" y="1914516"/>
            <a:ext cx="1085857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Similarly, combine the other blocks, we get</a:t>
            </a:r>
          </a:p>
        </p:txBody>
      </p:sp>
      <p:graphicFrame>
        <p:nvGraphicFramePr>
          <p:cNvPr id="5137" name="Object 17"/>
          <p:cNvGraphicFramePr>
            <a:graphicFrameLocks noChangeAspect="1"/>
          </p:cNvGraphicFramePr>
          <p:nvPr/>
        </p:nvGraphicFramePr>
        <p:xfrm>
          <a:off x="3451206" y="3251652"/>
          <a:ext cx="500066" cy="289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215640" progId="Equation.3">
                  <p:embed/>
                </p:oleObj>
              </mc:Choice>
              <mc:Fallback>
                <p:oleObj name="Equation" r:id="rId10" imgW="406080" imgH="215640" progId="Equation.3">
                  <p:embed/>
                  <p:pic>
                    <p:nvPicPr>
                      <p:cNvPr id="0" name="Picture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51206" y="3251652"/>
                        <a:ext cx="500066" cy="289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Flowchart: Summing Junction 114"/>
          <p:cNvSpPr/>
          <p:nvPr/>
        </p:nvSpPr>
        <p:spPr>
          <a:xfrm>
            <a:off x="4442373" y="3393964"/>
            <a:ext cx="500066" cy="428628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6" name="Object 8"/>
          <p:cNvGraphicFramePr>
            <a:graphicFrameLocks noChangeAspect="1"/>
          </p:cNvGraphicFramePr>
          <p:nvPr/>
        </p:nvGraphicFramePr>
        <p:xfrm>
          <a:off x="4737090" y="3037056"/>
          <a:ext cx="5842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9040" imgH="215640" progId="Equation.3">
                  <p:embed/>
                </p:oleObj>
              </mc:Choice>
              <mc:Fallback>
                <p:oleObj name="Equation" r:id="rId12" imgW="419040" imgH="215640" progId="Equation.3">
                  <p:embed/>
                  <p:pic>
                    <p:nvPicPr>
                      <p:cNvPr id="0" name="Picture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37090" y="3037056"/>
                        <a:ext cx="584200" cy="31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9" name="Object 19"/>
          <p:cNvGraphicFramePr>
            <a:graphicFrameLocks noChangeAspect="1"/>
          </p:cNvGraphicFramePr>
          <p:nvPr/>
        </p:nvGraphicFramePr>
        <p:xfrm>
          <a:off x="9523436" y="3608561"/>
          <a:ext cx="531095" cy="2857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9040" imgH="215640" progId="Equation.3">
                  <p:embed/>
                </p:oleObj>
              </mc:Choice>
              <mc:Fallback>
                <p:oleObj name="Equation" r:id="rId14" imgW="419040" imgH="215640" progId="Equation.3">
                  <p:embed/>
                  <p:pic>
                    <p:nvPicPr>
                      <p:cNvPr id="0" name="Picture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3436" y="3608561"/>
                        <a:ext cx="531095" cy="2857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7" name="Object 7"/>
          <p:cNvGraphicFramePr>
            <a:graphicFrameLocks noChangeAspect="1"/>
          </p:cNvGraphicFramePr>
          <p:nvPr/>
        </p:nvGraphicFramePr>
        <p:xfrm>
          <a:off x="6665916" y="3271838"/>
          <a:ext cx="5429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31640" imgH="215640" progId="Equation.3">
                  <p:embed/>
                </p:oleObj>
              </mc:Choice>
              <mc:Fallback>
                <p:oleObj name="Equation" r:id="rId16" imgW="431640" imgH="215640" progId="Equation.3">
                  <p:embed/>
                  <p:pic>
                    <p:nvPicPr>
                      <p:cNvPr id="0" name="Picture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5916" y="3271838"/>
                        <a:ext cx="542925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1" name="Object 21"/>
          <p:cNvGraphicFramePr>
            <a:graphicFrameLocks noChangeAspect="1"/>
          </p:cNvGraphicFramePr>
          <p:nvPr/>
        </p:nvGraphicFramePr>
        <p:xfrm>
          <a:off x="7737486" y="3894312"/>
          <a:ext cx="5588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44240" imgH="228600" progId="Equation.3">
                  <p:embed/>
                </p:oleObj>
              </mc:Choice>
              <mc:Fallback>
                <p:oleObj name="Equation" r:id="rId18" imgW="444240" imgH="228600" progId="Equation.3">
                  <p:embed/>
                  <p:pic>
                    <p:nvPicPr>
                      <p:cNvPr id="0" name="Picture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7486" y="3894312"/>
                        <a:ext cx="558800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2" name="Object 22"/>
          <p:cNvGraphicFramePr>
            <a:graphicFrameLocks noChangeAspect="1"/>
          </p:cNvGraphicFramePr>
          <p:nvPr/>
        </p:nvGraphicFramePr>
        <p:xfrm>
          <a:off x="11309386" y="3251370"/>
          <a:ext cx="558800" cy="298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44240" imgH="228600" progId="Equation.3">
                  <p:embed/>
                </p:oleObj>
              </mc:Choice>
              <mc:Fallback>
                <p:oleObj name="Equation" r:id="rId20" imgW="444240" imgH="228600" progId="Equation.3">
                  <p:embed/>
                  <p:pic>
                    <p:nvPicPr>
                      <p:cNvPr id="0" name="Picture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9386" y="3251370"/>
                        <a:ext cx="558800" cy="298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8" name="Object 7"/>
          <p:cNvGraphicFramePr>
            <a:graphicFrameLocks noChangeAspect="1"/>
          </p:cNvGraphicFramePr>
          <p:nvPr/>
        </p:nvGraphicFramePr>
        <p:xfrm>
          <a:off x="1522380" y="3894312"/>
          <a:ext cx="542925" cy="28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31640" imgH="215640" progId="Equation.3">
                  <p:embed/>
                </p:oleObj>
              </mc:Choice>
              <mc:Fallback>
                <p:oleObj name="Equation" r:id="rId22" imgW="431640" imgH="21564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2380" y="3894312"/>
                        <a:ext cx="542925" cy="282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44" name="Object 24"/>
          <p:cNvGraphicFramePr>
            <a:graphicFrameLocks noChangeAspect="1"/>
          </p:cNvGraphicFramePr>
          <p:nvPr/>
        </p:nvGraphicFramePr>
        <p:xfrm>
          <a:off x="649288" y="3272010"/>
          <a:ext cx="431800" cy="265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42720" imgH="203040" progId="Equation.3">
                  <p:embed/>
                </p:oleObj>
              </mc:Choice>
              <mc:Fallback>
                <p:oleObj name="Equation" r:id="rId24" imgW="342720" imgH="203040" progId="Equation.3">
                  <p:embed/>
                  <p:pic>
                    <p:nvPicPr>
                      <p:cNvPr id="0" name="Picture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3272010"/>
                        <a:ext cx="431800" cy="265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Flowchart: Summing Junction 118"/>
          <p:cNvSpPr/>
          <p:nvPr/>
        </p:nvSpPr>
        <p:spPr>
          <a:xfrm>
            <a:off x="7433804" y="3360078"/>
            <a:ext cx="500066" cy="428628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Flowchart: Summing Junction 119"/>
          <p:cNvSpPr/>
          <p:nvPr/>
        </p:nvSpPr>
        <p:spPr>
          <a:xfrm>
            <a:off x="1192085" y="3394246"/>
            <a:ext cx="500066" cy="428628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10" y="533381"/>
            <a:ext cx="11712781" cy="5467388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1800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18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01" name="Group 100"/>
          <p:cNvGrpSpPr/>
          <p:nvPr/>
        </p:nvGrpSpPr>
        <p:grpSpPr>
          <a:xfrm>
            <a:off x="550734" y="2870946"/>
            <a:ext cx="11281130" cy="1329587"/>
            <a:chOff x="372816" y="3076013"/>
            <a:chExt cx="8463051" cy="1424557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 flipH="1" flipV="1">
              <a:off x="4540859" y="4107286"/>
              <a:ext cx="71438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9" name="Group 98"/>
            <p:cNvGrpSpPr/>
            <p:nvPr/>
          </p:nvGrpSpPr>
          <p:grpSpPr>
            <a:xfrm>
              <a:off x="372816" y="3076013"/>
              <a:ext cx="8463051" cy="1424557"/>
              <a:chOff x="372816" y="2790261"/>
              <a:chExt cx="8463051" cy="1424557"/>
            </a:xfrm>
          </p:grpSpPr>
          <p:grpSp>
            <p:nvGrpSpPr>
              <p:cNvPr id="56" name="Group 55"/>
              <p:cNvGrpSpPr/>
              <p:nvPr/>
            </p:nvGrpSpPr>
            <p:grpSpPr>
              <a:xfrm>
                <a:off x="372816" y="3185766"/>
                <a:ext cx="4531400" cy="997959"/>
                <a:chOff x="798716" y="3701782"/>
                <a:chExt cx="8674322" cy="1544598"/>
              </a:xfrm>
            </p:grpSpPr>
            <p:cxnSp>
              <p:nvCxnSpPr>
                <p:cNvPr id="58" name="Straight Arrow Connector 57"/>
                <p:cNvCxnSpPr/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Rectangle 58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0" name="Straight Arrow Connector 59"/>
                <p:cNvCxnSpPr/>
                <p:nvPr/>
              </p:nvCxnSpPr>
              <p:spPr>
                <a:xfrm>
                  <a:off x="4657505" y="4135541"/>
                  <a:ext cx="168852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Arrow Connector 60"/>
                <p:cNvCxnSpPr/>
                <p:nvPr/>
              </p:nvCxnSpPr>
              <p:spPr>
                <a:xfrm>
                  <a:off x="798716" y="4129306"/>
                  <a:ext cx="91920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Arrow Connector 61"/>
                <p:cNvCxnSpPr/>
                <p:nvPr/>
              </p:nvCxnSpPr>
              <p:spPr>
                <a:xfrm rot="16200000">
                  <a:off x="1667987" y="4865343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2043533" y="5244184"/>
                  <a:ext cx="7429505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/>
              </p:nvSpPr>
              <p:spPr>
                <a:xfrm>
                  <a:off x="1270767" y="4035505"/>
                  <a:ext cx="357189" cy="7145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1665202" y="4360415"/>
                  <a:ext cx="357189" cy="7145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66" name="Object 65"/>
              <p:cNvGraphicFramePr>
                <a:graphicFrameLocks noChangeAspect="1"/>
              </p:cNvGraphicFramePr>
              <p:nvPr/>
            </p:nvGraphicFramePr>
            <p:xfrm>
              <a:off x="1727005" y="3197677"/>
              <a:ext cx="434692" cy="5459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04560" imgH="431640" progId="Equation.3">
                      <p:embed/>
                    </p:oleObj>
                  </mc:Choice>
                  <mc:Fallback>
                    <p:oleObj name="Equation" r:id="rId2" imgW="304560" imgH="431640" progId="Equation.3">
                      <p:embed/>
                      <p:pic>
                        <p:nvPicPr>
                          <p:cNvPr id="0" name="Picture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7005" y="3197677"/>
                            <a:ext cx="434692" cy="5459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70" name="Group 69"/>
              <p:cNvGrpSpPr/>
              <p:nvPr/>
            </p:nvGrpSpPr>
            <p:grpSpPr>
              <a:xfrm>
                <a:off x="3024469" y="2791768"/>
                <a:ext cx="2490765" cy="1067802"/>
                <a:chOff x="1189101" y="3026004"/>
                <a:chExt cx="4979913" cy="1755978"/>
              </a:xfrm>
            </p:grpSpPr>
            <p:cxnSp>
              <p:nvCxnSpPr>
                <p:cNvPr id="72" name="Straight Arrow Connector 71"/>
                <p:cNvCxnSpPr/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72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4657507" y="4135530"/>
                  <a:ext cx="1511507" cy="548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5" name="Straight Arrow Connector 74"/>
                <p:cNvCxnSpPr/>
                <p:nvPr/>
              </p:nvCxnSpPr>
              <p:spPr>
                <a:xfrm rot="5400000" flipV="1">
                  <a:off x="1637920" y="3401549"/>
                  <a:ext cx="756578" cy="5488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/>
                <p:cNvSpPr txBox="1"/>
                <p:nvPr/>
              </p:nvSpPr>
              <p:spPr>
                <a:xfrm>
                  <a:off x="1189101" y="4022784"/>
                  <a:ext cx="357190" cy="759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77" name="TextBox 76"/>
                <p:cNvSpPr txBox="1"/>
                <p:nvPr/>
              </p:nvSpPr>
              <p:spPr>
                <a:xfrm>
                  <a:off x="1532853" y="3139170"/>
                  <a:ext cx="357190" cy="75919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pSp>
            <p:nvGrpSpPr>
              <p:cNvPr id="78" name="Group 77"/>
              <p:cNvGrpSpPr/>
              <p:nvPr/>
            </p:nvGrpSpPr>
            <p:grpSpPr>
              <a:xfrm>
                <a:off x="5255004" y="3156695"/>
                <a:ext cx="3307640" cy="1058123"/>
                <a:chOff x="1232000" y="3701782"/>
                <a:chExt cx="6276923" cy="1525215"/>
              </a:xfrm>
            </p:grpSpPr>
            <p:cxnSp>
              <p:nvCxnSpPr>
                <p:cNvPr id="80" name="Straight Arrow Connector 79"/>
                <p:cNvCxnSpPr/>
                <p:nvPr/>
              </p:nvCxnSpPr>
              <p:spPr>
                <a:xfrm flipV="1">
                  <a:off x="2392873" y="4128842"/>
                  <a:ext cx="742017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Rectangle 80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2" name="Straight Arrow Connector 81"/>
                <p:cNvCxnSpPr/>
                <p:nvPr/>
              </p:nvCxnSpPr>
              <p:spPr>
                <a:xfrm>
                  <a:off x="4657502" y="4135542"/>
                  <a:ext cx="819808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3" name="Straight Arrow Connector 82"/>
                <p:cNvCxnSpPr/>
                <p:nvPr/>
              </p:nvCxnSpPr>
              <p:spPr>
                <a:xfrm rot="16200000">
                  <a:off x="1637632" y="4815606"/>
                  <a:ext cx="817293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2043532" y="5224802"/>
                  <a:ext cx="5465391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/>
                <p:cNvSpPr txBox="1"/>
                <p:nvPr/>
              </p:nvSpPr>
              <p:spPr>
                <a:xfrm>
                  <a:off x="1232000" y="4036528"/>
                  <a:ext cx="357189" cy="665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1620391" y="4186186"/>
                  <a:ext cx="357189" cy="665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87" name="Object 6"/>
              <p:cNvGraphicFramePr>
                <a:graphicFrameLocks noChangeAspect="1"/>
              </p:cNvGraphicFramePr>
              <p:nvPr/>
            </p:nvGraphicFramePr>
            <p:xfrm>
              <a:off x="7720022" y="3180397"/>
              <a:ext cx="423312" cy="60159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253800" imgH="431640" progId="Equation.3">
                      <p:embed/>
                    </p:oleObj>
                  </mc:Choice>
                  <mc:Fallback>
                    <p:oleObj name="Equation" r:id="rId4" imgW="253800" imgH="431640" progId="Equation.3">
                      <p:embed/>
                      <p:pic>
                        <p:nvPicPr>
                          <p:cNvPr id="0" name="Picture 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7720022" y="3180397"/>
                            <a:ext cx="423312" cy="601591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8" name="Object 7"/>
              <p:cNvGraphicFramePr>
                <a:graphicFrameLocks noChangeAspect="1"/>
              </p:cNvGraphicFramePr>
              <p:nvPr/>
            </p:nvGraphicFramePr>
            <p:xfrm>
              <a:off x="6443108" y="3131343"/>
              <a:ext cx="488283" cy="636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330120" imgH="431640" progId="Equation.3">
                      <p:embed/>
                    </p:oleObj>
                  </mc:Choice>
                  <mc:Fallback>
                    <p:oleObj name="Equation" r:id="rId6" imgW="330120" imgH="431640" progId="Equation.3">
                      <p:embed/>
                      <p:pic>
                        <p:nvPicPr>
                          <p:cNvPr id="0" name="Picture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443108" y="3131343"/>
                            <a:ext cx="488283" cy="6361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1" name="Straight Arrow Connector 90"/>
              <p:cNvCxnSpPr/>
              <p:nvPr/>
            </p:nvCxnSpPr>
            <p:spPr>
              <a:xfrm>
                <a:off x="8331867" y="3469342"/>
                <a:ext cx="504000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3434948" y="2790261"/>
                <a:ext cx="1920740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5" name="Rectangle 94"/>
              <p:cNvSpPr/>
              <p:nvPr/>
            </p:nvSpPr>
            <p:spPr>
              <a:xfrm>
                <a:off x="7496197" y="3139045"/>
                <a:ext cx="828092" cy="674039"/>
              </a:xfrm>
              <a:prstGeom prst="rect">
                <a:avLst/>
              </a:prstGeom>
              <a:noFill/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6" name="Straight Connector 95"/>
              <p:cNvCxnSpPr/>
              <p:nvPr/>
            </p:nvCxnSpPr>
            <p:spPr>
              <a:xfrm rot="5400000" flipH="1" flipV="1">
                <a:off x="8196967" y="3843224"/>
                <a:ext cx="7416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154" name="Object 10"/>
              <p:cNvGraphicFramePr>
                <a:graphicFrameLocks noChangeAspect="1"/>
              </p:cNvGraphicFramePr>
              <p:nvPr/>
            </p:nvGraphicFramePr>
            <p:xfrm>
              <a:off x="4214810" y="3214686"/>
              <a:ext cx="277812" cy="496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8" imgW="241200" imgH="431640" progId="Equation.3">
                      <p:embed/>
                    </p:oleObj>
                  </mc:Choice>
                  <mc:Fallback>
                    <p:oleObj name="Equation" r:id="rId8" imgW="241200" imgH="431640" progId="Equation.3">
                      <p:embed/>
                      <p:pic>
                        <p:nvPicPr>
                          <p:cNvPr id="0" name="Picture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4810" y="3214686"/>
                            <a:ext cx="277812" cy="4968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2" name="Rectangle 101"/>
          <p:cNvSpPr/>
          <p:nvPr/>
        </p:nvSpPr>
        <p:spPr>
          <a:xfrm>
            <a:off x="7201274" y="2621501"/>
            <a:ext cx="1047484" cy="49575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7457822" y="2717198"/>
            <a:ext cx="7618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IN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baseline="-250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4" name="Straight Connector 103"/>
          <p:cNvCxnSpPr/>
          <p:nvPr/>
        </p:nvCxnSpPr>
        <p:spPr>
          <a:xfrm>
            <a:off x="8252992" y="2887681"/>
            <a:ext cx="321516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Object 104"/>
          <p:cNvGraphicFramePr>
            <a:graphicFrameLocks noChangeAspect="1"/>
          </p:cNvGraphicFramePr>
          <p:nvPr/>
        </p:nvGraphicFramePr>
        <p:xfrm>
          <a:off x="522248" y="3075454"/>
          <a:ext cx="602758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42720" imgH="203040" progId="Equation.3">
                  <p:embed/>
                </p:oleObj>
              </mc:Choice>
              <mc:Fallback>
                <p:oleObj name="Equation" r:id="rId10" imgW="342720" imgH="203040" progId="Equation.3">
                  <p:embed/>
                  <p:pic>
                    <p:nvPicPr>
                      <p:cNvPr id="0" name="Picture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248" y="3075454"/>
                        <a:ext cx="602758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11514735" y="3137927"/>
          <a:ext cx="571504" cy="32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6080" imgH="228600" progId="Equation.3">
                  <p:embed/>
                </p:oleObj>
              </mc:Choice>
              <mc:Fallback>
                <p:oleObj name="Equation" r:id="rId12" imgW="406080" imgH="228600" progId="Equation.3">
                  <p:embed/>
                  <p:pic>
                    <p:nvPicPr>
                      <p:cNvPr id="0" name="Picture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4735" y="3137927"/>
                        <a:ext cx="571504" cy="32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Flowchart: Summing Junction 106"/>
          <p:cNvSpPr/>
          <p:nvPr/>
        </p:nvSpPr>
        <p:spPr>
          <a:xfrm>
            <a:off x="4406512" y="3280803"/>
            <a:ext cx="455523" cy="419663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Summing Junction 107"/>
          <p:cNvSpPr/>
          <p:nvPr/>
        </p:nvSpPr>
        <p:spPr>
          <a:xfrm>
            <a:off x="1192085" y="3298451"/>
            <a:ext cx="455523" cy="419663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665124" y="1485888"/>
            <a:ext cx="110014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Use Block Reduction Method , redraw the fig as</a:t>
            </a:r>
          </a:p>
        </p:txBody>
      </p:sp>
      <p:sp>
        <p:nvSpPr>
          <p:cNvPr id="110" name="Flowchart: Summing Junction 109"/>
          <p:cNvSpPr/>
          <p:nvPr/>
        </p:nvSpPr>
        <p:spPr>
          <a:xfrm>
            <a:off x="7407191" y="3271838"/>
            <a:ext cx="455523" cy="419663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10" y="533381"/>
            <a:ext cx="11712781" cy="5467388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1800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18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00"/>
          <p:cNvGrpSpPr/>
          <p:nvPr/>
        </p:nvGrpSpPr>
        <p:grpSpPr>
          <a:xfrm>
            <a:off x="550734" y="2870947"/>
            <a:ext cx="11370143" cy="1329586"/>
            <a:chOff x="372816" y="3076014"/>
            <a:chExt cx="8529828" cy="1424556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 flipH="1" flipV="1">
              <a:off x="4540859" y="4107286"/>
              <a:ext cx="71438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98"/>
            <p:cNvGrpSpPr/>
            <p:nvPr/>
          </p:nvGrpSpPr>
          <p:grpSpPr>
            <a:xfrm>
              <a:off x="372816" y="3076014"/>
              <a:ext cx="8529828" cy="1424556"/>
              <a:chOff x="372816" y="2790262"/>
              <a:chExt cx="8529828" cy="1424556"/>
            </a:xfrm>
          </p:grpSpPr>
          <p:grpSp>
            <p:nvGrpSpPr>
              <p:cNvPr id="8" name="Group 55"/>
              <p:cNvGrpSpPr/>
              <p:nvPr/>
            </p:nvGrpSpPr>
            <p:grpSpPr>
              <a:xfrm>
                <a:off x="372816" y="3185766"/>
                <a:ext cx="4511338" cy="997567"/>
                <a:chOff x="798716" y="3701782"/>
                <a:chExt cx="8635922" cy="1543991"/>
              </a:xfrm>
            </p:grpSpPr>
            <p:cxnSp>
              <p:nvCxnSpPr>
                <p:cNvPr id="58" name="Straight Arrow Connector 57"/>
                <p:cNvCxnSpPr/>
                <p:nvPr/>
              </p:nvCxnSpPr>
              <p:spPr>
                <a:xfrm>
                  <a:off x="4781298" y="4137889"/>
                  <a:ext cx="75658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Rectangle 58"/>
                <p:cNvSpPr/>
                <p:nvPr/>
              </p:nvSpPr>
              <p:spPr>
                <a:xfrm>
                  <a:off x="5537882" y="3701782"/>
                  <a:ext cx="1500198" cy="857257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1" name="Straight Arrow Connector 60"/>
                <p:cNvCxnSpPr/>
                <p:nvPr/>
              </p:nvCxnSpPr>
              <p:spPr>
                <a:xfrm>
                  <a:off x="798716" y="4129306"/>
                  <a:ext cx="91920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444673" y="5244184"/>
                  <a:ext cx="4989965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/>
              </p:nvSpPr>
              <p:spPr>
                <a:xfrm>
                  <a:off x="1270767" y="4035505"/>
                  <a:ext cx="357189" cy="7145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4463939" y="4286837"/>
                  <a:ext cx="357190" cy="7145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66" name="Object 65"/>
              <p:cNvGraphicFramePr>
                <a:graphicFrameLocks noChangeAspect="1"/>
              </p:cNvGraphicFramePr>
              <p:nvPr/>
            </p:nvGraphicFramePr>
            <p:xfrm>
              <a:off x="3031069" y="3181669"/>
              <a:ext cx="434692" cy="5459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304560" imgH="431640" progId="Equation.3">
                      <p:embed/>
                    </p:oleObj>
                  </mc:Choice>
                  <mc:Fallback>
                    <p:oleObj name="Equation" r:id="rId2" imgW="304560" imgH="43164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031069" y="3181669"/>
                            <a:ext cx="434692" cy="5459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" name="Group 69"/>
              <p:cNvGrpSpPr/>
              <p:nvPr/>
            </p:nvGrpSpPr>
            <p:grpSpPr>
              <a:xfrm>
                <a:off x="3623441" y="3202703"/>
                <a:ext cx="1891793" cy="521293"/>
                <a:chOff x="2386656" y="3701782"/>
                <a:chExt cx="3782358" cy="857256"/>
              </a:xfrm>
            </p:grpSpPr>
            <p:cxnSp>
              <p:nvCxnSpPr>
                <p:cNvPr id="72" name="Straight Arrow Connector 71"/>
                <p:cNvCxnSpPr/>
                <p:nvPr/>
              </p:nvCxnSpPr>
              <p:spPr>
                <a:xfrm>
                  <a:off x="2386656" y="4137890"/>
                  <a:ext cx="756584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3" name="Rectangle 72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74" name="Straight Arrow Connector 73"/>
                <p:cNvCxnSpPr/>
                <p:nvPr/>
              </p:nvCxnSpPr>
              <p:spPr>
                <a:xfrm>
                  <a:off x="4657507" y="4135530"/>
                  <a:ext cx="1511507" cy="5489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" name="Group 77"/>
              <p:cNvGrpSpPr/>
              <p:nvPr/>
            </p:nvGrpSpPr>
            <p:grpSpPr>
              <a:xfrm>
                <a:off x="5255004" y="3156695"/>
                <a:ext cx="3307640" cy="1058123"/>
                <a:chOff x="1232000" y="3701782"/>
                <a:chExt cx="6276923" cy="1525215"/>
              </a:xfrm>
            </p:grpSpPr>
            <p:cxnSp>
              <p:nvCxnSpPr>
                <p:cNvPr id="80" name="Straight Arrow Connector 79"/>
                <p:cNvCxnSpPr/>
                <p:nvPr/>
              </p:nvCxnSpPr>
              <p:spPr>
                <a:xfrm flipV="1">
                  <a:off x="2431165" y="4128844"/>
                  <a:ext cx="702964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Rectangle 80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Arrow Connector 82"/>
                <p:cNvCxnSpPr/>
                <p:nvPr/>
              </p:nvCxnSpPr>
              <p:spPr>
                <a:xfrm rot="16200000">
                  <a:off x="1637632" y="4815606"/>
                  <a:ext cx="817293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2043532" y="5224802"/>
                  <a:ext cx="5465391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/>
                <p:cNvSpPr txBox="1"/>
                <p:nvPr/>
              </p:nvSpPr>
              <p:spPr>
                <a:xfrm>
                  <a:off x="1232000" y="4036528"/>
                  <a:ext cx="357189" cy="665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1620391" y="4186186"/>
                  <a:ext cx="357189" cy="665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88" name="Object 7"/>
              <p:cNvGraphicFramePr>
                <a:graphicFrameLocks noChangeAspect="1"/>
              </p:cNvGraphicFramePr>
              <p:nvPr/>
            </p:nvGraphicFramePr>
            <p:xfrm>
              <a:off x="6293051" y="3131342"/>
              <a:ext cx="788399" cy="636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533160" imgH="431640" progId="Equation.3">
                      <p:embed/>
                    </p:oleObj>
                  </mc:Choice>
                  <mc:Fallback>
                    <p:oleObj name="Equation" r:id="rId4" imgW="533160" imgH="43164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93051" y="3131342"/>
                            <a:ext cx="788399" cy="6361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1" name="Straight Arrow Connector 90"/>
              <p:cNvCxnSpPr/>
              <p:nvPr/>
            </p:nvCxnSpPr>
            <p:spPr>
              <a:xfrm>
                <a:off x="7050502" y="3469342"/>
                <a:ext cx="1852142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1034274" y="2790262"/>
                <a:ext cx="432166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 flipH="1" flipV="1">
                <a:off x="8196967" y="3843224"/>
                <a:ext cx="7416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aphicFrame>
            <p:nvGraphicFramePr>
              <p:cNvPr id="6154" name="Object 10"/>
              <p:cNvGraphicFramePr>
                <a:graphicFrameLocks noChangeAspect="1"/>
              </p:cNvGraphicFramePr>
              <p:nvPr/>
            </p:nvGraphicFramePr>
            <p:xfrm>
              <a:off x="4214810" y="3214686"/>
              <a:ext cx="277812" cy="49688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6" imgW="241200" imgH="431640" progId="Equation.3">
                      <p:embed/>
                    </p:oleObj>
                  </mc:Choice>
                  <mc:Fallback>
                    <p:oleObj name="Equation" r:id="rId6" imgW="241200" imgH="431640" progId="Equation.3">
                      <p:embed/>
                      <p:pic>
                        <p:nvPicPr>
                          <p:cNvPr id="0" name="Object 1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14810" y="3214686"/>
                            <a:ext cx="277812" cy="496887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02" name="Rectangle 101"/>
          <p:cNvSpPr/>
          <p:nvPr/>
        </p:nvSpPr>
        <p:spPr>
          <a:xfrm>
            <a:off x="7201274" y="2621501"/>
            <a:ext cx="1047484" cy="49575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/>
          <p:cNvCxnSpPr/>
          <p:nvPr/>
        </p:nvCxnSpPr>
        <p:spPr>
          <a:xfrm>
            <a:off x="8252992" y="2887681"/>
            <a:ext cx="321516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Object 104"/>
          <p:cNvGraphicFramePr>
            <a:graphicFrameLocks noChangeAspect="1"/>
          </p:cNvGraphicFramePr>
          <p:nvPr/>
        </p:nvGraphicFramePr>
        <p:xfrm>
          <a:off x="593686" y="3057524"/>
          <a:ext cx="602758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42720" imgH="203040" progId="Equation.3">
                  <p:embed/>
                </p:oleObj>
              </mc:Choice>
              <mc:Fallback>
                <p:oleObj name="Equation" r:id="rId8" imgW="34272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86" y="3057524"/>
                        <a:ext cx="602758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11488122" y="3128962"/>
          <a:ext cx="571504" cy="32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06080" imgH="228600" progId="Equation.3">
                  <p:embed/>
                </p:oleObj>
              </mc:Choice>
              <mc:Fallback>
                <p:oleObj name="Equation" r:id="rId10" imgW="40608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8122" y="3128962"/>
                        <a:ext cx="571504" cy="32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Flowchart: Summing Junction 106"/>
          <p:cNvSpPr/>
          <p:nvPr/>
        </p:nvSpPr>
        <p:spPr>
          <a:xfrm>
            <a:off x="2870737" y="3289768"/>
            <a:ext cx="455523" cy="419663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Summing Junction 107"/>
          <p:cNvSpPr/>
          <p:nvPr/>
        </p:nvSpPr>
        <p:spPr>
          <a:xfrm>
            <a:off x="1192085" y="3298451"/>
            <a:ext cx="455523" cy="419663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665124" y="1485888"/>
            <a:ext cx="110014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Use Block Reduction Method , redraw the fig as</a:t>
            </a:r>
          </a:p>
        </p:txBody>
      </p:sp>
      <p:cxnSp>
        <p:nvCxnSpPr>
          <p:cNvPr id="53" name="Straight Arrow Connector 52"/>
          <p:cNvCxnSpPr>
            <a:stCxn id="108" idx="6"/>
            <a:endCxn id="107" idx="2"/>
          </p:cNvCxnSpPr>
          <p:nvPr/>
        </p:nvCxnSpPr>
        <p:spPr>
          <a:xfrm flipV="1">
            <a:off x="1647608" y="3499600"/>
            <a:ext cx="1223129" cy="8683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rot="16200000">
            <a:off x="2867344" y="3936383"/>
            <a:ext cx="457200" cy="3856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>
            <a:off x="1227093" y="3076306"/>
            <a:ext cx="429768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602633" y="3468222"/>
            <a:ext cx="2487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33012" y="2861140"/>
            <a:ext cx="2487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-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8" name="Object 67"/>
          <p:cNvGraphicFramePr>
            <a:graphicFrameLocks noChangeAspect="1"/>
          </p:cNvGraphicFramePr>
          <p:nvPr/>
        </p:nvGraphicFramePr>
        <p:xfrm>
          <a:off x="7318375" y="2700338"/>
          <a:ext cx="8191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000" imgH="215640" progId="Equation.3">
                  <p:embed/>
                </p:oleObj>
              </mc:Choice>
              <mc:Fallback>
                <p:oleObj name="Equation" r:id="rId12" imgW="495000" imgH="215640" progId="Equation.3">
                  <p:embed/>
                  <p:pic>
                    <p:nvPicPr>
                      <p:cNvPr id="0" name="Picture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75" y="2700338"/>
                        <a:ext cx="81915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Flowchart: Summing Junction 68"/>
          <p:cNvSpPr/>
          <p:nvPr/>
        </p:nvSpPr>
        <p:spPr>
          <a:xfrm>
            <a:off x="7398226" y="3262873"/>
            <a:ext cx="491101" cy="428628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90410" y="80621"/>
            <a:ext cx="11808007" cy="386085"/>
          </a:xfrm>
        </p:spPr>
        <p:txBody>
          <a:bodyPr>
            <a:no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190410" y="533381"/>
            <a:ext cx="11712781" cy="5467388"/>
          </a:xfrm>
        </p:spPr>
        <p:txBody>
          <a:bodyPr>
            <a:normAutofit/>
          </a:bodyPr>
          <a:lstStyle/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22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endParaRPr lang="en-IN" sz="1800" i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IN" sz="18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      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" name="Group 100"/>
          <p:cNvGrpSpPr/>
          <p:nvPr/>
        </p:nvGrpSpPr>
        <p:grpSpPr>
          <a:xfrm>
            <a:off x="550734" y="2870947"/>
            <a:ext cx="11370143" cy="1329586"/>
            <a:chOff x="372816" y="3076014"/>
            <a:chExt cx="8529828" cy="1424556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8247734" y="3416852"/>
              <a:ext cx="64800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5400000" flipH="1" flipV="1">
              <a:off x="4540859" y="4107286"/>
              <a:ext cx="714380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98"/>
            <p:cNvGrpSpPr/>
            <p:nvPr/>
          </p:nvGrpSpPr>
          <p:grpSpPr>
            <a:xfrm>
              <a:off x="372816" y="3076014"/>
              <a:ext cx="8529828" cy="1424556"/>
              <a:chOff x="372816" y="2790262"/>
              <a:chExt cx="8529828" cy="1424556"/>
            </a:xfrm>
          </p:grpSpPr>
          <p:grpSp>
            <p:nvGrpSpPr>
              <p:cNvPr id="8" name="Group 55"/>
              <p:cNvGrpSpPr/>
              <p:nvPr/>
            </p:nvGrpSpPr>
            <p:grpSpPr>
              <a:xfrm>
                <a:off x="372816" y="3185766"/>
                <a:ext cx="4511338" cy="997567"/>
                <a:chOff x="798716" y="3701782"/>
                <a:chExt cx="8635922" cy="1543991"/>
              </a:xfrm>
            </p:grpSpPr>
            <p:cxnSp>
              <p:nvCxnSpPr>
                <p:cNvPr id="58" name="Straight Arrow Connector 57"/>
                <p:cNvCxnSpPr/>
                <p:nvPr/>
              </p:nvCxnSpPr>
              <p:spPr>
                <a:xfrm>
                  <a:off x="4781298" y="4137889"/>
                  <a:ext cx="75658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9" name="Rectangle 58"/>
                <p:cNvSpPr/>
                <p:nvPr/>
              </p:nvSpPr>
              <p:spPr>
                <a:xfrm>
                  <a:off x="5537882" y="3701782"/>
                  <a:ext cx="3632344" cy="881922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1" name="Straight Arrow Connector 60"/>
                <p:cNvCxnSpPr/>
                <p:nvPr/>
              </p:nvCxnSpPr>
              <p:spPr>
                <a:xfrm>
                  <a:off x="798716" y="4129306"/>
                  <a:ext cx="919204" cy="5491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/>
                <p:nvPr/>
              </p:nvCxnSpPr>
              <p:spPr>
                <a:xfrm>
                  <a:off x="4444673" y="5244184"/>
                  <a:ext cx="4989965" cy="1589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" name="TextBox 63"/>
                <p:cNvSpPr txBox="1"/>
                <p:nvPr/>
              </p:nvSpPr>
              <p:spPr>
                <a:xfrm>
                  <a:off x="1270767" y="4035505"/>
                  <a:ext cx="357189" cy="7145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4463939" y="4286837"/>
                  <a:ext cx="357190" cy="71454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66" name="Object 65"/>
              <p:cNvGraphicFramePr>
                <a:graphicFrameLocks noChangeAspect="1"/>
              </p:cNvGraphicFramePr>
              <p:nvPr/>
            </p:nvGraphicFramePr>
            <p:xfrm>
              <a:off x="3496941" y="3182368"/>
              <a:ext cx="706224" cy="54598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495000" imgH="431640" progId="Equation.3">
                      <p:embed/>
                    </p:oleObj>
                  </mc:Choice>
                  <mc:Fallback>
                    <p:oleObj name="Equation" r:id="rId2" imgW="495000" imgH="431640" progId="Equation.3">
                      <p:embed/>
                      <p:pic>
                        <p:nvPicPr>
                          <p:cNvPr id="0" name="Object 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96941" y="3182368"/>
                            <a:ext cx="706224" cy="54598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74" name="Straight Arrow Connector 73"/>
              <p:cNvCxnSpPr/>
              <p:nvPr/>
            </p:nvCxnSpPr>
            <p:spPr>
              <a:xfrm>
                <a:off x="4759235" y="3466463"/>
                <a:ext cx="755999" cy="3337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" name="Group 77"/>
              <p:cNvGrpSpPr/>
              <p:nvPr/>
            </p:nvGrpSpPr>
            <p:grpSpPr>
              <a:xfrm>
                <a:off x="5255004" y="3156695"/>
                <a:ext cx="3307640" cy="1058123"/>
                <a:chOff x="1232000" y="3701782"/>
                <a:chExt cx="6276923" cy="1525215"/>
              </a:xfrm>
            </p:grpSpPr>
            <p:cxnSp>
              <p:nvCxnSpPr>
                <p:cNvPr id="80" name="Straight Arrow Connector 79"/>
                <p:cNvCxnSpPr/>
                <p:nvPr/>
              </p:nvCxnSpPr>
              <p:spPr>
                <a:xfrm flipV="1">
                  <a:off x="2431165" y="4128844"/>
                  <a:ext cx="702964" cy="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1" name="Rectangle 80"/>
                <p:cNvSpPr/>
                <p:nvPr/>
              </p:nvSpPr>
              <p:spPr>
                <a:xfrm>
                  <a:off x="3143240" y="3701782"/>
                  <a:ext cx="1500198" cy="857256"/>
                </a:xfrm>
                <a:prstGeom prst="rect">
                  <a:avLst/>
                </a:prstGeom>
                <a:noFill/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83" name="Straight Arrow Connector 82"/>
                <p:cNvCxnSpPr/>
                <p:nvPr/>
              </p:nvCxnSpPr>
              <p:spPr>
                <a:xfrm rot="16200000">
                  <a:off x="1637632" y="4815606"/>
                  <a:ext cx="817293" cy="5490"/>
                </a:xfrm>
                <a:prstGeom prst="straightConnector1">
                  <a:avLst/>
                </a:prstGeom>
                <a:ln w="15875">
                  <a:solidFill>
                    <a:schemeClr val="tx1"/>
                  </a:solidFill>
                  <a:tailEnd type="arrow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Straight Connector 83"/>
                <p:cNvCxnSpPr/>
                <p:nvPr/>
              </p:nvCxnSpPr>
              <p:spPr>
                <a:xfrm>
                  <a:off x="2043532" y="5224802"/>
                  <a:ext cx="5465391" cy="1588"/>
                </a:xfrm>
                <a:prstGeom prst="line">
                  <a:avLst/>
                </a:prstGeom>
                <a:ln w="158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5" name="TextBox 84"/>
                <p:cNvSpPr txBox="1"/>
                <p:nvPr/>
              </p:nvSpPr>
              <p:spPr>
                <a:xfrm>
                  <a:off x="1232000" y="4036528"/>
                  <a:ext cx="357189" cy="665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b="1" dirty="0">
                      <a:latin typeface="Times New Roman" pitchFamily="18" charset="0"/>
                      <a:cs typeface="Times New Roman" pitchFamily="18" charset="0"/>
                    </a:rPr>
                    <a:t>+</a:t>
                  </a:r>
                  <a:endParaRPr lang="en-US" sz="2200" b="1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  <p:sp>
              <p:nvSpPr>
                <p:cNvPr id="86" name="TextBox 85"/>
                <p:cNvSpPr txBox="1"/>
                <p:nvPr/>
              </p:nvSpPr>
              <p:spPr>
                <a:xfrm>
                  <a:off x="1620391" y="4186186"/>
                  <a:ext cx="357189" cy="6654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2200" dirty="0">
                      <a:latin typeface="Times New Roman" pitchFamily="18" charset="0"/>
                      <a:cs typeface="Times New Roman" pitchFamily="18" charset="0"/>
                    </a:rPr>
                    <a:t>-</a:t>
                  </a:r>
                  <a:endParaRPr lang="en-US" sz="22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p:grpSp>
          <p:graphicFrame>
            <p:nvGraphicFramePr>
              <p:cNvPr id="88" name="Object 7"/>
              <p:cNvGraphicFramePr>
                <a:graphicFrameLocks noChangeAspect="1"/>
              </p:cNvGraphicFramePr>
              <p:nvPr/>
            </p:nvGraphicFramePr>
            <p:xfrm>
              <a:off x="6293051" y="3131342"/>
              <a:ext cx="788399" cy="636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533160" imgH="431640" progId="Equation.3">
                      <p:embed/>
                    </p:oleObj>
                  </mc:Choice>
                  <mc:Fallback>
                    <p:oleObj name="Equation" r:id="rId4" imgW="533160" imgH="431640" progId="Equation.3">
                      <p:embed/>
                      <p:pic>
                        <p:nvPicPr>
                          <p:cNvPr id="0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6293051" y="3131342"/>
                            <a:ext cx="788399" cy="6361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91" name="Straight Arrow Connector 90"/>
              <p:cNvCxnSpPr/>
              <p:nvPr/>
            </p:nvCxnSpPr>
            <p:spPr>
              <a:xfrm>
                <a:off x="7050502" y="3469342"/>
                <a:ext cx="1852142" cy="3809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/>
              <p:cNvCxnSpPr/>
              <p:nvPr/>
            </p:nvCxnSpPr>
            <p:spPr>
              <a:xfrm>
                <a:off x="1034274" y="2790262"/>
                <a:ext cx="4321665" cy="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/>
              <p:cNvCxnSpPr/>
              <p:nvPr/>
            </p:nvCxnSpPr>
            <p:spPr>
              <a:xfrm rot="5400000" flipH="1" flipV="1">
                <a:off x="8196967" y="3843224"/>
                <a:ext cx="741600" cy="1588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2" name="Rectangle 101"/>
          <p:cNvSpPr/>
          <p:nvPr/>
        </p:nvSpPr>
        <p:spPr>
          <a:xfrm>
            <a:off x="7201274" y="2621501"/>
            <a:ext cx="1047484" cy="495752"/>
          </a:xfrm>
          <a:prstGeom prst="rect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4" name="Straight Connector 103"/>
          <p:cNvCxnSpPr/>
          <p:nvPr/>
        </p:nvCxnSpPr>
        <p:spPr>
          <a:xfrm>
            <a:off x="8252992" y="2887681"/>
            <a:ext cx="3215163" cy="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5" name="Object 104"/>
          <p:cNvGraphicFramePr>
            <a:graphicFrameLocks noChangeAspect="1"/>
          </p:cNvGraphicFramePr>
          <p:nvPr/>
        </p:nvGraphicFramePr>
        <p:xfrm>
          <a:off x="593686" y="3057524"/>
          <a:ext cx="602758" cy="357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42720" imgH="203040" progId="Equation.3">
                  <p:embed/>
                </p:oleObj>
              </mc:Choice>
              <mc:Fallback>
                <p:oleObj name="Equation" r:id="rId6" imgW="342720" imgH="2030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686" y="3057524"/>
                        <a:ext cx="602758" cy="3571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6" name="Object 12"/>
          <p:cNvGraphicFramePr>
            <a:graphicFrameLocks noChangeAspect="1"/>
          </p:cNvGraphicFramePr>
          <p:nvPr/>
        </p:nvGraphicFramePr>
        <p:xfrm>
          <a:off x="11488122" y="3128962"/>
          <a:ext cx="571504" cy="32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06080" imgH="228600" progId="Equation.3">
                  <p:embed/>
                </p:oleObj>
              </mc:Choice>
              <mc:Fallback>
                <p:oleObj name="Equation" r:id="rId8" imgW="406080" imgH="228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88122" y="3128962"/>
                        <a:ext cx="571504" cy="32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Flowchart: Summing Junction 106"/>
          <p:cNvSpPr/>
          <p:nvPr/>
        </p:nvSpPr>
        <p:spPr>
          <a:xfrm>
            <a:off x="2870737" y="3289768"/>
            <a:ext cx="455523" cy="419663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Flowchart: Summing Junction 107"/>
          <p:cNvSpPr/>
          <p:nvPr/>
        </p:nvSpPr>
        <p:spPr>
          <a:xfrm>
            <a:off x="1192085" y="3298451"/>
            <a:ext cx="455523" cy="419663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TextBox 108"/>
          <p:cNvSpPr txBox="1"/>
          <p:nvPr/>
        </p:nvSpPr>
        <p:spPr>
          <a:xfrm>
            <a:off x="665124" y="1485888"/>
            <a:ext cx="110014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latin typeface="Times New Roman" pitchFamily="18" charset="0"/>
                <a:cs typeface="Times New Roman" pitchFamily="18" charset="0"/>
              </a:rPr>
              <a:t>Use Block Reduction Method , redraw the fig as</a:t>
            </a:r>
          </a:p>
        </p:txBody>
      </p:sp>
      <p:cxnSp>
        <p:nvCxnSpPr>
          <p:cNvPr id="53" name="Straight Arrow Connector 52"/>
          <p:cNvCxnSpPr>
            <a:stCxn id="108" idx="6"/>
            <a:endCxn id="107" idx="2"/>
          </p:cNvCxnSpPr>
          <p:nvPr/>
        </p:nvCxnSpPr>
        <p:spPr>
          <a:xfrm flipV="1">
            <a:off x="1647608" y="3499600"/>
            <a:ext cx="1223129" cy="8683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rot="16200000">
            <a:off x="2867344" y="3936383"/>
            <a:ext cx="457200" cy="3856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 rot="5400000">
            <a:off x="1227093" y="3076306"/>
            <a:ext cx="429768" cy="0"/>
          </a:xfrm>
          <a:prstGeom prst="straightConnector1">
            <a:avLst/>
          </a:prstGeom>
          <a:ln w="158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2602633" y="3468222"/>
            <a:ext cx="2487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latin typeface="Times New Roman" pitchFamily="18" charset="0"/>
                <a:cs typeface="Times New Roman" pitchFamily="18" charset="0"/>
              </a:rPr>
              <a:t>+</a:t>
            </a:r>
            <a:endParaRPr lang="en-US" sz="2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1433012" y="2861140"/>
            <a:ext cx="24872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itchFamily="18" charset="0"/>
                <a:cs typeface="Times New Roman" pitchFamily="18" charset="0"/>
              </a:rPr>
              <a:t>-</a:t>
            </a:r>
            <a:endParaRPr lang="en-US" sz="2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8" name="Object 67"/>
          <p:cNvGraphicFramePr>
            <a:graphicFrameLocks noChangeAspect="1"/>
          </p:cNvGraphicFramePr>
          <p:nvPr/>
        </p:nvGraphicFramePr>
        <p:xfrm>
          <a:off x="7318375" y="2700338"/>
          <a:ext cx="819150" cy="357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95000" imgH="215640" progId="Equation.3">
                  <p:embed/>
                </p:oleObj>
              </mc:Choice>
              <mc:Fallback>
                <p:oleObj name="Equation" r:id="rId10" imgW="495000" imgH="21564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8375" y="2700338"/>
                        <a:ext cx="819150" cy="3571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Flowchart: Summing Junction 68"/>
          <p:cNvSpPr/>
          <p:nvPr/>
        </p:nvSpPr>
        <p:spPr>
          <a:xfrm>
            <a:off x="7398226" y="3262873"/>
            <a:ext cx="491101" cy="428628"/>
          </a:xfrm>
          <a:prstGeom prst="flowChartSummingJunction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42" y="193574"/>
            <a:ext cx="10985696" cy="658055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26</a:t>
            </a:fld>
            <a:endParaRPr lang="en-US"/>
          </a:p>
        </p:txBody>
      </p:sp>
      <p:graphicFrame>
        <p:nvGraphicFramePr>
          <p:cNvPr id="26" name="Object 25"/>
          <p:cNvGraphicFramePr>
            <a:graphicFrameLocks noChangeAspect="1"/>
          </p:cNvGraphicFramePr>
          <p:nvPr/>
        </p:nvGraphicFramePr>
        <p:xfrm>
          <a:off x="4165587" y="1495616"/>
          <a:ext cx="1182928" cy="731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98400" imgH="431640" progId="Equation.3">
                  <p:embed/>
                </p:oleObj>
              </mc:Choice>
              <mc:Fallback>
                <p:oleObj name="Equation" r:id="rId2" imgW="698400" imgH="4316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65587" y="1495616"/>
                        <a:ext cx="1182928" cy="7312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5" name="Object 3"/>
          <p:cNvGraphicFramePr>
            <a:graphicFrameLocks noChangeAspect="1"/>
          </p:cNvGraphicFramePr>
          <p:nvPr/>
        </p:nvGraphicFramePr>
        <p:xfrm>
          <a:off x="7931150" y="1485900"/>
          <a:ext cx="1225550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431640" progId="Equation.3">
                  <p:embed/>
                </p:oleObj>
              </mc:Choice>
              <mc:Fallback>
                <p:oleObj name="Equation" r:id="rId4" imgW="723600" imgH="431640" progId="Equation.3">
                  <p:embed/>
                  <p:pic>
                    <p:nvPicPr>
                      <p:cNvPr id="0" name="Picture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1150" y="1485900"/>
                        <a:ext cx="1225550" cy="7318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31"/>
          <p:cNvGrpSpPr/>
          <p:nvPr/>
        </p:nvGrpSpPr>
        <p:grpSpPr>
          <a:xfrm>
            <a:off x="736562" y="1315835"/>
            <a:ext cx="10358510" cy="2054336"/>
            <a:chOff x="736562" y="1315835"/>
            <a:chExt cx="10358510" cy="2054336"/>
          </a:xfrm>
        </p:grpSpPr>
        <p:sp>
          <p:nvSpPr>
            <p:cNvPr id="7" name="Rectangle 6"/>
            <p:cNvSpPr/>
            <p:nvPr/>
          </p:nvSpPr>
          <p:spPr>
            <a:xfrm>
              <a:off x="3397980" y="1325082"/>
              <a:ext cx="2571768" cy="107157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255632" y="1315835"/>
              <a:ext cx="2571768" cy="1071570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Arrow Connector 9"/>
            <p:cNvCxnSpPr>
              <a:stCxn id="7" idx="3"/>
              <a:endCxn id="8" idx="1"/>
            </p:cNvCxnSpPr>
            <p:nvPr/>
          </p:nvCxnSpPr>
          <p:spPr>
            <a:xfrm flipV="1">
              <a:off x="5969748" y="1851620"/>
              <a:ext cx="1285884" cy="924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/>
            <p:cNvSpPr/>
            <p:nvPr/>
          </p:nvSpPr>
          <p:spPr>
            <a:xfrm>
              <a:off x="5183930" y="2727229"/>
              <a:ext cx="2428892" cy="64294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lowchart: Summing Junction 11"/>
            <p:cNvSpPr/>
            <p:nvPr/>
          </p:nvSpPr>
          <p:spPr>
            <a:xfrm>
              <a:off x="2183534" y="1557326"/>
              <a:ext cx="714380" cy="642942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>
              <a:off x="736562" y="1861008"/>
              <a:ext cx="144697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2" idx="6"/>
              <a:endCxn id="7" idx="1"/>
            </p:cNvCxnSpPr>
            <p:nvPr/>
          </p:nvCxnSpPr>
          <p:spPr>
            <a:xfrm flipV="1">
              <a:off x="2897914" y="1860867"/>
              <a:ext cx="50006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>
            <a:xfrm flipV="1">
              <a:off x="9809188" y="1843078"/>
              <a:ext cx="1285884" cy="924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>
              <a:stCxn id="11" idx="3"/>
            </p:cNvCxnSpPr>
            <p:nvPr/>
          </p:nvCxnSpPr>
          <p:spPr>
            <a:xfrm>
              <a:off x="7612822" y="3048700"/>
              <a:ext cx="291074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rot="5400000" flipH="1" flipV="1">
              <a:off x="9924636" y="2450975"/>
              <a:ext cx="1197864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>
              <a:stCxn id="11" idx="1"/>
            </p:cNvCxnSpPr>
            <p:nvPr/>
          </p:nvCxnSpPr>
          <p:spPr>
            <a:xfrm rot="10800000" flipV="1">
              <a:off x="2522512" y="3048700"/>
              <a:ext cx="2661418" cy="882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>
            <a:xfrm rot="5400000" flipH="1" flipV="1">
              <a:off x="2103131" y="2628896"/>
              <a:ext cx="85725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8" name="Object 27"/>
            <p:cNvGraphicFramePr>
              <a:graphicFrameLocks noChangeAspect="1"/>
            </p:cNvGraphicFramePr>
            <p:nvPr/>
          </p:nvGraphicFramePr>
          <p:xfrm>
            <a:off x="6022974" y="2869823"/>
            <a:ext cx="819436" cy="357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95000" imgH="215640" progId="Equation.3">
                    <p:embed/>
                  </p:oleObj>
                </mc:Choice>
                <mc:Fallback>
                  <p:oleObj name="Equation" r:id="rId6" imgW="495000" imgH="215640" progId="Equation.3">
                    <p:embed/>
                    <p:pic>
                      <p:nvPicPr>
                        <p:cNvPr id="0" name="Picture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022974" y="2869823"/>
                          <a:ext cx="819436" cy="357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TextBox 28"/>
            <p:cNvSpPr txBox="1"/>
            <p:nvPr/>
          </p:nvSpPr>
          <p:spPr>
            <a:xfrm>
              <a:off x="2522512" y="2057392"/>
              <a:ext cx="357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-</a:t>
              </a:r>
            </a:p>
          </p:txBody>
        </p:sp>
        <p:graphicFrame>
          <p:nvGraphicFramePr>
            <p:cNvPr id="30" name="Object 29"/>
            <p:cNvGraphicFramePr>
              <a:graphicFrameLocks noChangeAspect="1"/>
            </p:cNvGraphicFramePr>
            <p:nvPr/>
          </p:nvGraphicFramePr>
          <p:xfrm>
            <a:off x="1093752" y="1441627"/>
            <a:ext cx="692056" cy="357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93480" imgH="203040" progId="Equation.3">
                    <p:embed/>
                  </p:oleObj>
                </mc:Choice>
                <mc:Fallback>
                  <p:oleObj name="Equation" r:id="rId8" imgW="393480" imgH="203040" progId="Equation.3">
                    <p:embed/>
                    <p:pic>
                      <p:nvPicPr>
                        <p:cNvPr id="0" name="Picture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3752" y="1441627"/>
                          <a:ext cx="692056" cy="357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5238" name="Object 6"/>
          <p:cNvGraphicFramePr>
            <a:graphicFrameLocks noChangeAspect="1"/>
          </p:cNvGraphicFramePr>
          <p:nvPr/>
        </p:nvGraphicFramePr>
        <p:xfrm>
          <a:off x="10385425" y="1436688"/>
          <a:ext cx="8270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69800" imgH="228600" progId="Equation.3">
                  <p:embed/>
                </p:oleObj>
              </mc:Choice>
              <mc:Fallback>
                <p:oleObj name="Equation" r:id="rId10" imgW="469800" imgH="228600" progId="Equation.3">
                  <p:embed/>
                  <p:pic>
                    <p:nvPicPr>
                      <p:cNvPr id="0" name="Picture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5425" y="1436688"/>
                        <a:ext cx="827088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3" name="Group 32"/>
          <p:cNvGrpSpPr/>
          <p:nvPr/>
        </p:nvGrpSpPr>
        <p:grpSpPr>
          <a:xfrm>
            <a:off x="879438" y="3557590"/>
            <a:ext cx="10875813" cy="2045089"/>
            <a:chOff x="736562" y="1325082"/>
            <a:chExt cx="10875813" cy="2045089"/>
          </a:xfrm>
        </p:grpSpPr>
        <p:sp>
          <p:nvSpPr>
            <p:cNvPr id="34" name="Rectangle 33"/>
            <p:cNvSpPr/>
            <p:nvPr/>
          </p:nvSpPr>
          <p:spPr>
            <a:xfrm>
              <a:off x="4308462" y="1325082"/>
              <a:ext cx="4644544" cy="1044957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 flipV="1">
              <a:off x="8960615" y="1851620"/>
              <a:ext cx="2651760" cy="9247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Rectangle 36"/>
            <p:cNvSpPr/>
            <p:nvPr/>
          </p:nvSpPr>
          <p:spPr>
            <a:xfrm>
              <a:off x="5183930" y="2727229"/>
              <a:ext cx="2428892" cy="642942"/>
            </a:xfrm>
            <a:prstGeom prst="rect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lowchart: Summing Junction 37"/>
            <p:cNvSpPr/>
            <p:nvPr/>
          </p:nvSpPr>
          <p:spPr>
            <a:xfrm>
              <a:off x="2183534" y="1557326"/>
              <a:ext cx="714380" cy="642942"/>
            </a:xfrm>
            <a:prstGeom prst="flowChartSummingJunction">
              <a:avLst/>
            </a:prstGeom>
            <a:noFill/>
            <a:ln w="158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9" name="Straight Arrow Connector 38"/>
            <p:cNvCxnSpPr/>
            <p:nvPr/>
          </p:nvCxnSpPr>
          <p:spPr>
            <a:xfrm>
              <a:off x="736562" y="1861008"/>
              <a:ext cx="1446972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38" idx="6"/>
              <a:endCxn id="34" idx="1"/>
            </p:cNvCxnSpPr>
            <p:nvPr/>
          </p:nvCxnSpPr>
          <p:spPr>
            <a:xfrm flipV="1">
              <a:off x="2897914" y="1847561"/>
              <a:ext cx="1410548" cy="31236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>
              <a:stCxn id="37" idx="3"/>
            </p:cNvCxnSpPr>
            <p:nvPr/>
          </p:nvCxnSpPr>
          <p:spPr>
            <a:xfrm>
              <a:off x="7612822" y="3048700"/>
              <a:ext cx="2910746" cy="0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5400000" flipH="1" flipV="1">
              <a:off x="9924636" y="2450975"/>
              <a:ext cx="1197864" cy="1588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37" idx="1"/>
            </p:cNvCxnSpPr>
            <p:nvPr/>
          </p:nvCxnSpPr>
          <p:spPr>
            <a:xfrm rot="10800000" flipV="1">
              <a:off x="2522512" y="3048700"/>
              <a:ext cx="2661418" cy="882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 rot="5400000" flipH="1" flipV="1">
              <a:off x="2103131" y="2628896"/>
              <a:ext cx="857256" cy="0"/>
            </a:xfrm>
            <a:prstGeom prst="straightConnector1">
              <a:avLst/>
            </a:prstGeom>
            <a:ln w="158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46" name="Object 45"/>
            <p:cNvGraphicFramePr>
              <a:graphicFrameLocks noChangeAspect="1"/>
            </p:cNvGraphicFramePr>
            <p:nvPr/>
          </p:nvGraphicFramePr>
          <p:xfrm>
            <a:off x="5915394" y="2833962"/>
            <a:ext cx="928694" cy="4048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495000" imgH="215640" progId="Equation.3">
                    <p:embed/>
                  </p:oleObj>
                </mc:Choice>
                <mc:Fallback>
                  <p:oleObj name="Equation" r:id="rId12" imgW="495000" imgH="215640" progId="Equation.3">
                    <p:embed/>
                    <p:pic>
                      <p:nvPicPr>
                        <p:cNvPr id="0" name="Picture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915394" y="2833962"/>
                          <a:ext cx="928694" cy="4048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7" name="TextBox 46"/>
            <p:cNvSpPr txBox="1"/>
            <p:nvPr/>
          </p:nvSpPr>
          <p:spPr>
            <a:xfrm>
              <a:off x="2522512" y="2057392"/>
              <a:ext cx="3571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-</a:t>
              </a:r>
            </a:p>
          </p:txBody>
        </p:sp>
        <p:graphicFrame>
          <p:nvGraphicFramePr>
            <p:cNvPr id="48" name="Object 47"/>
            <p:cNvGraphicFramePr>
              <a:graphicFrameLocks noChangeAspect="1"/>
            </p:cNvGraphicFramePr>
            <p:nvPr/>
          </p:nvGraphicFramePr>
          <p:xfrm>
            <a:off x="1093752" y="1441627"/>
            <a:ext cx="692056" cy="35719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393480" imgH="203040" progId="Equation.3">
                    <p:embed/>
                  </p:oleObj>
                </mc:Choice>
                <mc:Fallback>
                  <p:oleObj name="Equation" r:id="rId14" imgW="393480" imgH="203040" progId="Equation.3">
                    <p:embed/>
                    <p:pic>
                      <p:nvPicPr>
                        <p:cNvPr id="0" name="Picture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3752" y="1441627"/>
                          <a:ext cx="692056" cy="35719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0" name="Object 49"/>
          <p:cNvGraphicFramePr>
            <a:graphicFrameLocks noChangeAspect="1"/>
          </p:cNvGraphicFramePr>
          <p:nvPr/>
        </p:nvGraphicFramePr>
        <p:xfrm>
          <a:off x="5090079" y="3700466"/>
          <a:ext cx="3166384" cy="7858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739880" imgH="431640" progId="Equation.3">
                  <p:embed/>
                </p:oleObj>
              </mc:Choice>
              <mc:Fallback>
                <p:oleObj name="Equation" r:id="rId16" imgW="1739880" imgH="431640" progId="Equation.3">
                  <p:embed/>
                  <p:pic>
                    <p:nvPicPr>
                      <p:cNvPr id="0" name="Picture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0079" y="3700466"/>
                        <a:ext cx="3166384" cy="78581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42" name="Object 10"/>
          <p:cNvGraphicFramePr>
            <a:graphicFrameLocks noChangeAspect="1"/>
          </p:cNvGraphicFramePr>
          <p:nvPr/>
        </p:nvGraphicFramePr>
        <p:xfrm>
          <a:off x="10809320" y="3629028"/>
          <a:ext cx="827088" cy="401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69800" imgH="228600" progId="Equation.3">
                  <p:embed/>
                </p:oleObj>
              </mc:Choice>
              <mc:Fallback>
                <p:oleObj name="Equation" r:id="rId18" imgW="469800" imgH="228600" progId="Equation.3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09320" y="3629028"/>
                        <a:ext cx="827088" cy="4016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D8D93-D875-49DC-864C-5DB8C53F5363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09442" y="193574"/>
            <a:ext cx="10985696" cy="658055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LIQUID LEVEL SYSTEM</a:t>
            </a:r>
            <a:endParaRPr lang="en-US" sz="2800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2665388" y="1128698"/>
          <a:ext cx="6870700" cy="1766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454200" imgH="888840" progId="Equation.3">
                  <p:embed/>
                </p:oleObj>
              </mc:Choice>
              <mc:Fallback>
                <p:oleObj name="Equation" r:id="rId2" imgW="3454200" imgH="88884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5388" y="1128698"/>
                        <a:ext cx="6870700" cy="1766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23" y="266680"/>
            <a:ext cx="11998416" cy="5734090"/>
          </a:xfrm>
        </p:spPr>
        <p:txBody>
          <a:bodyPr/>
          <a:lstStyle/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dirty="0"/>
          </a:p>
          <a:p>
            <a:pPr algn="ctr">
              <a:buNone/>
            </a:pPr>
            <a:endParaRPr lang="en-IN" sz="3600" dirty="0">
              <a:latin typeface="Times New Roman" pitchFamily="18" charset="0"/>
              <a:cs typeface="Times New Roman" pitchFamily="18" charset="0"/>
            </a:endParaRPr>
          </a:p>
          <a:p>
            <a:pPr algn="ctr">
              <a:buNone/>
            </a:pPr>
            <a:r>
              <a:rPr lang="en-IN" sz="3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  <a:endParaRPr lang="en-US" sz="36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DF078-306B-4010-BD9B-182B69D857C0}" type="datetime1">
              <a:rPr lang="en-US" smtClean="0"/>
              <a:pPr/>
              <a:t>1/23/2025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A7292-26A6-4C7C-A984-82D3DCDC7B1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SYED HASAN SAEED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1910</TotalTime>
  <Words>816</Words>
  <Application>Microsoft Office PowerPoint</Application>
  <PresentationFormat>Custom</PresentationFormat>
  <Paragraphs>309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Times New Roman</vt:lpstr>
      <vt:lpstr>Office Theme</vt:lpstr>
      <vt:lpstr>Equation</vt:lpstr>
      <vt:lpstr>PowerPoint Presentation</vt:lpstr>
      <vt:lpstr>BOOKS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LIQUID LEVEL SYSTEM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SHS</dc:creator>
  <cp:lastModifiedBy>hasansaeedcontrol@gmail.com</cp:lastModifiedBy>
  <cp:revision>248</cp:revision>
  <dcterms:created xsi:type="dcterms:W3CDTF">2020-04-11T12:13:45Z</dcterms:created>
  <dcterms:modified xsi:type="dcterms:W3CDTF">2025-01-23T04:05:58Z</dcterms:modified>
</cp:coreProperties>
</file>