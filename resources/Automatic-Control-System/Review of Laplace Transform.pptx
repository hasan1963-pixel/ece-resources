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82" r:id="rId3"/>
    <p:sldId id="280" r:id="rId4"/>
    <p:sldId id="257" r:id="rId5"/>
    <p:sldId id="326" r:id="rId6"/>
    <p:sldId id="325" r:id="rId7"/>
    <p:sldId id="324" r:id="rId8"/>
    <p:sldId id="323" r:id="rId9"/>
    <p:sldId id="322" r:id="rId10"/>
    <p:sldId id="321" r:id="rId11"/>
    <p:sldId id="320" r:id="rId12"/>
    <p:sldId id="319" r:id="rId13"/>
    <p:sldId id="318" r:id="rId14"/>
    <p:sldId id="317" r:id="rId15"/>
    <p:sldId id="260" r:id="rId16"/>
  </p:sldIdLst>
  <p:sldSz cx="1216183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80" autoAdjust="0"/>
    <p:restoredTop sz="94660" autoAdjust="0"/>
  </p:normalViewPr>
  <p:slideViewPr>
    <p:cSldViewPr snapToGrid="0">
      <p:cViewPr varScale="1">
        <p:scale>
          <a:sx n="103" d="100"/>
          <a:sy n="103" d="100"/>
        </p:scale>
        <p:origin x="738" y="102"/>
      </p:cViewPr>
      <p:guideLst>
        <p:guide orient="horz" pos="2160"/>
        <p:guide pos="38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4B1FF-F32D-4BA9-8444-B2076D6565D6}" type="datetimeFigureOut">
              <a:rPr lang="en-US" smtClean="0"/>
              <a:pPr/>
              <a:t>1/23/2024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685800"/>
            <a:ext cx="6080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1069ED-E8C9-462C-B99A-12A0CE95B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138" y="2130427"/>
            <a:ext cx="10337562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4276" y="3886200"/>
            <a:ext cx="851328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4FAF-5EE7-4E62-8977-C2BDEA0C9800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0702" y="4406902"/>
            <a:ext cx="1033756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0702" y="2906713"/>
            <a:ext cx="1033756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61579-A505-43A3-BF77-7B0637CA8DDC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092" y="1600202"/>
            <a:ext cx="537147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2268" y="1600202"/>
            <a:ext cx="537147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9FA65-A5E3-4488-861A-24253CE9BF3C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535114"/>
            <a:ext cx="537359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8092" y="2174875"/>
            <a:ext cx="537359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8048" y="1535114"/>
            <a:ext cx="537570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8048" y="2174875"/>
            <a:ext cx="537570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A9FEE-2738-4AB4-98CC-08290BDBA2BB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0905A-B11B-4A72-B2CE-087AEDA733D6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04456-9DBB-4D08-899D-BC1DAC50274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95" y="273050"/>
            <a:ext cx="400116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4941" y="273053"/>
            <a:ext cx="679880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095" y="1435103"/>
            <a:ext cx="400116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79D0B-4DA1-425D-A37D-F89B237EAD49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3805" y="4800601"/>
            <a:ext cx="7297103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3805" y="612775"/>
            <a:ext cx="729710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3805" y="5367339"/>
            <a:ext cx="7297103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36CE-64FA-46EE-9395-90ED4C1DF39F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30824-BA15-49A9-9CC6-33B3E3DE0658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7332" y="274640"/>
            <a:ext cx="2736414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92" y="274640"/>
            <a:ext cx="800654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A43B-922F-4162-B2E2-68DFCB817C41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092" y="274639"/>
            <a:ext cx="1094565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092" y="1600202"/>
            <a:ext cx="1094565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092" y="6356352"/>
            <a:ext cx="2837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4F296-D24D-4DC1-9DEB-EAC44D5F442C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55295" y="6356352"/>
            <a:ext cx="38512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15984" y="6356352"/>
            <a:ext cx="28377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E54C7-FAA8-46C1-A880-53547F97989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hasansaeed.yolasite.com/" TargetMode="External"/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image" Target="../media/image2.wmf"/><Relationship Id="rId7" Type="http://schemas.openxmlformats.org/officeDocument/2006/relationships/oleObject" Target="../embeddings/oleObject7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1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hasansaeedcontrol@gmail.com" TargetMode="External"/><Relationship Id="rId2" Type="http://schemas.openxmlformats.org/officeDocument/2006/relationships/hyperlink" Target="mailto:shasansaeed@yolasite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002" y="433906"/>
            <a:ext cx="11496818" cy="1577767"/>
          </a:xfrm>
        </p:spPr>
        <p:txBody>
          <a:bodyPr>
            <a:normAutofit fontScale="90000"/>
          </a:bodyPr>
          <a:lstStyle/>
          <a:p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IN" sz="4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CIRCUIT THEORY</a:t>
            </a: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br>
              <a:rPr lang="en-IN" sz="3200" dirty="0">
                <a:latin typeface="Times New Roman" pitchFamily="18" charset="0"/>
                <a:cs typeface="Times New Roman" pitchFamily="18" charset="0"/>
              </a:rPr>
            </a:br>
            <a:r>
              <a:rPr lang="en-IN" sz="36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36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C8ED2-47B9-48F1-9DB9-2948CB58A633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8757" y="188640"/>
            <a:ext cx="11684324" cy="6192688"/>
          </a:xfrm>
        </p:spPr>
        <p:txBody>
          <a:bodyPr>
            <a:normAutofit/>
          </a:bodyPr>
          <a:lstStyle/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SYED HASAN SAEED</a:t>
            </a:r>
          </a:p>
          <a:p>
            <a:endParaRPr lang="en-US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Email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2"/>
              </a:rPr>
              <a:t>hasansaeedcontrol@gmail.com</a:t>
            </a:r>
            <a:endParaRPr lang="en-US" sz="22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URL 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3"/>
              </a:rPr>
              <a:t>http://shasansaeed.yolasite.com/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3"/>
              </a:rPr>
              <a:t>http://hasansaeed872726549.wordpress.com/</a:t>
            </a:r>
          </a:p>
          <a:p>
            <a:pPr algn="l"/>
            <a:r>
              <a:rPr lang="en-US" sz="2200" dirty="0">
                <a:solidFill>
                  <a:srgbClr val="FF0000"/>
                </a:solidFill>
                <a:latin typeface="Times New Roman" pitchFamily="18" charset="0"/>
                <a:ea typeface="+mj-ea"/>
                <a:cs typeface="Times New Roman" pitchFamily="18" charset="0"/>
                <a:hlinkClick r:id="rId3"/>
              </a:rPr>
              <a:t>http://syedhasansaeed.gnomio.com/</a:t>
            </a:r>
          </a:p>
          <a:p>
            <a:endParaRPr lang="en-US" sz="28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sz="2800" dirty="0">
              <a:solidFill>
                <a:srgbClr val="FF000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C8ED2-47B9-48F1-9DB9-2948CB58A633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2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 BOOKS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Introductory Circuit Analysis, Robert L.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Boylested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Pearson Education, Prentice Hall.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Networks And Systems,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Ashfaq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Husain,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Khanna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Book Publishing Co (P) Ltd. Delhi.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Networks And Systems, A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Sudhakar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Shyammohan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S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Palli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Tata McGraw Hill, New Delhi.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Network Analysis, M.E. Van </a:t>
            </a:r>
            <a:r>
              <a:rPr lang="en-IN" sz="2200" dirty="0" err="1">
                <a:latin typeface="Times New Roman" pitchFamily="18" charset="0"/>
                <a:cs typeface="Times New Roman" pitchFamily="18" charset="0"/>
              </a:rPr>
              <a:t>Valkenburg</a:t>
            </a: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, PHI Learning Private limited, New Delhi.</a:t>
            </a:r>
          </a:p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Circuit Analysis Principle and Applications, Allan H. Robbins &amp;Wilhelm C. Miller, DELMAR CENGAGE Learning, Indian Reprint.</a:t>
            </a:r>
          </a:p>
          <a:p>
            <a:pPr algn="ctr">
              <a:buNone/>
            </a:pPr>
            <a:endParaRPr lang="en-US" sz="22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DD9A-2870-457E-9BC4-B781EC95764D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DB804-655C-4897-A9A8-35B75A326C3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DEFINITION: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let f(t) be defined in the interval  0 ≤ t ≤ ∞ , one sided Laplace transform  of f (t) is obtained by multiplying f (t) by e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400" baseline="30000" dirty="0" err="1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and integrating the product between the limit 0 to ∞ .           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                 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 (t) is a continuous function for t ≥ 0. Laplace transform is a function of independent variable ‘s’ corresponding to complex variable in the exponent of e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400" baseline="30000" dirty="0" err="1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complex variable ‘s’ is , in general, of the form form ,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s =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σ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 + j</a:t>
            </a:r>
            <a:r>
              <a:rPr lang="en-IN" sz="2400" dirty="0">
                <a:latin typeface="Times New Roman"/>
                <a:cs typeface="Times New Roman"/>
              </a:rPr>
              <a:t>Ꞷ, Where </a:t>
            </a:r>
            <a:r>
              <a:rPr lang="el-GR" sz="2400" dirty="0">
                <a:latin typeface="Times New Roman"/>
                <a:cs typeface="Times New Roman"/>
              </a:rPr>
              <a:t>σ</a:t>
            </a:r>
            <a:r>
              <a:rPr lang="en-IN" sz="2400" dirty="0">
                <a:latin typeface="Times New Roman"/>
                <a:cs typeface="Times New Roman"/>
              </a:rPr>
              <a:t> is the real part and Ꞷ is the imaginary axis.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lnSpc>
                <a:spcPct val="150000"/>
              </a:lnSpc>
              <a:buNone/>
            </a:pPr>
            <a:endParaRPr lang="en-IN" sz="2400" dirty="0">
              <a:latin typeface="Times New Roman"/>
              <a:cs typeface="Times New Roman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3452115" y="1932759"/>
            <a:ext cx="3874986" cy="1128939"/>
            <a:chOff x="3452115" y="1932759"/>
            <a:chExt cx="3874986" cy="1128939"/>
          </a:xfrm>
        </p:grpSpPr>
        <p:graphicFrame>
          <p:nvGraphicFramePr>
            <p:cNvPr id="10" name="Object 9"/>
            <p:cNvGraphicFramePr>
              <a:graphicFrameLocks noChangeAspect="1"/>
            </p:cNvGraphicFramePr>
            <p:nvPr/>
          </p:nvGraphicFramePr>
          <p:xfrm>
            <a:off x="3948667" y="1932759"/>
            <a:ext cx="3378434" cy="11289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7" name="Equation" r:id="rId6" imgW="1143000" imgH="507960" progId="Equation.3">
                    <p:embed/>
                  </p:oleObj>
                </mc:Choice>
                <mc:Fallback>
                  <p:oleObj name="Equation" r:id="rId6" imgW="1143000" imgH="50796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8667" y="1932759"/>
                          <a:ext cx="3378434" cy="11289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Box 11"/>
            <p:cNvSpPr txBox="1"/>
            <p:nvPr/>
          </p:nvSpPr>
          <p:spPr>
            <a:xfrm>
              <a:off x="3452115" y="2239766"/>
              <a:ext cx="6267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latin typeface="Times New Roman" pitchFamily="18" charset="0"/>
                  <a:cs typeface="Times New Roman" pitchFamily="18" charset="0"/>
                </a:rPr>
                <a:t>ℒ</a:t>
              </a:r>
              <a:endParaRPr lang="en-US" sz="28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Laplace transform changes the domain f (t) to the frequency function F (s).</a:t>
            </a: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Similarly, inverse Laplace transformation converts frequency domain function F (s) to the domain function f (t) .</a:t>
            </a:r>
          </a:p>
          <a:p>
            <a:pPr>
              <a:lnSpc>
                <a:spcPct val="150000"/>
              </a:lnSpc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8"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0"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3111448" y="1599082"/>
            <a:ext cx="5482559" cy="1133388"/>
            <a:chOff x="801385" y="1781954"/>
            <a:chExt cx="5482559" cy="1133388"/>
          </a:xfrm>
        </p:grpSpPr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3637938" y="1781954"/>
            <a:ext cx="2646006" cy="113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59" name="Equation" r:id="rId5" imgW="1180800" imgH="672840" progId="Equation.3">
                    <p:embed/>
                  </p:oleObj>
                </mc:Choice>
                <mc:Fallback>
                  <p:oleObj name="Equation" r:id="rId5" imgW="1180800" imgH="6728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7938" y="1781954"/>
                          <a:ext cx="2646006" cy="1133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Box 12"/>
            <p:cNvSpPr txBox="1"/>
            <p:nvPr/>
          </p:nvSpPr>
          <p:spPr>
            <a:xfrm>
              <a:off x="801385" y="2095928"/>
              <a:ext cx="307197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600" dirty="0">
                  <a:latin typeface="Times New Roman" pitchFamily="18" charset="0"/>
                  <a:cs typeface="Times New Roman" pitchFamily="18" charset="0"/>
                </a:rPr>
                <a:t> ℒ </a:t>
              </a:r>
              <a:r>
                <a:rPr lang="en-IN" sz="2600" baseline="30000" dirty="0">
                  <a:latin typeface="Times New Roman" pitchFamily="18" charset="0"/>
                  <a:cs typeface="Times New Roman" pitchFamily="18" charset="0"/>
                </a:rPr>
                <a:t>-1</a:t>
              </a:r>
              <a:r>
                <a:rPr lang="en-IN" sz="2600" dirty="0">
                  <a:latin typeface="Times New Roman" pitchFamily="18" charset="0"/>
                  <a:cs typeface="Times New Roman" pitchFamily="18" charset="0"/>
                </a:rPr>
                <a:t> [ F (s)] = f (t) = </a:t>
              </a:r>
              <a:endParaRPr lang="en-US" sz="26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511171" y="2666198"/>
            <a:ext cx="6698702" cy="3821230"/>
            <a:chOff x="1944295" y="2897204"/>
            <a:chExt cx="6390702" cy="3590224"/>
          </a:xfrm>
        </p:grpSpPr>
        <p:graphicFrame>
          <p:nvGraphicFramePr>
            <p:cNvPr id="12" name="Object 11"/>
            <p:cNvGraphicFramePr>
              <a:graphicFrameLocks noChangeAspect="1"/>
            </p:cNvGraphicFramePr>
            <p:nvPr/>
          </p:nvGraphicFramePr>
          <p:xfrm>
            <a:off x="2689912" y="2897204"/>
            <a:ext cx="5645085" cy="3590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6262" name="Equation" r:id="rId7" imgW="2019240" imgH="1803240" progId="Equation.3">
                    <p:embed/>
                  </p:oleObj>
                </mc:Choice>
                <mc:Fallback>
                  <p:oleObj name="Equation" r:id="rId7" imgW="2019240" imgH="18032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9912" y="2897204"/>
                          <a:ext cx="5645085" cy="35902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Box 14"/>
            <p:cNvSpPr txBox="1"/>
            <p:nvPr/>
          </p:nvSpPr>
          <p:spPr>
            <a:xfrm>
              <a:off x="1944295" y="3157087"/>
              <a:ext cx="9914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1. ℒ</a:t>
              </a:r>
              <a:endParaRPr lang="en-US" sz="24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4"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1357938" y="779646"/>
            <a:ext cx="7042409" cy="3753853"/>
            <a:chOff x="1357938" y="779646"/>
            <a:chExt cx="7042409" cy="3753853"/>
          </a:xfrm>
        </p:grpSpPr>
        <p:graphicFrame>
          <p:nvGraphicFramePr>
            <p:cNvPr id="95235" name="Object 3"/>
            <p:cNvGraphicFramePr>
              <a:graphicFrameLocks noGrp="1" noChangeAspect="1"/>
            </p:cNvGraphicFramePr>
            <p:nvPr>
              <p:ph idx="1"/>
            </p:nvPr>
          </p:nvGraphicFramePr>
          <p:xfrm>
            <a:off x="2038095" y="779646"/>
            <a:ext cx="6362252" cy="37538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235" name="Microsoft Equation 3.0" r:id="rId4" imgW="1828800" imgH="1434960" progId="Equation.3">
                    <p:embed/>
                  </p:oleObj>
                </mc:Choice>
                <mc:Fallback>
                  <p:oleObj name="Microsoft Equation 3.0" r:id="rId4" imgW="1828800" imgH="143496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8095" y="779646"/>
                          <a:ext cx="6362252" cy="37538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Rectangle 8"/>
            <p:cNvSpPr/>
            <p:nvPr/>
          </p:nvSpPr>
          <p:spPr>
            <a:xfrm>
              <a:off x="1357938" y="1184966"/>
              <a:ext cx="737702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2. ℒ </a:t>
              </a:r>
              <a:endParaRPr lang="en-US" sz="2200"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68539" y="4752109"/>
            <a:ext cx="53069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SOME IMPORTANT RELATION: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2248634" y="5244313"/>
          <a:ext cx="8272584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6" name="Equation" r:id="rId6" imgW="3022560" imgH="444240" progId="Equation.3">
                  <p:embed/>
                </p:oleObj>
              </mc:Choice>
              <mc:Fallback>
                <p:oleObj name="Equation" r:id="rId6" imgW="3022560" imgH="4442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8634" y="5244313"/>
                        <a:ext cx="8272584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10"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3617829" y="2831033"/>
            <a:ext cx="5831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ℒ </a:t>
            </a:r>
            <a:endParaRPr lang="en-US" sz="24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1850471" y="806550"/>
            <a:ext cx="8641066" cy="5074486"/>
            <a:chOff x="1850471" y="806550"/>
            <a:chExt cx="8641066" cy="5074486"/>
          </a:xfrm>
        </p:grpSpPr>
        <p:grpSp>
          <p:nvGrpSpPr>
            <p:cNvPr id="15" name="Group 14"/>
            <p:cNvGrpSpPr/>
            <p:nvPr/>
          </p:nvGrpSpPr>
          <p:grpSpPr>
            <a:xfrm>
              <a:off x="1850471" y="806550"/>
              <a:ext cx="8641066" cy="5074486"/>
              <a:chOff x="743566" y="796925"/>
              <a:chExt cx="8378209" cy="4979988"/>
            </a:xfrm>
          </p:grpSpPr>
          <p:graphicFrame>
            <p:nvGraphicFramePr>
              <p:cNvPr id="9" name="Object 8"/>
              <p:cNvGraphicFramePr>
                <a:graphicFrameLocks noChangeAspect="1"/>
              </p:cNvGraphicFramePr>
              <p:nvPr/>
            </p:nvGraphicFramePr>
            <p:xfrm>
              <a:off x="1143000" y="796925"/>
              <a:ext cx="7978775" cy="49799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211" name="Equation" r:id="rId4" imgW="2984400" imgH="2476440" progId="Equation.3">
                      <p:embed/>
                    </p:oleObj>
                  </mc:Choice>
                  <mc:Fallback>
                    <p:oleObj name="Equation" r:id="rId4" imgW="2984400" imgH="2476440" progId="Equation.3">
                      <p:embed/>
                      <p:pic>
                        <p:nvPicPr>
                          <p:cNvPr id="0" name="Picture 3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43000" y="796925"/>
                            <a:ext cx="7978775" cy="49799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" name="Rectangle 9"/>
              <p:cNvSpPr/>
              <p:nvPr/>
            </p:nvSpPr>
            <p:spPr>
              <a:xfrm>
                <a:off x="743566" y="2842555"/>
                <a:ext cx="455574" cy="4308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200" dirty="0">
                    <a:latin typeface="Times New Roman" pitchFamily="18" charset="0"/>
                    <a:cs typeface="Times New Roman" pitchFamily="18" charset="0"/>
                  </a:rPr>
                  <a:t>ℒ </a:t>
                </a:r>
                <a:endParaRPr lang="en-US" sz="2200" dirty="0"/>
              </a:p>
            </p:txBody>
          </p:sp>
        </p:grpSp>
        <p:sp>
          <p:nvSpPr>
            <p:cNvPr id="11" name="Rectangle 10"/>
            <p:cNvSpPr/>
            <p:nvPr/>
          </p:nvSpPr>
          <p:spPr>
            <a:xfrm>
              <a:off x="7487869" y="2787134"/>
              <a:ext cx="4796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ℒ </a:t>
              </a:r>
              <a:endParaRPr lang="en-US" sz="24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905140" y="2850283"/>
              <a:ext cx="47961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ℒ </a:t>
              </a:r>
              <a:endParaRPr lang="en-US" sz="2400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Damped sine and cosine functions:</a:t>
            </a:r>
          </a:p>
          <a:p>
            <a:pPr>
              <a:lnSpc>
                <a:spcPct val="150000"/>
              </a:lnSpc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6"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2679155" y="1255711"/>
            <a:ext cx="7009322" cy="5124542"/>
            <a:chOff x="2094712" y="1483171"/>
            <a:chExt cx="4688251" cy="4062722"/>
          </a:xfrm>
        </p:grpSpPr>
        <p:graphicFrame>
          <p:nvGraphicFramePr>
            <p:cNvPr id="9" name="Object 8"/>
            <p:cNvGraphicFramePr>
              <a:graphicFrameLocks/>
            </p:cNvGraphicFramePr>
            <p:nvPr/>
          </p:nvGraphicFramePr>
          <p:xfrm>
            <a:off x="2433927" y="1483171"/>
            <a:ext cx="4349036" cy="40627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187" name="Microsoft Equation 3.0" r:id="rId4" imgW="2158920" imgH="2057400" progId="Equation.3">
                    <p:embed/>
                  </p:oleObj>
                </mc:Choice>
                <mc:Fallback>
                  <p:oleObj name="Microsoft Equation 3.0" r:id="rId4" imgW="2158920" imgH="2057400" progId="Equation.3">
                    <p:embed/>
                    <p:pic>
                      <p:nvPicPr>
                        <p:cNvPr id="0" name="Picture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3927" y="1483171"/>
                          <a:ext cx="4349036" cy="40627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9"/>
            <p:cNvSpPr/>
            <p:nvPr/>
          </p:nvSpPr>
          <p:spPr>
            <a:xfrm>
              <a:off x="2095829" y="4953900"/>
              <a:ext cx="320797" cy="3660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ℒ </a:t>
              </a:r>
              <a:endParaRPr lang="en-US" sz="24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094712" y="3091714"/>
              <a:ext cx="320797" cy="3660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ℒ </a:t>
              </a:r>
              <a:endParaRPr lang="en-US" sz="24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Similarly, </a:t>
            </a:r>
          </a:p>
          <a:p>
            <a:pPr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2"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2617753" y="1274619"/>
          <a:ext cx="3926912" cy="839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3" name="Equation" r:id="rId4" imgW="1473120" imgH="419040" progId="Equation.3">
                  <p:embed/>
                </p:oleObj>
              </mc:Choice>
              <mc:Fallback>
                <p:oleObj name="Equation" r:id="rId4" imgW="147312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53" y="1274619"/>
                        <a:ext cx="3926912" cy="8399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2137610" y="1415594"/>
            <a:ext cx="4796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ℒ </a:t>
            </a:r>
            <a:endParaRPr lang="en-US" sz="2400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2366145" y="2561657"/>
          <a:ext cx="5734644" cy="291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4" name="Microsoft Equation 3.0" r:id="rId6" imgW="2044440" imgH="1384200" progId="Equation.3">
                  <p:embed/>
                </p:oleObj>
              </mc:Choice>
              <mc:Fallback>
                <p:oleObj name="Microsoft Equation 3.0" r:id="rId6" imgW="2044440" imgH="1384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145" y="2561657"/>
                        <a:ext cx="5734644" cy="291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1818205" y="4740686"/>
            <a:ext cx="4796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ℒ 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1836618" y="3142795"/>
            <a:ext cx="4796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ℒ 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38"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472827" y="3321051"/>
          <a:ext cx="1216184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39"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827" y="3321051"/>
                        <a:ext cx="1216184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782226" y="816780"/>
          <a:ext cx="5836301" cy="4751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40" name="Equation" r:id="rId5" imgW="1993680" imgH="2158920" progId="Equation.3">
                  <p:embed/>
                </p:oleObj>
              </mc:Choice>
              <mc:Fallback>
                <p:oleObj name="Equation" r:id="rId5" imgW="1993680" imgH="21589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2226" y="816780"/>
                        <a:ext cx="5836301" cy="47518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2822199" y="2583890"/>
            <a:ext cx="4796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ℒ </a:t>
            </a:r>
            <a:endParaRPr lang="en-US" sz="2400" dirty="0"/>
          </a:p>
        </p:txBody>
      </p:sp>
      <p:sp>
        <p:nvSpPr>
          <p:cNvPr id="14" name="Rectangle 13"/>
          <p:cNvSpPr/>
          <p:nvPr/>
        </p:nvSpPr>
        <p:spPr>
          <a:xfrm>
            <a:off x="2377162" y="4006393"/>
            <a:ext cx="4796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ℒ 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2598285" y="4879230"/>
            <a:ext cx="4796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ℒ 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PROPERTIES OF LAPLACE TRANSFORMS: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The Laplace transform of a sum ( or difference) of time function is the sum (or difference) of the Laplace transform the individual time function. </a:t>
            </a:r>
          </a:p>
          <a:p>
            <a:pPr marL="457200" indent="-45720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ℒ [ 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(t) + 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(t) +………+f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(t) ] = 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(s) + 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(s) + ……..+ 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(s)</a:t>
            </a:r>
          </a:p>
          <a:p>
            <a:pPr marL="457200" indent="-45720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2. The Laplace transform of a product of a constant and a time function is equal to the product of the constant and Laplace transform of the time function. </a:t>
            </a:r>
          </a:p>
          <a:p>
            <a:pPr marL="457200" indent="-457200"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ℒ [ a f(t)] = a </a:t>
            </a:r>
            <a:r>
              <a:rPr lang="en-US" sz="2400" dirty="0">
                <a:latin typeface="Times New Roman"/>
                <a:cs typeface="Times New Roman"/>
              </a:rPr>
              <a:t>ℒ f(t) = a F (s)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114"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Linearity theorem: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If F1(s) and F2(s) are the Laplace transform of f1(t) and f2(t) and a1, a2 are arbitrary constant then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ℒ  [ a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(t) + a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(t) ] = a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(s) + a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(s)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ℒ  [f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(t) .f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(t) ] ≠ 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(s) . F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(s)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3. Laplace transform of a Derivative of a function</a:t>
            </a:r>
          </a:p>
          <a:p>
            <a:pPr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Where f(0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is the value of f(t) at t = 0</a:t>
            </a:r>
          </a:p>
          <a:p>
            <a:pPr>
              <a:lnSpc>
                <a:spcPct val="150000"/>
              </a:lnSpc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090"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Connector 10"/>
          <p:cNvCxnSpPr/>
          <p:nvPr/>
        </p:nvCxnSpPr>
        <p:spPr>
          <a:xfrm rot="10800000" flipH="1">
            <a:off x="2320565" y="4664251"/>
            <a:ext cx="109456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21807" y="4230255"/>
            <a:ext cx="1117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 f(t)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658435" y="4368806"/>
            <a:ext cx="5736956" cy="498611"/>
            <a:chOff x="1246911" y="4368799"/>
            <a:chExt cx="4313388" cy="498611"/>
          </a:xfrm>
        </p:grpSpPr>
        <p:sp>
          <p:nvSpPr>
            <p:cNvPr id="12" name="TextBox 11"/>
            <p:cNvSpPr txBox="1"/>
            <p:nvPr/>
          </p:nvSpPr>
          <p:spPr>
            <a:xfrm>
              <a:off x="1246911" y="4405745"/>
              <a:ext cx="5172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/>
                  <a:cs typeface="Times New Roman"/>
                </a:rPr>
                <a:t>ℒ</a:t>
              </a:r>
              <a:endParaRPr lang="en-US" sz="24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76953" y="4368799"/>
              <a:ext cx="2983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= f </a:t>
              </a:r>
              <a:r>
                <a:rPr lang="en-US" sz="2400" dirty="0">
                  <a:latin typeface="Times New Roman"/>
                  <a:cs typeface="Times New Roman"/>
                </a:rPr>
                <a:t>′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(t) = </a:t>
              </a:r>
              <a:r>
                <a:rPr lang="en-US" sz="2400" dirty="0" err="1">
                  <a:latin typeface="Times New Roman" pitchFamily="18" charset="0"/>
                  <a:cs typeface="Times New Roman" pitchFamily="18" charset="0"/>
                </a:rPr>
                <a:t>sF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(s) –f(0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4. Laplace transform of a Integral of a function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/>
                <a:cs typeface="Times New Roman"/>
              </a:rPr>
              <a:t>                                 ∫ [ f (t) </a:t>
            </a:r>
            <a:r>
              <a:rPr lang="en-US" sz="2400" dirty="0" err="1">
                <a:latin typeface="Times New Roman"/>
                <a:cs typeface="Times New Roman"/>
              </a:rPr>
              <a:t>dt</a:t>
            </a:r>
            <a:r>
              <a:rPr lang="en-US" sz="2400" dirty="0">
                <a:latin typeface="Times New Roman"/>
                <a:cs typeface="Times New Roman"/>
              </a:rPr>
              <a:t> ] = F(s) / s + f </a:t>
            </a:r>
            <a:r>
              <a:rPr lang="en-US" sz="2400" baseline="30000" dirty="0">
                <a:latin typeface="Times New Roman"/>
                <a:cs typeface="Times New Roman"/>
              </a:rPr>
              <a:t>-1</a:t>
            </a:r>
            <a:r>
              <a:rPr lang="en-US" sz="2400" dirty="0">
                <a:latin typeface="Times New Roman"/>
                <a:cs typeface="Times New Roman"/>
              </a:rPr>
              <a:t> (0) / 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Times New Roman"/>
                <a:cs typeface="Times New Roman"/>
              </a:rPr>
              <a:t>                                 Where f </a:t>
            </a:r>
            <a:r>
              <a:rPr lang="en-US" sz="2400" baseline="30000" dirty="0">
                <a:latin typeface="Times New Roman"/>
                <a:cs typeface="Times New Roman"/>
              </a:rPr>
              <a:t>-1</a:t>
            </a:r>
            <a:r>
              <a:rPr lang="en-US" sz="2400" dirty="0">
                <a:latin typeface="Times New Roman"/>
                <a:cs typeface="Times New Roman"/>
              </a:rPr>
              <a:t> (0) is the value of f (t) at t = 0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66"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003" y="71415"/>
            <a:ext cx="11591833" cy="71438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LAPLACE TRANSFORM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89988" y="714357"/>
            <a:ext cx="11781863" cy="56436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lnSpc>
                <a:spcPct val="150000"/>
              </a:lnSpc>
              <a:buNone/>
            </a:pP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6004908" y="3321051"/>
          <a:ext cx="152023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42" name="Equation" r:id="rId2" imgW="114120" imgH="215640" progId="Equation.3">
                  <p:embed/>
                </p:oleObj>
              </mc:Choice>
              <mc:Fallback>
                <p:oleObj name="Equation" r:id="rId2" imgW="114120" imgH="215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4908" y="3321051"/>
                        <a:ext cx="152023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33409" y="692726"/>
          <a:ext cx="11670451" cy="5645267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96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8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pPr algn="ctr"/>
                      <a:r>
                        <a:rPr lang="en-US" sz="2100" b="0" dirty="0">
                          <a:latin typeface="Times New Roman" pitchFamily="18" charset="0"/>
                          <a:cs typeface="Times New Roman" pitchFamily="18" charset="0"/>
                        </a:rPr>
                        <a:t>S.</a:t>
                      </a:r>
                    </a:p>
                    <a:p>
                      <a:pPr algn="ctr"/>
                      <a:r>
                        <a:rPr lang="en-US" sz="2100" b="0" dirty="0">
                          <a:latin typeface="Times New Roman" pitchFamily="18" charset="0"/>
                          <a:cs typeface="Times New Roman" pitchFamily="18" charset="0"/>
                        </a:rPr>
                        <a:t>NO.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0" dirty="0">
                          <a:latin typeface="Times New Roman" pitchFamily="18" charset="0"/>
                          <a:cs typeface="Times New Roman" pitchFamily="18" charset="0"/>
                        </a:rPr>
                        <a:t>PROPERTY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0" dirty="0">
                          <a:latin typeface="Times New Roman" pitchFamily="18" charset="0"/>
                          <a:cs typeface="Times New Roman" pitchFamily="18" charset="0"/>
                        </a:rPr>
                        <a:t>TIME DOMAIN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0" dirty="0">
                          <a:latin typeface="Times New Roman" pitchFamily="18" charset="0"/>
                          <a:cs typeface="Times New Roman" pitchFamily="18" charset="0"/>
                        </a:rPr>
                        <a:t>FREQUENCY DOMAIN</a:t>
                      </a:r>
                    </a:p>
                  </a:txBody>
                  <a:tcPr marL="121618" marR="1216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1.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Independent variable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Time t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Complex frequency s = </a:t>
                      </a:r>
                      <a:r>
                        <a:rPr lang="el-GR" sz="2100" dirty="0">
                          <a:latin typeface="Times New Roman" pitchFamily="18" charset="0"/>
                          <a:cs typeface="Times New Roman" pitchFamily="18" charset="0"/>
                        </a:rPr>
                        <a:t>σ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 + jꞶ</a:t>
                      </a:r>
                    </a:p>
                  </a:txBody>
                  <a:tcPr marL="121618" marR="1216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2.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Signal representation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Waveform f(t)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Transform F(s)</a:t>
                      </a:r>
                    </a:p>
                  </a:txBody>
                  <a:tcPr marL="121618" marR="1216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3.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Linearity property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sz="2100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100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 (t) + a</a:t>
                      </a:r>
                      <a:r>
                        <a:rPr lang="en-US" sz="2100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100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(t)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  <a:r>
                        <a:rPr lang="en-US" sz="2100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100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(s) + a</a:t>
                      </a:r>
                      <a:r>
                        <a:rPr lang="en-US" sz="2100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r>
                        <a:rPr lang="en-US" sz="2100" baseline="-25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(s)</a:t>
                      </a:r>
                    </a:p>
                  </a:txBody>
                  <a:tcPr marL="121618" marR="1216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4.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Integration</a:t>
                      </a:r>
                      <a:r>
                        <a:rPr lang="en-US" sz="2100" baseline="0" dirty="0">
                          <a:latin typeface="Times New Roman" pitchFamily="18" charset="0"/>
                          <a:cs typeface="Times New Roman" pitchFamily="18" charset="0"/>
                        </a:rPr>
                        <a:t> Property</a:t>
                      </a:r>
                      <a:endParaRPr lang="en-US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∫ f</a:t>
                      </a:r>
                      <a:r>
                        <a:rPr lang="en-US" sz="2100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(t) </a:t>
                      </a:r>
                      <a:r>
                        <a:rPr lang="en-US" sz="2100" dirty="0" err="1">
                          <a:latin typeface="Times New Roman" pitchFamily="18" charset="0"/>
                          <a:cs typeface="Times New Roman" pitchFamily="18" charset="0"/>
                        </a:rPr>
                        <a:t>dt</a:t>
                      </a:r>
                      <a:endParaRPr lang="en-US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F(s) / s</a:t>
                      </a:r>
                    </a:p>
                  </a:txBody>
                  <a:tcPr marL="121618" marR="1216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5.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Differentiation Property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sz="21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/ </a:t>
                      </a:r>
                      <a:r>
                        <a:rPr lang="en-US" sz="2100" dirty="0" err="1">
                          <a:latin typeface="Times New Roman" pitchFamily="18" charset="0"/>
                          <a:cs typeface="Times New Roman" pitchFamily="18" charset="0"/>
                        </a:rPr>
                        <a:t>dt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 [f(t)]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 err="1">
                          <a:latin typeface="Times New Roman" pitchFamily="18" charset="0"/>
                          <a:cs typeface="Times New Roman" pitchFamily="18" charset="0"/>
                        </a:rPr>
                        <a:t>sF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(s) - f′(0</a:t>
                      </a:r>
                      <a:r>
                        <a:rPr lang="en-US" sz="2100" baseline="-25000" dirty="0"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121618" marR="12161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147">
                <a:tc rowSpan="2" gridSpan="2">
                  <a:txBody>
                    <a:bodyPr/>
                    <a:lstStyle/>
                    <a:p>
                      <a:endParaRPr lang="en-US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618" marR="121618"/>
                </a:tc>
                <a:tc rowSpan="2" hMerge="1">
                  <a:txBody>
                    <a:bodyPr/>
                    <a:lstStyle/>
                    <a:p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baseline="0" dirty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sz="2100" baseline="30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2100" baseline="0" dirty="0">
                          <a:latin typeface="Times New Roman" pitchFamily="18" charset="0"/>
                          <a:cs typeface="Times New Roman" pitchFamily="18" charset="0"/>
                        </a:rPr>
                        <a:t>/ dt</a:t>
                      </a:r>
                      <a:r>
                        <a:rPr lang="en-US" sz="2100" baseline="30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 [f(t)]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sz="2100" baseline="30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 F(s) –s f(0-) – s f′ (0-) </a:t>
                      </a:r>
                    </a:p>
                  </a:txBody>
                  <a:tcPr marL="121618" marR="12161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1680">
                <a:tc gridSpan="2" vMerge="1">
                  <a:txBody>
                    <a:bodyPr/>
                    <a:lstStyle/>
                    <a:p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  <a:r>
                        <a:rPr lang="en-US" sz="2100" baseline="300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 /</a:t>
                      </a:r>
                      <a:r>
                        <a:rPr lang="en-US" sz="2100" baseline="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dt</a:t>
                      </a:r>
                      <a:r>
                        <a:rPr lang="en-US" sz="2100" baseline="300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 [f(t)]</a:t>
                      </a:r>
                    </a:p>
                  </a:txBody>
                  <a:tcPr marL="121618" marR="12161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lang="en-US" sz="2100" baseline="300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 F(s) –s</a:t>
                      </a:r>
                      <a:r>
                        <a:rPr lang="en-US" sz="2100" baseline="300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lang="en-US" sz="2100" dirty="0">
                          <a:latin typeface="Times New Roman" pitchFamily="18" charset="0"/>
                          <a:cs typeface="Times New Roman" pitchFamily="18" charset="0"/>
                        </a:rPr>
                        <a:t> f(0-) – s f′ (0-) –</a:t>
                      </a:r>
                      <a:r>
                        <a:rPr lang="en-US" sz="2100" baseline="0" dirty="0">
                          <a:latin typeface="Times New Roman" pitchFamily="18" charset="0"/>
                          <a:cs typeface="Times New Roman" pitchFamily="18" charset="0"/>
                        </a:rPr>
                        <a:t> f ′′(0-)</a:t>
                      </a:r>
                      <a:endParaRPr lang="en-US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endParaRPr lang="en-US" sz="2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618" marR="12161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003" y="357166"/>
            <a:ext cx="11591833" cy="592935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      </a:t>
            </a:r>
          </a:p>
          <a:p>
            <a:pPr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</a:p>
          <a:p>
            <a:pPr algn="ctr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  <a:hlinkClick r:id="rId2"/>
              </a:rPr>
              <a:t>shasansaeed@yolasite.com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  <a:hlinkClick r:id="rId3"/>
              </a:rPr>
              <a:t>hasansaeed872726549.wordpress.com</a:t>
            </a: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  <a:hlinkClick r:id="rId3"/>
              </a:rPr>
              <a:t>saeed.moodlecloud.com</a:t>
            </a: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  <a:hlinkClick r:id="rId3"/>
              </a:rPr>
              <a:t>syedhasansaeed.gnomio.com</a:t>
            </a: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6F227-248D-4963-99BB-700C4C3FB295}" type="datetime2">
              <a:rPr lang="en-US" smtClean="0"/>
              <a:pPr/>
              <a:t>Tuesday, January 23,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E54C7-FAA8-46C1-A880-53547F97989D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4217</TotalTime>
  <Words>944</Words>
  <Application>Microsoft Office PowerPoint</Application>
  <PresentationFormat>Custom</PresentationFormat>
  <Paragraphs>174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Office Theme</vt:lpstr>
      <vt:lpstr>Equation</vt:lpstr>
      <vt:lpstr>Microsoft Equation 3.0</vt:lpstr>
      <vt:lpstr>         CIRCUIT THEORY    LAPLACE TRANSFORM</vt:lpstr>
      <vt:lpstr>PowerPoint Presentation</vt:lpstr>
      <vt:lpstr>PowerPoint Presentation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LAPLACE TRANSFORM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SHS</dc:creator>
  <cp:lastModifiedBy>hasansaeedcontrol@gmail.com</cp:lastModifiedBy>
  <cp:revision>552</cp:revision>
  <dcterms:created xsi:type="dcterms:W3CDTF">2019-07-24T02:14:50Z</dcterms:created>
  <dcterms:modified xsi:type="dcterms:W3CDTF">2024-01-23T09:03:31Z</dcterms:modified>
</cp:coreProperties>
</file>