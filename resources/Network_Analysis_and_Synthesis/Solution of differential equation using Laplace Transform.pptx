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2" r:id="rId3"/>
    <p:sldId id="280" r:id="rId4"/>
    <p:sldId id="336" r:id="rId5"/>
    <p:sldId id="356" r:id="rId6"/>
    <p:sldId id="355" r:id="rId7"/>
    <p:sldId id="354" r:id="rId8"/>
    <p:sldId id="353" r:id="rId9"/>
    <p:sldId id="352" r:id="rId10"/>
    <p:sldId id="360" r:id="rId11"/>
    <p:sldId id="361" r:id="rId12"/>
    <p:sldId id="362" r:id="rId13"/>
    <p:sldId id="260" r:id="rId14"/>
    <p:sldId id="351" r:id="rId15"/>
    <p:sldId id="358" r:id="rId16"/>
    <p:sldId id="359" r:id="rId17"/>
    <p:sldId id="347" r:id="rId18"/>
    <p:sldId id="346" r:id="rId19"/>
    <p:sldId id="345" r:id="rId20"/>
    <p:sldId id="357" r:id="rId21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5DB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80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954" y="90"/>
      </p:cViewPr>
      <p:guideLst>
        <p:guide orient="horz" pos="2160"/>
        <p:guide pos="3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4B1FF-F32D-4BA9-8444-B2076D6565D6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069ED-E8C9-462C-B99A-12A0CE95B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138" y="2130427"/>
            <a:ext cx="10337562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4276" y="3886200"/>
            <a:ext cx="851328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4FAF-5EE7-4E62-8977-C2BDEA0C9800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702" y="4406902"/>
            <a:ext cx="103375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702" y="2906713"/>
            <a:ext cx="1033756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61579-A505-43A3-BF77-7B0637CA8DDC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92" y="1600202"/>
            <a:ext cx="537147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2268" y="1600202"/>
            <a:ext cx="537147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FA65-A5E3-4488-861A-24253CE9BF3C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535114"/>
            <a:ext cx="537359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092" y="2174875"/>
            <a:ext cx="537359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8048" y="1535114"/>
            <a:ext cx="537570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8048" y="2174875"/>
            <a:ext cx="53757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9FEE-2738-4AB4-98CC-08290BDBA2BB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905A-B11B-4A72-B2CE-087AEDA733D6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4456-9DBB-4D08-899D-BC1DAC50274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95" y="273050"/>
            <a:ext cx="400116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941" y="273053"/>
            <a:ext cx="679880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95" y="1435103"/>
            <a:ext cx="40011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9D0B-4DA1-425D-A37D-F89B237EAD49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3805" y="4800601"/>
            <a:ext cx="7297103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3805" y="612775"/>
            <a:ext cx="729710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3805" y="5367339"/>
            <a:ext cx="7297103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36CE-64FA-46EE-9395-90ED4C1DF39F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0824-BA15-49A9-9CC6-33B3E3DE0658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7332" y="274640"/>
            <a:ext cx="273641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92" y="274640"/>
            <a:ext cx="800654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A43B-922F-4162-B2E2-68DFCB817C41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092" y="274639"/>
            <a:ext cx="1094565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2"/>
            <a:ext cx="1094565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092" y="6356352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4F296-D24D-4DC1-9DEB-EAC44D5F442C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55295" y="6356352"/>
            <a:ext cx="38512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5984" y="6356352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hasansaeed.yolasite.com/" TargetMode="External"/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2.wmf"/><Relationship Id="rId7" Type="http://schemas.openxmlformats.org/officeDocument/2006/relationships/oleObject" Target="../embeddings/oleObject9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2.wmf"/><Relationship Id="rId7" Type="http://schemas.openxmlformats.org/officeDocument/2006/relationships/oleObject" Target="../embeddings/oleObject13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2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2.wmf"/><Relationship Id="rId7" Type="http://schemas.openxmlformats.org/officeDocument/2006/relationships/oleObject" Target="../embeddings/oleObject26.bin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2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31.bin"/><Relationship Id="rId4" Type="http://schemas.openxmlformats.org/officeDocument/2006/relationships/oleObject" Target="../embeddings/oleObject30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3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hasansaeedcontrol@gmail.com" TargetMode="External"/><Relationship Id="rId2" Type="http://schemas.openxmlformats.org/officeDocument/2006/relationships/hyperlink" Target="mailto:shasansaeed@yolasite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002" y="433906"/>
            <a:ext cx="11496818" cy="1577767"/>
          </a:xfrm>
        </p:spPr>
        <p:txBody>
          <a:bodyPr>
            <a:normAutofit fontScale="90000"/>
          </a:bodyPr>
          <a:lstStyle/>
          <a:p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CIRCUIT THEORY</a:t>
            </a: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r>
              <a:rPr lang="en-IN" sz="36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1</a:t>
            </a:r>
            <a:br>
              <a:rPr lang="en-IN" sz="36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8ED2-47B9-48F1-9DB9-2948CB58A633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B38F0-73E3-679A-5576-595C26077ABF}"/>
              </a:ext>
            </a:extLst>
          </p:cNvPr>
          <p:cNvSpPr txBox="1">
            <a:spLocks/>
          </p:cNvSpPr>
          <p:nvPr/>
        </p:nvSpPr>
        <p:spPr>
          <a:xfrm>
            <a:off x="285002" y="5340626"/>
            <a:ext cx="11782531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        Declaration : The content of the presentation has been created for academic use / non-commercial use with fair dealing.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757" y="188640"/>
            <a:ext cx="11684324" cy="6192688"/>
          </a:xfrm>
        </p:spPr>
        <p:txBody>
          <a:bodyPr>
            <a:normAutofit/>
          </a:bodyPr>
          <a:lstStyle/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SYED HASAN SAEED</a:t>
            </a: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Email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2"/>
              </a:rPr>
              <a:t>hasansaeedcontrol@gmail.com</a:t>
            </a:r>
            <a:endParaRPr lang="en-US" sz="22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URL 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http://shasansaeed.yolasite.com/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http://hasansaeed872726549.wordpress.com/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http://syedhasansaeed.gnomio.com/</a:t>
            </a:r>
          </a:p>
          <a:p>
            <a:endParaRPr lang="en-US" sz="28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sz="28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8ED2-47B9-48F1-9DB9-2948CB58A633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 BOOKS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Introductory Circuit Analysis, Robert L.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Boylested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Pearson Education, Prentice Hall.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Networks And Systems,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Ashfaq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Husain,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Khanna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Book Publishing Co (P) Ltd. Delhi.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Networks And Systems, A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Sudhakar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Shyammohan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Palli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Tata McGraw Hill, New Delhi.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 Analysis, M.E. Van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Valkenburg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PHI Learning Private limited, New Delhi.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Circuit Analysis Principle and Applications, Allan H. Robbins &amp;Wilhelm C. Miller, DELMAR CENGAGE Learning, Indian Reprint.</a:t>
            </a:r>
          </a:p>
          <a:p>
            <a:pPr algn="ctr">
              <a:buNone/>
            </a:pP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DD9A-2870-457E-9BC4-B781EC95764D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B804-655C-4897-A9A8-35B75A326C3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A differential equation is one which involves derivatives of one or more dependent variables with respect one or more independent variables.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in equation (1) ‘x’ is an independent variable &amp; ‘y’ is a dependent variable, in equation (2) ‘t’ is an independent variable &amp; ‘x’ is a dependent variable.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051086" y="2119216"/>
          <a:ext cx="7347429" cy="146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736560" progId="Equation.3">
                  <p:embed/>
                </p:oleObj>
              </mc:Choice>
              <mc:Fallback>
                <p:oleObj name="Equation" r:id="rId6" imgW="2781000" imgH="736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86" y="2119216"/>
                        <a:ext cx="7347429" cy="1463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The order of differential equation is the order of the higher derivatives in it.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Equation (1) is the order of ‘1’ and equation (2) is the order of the 3.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3141808" y="4156166"/>
            <a:ext cx="5756603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6200000" flipH="1">
            <a:off x="5702509" y="3787140"/>
            <a:ext cx="7162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>
            <a:off x="8536848" y="4524533"/>
            <a:ext cx="716280" cy="21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>
            <a:off x="2784985" y="4509490"/>
            <a:ext cx="716280" cy="21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7305" y="4988820"/>
            <a:ext cx="4100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Linear Differential Equations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7608" y="4955964"/>
            <a:ext cx="38577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Non-Linear Differential Equations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63586" y="2992184"/>
            <a:ext cx="38577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Differential Equations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A linear ordinary differential equation of the order ‘n’, in the independent variable ‘x’ and dependent variable ‘t’ is given as 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The order of the equation is (3) ‘n’.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Example of non-linear differential equation is 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040936" y="2090738"/>
          <a:ext cx="944442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35080" imgH="507960" progId="Equation.3">
                  <p:embed/>
                </p:oleObj>
              </mc:Choice>
              <mc:Fallback>
                <p:oleObj name="Equation" r:id="rId5" imgW="3835080" imgH="5079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0936" y="2090738"/>
                        <a:ext cx="9444427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616983" y="4454435"/>
          <a:ext cx="3752371" cy="100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60160" imgH="520560" progId="Equation.3">
                  <p:embed/>
                </p:oleObj>
              </mc:Choice>
              <mc:Fallback>
                <p:oleObj name="Equation" r:id="rId7" imgW="146016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983" y="4454435"/>
                        <a:ext cx="3752371" cy="10058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If c (t) = 0, the equation is said to be homogeneous, otherwise it is non-homogeneous.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Non-homogeneous equation 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4" name="Object 4"/>
          <p:cNvGraphicFramePr>
            <a:graphicFrameLocks noChangeAspect="1"/>
          </p:cNvGraphicFramePr>
          <p:nvPr/>
        </p:nvGraphicFramePr>
        <p:xfrm>
          <a:off x="2572390" y="1557495"/>
          <a:ext cx="6914534" cy="894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77880" imgH="419040" progId="Equation.3">
                  <p:embed/>
                </p:oleObj>
              </mc:Choice>
              <mc:Fallback>
                <p:oleObj name="Equation" r:id="rId5" imgW="337788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390" y="1557495"/>
                        <a:ext cx="6914534" cy="8943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004908" y="3307987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215640" progId="Equation.3">
                  <p:embed/>
                </p:oleObj>
              </mc:Choice>
              <mc:Fallback>
                <p:oleObj name="Equation" r:id="rId7" imgW="11412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07987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9" name="Object 9"/>
          <p:cNvGraphicFramePr>
            <a:graphicFrameLocks noChangeAspect="1"/>
          </p:cNvGraphicFramePr>
          <p:nvPr/>
        </p:nvGraphicFramePr>
        <p:xfrm>
          <a:off x="966070" y="3799069"/>
          <a:ext cx="9632345" cy="180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11400" imgH="977760" progId="Equation.3">
                  <p:embed/>
                </p:oleObj>
              </mc:Choice>
              <mc:Fallback>
                <p:oleObj name="Equation" r:id="rId8" imgW="3911400" imgH="9777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070" y="3799069"/>
                        <a:ext cx="9632345" cy="180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/>
                <a:cs typeface="Times New Roman"/>
              </a:rPr>
              <a:t>The general solution may be written as 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/>
                <a:cs typeface="Times New Roman"/>
              </a:rPr>
              <a:t>                                  x = x</a:t>
            </a:r>
            <a:r>
              <a:rPr lang="en-IN" sz="2400" baseline="-25000" dirty="0">
                <a:latin typeface="Times New Roman"/>
                <a:cs typeface="Times New Roman"/>
              </a:rPr>
              <a:t>c</a:t>
            </a:r>
            <a:r>
              <a:rPr lang="en-IN" sz="2400" dirty="0">
                <a:latin typeface="Times New Roman"/>
                <a:cs typeface="Times New Roman"/>
              </a:rPr>
              <a:t> + x</a:t>
            </a:r>
            <a:r>
              <a:rPr lang="en-IN" sz="2400" baseline="-25000" dirty="0">
                <a:latin typeface="Times New Roman"/>
                <a:cs typeface="Times New Roman"/>
              </a:rPr>
              <a:t>P  </a:t>
            </a:r>
            <a:r>
              <a:rPr lang="en-IN" sz="2400" dirty="0">
                <a:latin typeface="Times New Roman"/>
                <a:cs typeface="Times New Roman"/>
              </a:rPr>
              <a:t>----------(5)</a:t>
            </a:r>
            <a:endParaRPr lang="en-IN" sz="2400" baseline="-25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/>
                <a:cs typeface="Times New Roman"/>
              </a:rPr>
              <a:t>Where x</a:t>
            </a:r>
            <a:r>
              <a:rPr lang="en-IN" sz="2400" baseline="-25000" dirty="0">
                <a:latin typeface="Times New Roman"/>
                <a:cs typeface="Times New Roman"/>
              </a:rPr>
              <a:t>c</a:t>
            </a:r>
            <a:r>
              <a:rPr lang="en-IN" sz="2400" dirty="0">
                <a:latin typeface="Times New Roman"/>
                <a:cs typeface="Times New Roman"/>
              </a:rPr>
              <a:t> is ‘complementary function’ and x</a:t>
            </a:r>
            <a:r>
              <a:rPr lang="en-IN" sz="2400" baseline="-25000" dirty="0">
                <a:latin typeface="Times New Roman"/>
                <a:cs typeface="Times New Roman"/>
              </a:rPr>
              <a:t>P</a:t>
            </a:r>
            <a:r>
              <a:rPr lang="en-IN" sz="2400" dirty="0">
                <a:latin typeface="Times New Roman"/>
                <a:cs typeface="Times New Roman"/>
              </a:rPr>
              <a:t> is ‘particular integral’. 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7030A0"/>
                </a:solidFill>
                <a:latin typeface="Times New Roman"/>
                <a:cs typeface="Times New Roman"/>
              </a:rPr>
              <a:t>SECOND ORDER DIFFERENTIAL EQUATION: 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4" name="Object 8"/>
          <p:cNvGraphicFramePr>
            <a:graphicFrameLocks noChangeAspect="1"/>
          </p:cNvGraphicFramePr>
          <p:nvPr/>
        </p:nvGraphicFramePr>
        <p:xfrm>
          <a:off x="1264748" y="3211649"/>
          <a:ext cx="9036921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70200" imgH="977760" progId="Equation.3">
                  <p:embed/>
                </p:oleObj>
              </mc:Choice>
              <mc:Fallback>
                <p:oleObj name="Equation" r:id="rId6" imgW="3670200" imgH="9777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4748" y="3211649"/>
                        <a:ext cx="9036921" cy="180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5" name="Object 9"/>
          <p:cNvGraphicFramePr>
            <a:graphicFrameLocks noChangeAspect="1"/>
          </p:cNvGraphicFramePr>
          <p:nvPr/>
        </p:nvGraphicFramePr>
        <p:xfrm>
          <a:off x="1095955" y="5146813"/>
          <a:ext cx="9623899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46160" imgH="520560" progId="Equation.3">
                  <p:embed/>
                </p:oleObj>
              </mc:Choice>
              <mc:Fallback>
                <p:oleObj name="Equation" r:id="rId8" imgW="3746160" imgH="5205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955" y="5146813"/>
                        <a:ext cx="9623899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The solution of the second order equation depends upon the type of the roots.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400" dirty="0">
                <a:latin typeface="Times New Roman"/>
                <a:cs typeface="Times New Roman"/>
              </a:rPr>
              <a:t>The roots may be distinct real, real &amp; repeated and complex conjugate.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A11C9-0064-4E8F-ED03-9019AC3BB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8EC07-967D-F484-505B-0D07B7B14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D5497-4625-56A6-67A1-1F797CDA9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5121B-D240-1F69-6199-53B86CABA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1ABD4-A8EF-3CAD-01CC-12925362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BE03567-E808-2B60-A2CD-7D5F2AE015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988" y="714357"/>
                <a:ext cx="11781863" cy="564360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sz="2400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EXAMPLE1: </a:t>
                </a:r>
                <a:r>
                  <a:rPr lang="en-IN" sz="2400" dirty="0">
                    <a:latin typeface="Times New Roman"/>
                    <a:cs typeface="Times New Roman"/>
                  </a:rPr>
                  <a:t>Solve the differential equation</a:t>
                </a:r>
              </a:p>
              <a:p>
                <a:pPr>
                  <a:lnSpc>
                    <a:spcPct val="150000"/>
                  </a:lnSpc>
                  <a:buNone/>
                </a:pPr>
                <a:br>
                  <a:rPr lang="en-IN" sz="2400" i="1">
                    <a:latin typeface="Cambria Math" panose="02040503050406030204" pitchFamily="18" charset="0"/>
                    <a:cs typeface="Times New Roman"/>
                  </a:rPr>
                </a:br>
                <a:r>
                  <a:rPr lang="en-IN" sz="2400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SOLUTION: </a:t>
                </a:r>
                <a:r>
                  <a:rPr lang="en-IN" sz="2400" dirty="0">
                    <a:latin typeface="Times New Roman"/>
                    <a:cs typeface="Times New Roman"/>
                  </a:rPr>
                  <a:t>Taking Laplace transform on both sides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/>
                    <a:cs typeface="Times New Roman"/>
                  </a:rPr>
                  <a:t>       [ s</a:t>
                </a:r>
                <a:r>
                  <a:rPr lang="en-IN" sz="2200" baseline="30000" dirty="0">
                    <a:latin typeface="Times New Roman"/>
                    <a:cs typeface="Times New Roman"/>
                  </a:rPr>
                  <a:t>2</a:t>
                </a:r>
                <a:r>
                  <a:rPr lang="en-IN" sz="2200" dirty="0">
                    <a:latin typeface="Times New Roman"/>
                    <a:cs typeface="Times New Roman"/>
                  </a:rPr>
                  <a:t> X(s) – s x(0</a:t>
                </a:r>
                <a:r>
                  <a:rPr lang="en-IN" sz="2200" baseline="30000" dirty="0">
                    <a:latin typeface="Times New Roman"/>
                    <a:cs typeface="Times New Roman"/>
                  </a:rPr>
                  <a:t>-</a:t>
                </a:r>
                <a:r>
                  <a:rPr lang="en-IN" sz="2200" dirty="0">
                    <a:latin typeface="Times New Roman"/>
                    <a:cs typeface="Times New Roman"/>
                  </a:rPr>
                  <a:t>) – x’(0</a:t>
                </a:r>
                <a:r>
                  <a:rPr lang="en-IN" sz="2200" baseline="30000" dirty="0">
                    <a:latin typeface="Times New Roman"/>
                    <a:cs typeface="Times New Roman"/>
                  </a:rPr>
                  <a:t>-</a:t>
                </a:r>
                <a:r>
                  <a:rPr lang="en-IN" sz="2200" dirty="0">
                    <a:latin typeface="Times New Roman"/>
                    <a:cs typeface="Times New Roman"/>
                  </a:rPr>
                  <a:t>)] + 3 [ s X(s) – x(0</a:t>
                </a:r>
                <a:r>
                  <a:rPr lang="en-IN" sz="2200" baseline="30000" dirty="0">
                    <a:latin typeface="Times New Roman"/>
                    <a:cs typeface="Times New Roman"/>
                  </a:rPr>
                  <a:t>-</a:t>
                </a:r>
                <a:r>
                  <a:rPr lang="en-IN" sz="2200" dirty="0">
                    <a:latin typeface="Times New Roman"/>
                    <a:cs typeface="Times New Roman"/>
                  </a:rPr>
                  <a:t>)] + 2 X(s)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− 1</m:t>
                        </m:r>
                      </m:den>
                    </m:f>
                  </m:oMath>
                </a14:m>
                <a:endParaRPr lang="en-IN" sz="26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/>
                    <a:cs typeface="Times New Roman"/>
                  </a:rPr>
                  <a:t>Substitute the values of initial conditions in above equation, we get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/>
                    <a:cs typeface="Times New Roman"/>
                  </a:rPr>
                  <a:t>      [ s</a:t>
                </a:r>
                <a:r>
                  <a:rPr lang="en-IN" sz="2400" baseline="30000" dirty="0">
                    <a:latin typeface="Times New Roman"/>
                    <a:cs typeface="Times New Roman"/>
                  </a:rPr>
                  <a:t>2</a:t>
                </a:r>
                <a:r>
                  <a:rPr lang="en-IN" sz="2400" dirty="0">
                    <a:latin typeface="Times New Roman"/>
                    <a:cs typeface="Times New Roman"/>
                  </a:rPr>
                  <a:t> X(s) – s – (-1)] + 3 [ s X(s) – 1] + 2 X(s)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 − 1</m:t>
                        </m:r>
                      </m:den>
                    </m:f>
                  </m:oMath>
                </a14:m>
                <a:r>
                  <a:rPr lang="en-IN" sz="2400" dirty="0">
                    <a:latin typeface="Times New Roman"/>
                    <a:cs typeface="Times New Roman"/>
                  </a:rPr>
                  <a:t>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/>
                    <a:cs typeface="Times New Roman"/>
                  </a:rPr>
                  <a:t>     ⸫ X(s) [ s</a:t>
                </a:r>
                <a:r>
                  <a:rPr lang="en-IN" sz="2400" baseline="30000" dirty="0">
                    <a:latin typeface="Times New Roman"/>
                    <a:cs typeface="Times New Roman"/>
                  </a:rPr>
                  <a:t>2</a:t>
                </a:r>
                <a:r>
                  <a:rPr lang="en-IN" sz="2400" dirty="0">
                    <a:latin typeface="Times New Roman"/>
                    <a:cs typeface="Times New Roman"/>
                  </a:rPr>
                  <a:t> + 3s + 2] – s + 1 - 3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 − 1</m:t>
                        </m:r>
                      </m:den>
                    </m:f>
                  </m:oMath>
                </a14:m>
                <a:r>
                  <a:rPr lang="en-IN" sz="2000" dirty="0">
                    <a:latin typeface="Times New Roman"/>
                    <a:cs typeface="Times New Roman"/>
                  </a:rPr>
                  <a:t> </a:t>
                </a:r>
              </a:p>
              <a:p>
                <a:pPr>
                  <a:lnSpc>
                    <a:spcPct val="150000"/>
                  </a:lnSpc>
                  <a:buNone/>
                </a:pPr>
                <a:endParaRPr lang="en-IN" sz="240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BE03567-E808-2B60-A2CD-7D5F2AE015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88" y="714357"/>
                <a:ext cx="11781863" cy="5643603"/>
              </a:xfrm>
              <a:blipFill>
                <a:blip r:embed="rId2"/>
                <a:stretch>
                  <a:fillRect l="-7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661F71B-3BFD-CC56-5FAE-44E9182C9B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868FD28-29A8-B47E-C894-C9FAFA4777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20" imgH="215640" progId="Equation.3">
                  <p:embed/>
                </p:oleObj>
              </mc:Choice>
              <mc:Fallback>
                <p:oleObj name="Equation" r:id="rId5" imgW="114120" imgH="21564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5511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05CCE-92B6-192E-2848-B8850110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DA4F-12B3-F049-3BD4-D23210EB0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D6742-976D-A5A4-7A60-BBBC1520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FF27D-03BE-59B5-6FB9-4F7D815B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9893E-563E-4C4F-3086-19CEDB62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3D5EDA-8AB2-12E1-D074-38C8D5903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C42DC07-B9AE-B48B-F920-CEE9C67B21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661F71B-3BFD-CC56-5FAE-44E9182C9B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AD86F5E-B2D0-CA9D-EEAD-67EE11733B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868FD28-29A8-B47E-C894-C9FAFA4777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8EF3F5-AEAE-A06D-CE31-42C8AF1F8C83}"/>
                  </a:ext>
                </a:extLst>
              </p:cNvPr>
              <p:cNvSpPr txBox="1"/>
              <p:nvPr/>
            </p:nvSpPr>
            <p:spPr>
              <a:xfrm>
                <a:off x="608092" y="553289"/>
                <a:ext cx="11120081" cy="5803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/>
                    <a:cs typeface="Times New Roman"/>
                  </a:rPr>
                  <a:t>X(s) [ s</a:t>
                </a:r>
                <a:r>
                  <a:rPr lang="en-IN" sz="2200" baseline="30000" dirty="0">
                    <a:latin typeface="Times New Roman"/>
                    <a:cs typeface="Times New Roman"/>
                  </a:rPr>
                  <a:t>2</a:t>
                </a:r>
                <a:r>
                  <a:rPr lang="en-IN" sz="2200" dirty="0">
                    <a:latin typeface="Times New Roman"/>
                    <a:cs typeface="Times New Roman"/>
                  </a:rPr>
                  <a:t> + 3s + 2]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− 1</m:t>
                        </m:r>
                      </m:den>
                    </m:f>
                  </m:oMath>
                </a14:m>
                <a:r>
                  <a:rPr lang="en-IN" sz="2200" dirty="0">
                    <a:latin typeface="Times New Roman"/>
                    <a:cs typeface="Times New Roman"/>
                  </a:rPr>
                  <a:t> + s + 2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/>
                    <a:cs typeface="Times New Roman"/>
                  </a:rPr>
                  <a:t> X(s) [ s</a:t>
                </a:r>
                <a:r>
                  <a:rPr lang="en-IN" sz="2200" baseline="30000" dirty="0">
                    <a:latin typeface="Times New Roman"/>
                    <a:cs typeface="Times New Roman"/>
                  </a:rPr>
                  <a:t>2</a:t>
                </a:r>
                <a:r>
                  <a:rPr lang="en-IN" sz="2200" dirty="0">
                    <a:latin typeface="Times New Roman"/>
                    <a:cs typeface="Times New Roman"/>
                  </a:rPr>
                  <a:t> + 3s + 2]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4 + (</m:t>
                        </m:r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− 1) (</m:t>
                        </m:r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+ 2)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− 1)</m:t>
                        </m:r>
                      </m:den>
                    </m:f>
                  </m:oMath>
                </a14:m>
                <a:endParaRPr lang="en-IN" sz="2200" dirty="0"/>
              </a:p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/>
                    <a:cs typeface="Times New Roman"/>
                  </a:rPr>
                  <a:t>X(s) [ s</a:t>
                </a:r>
                <a:r>
                  <a:rPr lang="en-IN" sz="2200" baseline="30000" dirty="0">
                    <a:latin typeface="Times New Roman"/>
                    <a:cs typeface="Times New Roman"/>
                  </a:rPr>
                  <a:t>2</a:t>
                </a:r>
                <a:r>
                  <a:rPr lang="en-IN" sz="2200" dirty="0">
                    <a:latin typeface="Times New Roman"/>
                    <a:cs typeface="Times New Roman"/>
                  </a:rPr>
                  <a:t> + 3s + 2]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4 + </m:t>
                        </m:r>
                        <m:sSup>
                          <m:sSup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</m:t>
                        </m:r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− 2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− 1)</m:t>
                        </m:r>
                      </m:den>
                    </m:f>
                  </m:oMath>
                </a14:m>
                <a:endParaRPr lang="en-IN" sz="2200" dirty="0"/>
              </a:p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 + 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 + 2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 − 1) (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+ 3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+ 2)</m:t>
                        </m:r>
                      </m:den>
                    </m:f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 + </m:t>
                        </m:r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/>
                          </a:rPr>
                          <m:t> + 2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− 1) (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+ 1) (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+ 2) </m:t>
                        </m:r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Taking inverse Laplace using partial fraction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− 1)</m:t>
                        </m:r>
                      </m:den>
                    </m:f>
                  </m:oMath>
                </a14:m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+ 1)</m:t>
                        </m:r>
                      </m:den>
                    </m:f>
                  </m:oMath>
                </a14:m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+ 2)</m:t>
                        </m:r>
                      </m:den>
                    </m:f>
                  </m:oMath>
                </a14:m>
                <a:endParaRPr lang="en-I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(s – 1) X(s)│</a:t>
                </a:r>
                <a:r>
                  <a:rPr lang="en-I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1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I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8EF3F5-AEAE-A06D-CE31-42C8AF1F8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92" y="553289"/>
                <a:ext cx="11120081" cy="5803063"/>
              </a:xfrm>
              <a:prstGeom prst="rect">
                <a:avLst/>
              </a:prstGeom>
              <a:blipFill>
                <a:blip r:embed="rId6"/>
                <a:stretch>
                  <a:fillRect l="-7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093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5B7F-700D-72F5-2A82-F5BD3CD3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AFC6-033F-E4ED-64EF-B4DD3AC8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B262-D968-E227-A58F-2D731CA1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0C7ED-A18C-B311-2F89-F21B8F24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8DE5E-3056-BC18-9BEE-52912E7A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DE8F3F-8C1E-D891-28E8-922E3A74D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3BD4BD1-E7A7-157F-F564-5727C5840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C42DC07-B9AE-B48B-F920-CEE9C67B21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58FA956-CF91-2C63-E560-85528F9936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2AD86F5E-B2D0-CA9D-EEAD-67EE11733B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B8CE0D-ECB2-0F48-9B7A-FE38B66A34BF}"/>
                  </a:ext>
                </a:extLst>
              </p:cNvPr>
              <p:cNvSpPr txBox="1"/>
              <p:nvPr/>
            </p:nvSpPr>
            <p:spPr>
              <a:xfrm>
                <a:off x="608092" y="553289"/>
                <a:ext cx="11120081" cy="4301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(s + 1) X(s)│</a:t>
                </a:r>
                <a:r>
                  <a:rPr lang="en-I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-1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C =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 + 2) X(s)│</a:t>
                </a:r>
                <a:r>
                  <a:rPr lang="en-IN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-2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X(s)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2/3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− 1)</m:t>
                        </m:r>
                      </m:den>
                    </m:f>
                  </m:oMath>
                </a14:m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+ 1)</m:t>
                        </m:r>
                      </m:den>
                    </m:f>
                  </m:oMath>
                </a14:m>
                <a:r>
                  <a:rPr lang="en-I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4/3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+ 2)</m:t>
                        </m:r>
                      </m:den>
                    </m:f>
                  </m:oMath>
                </a14:m>
                <a:endParaRPr lang="en-US" sz="2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x(t)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2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2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sz="2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B8CE0D-ECB2-0F48-9B7A-FE38B66A3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92" y="553289"/>
                <a:ext cx="11120081" cy="4301947"/>
              </a:xfrm>
              <a:prstGeom prst="rect">
                <a:avLst/>
              </a:prstGeom>
              <a:blipFill>
                <a:blip r:embed="rId6"/>
                <a:stretch>
                  <a:fillRect l="-7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518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452" y="180870"/>
            <a:ext cx="11545556" cy="61998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2: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Solve the differential equation</a:t>
            </a:r>
          </a:p>
          <a:p>
            <a:pPr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SOLUTION: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Take Laplace transform</a:t>
            </a:r>
          </a:p>
          <a:p>
            <a:pPr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                    </a:t>
            </a:r>
          </a:p>
          <a:p>
            <a:pPr>
              <a:buNone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      </a:t>
            </a:r>
          </a:p>
          <a:p>
            <a:pPr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00300" y="793750"/>
          <a:ext cx="5805488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4560" imgH="304560" progId="Equation.3">
                  <p:embed/>
                </p:oleObj>
              </mc:Choice>
              <mc:Fallback>
                <p:oleObj name="Equation" r:id="rId2" imgW="2374560" imgH="304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793750"/>
                        <a:ext cx="5805488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2135188" y="2046288"/>
            <a:ext cx="6610350" cy="4354512"/>
            <a:chOff x="2135188" y="2046288"/>
            <a:chExt cx="6610350" cy="4354512"/>
          </a:xfrm>
        </p:grpSpPr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2135188" y="2046288"/>
            <a:ext cx="6610350" cy="4354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276360" imgH="2158920" progId="Equation.3">
                    <p:embed/>
                  </p:oleObj>
                </mc:Choice>
                <mc:Fallback>
                  <p:oleObj name="Equation" r:id="rId4" imgW="3276360" imgH="215892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5188" y="2046288"/>
                          <a:ext cx="6610350" cy="4354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Box 8"/>
            <p:cNvSpPr txBox="1"/>
            <p:nvPr/>
          </p:nvSpPr>
          <p:spPr>
            <a:xfrm>
              <a:off x="3366210" y="4863402"/>
              <a:ext cx="823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Times New Roman"/>
                  <a:cs typeface="Times New Roman"/>
                </a:rPr>
                <a:t>ℒ </a:t>
              </a:r>
              <a:r>
                <a:rPr lang="en-US" sz="2800" baseline="30000" dirty="0">
                  <a:latin typeface="Times New Roman"/>
                  <a:cs typeface="Times New Roman"/>
                </a:rPr>
                <a:t>-1</a:t>
              </a:r>
              <a:endParaRPr lang="en-US" sz="2800" baseline="300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85660" y="4855028"/>
              <a:ext cx="8423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Times New Roman"/>
                  <a:cs typeface="Times New Roman"/>
                </a:rPr>
                <a:t>ℒ </a:t>
              </a:r>
              <a:r>
                <a:rPr lang="en-US" sz="2800" baseline="30000" dirty="0">
                  <a:latin typeface="Times New Roman"/>
                  <a:cs typeface="Times New Roman"/>
                </a:rPr>
                <a:t>-1</a:t>
              </a:r>
              <a:endParaRPr lang="en-US" sz="2800" baseline="300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1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7030A0"/>
                </a:solidFill>
                <a:latin typeface="Times New Roman"/>
                <a:cs typeface="Times New Roman"/>
              </a:rPr>
              <a:t>SOLUTION OF DIFFERENTIAL EQUATION USING LAPLACE TRANSFORM: 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FF0000"/>
                </a:solidFill>
                <a:latin typeface="Times New Roman"/>
                <a:cs typeface="Times New Roman"/>
              </a:rPr>
              <a:t>EXAMPLE 4: </a:t>
            </a:r>
            <a:r>
              <a:rPr lang="en-IN" sz="2400" dirty="0">
                <a:latin typeface="Times New Roman"/>
                <a:cs typeface="Times New Roman"/>
              </a:rPr>
              <a:t>Solve the differential equation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898544" y="2377439"/>
          <a:ext cx="8717004" cy="1674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71720" imgH="965160" progId="Equation.3">
                  <p:embed/>
                </p:oleObj>
              </mc:Choice>
              <mc:Fallback>
                <p:oleObj name="Equation" r:id="rId5" imgW="3771720" imgH="965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544" y="2377439"/>
                        <a:ext cx="8717004" cy="16748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820054" y="3987800"/>
          <a:ext cx="8728652" cy="226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2800" imgH="1269720" progId="Equation.3">
                  <p:embed/>
                </p:oleObj>
              </mc:Choice>
              <mc:Fallback>
                <p:oleObj name="Equation" r:id="rId7" imgW="3682800" imgH="12697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054" y="3987800"/>
                        <a:ext cx="8728652" cy="2262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7F28C-2231-E70B-8A83-BA96DED6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A24F-B62B-01FD-9A9C-CCA16F3D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1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9F250-975B-39E8-9C69-97461CD16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9948B-1A71-5CC2-8605-330E60DE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D9D36-6DD3-B8D4-4D7C-BFC744D3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D2A827F-DC21-7207-630A-373CBDCAC2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988" y="714357"/>
                <a:ext cx="11781863" cy="5643603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sz="2600" dirty="0">
                    <a:cs typeface="Times New Roman"/>
                  </a:rPr>
                  <a:t>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6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+6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+5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+5)</m:t>
                        </m:r>
                      </m:den>
                    </m:f>
                  </m:oMath>
                </a14:m>
                <a:r>
                  <a:rPr lang="en-IN" sz="2600" dirty="0">
                    <a:latin typeface="Times New Roman"/>
                    <a:cs typeface="Times New Roman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As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B</m:t>
                        </m:r>
                      </m:num>
                      <m:den>
                        <m:sSup>
                          <m:sSupPr>
                            <m:ctrlPr>
                              <a:rPr lang="en-IN" sz="260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+5</m:t>
                        </m:r>
                      </m:den>
                    </m:f>
                  </m:oMath>
                </a14:m>
                <a:r>
                  <a:rPr lang="en-IN" sz="2600" dirty="0">
                    <a:latin typeface="Times New Roman"/>
                    <a:cs typeface="Times New Roman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C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</m:den>
                    </m:f>
                  </m:oMath>
                </a14:m>
                <a:r>
                  <a:rPr lang="en-IN" sz="2600" dirty="0">
                    <a:latin typeface="Times New Roman"/>
                    <a:cs typeface="Times New Roman"/>
                  </a:rPr>
                  <a:t>     --------(3)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600" dirty="0">
                    <a:cs typeface="Times New Roman"/>
                  </a:rPr>
                  <a:t>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+6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+5)</m:t>
                        </m:r>
                      </m:den>
                    </m:f>
                  </m:oMath>
                </a14:m>
                <a:r>
                  <a:rPr lang="en-IN" sz="2600" dirty="0">
                    <a:latin typeface="Times New Roman"/>
                    <a:cs typeface="Times New Roman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As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B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)+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C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+5)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+5)</m:t>
                        </m:r>
                      </m:den>
                    </m:f>
                  </m:oMath>
                </a14:m>
                <a:endParaRPr lang="en-IN" sz="26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600" dirty="0">
                    <a:cs typeface="Times New Roman"/>
                  </a:rPr>
                  <a:t>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+6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+5)</m:t>
                        </m:r>
                      </m:den>
                    </m:f>
                  </m:oMath>
                </a14:m>
                <a:r>
                  <a:rPr lang="en-IN" sz="2600" dirty="0">
                    <a:latin typeface="Times New Roman"/>
                    <a:cs typeface="Times New Roman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6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A</m:t>
                        </m:r>
                        <m:sSup>
                          <m:sSup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+ 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Bs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+ 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C</m:t>
                        </m:r>
                        <m:sSup>
                          <m:sSupPr>
                            <m:ctrlPr>
                              <a:rPr lang="en-IN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sC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+ 5</m:t>
                        </m:r>
                        <m:r>
                          <m:rPr>
                            <m:sty m:val="p"/>
                          </m:rPr>
                          <a:rPr lang="en-US" sz="26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C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/>
                          </a:rPr>
                          <m:t>+5)</m:t>
                        </m:r>
                      </m:den>
                    </m:f>
                  </m:oMath>
                </a14:m>
                <a:endParaRPr lang="en-IN" sz="26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400" dirty="0">
                    <a:cs typeface="Times New Roman"/>
                  </a:rPr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400" dirty="0">
                    <a:latin typeface="Times New Roman"/>
                    <a:cs typeface="Times New Roman"/>
                  </a:rPr>
                  <a:t> + 6s + 5 = </a:t>
                </a:r>
                <a:r>
                  <a:rPr lang="en-IN" sz="2200" dirty="0">
                    <a:latin typeface="Times New Roman"/>
                    <a:cs typeface="Times New Roman"/>
                  </a:rPr>
                  <a:t>(A + C) s</a:t>
                </a:r>
                <a:r>
                  <a:rPr lang="en-IN" sz="2200" baseline="30000" dirty="0">
                    <a:latin typeface="Times New Roman"/>
                    <a:cs typeface="Times New Roman"/>
                  </a:rPr>
                  <a:t>2</a:t>
                </a:r>
                <a:r>
                  <a:rPr lang="en-IN" sz="2200" dirty="0">
                    <a:latin typeface="Times New Roman"/>
                    <a:cs typeface="Times New Roman"/>
                  </a:rPr>
                  <a:t> + (B + 4C) s + 5 C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/>
                    <a:cs typeface="Times New Roman"/>
                  </a:rPr>
                  <a:t>        Compare the coefficients of ‘s’ on bot side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/>
                    <a:cs typeface="Times New Roman"/>
                  </a:rPr>
                  <a:t>            A + C = 1 ----(a)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/>
                    <a:cs typeface="Times New Roman"/>
                  </a:rPr>
                  <a:t>            B + 4C = 6 -----(b)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/>
                    <a:cs typeface="Times New Roman"/>
                  </a:rPr>
                  <a:t>            5C = 5 ----(c)</a:t>
                </a:r>
              </a:p>
              <a:p>
                <a:pPr>
                  <a:lnSpc>
                    <a:spcPct val="150000"/>
                  </a:lnSpc>
                  <a:buNone/>
                </a:pPr>
                <a:endParaRPr lang="en-IN" sz="2400" dirty="0">
                  <a:solidFill>
                    <a:srgbClr val="7030A0"/>
                  </a:solidFill>
                  <a:latin typeface="Times New Roman"/>
                  <a:cs typeface="Times New Roman"/>
                </a:endParaRPr>
              </a:p>
              <a:p>
                <a:pPr>
                  <a:lnSpc>
                    <a:spcPct val="150000"/>
                  </a:lnSpc>
                  <a:buNone/>
                </a:pPr>
                <a:endParaRPr lang="en-IN" sz="2400" dirty="0">
                  <a:solidFill>
                    <a:srgbClr val="7030A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D2A827F-DC21-7207-630A-373CBDCAC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88" y="714357"/>
                <a:ext cx="11781863" cy="564360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E0BBCB0-7638-FD20-57B0-3A795F06AB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7CC465C-1B39-02D1-9D65-A553ECD66D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20" imgH="215640" progId="Equation.3">
                  <p:embed/>
                </p:oleObj>
              </mc:Choice>
              <mc:Fallback>
                <p:oleObj name="Equation" r:id="rId5" imgW="114120" imgH="21564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601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8F199-1388-999C-FB15-D4C51203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B42C63-ACC2-82DF-C72A-E640A43CB448}"/>
              </a:ext>
            </a:extLst>
          </p:cNvPr>
          <p:cNvSpPr/>
          <p:nvPr/>
        </p:nvSpPr>
        <p:spPr>
          <a:xfrm>
            <a:off x="5277678" y="2454965"/>
            <a:ext cx="2474844" cy="5287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88D85-F32E-0580-AB72-DD1FB7F5F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1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73577-323B-9BE2-901B-79682750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38E4A-D4B0-98E1-2943-5147D663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5F0BE-17A2-E84D-08CE-9098C51F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8F98093-BC44-DD4B-DBA8-F38B3AD17D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989" y="714357"/>
                <a:ext cx="4590734" cy="564360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⸫ C = 1,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(a): A + 1 = 1     ⸫ A = 0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(b): B = 6 – 4 = 2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Put these values in equation (3)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+6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+5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+5)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/>
                      </a:rPr>
                      <m:t> = </m:t>
                    </m:r>
                    <m:f>
                      <m:fPr>
                        <m:ctrlPr>
                          <a:rPr lang="en-IN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+5)</m:t>
                        </m:r>
                      </m:den>
                    </m:f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den>
                    </m:f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+6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+5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s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/>
                          </a:rPr>
                          <m:t>+5)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  <a:cs typeface="Times New Roman"/>
                      </a:rPr>
                      <m:t> 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f>
                      <m:fPr>
                        <m:ctrlPr>
                          <a:rPr lang="en-IN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s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 + 2)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+ 1</m:t>
                        </m:r>
                      </m:den>
                    </m:f>
                  </m:oMath>
                </a14:m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den>
                    </m:f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/>
                    <a:cs typeface="Times New Roman"/>
                  </a:rPr>
                  <a:t>Take the inverse Laplace transform</a:t>
                </a:r>
              </a:p>
              <a:p>
                <a:pPr>
                  <a:lnSpc>
                    <a:spcPct val="150000"/>
                  </a:lnSpc>
                  <a:buNone/>
                </a:pPr>
                <a:endParaRPr lang="en-IN" sz="2400" dirty="0">
                  <a:solidFill>
                    <a:srgbClr val="7030A0"/>
                  </a:solidFill>
                  <a:latin typeface="Times New Roman"/>
                  <a:cs typeface="Times New Roman"/>
                </a:endParaRPr>
              </a:p>
              <a:p>
                <a:pPr>
                  <a:lnSpc>
                    <a:spcPct val="150000"/>
                  </a:lnSpc>
                  <a:buNone/>
                </a:pPr>
                <a:endParaRPr lang="en-IN" sz="2400" dirty="0">
                  <a:solidFill>
                    <a:srgbClr val="7030A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8F98093-BC44-DD4B-DBA8-F38B3AD17D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89" y="714357"/>
                <a:ext cx="4590734" cy="5643603"/>
              </a:xfrm>
              <a:blipFill>
                <a:blip r:embed="rId2"/>
                <a:stretch>
                  <a:fillRect l="-17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C4413FA-492D-6312-7DF9-B16B4B6704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E0BBCB0-7638-FD20-57B0-3A795F06A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7A15E8B-DF93-910E-4782-B83CCE5232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20" imgH="215640" progId="Equation.3">
                  <p:embed/>
                </p:oleObj>
              </mc:Choice>
              <mc:Fallback>
                <p:oleObj name="Equation" r:id="rId5" imgW="114120" imgH="21564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77CC465C-1B39-02D1-9D65-A553ECD66D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BCA6248E-FEFF-C36A-FA5E-B290517A8186}"/>
              </a:ext>
            </a:extLst>
          </p:cNvPr>
          <p:cNvSpPr/>
          <p:nvPr/>
        </p:nvSpPr>
        <p:spPr>
          <a:xfrm>
            <a:off x="5128591" y="3497195"/>
            <a:ext cx="4244009" cy="1611519"/>
          </a:xfrm>
          <a:prstGeom prst="rect">
            <a:avLst/>
          </a:prstGeom>
          <a:solidFill>
            <a:srgbClr val="E9F5D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247D10-5BF7-3909-2D0A-B4CE0E42A479}"/>
                  </a:ext>
                </a:extLst>
              </p:cNvPr>
              <p:cNvSpPr txBox="1"/>
              <p:nvPr/>
            </p:nvSpPr>
            <p:spPr>
              <a:xfrm>
                <a:off x="5247861" y="1016891"/>
                <a:ext cx="6450496" cy="4151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i(t)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ℒ 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s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 + 2)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/>
                              </a:rPr>
                              <m:t> + 1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ℒ </a:t>
                </a:r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den>
                    </m:f>
                  </m:oMath>
                </a14:m>
                <a:endParaRPr lang="en-US" sz="28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2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sin(t) + 1</a:t>
                </a:r>
              </a:p>
              <a:p>
                <a:pPr>
                  <a:lnSpc>
                    <a:spcPct val="150000"/>
                  </a:lnSpc>
                </a:pP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⸪ ℒ </a:t>
                </a:r>
                <a:r>
                  <a:rPr lang="en-IN" sz="2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sz="220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+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+ </m:t>
                            </m:r>
                            <m:sSup>
                              <m:sSupPr>
                                <m:ctrlPr>
                                  <a:rPr lang="en-IN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at</m:t>
                        </m:r>
                      </m:sup>
                    </m:sSup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sin(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bt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ℒ </a:t>
                </a:r>
                <a:r>
                  <a:rPr lang="en-IN" sz="2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247D10-5BF7-3909-2D0A-B4CE0E42A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861" y="1016891"/>
                <a:ext cx="6450496" cy="4151457"/>
              </a:xfrm>
              <a:prstGeom prst="rect">
                <a:avLst/>
              </a:prstGeom>
              <a:blipFill>
                <a:blip r:embed="rId6"/>
                <a:stretch>
                  <a:fillRect l="-12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540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1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FF0000"/>
                </a:solidFill>
                <a:latin typeface="Times New Roman"/>
                <a:cs typeface="Times New Roman"/>
              </a:rPr>
              <a:t>EXAMPLE 5: </a:t>
            </a:r>
            <a:r>
              <a:rPr lang="en-IN" sz="2200" dirty="0">
                <a:latin typeface="Times New Roman"/>
                <a:cs typeface="Times New Roman"/>
              </a:rPr>
              <a:t>Find the current i</a:t>
            </a:r>
            <a:r>
              <a:rPr lang="en-IN" sz="2200" baseline="-25000" dirty="0">
                <a:latin typeface="Times New Roman"/>
                <a:cs typeface="Times New Roman"/>
              </a:rPr>
              <a:t>2</a:t>
            </a:r>
            <a:r>
              <a:rPr lang="en-IN" sz="2200" dirty="0">
                <a:latin typeface="Times New Roman"/>
                <a:cs typeface="Times New Roman"/>
              </a:rPr>
              <a:t> in the given network using Laplace transform.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solidFill>
                  <a:srgbClr val="7030A0"/>
                </a:solidFill>
                <a:latin typeface="Times New Roman"/>
                <a:cs typeface="Times New Roman"/>
              </a:rPr>
              <a:t>                      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" name="Group 121"/>
          <p:cNvGrpSpPr/>
          <p:nvPr/>
        </p:nvGrpSpPr>
        <p:grpSpPr>
          <a:xfrm>
            <a:off x="3202260" y="1871024"/>
            <a:ext cx="4069981" cy="225532"/>
            <a:chOff x="2407651" y="1871024"/>
            <a:chExt cx="3060056" cy="225532"/>
          </a:xfrm>
        </p:grpSpPr>
        <p:grpSp>
          <p:nvGrpSpPr>
            <p:cNvPr id="125956" name="Group 4"/>
            <p:cNvGrpSpPr>
              <a:grpSpLocks/>
            </p:cNvGrpSpPr>
            <p:nvPr/>
          </p:nvGrpSpPr>
          <p:grpSpPr bwMode="auto">
            <a:xfrm>
              <a:off x="2407651" y="1880556"/>
              <a:ext cx="1281253" cy="216000"/>
              <a:chOff x="2036" y="2700"/>
              <a:chExt cx="10576" cy="1440"/>
            </a:xfrm>
          </p:grpSpPr>
          <p:cxnSp>
            <p:nvCxnSpPr>
              <p:cNvPr id="125957" name="AutoShape 5"/>
              <p:cNvCxnSpPr>
                <a:cxnSpLocks noChangeShapeType="1"/>
              </p:cNvCxnSpPr>
              <p:nvPr/>
            </p:nvCxnSpPr>
            <p:spPr bwMode="auto">
              <a:xfrm flipV="1">
                <a:off x="4320" y="2700"/>
                <a:ext cx="720" cy="14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5958" name="AutoShape 6"/>
              <p:cNvCxnSpPr>
                <a:cxnSpLocks noChangeShapeType="1"/>
              </p:cNvCxnSpPr>
              <p:nvPr/>
            </p:nvCxnSpPr>
            <p:spPr bwMode="auto">
              <a:xfrm flipH="1" flipV="1">
                <a:off x="5040" y="2700"/>
                <a:ext cx="720" cy="14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5959" name="AutoShape 7"/>
              <p:cNvCxnSpPr>
                <a:cxnSpLocks noChangeShapeType="1"/>
              </p:cNvCxnSpPr>
              <p:nvPr/>
            </p:nvCxnSpPr>
            <p:spPr bwMode="auto">
              <a:xfrm flipH="1">
                <a:off x="5760" y="2700"/>
                <a:ext cx="720" cy="14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5960" name="AutoShape 8"/>
              <p:cNvCxnSpPr>
                <a:cxnSpLocks noChangeShapeType="1"/>
              </p:cNvCxnSpPr>
              <p:nvPr/>
            </p:nvCxnSpPr>
            <p:spPr bwMode="auto">
              <a:xfrm flipH="1" flipV="1">
                <a:off x="6480" y="2700"/>
                <a:ext cx="720" cy="14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5961" name="AutoShape 9"/>
              <p:cNvCxnSpPr>
                <a:cxnSpLocks noChangeShapeType="1"/>
              </p:cNvCxnSpPr>
              <p:nvPr/>
            </p:nvCxnSpPr>
            <p:spPr bwMode="auto">
              <a:xfrm flipV="1">
                <a:off x="3240" y="2700"/>
                <a:ext cx="360" cy="72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5962" name="AutoShape 10"/>
              <p:cNvCxnSpPr>
                <a:cxnSpLocks noChangeShapeType="1"/>
              </p:cNvCxnSpPr>
              <p:nvPr/>
            </p:nvCxnSpPr>
            <p:spPr bwMode="auto">
              <a:xfrm>
                <a:off x="3600" y="2700"/>
                <a:ext cx="720" cy="144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5963" name="AutoShape 11"/>
              <p:cNvCxnSpPr>
                <a:cxnSpLocks noChangeShapeType="1"/>
              </p:cNvCxnSpPr>
              <p:nvPr/>
            </p:nvCxnSpPr>
            <p:spPr bwMode="auto">
              <a:xfrm>
                <a:off x="2036" y="3420"/>
                <a:ext cx="116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5964" name="AutoShape 12"/>
              <p:cNvCxnSpPr>
                <a:cxnSpLocks noChangeShapeType="1"/>
              </p:cNvCxnSpPr>
              <p:nvPr/>
            </p:nvCxnSpPr>
            <p:spPr bwMode="auto">
              <a:xfrm flipV="1">
                <a:off x="7200" y="3420"/>
                <a:ext cx="360" cy="72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5965" name="AutoShape 13"/>
              <p:cNvCxnSpPr>
                <a:cxnSpLocks noChangeShapeType="1"/>
              </p:cNvCxnSpPr>
              <p:nvPr/>
            </p:nvCxnSpPr>
            <p:spPr bwMode="auto">
              <a:xfrm>
                <a:off x="7560" y="3420"/>
                <a:ext cx="5052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25966" name="Group 14"/>
            <p:cNvGrpSpPr>
              <a:grpSpLocks/>
            </p:cNvGrpSpPr>
            <p:nvPr/>
          </p:nvGrpSpPr>
          <p:grpSpPr bwMode="auto">
            <a:xfrm>
              <a:off x="3672697" y="1872716"/>
              <a:ext cx="900000" cy="216000"/>
              <a:chOff x="2498" y="10440"/>
              <a:chExt cx="10030" cy="2347"/>
            </a:xfrm>
          </p:grpSpPr>
          <p:grpSp>
            <p:nvGrpSpPr>
              <p:cNvPr id="125967" name="Group 15"/>
              <p:cNvGrpSpPr>
                <a:grpSpLocks/>
              </p:cNvGrpSpPr>
              <p:nvPr/>
            </p:nvGrpSpPr>
            <p:grpSpPr bwMode="auto">
              <a:xfrm rot="16200000">
                <a:off x="3685" y="10164"/>
                <a:ext cx="1260" cy="1811"/>
                <a:chOff x="5220" y="9900"/>
                <a:chExt cx="900" cy="2160"/>
              </a:xfrm>
            </p:grpSpPr>
            <p:sp>
              <p:nvSpPr>
                <p:cNvPr id="125968" name="Arc 16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969" name="Arc 17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5970" name="Group 18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125971" name="Arc 19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972" name="Arc 20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5973" name="Group 21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125974" name="Arc 22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975" name="Arc 23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5976" name="Group 24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125977" name="Arc 2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978" name="Arc 2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25979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2498" y="11704"/>
                <a:ext cx="899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25980" name="AutoShape 28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280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125981" name="Group 29"/>
              <p:cNvGrpSpPr>
                <a:grpSpLocks/>
              </p:cNvGrpSpPr>
              <p:nvPr/>
            </p:nvGrpSpPr>
            <p:grpSpPr bwMode="auto">
              <a:xfrm rot="5400000">
                <a:off x="4231" y="11786"/>
                <a:ext cx="1079" cy="901"/>
                <a:chOff x="5220" y="9900"/>
                <a:chExt cx="900" cy="2160"/>
              </a:xfrm>
            </p:grpSpPr>
            <p:sp>
              <p:nvSpPr>
                <p:cNvPr id="125982" name="Arc 30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983" name="Arc 31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5984" name="Group 32"/>
              <p:cNvGrpSpPr>
                <a:grpSpLocks/>
              </p:cNvGrpSpPr>
              <p:nvPr/>
            </p:nvGrpSpPr>
            <p:grpSpPr bwMode="auto">
              <a:xfrm rot="5400000">
                <a:off x="6031" y="11789"/>
                <a:ext cx="1079" cy="901"/>
                <a:chOff x="5220" y="9900"/>
                <a:chExt cx="900" cy="2160"/>
              </a:xfrm>
            </p:grpSpPr>
            <p:sp>
              <p:nvSpPr>
                <p:cNvPr id="125985" name="Arc 33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986" name="Arc 34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5987" name="Group 35"/>
              <p:cNvGrpSpPr>
                <a:grpSpLocks/>
              </p:cNvGrpSpPr>
              <p:nvPr/>
            </p:nvGrpSpPr>
            <p:grpSpPr bwMode="auto">
              <a:xfrm rot="5400000">
                <a:off x="7831" y="11797"/>
                <a:ext cx="1079" cy="901"/>
                <a:chOff x="5220" y="9900"/>
                <a:chExt cx="900" cy="2160"/>
              </a:xfrm>
            </p:grpSpPr>
            <p:sp>
              <p:nvSpPr>
                <p:cNvPr id="125988" name="Arc 36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989" name="Arc 37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44" name="Group 14"/>
            <p:cNvGrpSpPr>
              <a:grpSpLocks/>
            </p:cNvGrpSpPr>
            <p:nvPr/>
          </p:nvGrpSpPr>
          <p:grpSpPr bwMode="auto">
            <a:xfrm>
              <a:off x="4567704" y="1871024"/>
              <a:ext cx="900003" cy="216000"/>
              <a:chOff x="2498" y="10440"/>
              <a:chExt cx="10030" cy="2347"/>
            </a:xfrm>
          </p:grpSpPr>
          <p:grpSp>
            <p:nvGrpSpPr>
              <p:cNvPr id="45" name="Group 15"/>
              <p:cNvGrpSpPr>
                <a:grpSpLocks/>
              </p:cNvGrpSpPr>
              <p:nvPr/>
            </p:nvGrpSpPr>
            <p:grpSpPr bwMode="auto">
              <a:xfrm rot="16200000">
                <a:off x="3690" y="10164"/>
                <a:ext cx="1260" cy="1812"/>
                <a:chOff x="5220" y="9900"/>
                <a:chExt cx="900" cy="2160"/>
              </a:xfrm>
            </p:grpSpPr>
            <p:sp>
              <p:nvSpPr>
                <p:cNvPr id="66" name="Arc 16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Arc 17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6" name="Group 18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64" name="Arc 19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Arc 20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7" name="Group 21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62" name="Arc 22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Arc 23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8" name="Group 24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60" name="Arc 2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" name="Arc 2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49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2498" y="11704"/>
                <a:ext cx="899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0" name="AutoShape 28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280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51" name="Group 29"/>
              <p:cNvGrpSpPr>
                <a:grpSpLocks/>
              </p:cNvGrpSpPr>
              <p:nvPr/>
            </p:nvGrpSpPr>
            <p:grpSpPr bwMode="auto">
              <a:xfrm rot="5400000">
                <a:off x="4227" y="11787"/>
                <a:ext cx="1079" cy="902"/>
                <a:chOff x="5220" y="9900"/>
                <a:chExt cx="900" cy="2160"/>
              </a:xfrm>
            </p:grpSpPr>
            <p:sp>
              <p:nvSpPr>
                <p:cNvPr id="58" name="Arc 30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Arc 31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2" name="Group 32"/>
              <p:cNvGrpSpPr>
                <a:grpSpLocks/>
              </p:cNvGrpSpPr>
              <p:nvPr/>
            </p:nvGrpSpPr>
            <p:grpSpPr bwMode="auto">
              <a:xfrm rot="5400000">
                <a:off x="6027" y="11790"/>
                <a:ext cx="1079" cy="902"/>
                <a:chOff x="5220" y="9900"/>
                <a:chExt cx="900" cy="2160"/>
              </a:xfrm>
            </p:grpSpPr>
            <p:sp>
              <p:nvSpPr>
                <p:cNvPr id="56" name="Arc 33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Arc 34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3" name="Group 35"/>
              <p:cNvGrpSpPr>
                <a:grpSpLocks/>
              </p:cNvGrpSpPr>
              <p:nvPr/>
            </p:nvGrpSpPr>
            <p:grpSpPr bwMode="auto">
              <a:xfrm rot="5400000">
                <a:off x="7827" y="11798"/>
                <a:ext cx="1079" cy="902"/>
                <a:chOff x="5220" y="9900"/>
                <a:chExt cx="900" cy="2160"/>
              </a:xfrm>
            </p:grpSpPr>
            <p:sp>
              <p:nvSpPr>
                <p:cNvPr id="54" name="Arc 36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Arc 37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68" name="Group 4"/>
          <p:cNvGrpSpPr>
            <a:grpSpLocks/>
          </p:cNvGrpSpPr>
          <p:nvPr/>
        </p:nvGrpSpPr>
        <p:grpSpPr bwMode="auto">
          <a:xfrm rot="5400000">
            <a:off x="5353203" y="2432799"/>
            <a:ext cx="1227190" cy="330108"/>
            <a:chOff x="2250" y="2700"/>
            <a:chExt cx="7215" cy="1440"/>
          </a:xfrm>
        </p:grpSpPr>
        <p:cxnSp>
          <p:nvCxnSpPr>
            <p:cNvPr id="69" name="AutoShape 5"/>
            <p:cNvCxnSpPr>
              <a:cxnSpLocks noChangeShapeType="1"/>
            </p:cNvCxnSpPr>
            <p:nvPr/>
          </p:nvCxnSpPr>
          <p:spPr bwMode="auto">
            <a:xfrm flipV="1">
              <a:off x="4320" y="2700"/>
              <a:ext cx="72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0" name="AutoShape 6"/>
            <p:cNvCxnSpPr>
              <a:cxnSpLocks noChangeShapeType="1"/>
            </p:cNvCxnSpPr>
            <p:nvPr/>
          </p:nvCxnSpPr>
          <p:spPr bwMode="auto">
            <a:xfrm flipH="1" flipV="1">
              <a:off x="5040" y="2700"/>
              <a:ext cx="72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1" name="AutoShape 7"/>
            <p:cNvCxnSpPr>
              <a:cxnSpLocks noChangeShapeType="1"/>
            </p:cNvCxnSpPr>
            <p:nvPr/>
          </p:nvCxnSpPr>
          <p:spPr bwMode="auto">
            <a:xfrm flipH="1">
              <a:off x="5760" y="2700"/>
              <a:ext cx="72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2" name="AutoShape 8"/>
            <p:cNvCxnSpPr>
              <a:cxnSpLocks noChangeShapeType="1"/>
            </p:cNvCxnSpPr>
            <p:nvPr/>
          </p:nvCxnSpPr>
          <p:spPr bwMode="auto">
            <a:xfrm flipH="1" flipV="1">
              <a:off x="6480" y="2700"/>
              <a:ext cx="72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3" name="AutoShape 9"/>
            <p:cNvCxnSpPr>
              <a:cxnSpLocks noChangeShapeType="1"/>
            </p:cNvCxnSpPr>
            <p:nvPr/>
          </p:nvCxnSpPr>
          <p:spPr bwMode="auto">
            <a:xfrm flipV="1">
              <a:off x="3240" y="2700"/>
              <a:ext cx="360" cy="7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4" name="AutoShape 10"/>
            <p:cNvCxnSpPr>
              <a:cxnSpLocks noChangeShapeType="1"/>
            </p:cNvCxnSpPr>
            <p:nvPr/>
          </p:nvCxnSpPr>
          <p:spPr bwMode="auto">
            <a:xfrm>
              <a:off x="3600" y="2700"/>
              <a:ext cx="72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5" name="AutoShape 11"/>
            <p:cNvCxnSpPr>
              <a:cxnSpLocks noChangeShapeType="1"/>
            </p:cNvCxnSpPr>
            <p:nvPr/>
          </p:nvCxnSpPr>
          <p:spPr bwMode="auto">
            <a:xfrm>
              <a:off x="2250" y="3420"/>
              <a:ext cx="99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6" name="AutoShape 12"/>
            <p:cNvCxnSpPr>
              <a:cxnSpLocks noChangeShapeType="1"/>
            </p:cNvCxnSpPr>
            <p:nvPr/>
          </p:nvCxnSpPr>
          <p:spPr bwMode="auto">
            <a:xfrm flipV="1">
              <a:off x="7200" y="3420"/>
              <a:ext cx="360" cy="7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7" name="AutoShape 13"/>
            <p:cNvCxnSpPr>
              <a:cxnSpLocks noChangeShapeType="1"/>
            </p:cNvCxnSpPr>
            <p:nvPr/>
          </p:nvCxnSpPr>
          <p:spPr bwMode="auto">
            <a:xfrm>
              <a:off x="7560" y="3420"/>
              <a:ext cx="190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cxnSp>
        <p:nvCxnSpPr>
          <p:cNvPr id="99" name="Straight Connector 98"/>
          <p:cNvCxnSpPr/>
          <p:nvPr/>
        </p:nvCxnSpPr>
        <p:spPr>
          <a:xfrm rot="10800000" flipV="1">
            <a:off x="3204675" y="3213345"/>
            <a:ext cx="40651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rot="5400000">
            <a:off x="2967632" y="2238286"/>
            <a:ext cx="4983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094714" y="2320958"/>
            <a:ext cx="86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3307940" y="1582834"/>
            <a:ext cx="86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322013" y="2322376"/>
            <a:ext cx="86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017498" y="1569965"/>
            <a:ext cx="86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1H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216668" y="1569844"/>
            <a:ext cx="86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1H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Freeform 115"/>
          <p:cNvSpPr/>
          <p:nvPr/>
        </p:nvSpPr>
        <p:spPr>
          <a:xfrm>
            <a:off x="6504648" y="2556890"/>
            <a:ext cx="448975" cy="402336"/>
          </a:xfrm>
          <a:custGeom>
            <a:avLst/>
            <a:gdLst>
              <a:gd name="connsiteX0" fmla="*/ 0 w 337566"/>
              <a:gd name="connsiteY0" fmla="*/ 0 h 402336"/>
              <a:gd name="connsiteX1" fmla="*/ 310896 w 337566"/>
              <a:gd name="connsiteY1" fmla="*/ 169164 h 402336"/>
              <a:gd name="connsiteX2" fmla="*/ 160020 w 337566"/>
              <a:gd name="connsiteY2" fmla="*/ 397764 h 402336"/>
              <a:gd name="connsiteX3" fmla="*/ 160020 w 337566"/>
              <a:gd name="connsiteY3" fmla="*/ 397764 h 402336"/>
              <a:gd name="connsiteX4" fmla="*/ 155448 w 337566"/>
              <a:gd name="connsiteY4" fmla="*/ 402336 h 402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566" h="402336">
                <a:moveTo>
                  <a:pt x="0" y="0"/>
                </a:moveTo>
                <a:cubicBezTo>
                  <a:pt x="142113" y="51435"/>
                  <a:pt x="284226" y="102870"/>
                  <a:pt x="310896" y="169164"/>
                </a:cubicBezTo>
                <a:cubicBezTo>
                  <a:pt x="337566" y="235458"/>
                  <a:pt x="160020" y="397764"/>
                  <a:pt x="160020" y="397764"/>
                </a:cubicBezTo>
                <a:lnTo>
                  <a:pt x="160020" y="397764"/>
                </a:lnTo>
                <a:lnTo>
                  <a:pt x="155448" y="402336"/>
                </a:lnTo>
              </a:path>
            </a:pathLst>
          </a:cu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 116"/>
          <p:cNvSpPr/>
          <p:nvPr/>
        </p:nvSpPr>
        <p:spPr>
          <a:xfrm>
            <a:off x="4597750" y="2564496"/>
            <a:ext cx="448975" cy="402336"/>
          </a:xfrm>
          <a:custGeom>
            <a:avLst/>
            <a:gdLst>
              <a:gd name="connsiteX0" fmla="*/ 0 w 337566"/>
              <a:gd name="connsiteY0" fmla="*/ 0 h 402336"/>
              <a:gd name="connsiteX1" fmla="*/ 310896 w 337566"/>
              <a:gd name="connsiteY1" fmla="*/ 169164 h 402336"/>
              <a:gd name="connsiteX2" fmla="*/ 160020 w 337566"/>
              <a:gd name="connsiteY2" fmla="*/ 397764 h 402336"/>
              <a:gd name="connsiteX3" fmla="*/ 160020 w 337566"/>
              <a:gd name="connsiteY3" fmla="*/ 397764 h 402336"/>
              <a:gd name="connsiteX4" fmla="*/ 155448 w 337566"/>
              <a:gd name="connsiteY4" fmla="*/ 402336 h 402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566" h="402336">
                <a:moveTo>
                  <a:pt x="0" y="0"/>
                </a:moveTo>
                <a:cubicBezTo>
                  <a:pt x="142113" y="51435"/>
                  <a:pt x="284226" y="102870"/>
                  <a:pt x="310896" y="169164"/>
                </a:cubicBezTo>
                <a:cubicBezTo>
                  <a:pt x="337566" y="235458"/>
                  <a:pt x="160020" y="397764"/>
                  <a:pt x="160020" y="397764"/>
                </a:cubicBezTo>
                <a:lnTo>
                  <a:pt x="160020" y="397764"/>
                </a:lnTo>
                <a:lnTo>
                  <a:pt x="155448" y="402336"/>
                </a:lnTo>
              </a:path>
            </a:pathLst>
          </a:cu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/>
          <p:cNvSpPr txBox="1"/>
          <p:nvPr/>
        </p:nvSpPr>
        <p:spPr>
          <a:xfrm>
            <a:off x="4459447" y="2571802"/>
            <a:ext cx="60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GB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472324" y="2527995"/>
            <a:ext cx="60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GB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809923" y="2201563"/>
            <a:ext cx="411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+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805027" y="2378144"/>
            <a:ext cx="13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100 u (t)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3" name="Group 4"/>
          <p:cNvGrpSpPr>
            <a:grpSpLocks/>
          </p:cNvGrpSpPr>
          <p:nvPr/>
        </p:nvGrpSpPr>
        <p:grpSpPr bwMode="auto">
          <a:xfrm rot="5400000">
            <a:off x="6652823" y="2437041"/>
            <a:ext cx="1227190" cy="330108"/>
            <a:chOff x="2250" y="2700"/>
            <a:chExt cx="7215" cy="1440"/>
          </a:xfrm>
        </p:grpSpPr>
        <p:cxnSp>
          <p:nvCxnSpPr>
            <p:cNvPr id="124" name="AutoShape 5"/>
            <p:cNvCxnSpPr>
              <a:cxnSpLocks noChangeShapeType="1"/>
            </p:cNvCxnSpPr>
            <p:nvPr/>
          </p:nvCxnSpPr>
          <p:spPr bwMode="auto">
            <a:xfrm flipV="1">
              <a:off x="4320" y="2700"/>
              <a:ext cx="72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25" name="AutoShape 6"/>
            <p:cNvCxnSpPr>
              <a:cxnSpLocks noChangeShapeType="1"/>
            </p:cNvCxnSpPr>
            <p:nvPr/>
          </p:nvCxnSpPr>
          <p:spPr bwMode="auto">
            <a:xfrm flipH="1" flipV="1">
              <a:off x="5040" y="2700"/>
              <a:ext cx="72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26" name="AutoShape 7"/>
            <p:cNvCxnSpPr>
              <a:cxnSpLocks noChangeShapeType="1"/>
            </p:cNvCxnSpPr>
            <p:nvPr/>
          </p:nvCxnSpPr>
          <p:spPr bwMode="auto">
            <a:xfrm flipH="1">
              <a:off x="5760" y="2700"/>
              <a:ext cx="72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27" name="AutoShape 8"/>
            <p:cNvCxnSpPr>
              <a:cxnSpLocks noChangeShapeType="1"/>
            </p:cNvCxnSpPr>
            <p:nvPr/>
          </p:nvCxnSpPr>
          <p:spPr bwMode="auto">
            <a:xfrm flipH="1" flipV="1">
              <a:off x="6480" y="2700"/>
              <a:ext cx="72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28" name="AutoShape 9"/>
            <p:cNvCxnSpPr>
              <a:cxnSpLocks noChangeShapeType="1"/>
            </p:cNvCxnSpPr>
            <p:nvPr/>
          </p:nvCxnSpPr>
          <p:spPr bwMode="auto">
            <a:xfrm flipV="1">
              <a:off x="3240" y="2700"/>
              <a:ext cx="360" cy="7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29" name="AutoShape 10"/>
            <p:cNvCxnSpPr>
              <a:cxnSpLocks noChangeShapeType="1"/>
            </p:cNvCxnSpPr>
            <p:nvPr/>
          </p:nvCxnSpPr>
          <p:spPr bwMode="auto">
            <a:xfrm>
              <a:off x="3600" y="2700"/>
              <a:ext cx="72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30" name="AutoShape 11"/>
            <p:cNvCxnSpPr>
              <a:cxnSpLocks noChangeShapeType="1"/>
            </p:cNvCxnSpPr>
            <p:nvPr/>
          </p:nvCxnSpPr>
          <p:spPr bwMode="auto">
            <a:xfrm>
              <a:off x="2250" y="3420"/>
              <a:ext cx="99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31" name="AutoShape 12"/>
            <p:cNvCxnSpPr>
              <a:cxnSpLocks noChangeShapeType="1"/>
            </p:cNvCxnSpPr>
            <p:nvPr/>
          </p:nvCxnSpPr>
          <p:spPr bwMode="auto">
            <a:xfrm flipV="1">
              <a:off x="7200" y="3420"/>
              <a:ext cx="360" cy="7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32" name="AutoShape 13"/>
            <p:cNvCxnSpPr>
              <a:cxnSpLocks noChangeShapeType="1"/>
            </p:cNvCxnSpPr>
            <p:nvPr/>
          </p:nvCxnSpPr>
          <p:spPr bwMode="auto">
            <a:xfrm>
              <a:off x="7560" y="3420"/>
              <a:ext cx="190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145" name="Group 144"/>
          <p:cNvGrpSpPr/>
          <p:nvPr/>
        </p:nvGrpSpPr>
        <p:grpSpPr>
          <a:xfrm>
            <a:off x="3105021" y="2483828"/>
            <a:ext cx="233102" cy="187452"/>
            <a:chOff x="2994660" y="2580132"/>
            <a:chExt cx="175260" cy="187452"/>
          </a:xfrm>
        </p:grpSpPr>
        <p:grpSp>
          <p:nvGrpSpPr>
            <p:cNvPr id="139" name="Group 138"/>
            <p:cNvGrpSpPr/>
            <p:nvPr/>
          </p:nvGrpSpPr>
          <p:grpSpPr>
            <a:xfrm>
              <a:off x="2994660" y="2706624"/>
              <a:ext cx="173736" cy="60960"/>
              <a:chOff x="2340864" y="2702052"/>
              <a:chExt cx="173736" cy="60960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>
                <a:off x="2340864" y="2702052"/>
                <a:ext cx="17373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>
              <a:xfrm>
                <a:off x="2369820" y="2763012"/>
                <a:ext cx="10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" name="Group 141"/>
            <p:cNvGrpSpPr/>
            <p:nvPr/>
          </p:nvGrpSpPr>
          <p:grpSpPr>
            <a:xfrm>
              <a:off x="2996184" y="2580132"/>
              <a:ext cx="173736" cy="60960"/>
              <a:chOff x="2340864" y="2702052"/>
              <a:chExt cx="173736" cy="60960"/>
            </a:xfrm>
          </p:grpSpPr>
          <p:cxnSp>
            <p:nvCxnSpPr>
              <p:cNvPr id="143" name="Straight Connector 142"/>
              <p:cNvCxnSpPr/>
              <p:nvPr/>
            </p:nvCxnSpPr>
            <p:spPr>
              <a:xfrm>
                <a:off x="2340864" y="2702052"/>
                <a:ext cx="17373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/>
              <p:nvPr/>
            </p:nvCxnSpPr>
            <p:spPr>
              <a:xfrm>
                <a:off x="2365248" y="2763012"/>
                <a:ext cx="10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46" name="Straight Connector 145"/>
          <p:cNvCxnSpPr/>
          <p:nvPr/>
        </p:nvCxnSpPr>
        <p:spPr>
          <a:xfrm rot="5400000">
            <a:off x="2932425" y="2940405"/>
            <a:ext cx="54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Object 108"/>
              <p:cNvSpPr txBox="1"/>
              <p:nvPr/>
            </p:nvSpPr>
            <p:spPr bwMode="auto">
              <a:xfrm>
                <a:off x="2062163" y="3460750"/>
                <a:ext cx="7012261" cy="29336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Apply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KVL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mesh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di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−10 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− 10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100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Put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value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′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simplify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equation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IN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IN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20 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− 10 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IN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100 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−−−−−−−−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09" name="Object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2163" y="3460750"/>
                <a:ext cx="7012261" cy="2933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1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560638" y="981075"/>
          <a:ext cx="7145337" cy="505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84400" imgH="2806560" progId="Equation.3">
                  <p:embed/>
                </p:oleObj>
              </mc:Choice>
              <mc:Fallback>
                <p:oleObj name="Equation" r:id="rId5" imgW="2984400" imgH="2806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38" y="981075"/>
                        <a:ext cx="7145337" cy="5053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DIFFERENTIAL EQUATIONS 1</a:t>
            </a:r>
            <a:b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771003" y="952500"/>
          <a:ext cx="8223719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06480" imgH="1155600" progId="Equation.3">
                  <p:embed/>
                </p:oleObj>
              </mc:Choice>
              <mc:Fallback>
                <p:oleObj name="Equation" r:id="rId6" imgW="3606480" imgH="1155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003" y="952500"/>
                        <a:ext cx="8223719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003" y="357166"/>
            <a:ext cx="11591833" cy="59293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      </a:t>
            </a:r>
          </a:p>
          <a:p>
            <a:pPr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  <a:hlinkClick r:id="rId2"/>
              </a:rPr>
              <a:t>shasansaeed@yolasite.com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hasansaeed872726549.wordpress.com</a:t>
            </a: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saeed.moodlecloud.com</a:t>
            </a: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syedhasansaeed.gnomio.com</a:t>
            </a: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Monday, 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4941</TotalTime>
  <Words>1169</Words>
  <Application>Microsoft Office PowerPoint</Application>
  <PresentationFormat>Custom</PresentationFormat>
  <Paragraphs>220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         CIRCUIT THEORY    DIFFERENTIAL EQUATIONS 1 </vt:lpstr>
      <vt:lpstr>PowerPoint Presentation</vt:lpstr>
      <vt:lpstr>PowerPoint Presentation</vt:lpstr>
      <vt:lpstr> DIFFERENTIAL EQUATIONS  </vt:lpstr>
      <vt:lpstr> DIFFERENTIAL EQUATIONS  </vt:lpstr>
      <vt:lpstr> DIFFERENTIAL EQUATIONS  </vt:lpstr>
      <vt:lpstr> DIFFERENTIAL EQUATIONS  </vt:lpstr>
      <vt:lpstr> DIFFERENTIAL EQUATIONS  </vt:lpstr>
      <vt:lpstr> DIFFERENTIAL EQUATIONS  </vt:lpstr>
      <vt:lpstr> DIFFERENTIAL EQUATIONS  </vt:lpstr>
      <vt:lpstr> DIFFERENTIAL EQUATIONS  </vt:lpstr>
      <vt:lpstr> DIFFERENTIAL EQUATIONS  </vt:lpstr>
      <vt:lpstr>PowerPoint Presentation</vt:lpstr>
      <vt:lpstr> DIFFERENTIAL EQUATIONS 1 </vt:lpstr>
      <vt:lpstr> DIFFERENTIAL EQUATIONS 1 </vt:lpstr>
      <vt:lpstr> DIFFERENTIAL EQUATIONS 1 </vt:lpstr>
      <vt:lpstr> DIFFERENTIAL EQUATIONS 1 </vt:lpstr>
      <vt:lpstr> DIFFERENTIAL EQUATIONS 1 </vt:lpstr>
      <vt:lpstr> DIFFERENTIAL EQUATIONS 1 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SHS</dc:creator>
  <cp:lastModifiedBy>hasansaeedcontrol@gmail.com</cp:lastModifiedBy>
  <cp:revision>659</cp:revision>
  <dcterms:created xsi:type="dcterms:W3CDTF">2019-07-24T02:14:50Z</dcterms:created>
  <dcterms:modified xsi:type="dcterms:W3CDTF">2026-06-29T10:24:00Z</dcterms:modified>
</cp:coreProperties>
</file>