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bin" ContentType="application/vnd.openxmlformats-officedocument.oleObject"/>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82" r:id="rId3"/>
    <p:sldId id="280" r:id="rId4"/>
    <p:sldId id="257" r:id="rId5"/>
    <p:sldId id="292" r:id="rId6"/>
    <p:sldId id="291" r:id="rId7"/>
    <p:sldId id="290" r:id="rId8"/>
    <p:sldId id="289" r:id="rId9"/>
    <p:sldId id="294" r:id="rId10"/>
    <p:sldId id="295" r:id="rId11"/>
    <p:sldId id="288" r:id="rId12"/>
    <p:sldId id="287" r:id="rId13"/>
    <p:sldId id="286" r:id="rId14"/>
    <p:sldId id="285" r:id="rId15"/>
    <p:sldId id="284" r:id="rId16"/>
    <p:sldId id="283" r:id="rId17"/>
    <p:sldId id="296" r:id="rId18"/>
    <p:sldId id="297" r:id="rId19"/>
    <p:sldId id="260" r:id="rId20"/>
    <p:sldId id="298" r:id="rId21"/>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780" autoAdjust="0"/>
    <p:restoredTop sz="94660" autoAdjust="0"/>
  </p:normalViewPr>
  <p:slideViewPr>
    <p:cSldViewPr snapToGrid="0">
      <p:cViewPr>
        <p:scale>
          <a:sx n="63" d="100"/>
          <a:sy n="63" d="100"/>
        </p:scale>
        <p:origin x="-632" y="-84"/>
      </p:cViewPr>
      <p:guideLst>
        <p:guide orient="horz" pos="2160"/>
        <p:guide pos="383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1.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1.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11.wmf"/><Relationship Id="rId2" Type="http://schemas.openxmlformats.org/officeDocument/2006/relationships/image" Target="../media/image6.wmf"/><Relationship Id="rId1" Type="http://schemas.openxmlformats.org/officeDocument/2006/relationships/image" Target="../media/image1.wmf"/><Relationship Id="rId6" Type="http://schemas.openxmlformats.org/officeDocument/2006/relationships/image" Target="../media/image10.wmf"/><Relationship Id="rId5" Type="http://schemas.openxmlformats.org/officeDocument/2006/relationships/image" Target="../media/image9.wmf"/><Relationship Id="rId4"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A4B1FF-F32D-4BA9-8444-B2076D6565D6}" type="datetimeFigureOut">
              <a:rPr lang="en-US" smtClean="0"/>
              <a:pPr/>
              <a:t>14-Sep-22</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1069ED-E8C9-462C-B99A-12A0CE95B33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30426"/>
            <a:ext cx="10360501"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324" y="3886200"/>
            <a:ext cx="8532178"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824E6F7-4CBF-48E0-8E95-0184A8B52137}" type="datetime2">
              <a:rPr lang="en-US" smtClean="0"/>
              <a:pPr/>
              <a:t>Wednesday, 14 September, 2022</a:t>
            </a:fld>
            <a:endParaRPr lang="en-US"/>
          </a:p>
        </p:txBody>
      </p:sp>
      <p:sp>
        <p:nvSpPr>
          <p:cNvPr id="5" name="Footer Placeholder 4"/>
          <p:cNvSpPr>
            <a:spLocks noGrp="1"/>
          </p:cNvSpPr>
          <p:nvPr>
            <p:ph type="ftr" sz="quarter" idx="11"/>
          </p:nvPr>
        </p:nvSpPr>
        <p:spPr/>
        <p:txBody>
          <a:bodyPr/>
          <a:lstStyle/>
          <a:p>
            <a:r>
              <a:rPr lang="en-US" smtClean="0"/>
              <a:t>syed hasan saeed</a:t>
            </a:r>
            <a:endParaRPr lang="en-US"/>
          </a:p>
        </p:txBody>
      </p:sp>
      <p:sp>
        <p:nvSpPr>
          <p:cNvPr id="6" name="Slide Number Placeholder 5"/>
          <p:cNvSpPr>
            <a:spLocks noGrp="1"/>
          </p:cNvSpPr>
          <p:nvPr>
            <p:ph type="sldNum" sz="quarter" idx="12"/>
          </p:nvPr>
        </p:nvSpPr>
        <p:spPr/>
        <p:txBody>
          <a:bodyPr/>
          <a:lstStyle/>
          <a:p>
            <a:fld id="{435E54C7-FAA8-46C1-A880-53547F97989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0669E40-BBDD-4F57-A2F1-0A85B48588B1}" type="datetime2">
              <a:rPr lang="en-US" smtClean="0"/>
              <a:pPr/>
              <a:t>Wednesday, 14 September, 2022</a:t>
            </a:fld>
            <a:endParaRPr lang="en-US"/>
          </a:p>
        </p:txBody>
      </p:sp>
      <p:sp>
        <p:nvSpPr>
          <p:cNvPr id="5" name="Footer Placeholder 4"/>
          <p:cNvSpPr>
            <a:spLocks noGrp="1"/>
          </p:cNvSpPr>
          <p:nvPr>
            <p:ph type="ftr" sz="quarter" idx="11"/>
          </p:nvPr>
        </p:nvSpPr>
        <p:spPr/>
        <p:txBody>
          <a:bodyPr/>
          <a:lstStyle/>
          <a:p>
            <a:r>
              <a:rPr lang="en-US" smtClean="0"/>
              <a:t>syed hasan saeed</a:t>
            </a:r>
            <a:endParaRPr lang="en-US"/>
          </a:p>
        </p:txBody>
      </p:sp>
      <p:sp>
        <p:nvSpPr>
          <p:cNvPr id="6" name="Slide Number Placeholder 5"/>
          <p:cNvSpPr>
            <a:spLocks noGrp="1"/>
          </p:cNvSpPr>
          <p:nvPr>
            <p:ph type="sldNum" sz="quarter" idx="12"/>
          </p:nvPr>
        </p:nvSpPr>
        <p:spPr/>
        <p:txBody>
          <a:bodyPr/>
          <a:lstStyle/>
          <a:p>
            <a:fld id="{435E54C7-FAA8-46C1-A880-53547F97989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3" y="4406901"/>
            <a:ext cx="10360501"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6704238-12AD-45F3-B8AC-784B9D8A1372}" type="datetime2">
              <a:rPr lang="en-US" smtClean="0"/>
              <a:pPr/>
              <a:t>Wednesday, 14 September, 2022</a:t>
            </a:fld>
            <a:endParaRPr lang="en-US"/>
          </a:p>
        </p:txBody>
      </p:sp>
      <p:sp>
        <p:nvSpPr>
          <p:cNvPr id="5" name="Footer Placeholder 4"/>
          <p:cNvSpPr>
            <a:spLocks noGrp="1"/>
          </p:cNvSpPr>
          <p:nvPr>
            <p:ph type="ftr" sz="quarter" idx="11"/>
          </p:nvPr>
        </p:nvSpPr>
        <p:spPr/>
        <p:txBody>
          <a:bodyPr/>
          <a:lstStyle/>
          <a:p>
            <a:r>
              <a:rPr lang="en-US" smtClean="0"/>
              <a:t>syed hasan saeed</a:t>
            </a:r>
            <a:endParaRPr lang="en-US"/>
          </a:p>
        </p:txBody>
      </p:sp>
      <p:sp>
        <p:nvSpPr>
          <p:cNvPr id="6" name="Slide Number Placeholder 5"/>
          <p:cNvSpPr>
            <a:spLocks noGrp="1"/>
          </p:cNvSpPr>
          <p:nvPr>
            <p:ph type="sldNum" sz="quarter" idx="12"/>
          </p:nvPr>
        </p:nvSpPr>
        <p:spPr/>
        <p:txBody>
          <a:bodyPr/>
          <a:lstStyle/>
          <a:p>
            <a:fld id="{435E54C7-FAA8-46C1-A880-53547F97989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441" y="1600201"/>
            <a:ext cx="538339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5986" y="1600201"/>
            <a:ext cx="538339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FF7B4F2-EBBE-48D8-B050-7DF423827700}" type="datetime2">
              <a:rPr lang="en-US" smtClean="0"/>
              <a:pPr/>
              <a:t>Wednesday, 14 September, 2022</a:t>
            </a:fld>
            <a:endParaRPr lang="en-US"/>
          </a:p>
        </p:txBody>
      </p:sp>
      <p:sp>
        <p:nvSpPr>
          <p:cNvPr id="6" name="Footer Placeholder 5"/>
          <p:cNvSpPr>
            <a:spLocks noGrp="1"/>
          </p:cNvSpPr>
          <p:nvPr>
            <p:ph type="ftr" sz="quarter" idx="11"/>
          </p:nvPr>
        </p:nvSpPr>
        <p:spPr/>
        <p:txBody>
          <a:bodyPr/>
          <a:lstStyle/>
          <a:p>
            <a:r>
              <a:rPr lang="en-US" smtClean="0"/>
              <a:t>syed hasan saeed</a:t>
            </a:r>
            <a:endParaRPr lang="en-US"/>
          </a:p>
        </p:txBody>
      </p:sp>
      <p:sp>
        <p:nvSpPr>
          <p:cNvPr id="7" name="Slide Number Placeholder 6"/>
          <p:cNvSpPr>
            <a:spLocks noGrp="1"/>
          </p:cNvSpPr>
          <p:nvPr>
            <p:ph type="sldNum" sz="quarter" idx="12"/>
          </p:nvPr>
        </p:nvSpPr>
        <p:spPr/>
        <p:txBody>
          <a:bodyPr/>
          <a:lstStyle/>
          <a:p>
            <a:fld id="{435E54C7-FAA8-46C1-A880-53547F97989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441" y="1535113"/>
            <a:ext cx="538551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441" y="2174875"/>
            <a:ext cx="538551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1754" y="1535113"/>
            <a:ext cx="538763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1754" y="2174875"/>
            <a:ext cx="538763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29B67FE-3BB6-4F4C-A6D5-E4189C8AB0F6}" type="datetime2">
              <a:rPr lang="en-US" smtClean="0"/>
              <a:pPr/>
              <a:t>Wednesday, 14 September, 2022</a:t>
            </a:fld>
            <a:endParaRPr lang="en-US"/>
          </a:p>
        </p:txBody>
      </p:sp>
      <p:sp>
        <p:nvSpPr>
          <p:cNvPr id="8" name="Footer Placeholder 7"/>
          <p:cNvSpPr>
            <a:spLocks noGrp="1"/>
          </p:cNvSpPr>
          <p:nvPr>
            <p:ph type="ftr" sz="quarter" idx="11"/>
          </p:nvPr>
        </p:nvSpPr>
        <p:spPr/>
        <p:txBody>
          <a:bodyPr/>
          <a:lstStyle/>
          <a:p>
            <a:r>
              <a:rPr lang="en-US" smtClean="0"/>
              <a:t>syed hasan saeed</a:t>
            </a:r>
            <a:endParaRPr lang="en-US"/>
          </a:p>
        </p:txBody>
      </p:sp>
      <p:sp>
        <p:nvSpPr>
          <p:cNvPr id="9" name="Slide Number Placeholder 8"/>
          <p:cNvSpPr>
            <a:spLocks noGrp="1"/>
          </p:cNvSpPr>
          <p:nvPr>
            <p:ph type="sldNum" sz="quarter" idx="12"/>
          </p:nvPr>
        </p:nvSpPr>
        <p:spPr/>
        <p:txBody>
          <a:bodyPr/>
          <a:lstStyle/>
          <a:p>
            <a:fld id="{435E54C7-FAA8-46C1-A880-53547F97989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D285EC0-DB60-4CD9-B4B6-AC840CE42061}" type="datetime2">
              <a:rPr lang="en-US" smtClean="0"/>
              <a:pPr/>
              <a:t>Wednesday, 14 September, 2022</a:t>
            </a:fld>
            <a:endParaRPr lang="en-US"/>
          </a:p>
        </p:txBody>
      </p:sp>
      <p:sp>
        <p:nvSpPr>
          <p:cNvPr id="4" name="Footer Placeholder 3"/>
          <p:cNvSpPr>
            <a:spLocks noGrp="1"/>
          </p:cNvSpPr>
          <p:nvPr>
            <p:ph type="ftr" sz="quarter" idx="11"/>
          </p:nvPr>
        </p:nvSpPr>
        <p:spPr/>
        <p:txBody>
          <a:bodyPr/>
          <a:lstStyle/>
          <a:p>
            <a:r>
              <a:rPr lang="en-US" smtClean="0"/>
              <a:t>syed hasan saeed</a:t>
            </a:r>
            <a:endParaRPr lang="en-US"/>
          </a:p>
        </p:txBody>
      </p:sp>
      <p:sp>
        <p:nvSpPr>
          <p:cNvPr id="5" name="Slide Number Placeholder 4"/>
          <p:cNvSpPr>
            <a:spLocks noGrp="1"/>
          </p:cNvSpPr>
          <p:nvPr>
            <p:ph type="sldNum" sz="quarter" idx="12"/>
          </p:nvPr>
        </p:nvSpPr>
        <p:spPr/>
        <p:txBody>
          <a:bodyPr/>
          <a:lstStyle/>
          <a:p>
            <a:fld id="{435E54C7-FAA8-46C1-A880-53547F97989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4C2C22-0A96-4AC8-98CD-BCE2589F0F74}" type="datetime2">
              <a:rPr lang="en-US" smtClean="0"/>
              <a:pPr/>
              <a:t>Wednesday, 14 September, 2022</a:t>
            </a:fld>
            <a:endParaRPr lang="en-US"/>
          </a:p>
        </p:txBody>
      </p:sp>
      <p:sp>
        <p:nvSpPr>
          <p:cNvPr id="3" name="Footer Placeholder 2"/>
          <p:cNvSpPr>
            <a:spLocks noGrp="1"/>
          </p:cNvSpPr>
          <p:nvPr>
            <p:ph type="ftr" sz="quarter" idx="11"/>
          </p:nvPr>
        </p:nvSpPr>
        <p:spPr/>
        <p:txBody>
          <a:bodyPr/>
          <a:lstStyle/>
          <a:p>
            <a:r>
              <a:rPr lang="en-US" smtClean="0"/>
              <a:t>syed hasan saeed</a:t>
            </a:r>
            <a:endParaRPr lang="en-US"/>
          </a:p>
        </p:txBody>
      </p:sp>
      <p:sp>
        <p:nvSpPr>
          <p:cNvPr id="4" name="Slide Number Placeholder 3"/>
          <p:cNvSpPr>
            <a:spLocks noGrp="1"/>
          </p:cNvSpPr>
          <p:nvPr>
            <p:ph type="sldNum" sz="quarter" idx="12"/>
          </p:nvPr>
        </p:nvSpPr>
        <p:spPr/>
        <p:txBody>
          <a:bodyPr/>
          <a:lstStyle/>
          <a:p>
            <a:fld id="{435E54C7-FAA8-46C1-A880-53547F97989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2" y="273050"/>
            <a:ext cx="4010039"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5492" y="273051"/>
            <a:ext cx="681389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442" y="1435101"/>
            <a:ext cx="401003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8B42DD4-8F50-48BD-B1E5-B2E18AFAE599}" type="datetime2">
              <a:rPr lang="en-US" smtClean="0"/>
              <a:pPr/>
              <a:t>Wednesday, 14 September, 2022</a:t>
            </a:fld>
            <a:endParaRPr lang="en-US"/>
          </a:p>
        </p:txBody>
      </p:sp>
      <p:sp>
        <p:nvSpPr>
          <p:cNvPr id="6" name="Footer Placeholder 5"/>
          <p:cNvSpPr>
            <a:spLocks noGrp="1"/>
          </p:cNvSpPr>
          <p:nvPr>
            <p:ph type="ftr" sz="quarter" idx="11"/>
          </p:nvPr>
        </p:nvSpPr>
        <p:spPr/>
        <p:txBody>
          <a:bodyPr/>
          <a:lstStyle/>
          <a:p>
            <a:r>
              <a:rPr lang="en-US" smtClean="0"/>
              <a:t>syed hasan saeed</a:t>
            </a:r>
            <a:endParaRPr lang="en-US"/>
          </a:p>
        </p:txBody>
      </p:sp>
      <p:sp>
        <p:nvSpPr>
          <p:cNvPr id="7" name="Slide Number Placeholder 6"/>
          <p:cNvSpPr>
            <a:spLocks noGrp="1"/>
          </p:cNvSpPr>
          <p:nvPr>
            <p:ph type="sldNum" sz="quarter" idx="12"/>
          </p:nvPr>
        </p:nvSpPr>
        <p:spPr/>
        <p:txBody>
          <a:bodyPr/>
          <a:lstStyle/>
          <a:p>
            <a:fld id="{435E54C7-FAA8-46C1-A880-53547F97989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095" y="612775"/>
            <a:ext cx="731329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095" y="5367338"/>
            <a:ext cx="731329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07D7FE5-C18E-421A-8FE1-6C306AF31A65}" type="datetime2">
              <a:rPr lang="en-US" smtClean="0"/>
              <a:pPr/>
              <a:t>Wednesday, 14 September, 2022</a:t>
            </a:fld>
            <a:endParaRPr lang="en-US"/>
          </a:p>
        </p:txBody>
      </p:sp>
      <p:sp>
        <p:nvSpPr>
          <p:cNvPr id="6" name="Footer Placeholder 5"/>
          <p:cNvSpPr>
            <a:spLocks noGrp="1"/>
          </p:cNvSpPr>
          <p:nvPr>
            <p:ph type="ftr" sz="quarter" idx="11"/>
          </p:nvPr>
        </p:nvSpPr>
        <p:spPr/>
        <p:txBody>
          <a:bodyPr/>
          <a:lstStyle/>
          <a:p>
            <a:r>
              <a:rPr lang="en-US" smtClean="0"/>
              <a:t>syed hasan saeed</a:t>
            </a:r>
            <a:endParaRPr lang="en-US"/>
          </a:p>
        </p:txBody>
      </p:sp>
      <p:sp>
        <p:nvSpPr>
          <p:cNvPr id="7" name="Slide Number Placeholder 6"/>
          <p:cNvSpPr>
            <a:spLocks noGrp="1"/>
          </p:cNvSpPr>
          <p:nvPr>
            <p:ph type="sldNum" sz="quarter" idx="12"/>
          </p:nvPr>
        </p:nvSpPr>
        <p:spPr/>
        <p:txBody>
          <a:bodyPr/>
          <a:lstStyle/>
          <a:p>
            <a:fld id="{435E54C7-FAA8-46C1-A880-53547F97989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CA43552-A29C-437D-ADAA-B842B26EA202}" type="datetime2">
              <a:rPr lang="en-US" smtClean="0"/>
              <a:pPr/>
              <a:t>Wednesday, 14 September, 2022</a:t>
            </a:fld>
            <a:endParaRPr lang="en-US"/>
          </a:p>
        </p:txBody>
      </p:sp>
      <p:sp>
        <p:nvSpPr>
          <p:cNvPr id="5" name="Footer Placeholder 4"/>
          <p:cNvSpPr>
            <a:spLocks noGrp="1"/>
          </p:cNvSpPr>
          <p:nvPr>
            <p:ph type="ftr" sz="quarter" idx="11"/>
          </p:nvPr>
        </p:nvSpPr>
        <p:spPr/>
        <p:txBody>
          <a:bodyPr/>
          <a:lstStyle/>
          <a:p>
            <a:r>
              <a:rPr lang="en-US" smtClean="0"/>
              <a:t>syed hasan saeed</a:t>
            </a:r>
            <a:endParaRPr lang="en-US"/>
          </a:p>
        </p:txBody>
      </p:sp>
      <p:sp>
        <p:nvSpPr>
          <p:cNvPr id="6" name="Slide Number Placeholder 5"/>
          <p:cNvSpPr>
            <a:spLocks noGrp="1"/>
          </p:cNvSpPr>
          <p:nvPr>
            <p:ph type="sldNum" sz="quarter" idx="12"/>
          </p:nvPr>
        </p:nvSpPr>
        <p:spPr/>
        <p:txBody>
          <a:bodyPr/>
          <a:lstStyle/>
          <a:p>
            <a:fld id="{435E54C7-FAA8-46C1-A880-53547F97989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274639"/>
            <a:ext cx="2742486"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441" y="274639"/>
            <a:ext cx="802431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A8AE932-80FD-4D21-90C6-7F3DD4B0F604}" type="datetime2">
              <a:rPr lang="en-US" smtClean="0"/>
              <a:pPr/>
              <a:t>Wednesday, 14 September, 2022</a:t>
            </a:fld>
            <a:endParaRPr lang="en-US"/>
          </a:p>
        </p:txBody>
      </p:sp>
      <p:sp>
        <p:nvSpPr>
          <p:cNvPr id="5" name="Footer Placeholder 4"/>
          <p:cNvSpPr>
            <a:spLocks noGrp="1"/>
          </p:cNvSpPr>
          <p:nvPr>
            <p:ph type="ftr" sz="quarter" idx="11"/>
          </p:nvPr>
        </p:nvSpPr>
        <p:spPr/>
        <p:txBody>
          <a:bodyPr/>
          <a:lstStyle/>
          <a:p>
            <a:r>
              <a:rPr lang="en-US" smtClean="0"/>
              <a:t>syed hasan saeed</a:t>
            </a:r>
            <a:endParaRPr lang="en-US"/>
          </a:p>
        </p:txBody>
      </p:sp>
      <p:sp>
        <p:nvSpPr>
          <p:cNvPr id="6" name="Slide Number Placeholder 5"/>
          <p:cNvSpPr>
            <a:spLocks noGrp="1"/>
          </p:cNvSpPr>
          <p:nvPr>
            <p:ph type="sldNum" sz="quarter" idx="12"/>
          </p:nvPr>
        </p:nvSpPr>
        <p:spPr/>
        <p:txBody>
          <a:bodyPr/>
          <a:lstStyle/>
          <a:p>
            <a:fld id="{435E54C7-FAA8-46C1-A880-53547F97989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8"/>
            <a:ext cx="10969943"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441" y="1600201"/>
            <a:ext cx="10969943"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441" y="6356351"/>
            <a:ext cx="2844059"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983659-58DC-434D-BACF-E9747A086EF4}" type="datetime2">
              <a:rPr lang="en-US" smtClean="0"/>
              <a:pPr/>
              <a:t>Wednesday, 14 September, 2022</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syed hasan saeed</a:t>
            </a:r>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5E54C7-FAA8-46C1-A880-53547F97989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hasansaeed.yolasite.com/" TargetMode="External"/><Relationship Id="rId2" Type="http://schemas.openxmlformats.org/officeDocument/2006/relationships/hyperlink" Target="mailto:hasansaeedcontrol@gmail.com"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oleObject" Target="../embeddings/oleObject8.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7.v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8.v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9.v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0.v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oleObject" Target="../embeddings/oleObject14.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oleObject" Target="../embeddings/oleObject16.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oleObject" Target="../embeddings/oleObject17.bin"/><Relationship Id="rId7"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oleObject" Target="../embeddings/oleObject20.bin"/><Relationship Id="rId5" Type="http://schemas.openxmlformats.org/officeDocument/2006/relationships/oleObject" Target="../embeddings/oleObject19.bin"/><Relationship Id="rId4" Type="http://schemas.openxmlformats.org/officeDocument/2006/relationships/oleObject" Target="../embeddings/oleObject18.bin"/><Relationship Id="rId9" Type="http://schemas.openxmlformats.org/officeDocument/2006/relationships/oleObject" Target="../embeddings/oleObject23.bin"/></Relationships>
</file>

<file path=ppt/slides/_rels/slide19.xml.rels><?xml version="1.0" encoding="UTF-8" standalone="yes"?>
<Relationships xmlns="http://schemas.openxmlformats.org/package/2006/relationships"><Relationship Id="rId3" Type="http://schemas.openxmlformats.org/officeDocument/2006/relationships/hyperlink" Target="mailto:hasansaeedcontrol@gmail.com" TargetMode="External"/><Relationship Id="rId2" Type="http://schemas.openxmlformats.org/officeDocument/2006/relationships/hyperlink" Target="mailto:shasansaeed@yolasite.com"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mailto:hasansaeedcontrol@gmail.com" TargetMode="External"/><Relationship Id="rId2" Type="http://schemas.openxmlformats.org/officeDocument/2006/relationships/hyperlink" Target="mailto:shasansaeed@yolasite.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635" y="642920"/>
            <a:ext cx="11522329" cy="2214577"/>
          </a:xfrm>
        </p:spPr>
        <p:txBody>
          <a:bodyPr>
            <a:normAutofit fontScale="90000"/>
          </a:bodyPr>
          <a:lstStyle/>
          <a:p>
            <a:r>
              <a:rPr lang="en-IN" sz="3200" dirty="0" smtClean="0">
                <a:solidFill>
                  <a:srgbClr val="FF0000"/>
                </a:solidFill>
                <a:latin typeface="Times New Roman" pitchFamily="18" charset="0"/>
                <a:cs typeface="Times New Roman" pitchFamily="18" charset="0"/>
              </a:rPr>
              <a:t/>
            </a:r>
            <a:br>
              <a:rPr lang="en-IN" sz="3200" dirty="0" smtClean="0">
                <a:solidFill>
                  <a:srgbClr val="FF0000"/>
                </a:solidFill>
                <a:latin typeface="Times New Roman" pitchFamily="18" charset="0"/>
                <a:cs typeface="Times New Roman" pitchFamily="18" charset="0"/>
              </a:rPr>
            </a:br>
            <a:r>
              <a:rPr lang="en-IN" sz="3200" dirty="0" smtClean="0">
                <a:solidFill>
                  <a:srgbClr val="FF0000"/>
                </a:solidFill>
                <a:latin typeface="Times New Roman" pitchFamily="18" charset="0"/>
                <a:cs typeface="Times New Roman" pitchFamily="18" charset="0"/>
              </a:rPr>
              <a:t/>
            </a:r>
            <a:br>
              <a:rPr lang="en-IN" sz="3200" dirty="0" smtClean="0">
                <a:solidFill>
                  <a:srgbClr val="FF0000"/>
                </a:solidFill>
                <a:latin typeface="Times New Roman" pitchFamily="18" charset="0"/>
                <a:cs typeface="Times New Roman" pitchFamily="18" charset="0"/>
              </a:rPr>
            </a:br>
            <a:r>
              <a:rPr lang="en-IN" sz="3200" dirty="0" smtClean="0">
                <a:solidFill>
                  <a:srgbClr val="FF0000"/>
                </a:solidFill>
                <a:latin typeface="Times New Roman" pitchFamily="18" charset="0"/>
                <a:cs typeface="Times New Roman" pitchFamily="18" charset="0"/>
              </a:rPr>
              <a:t/>
            </a:r>
            <a:br>
              <a:rPr lang="en-IN" sz="3200" dirty="0" smtClean="0">
                <a:solidFill>
                  <a:srgbClr val="FF0000"/>
                </a:solidFill>
                <a:latin typeface="Times New Roman" pitchFamily="18" charset="0"/>
                <a:cs typeface="Times New Roman" pitchFamily="18" charset="0"/>
              </a:rPr>
            </a:br>
            <a:r>
              <a:rPr lang="en-IN" sz="3200" dirty="0" smtClean="0">
                <a:solidFill>
                  <a:srgbClr val="FF0000"/>
                </a:solidFill>
                <a:latin typeface="Times New Roman" pitchFamily="18" charset="0"/>
                <a:cs typeface="Times New Roman" pitchFamily="18" charset="0"/>
              </a:rPr>
              <a:t/>
            </a:r>
            <a:br>
              <a:rPr lang="en-IN" sz="3200" dirty="0" smtClean="0">
                <a:solidFill>
                  <a:srgbClr val="FF0000"/>
                </a:solidFill>
                <a:latin typeface="Times New Roman" pitchFamily="18" charset="0"/>
                <a:cs typeface="Times New Roman" pitchFamily="18" charset="0"/>
              </a:rPr>
            </a:br>
            <a:r>
              <a:rPr lang="en-IN" sz="3200" dirty="0" smtClean="0">
                <a:solidFill>
                  <a:srgbClr val="FF0000"/>
                </a:solidFill>
                <a:latin typeface="Times New Roman" pitchFamily="18" charset="0"/>
                <a:cs typeface="Times New Roman" pitchFamily="18" charset="0"/>
              </a:rPr>
              <a:t/>
            </a:r>
            <a:br>
              <a:rPr lang="en-IN" sz="3200" dirty="0" smtClean="0">
                <a:solidFill>
                  <a:srgbClr val="FF0000"/>
                </a:solidFill>
                <a:latin typeface="Times New Roman" pitchFamily="18" charset="0"/>
                <a:cs typeface="Times New Roman" pitchFamily="18" charset="0"/>
              </a:rPr>
            </a:br>
            <a:r>
              <a:rPr lang="en-IN" sz="4000" dirty="0" smtClean="0">
                <a:solidFill>
                  <a:srgbClr val="FF0000"/>
                </a:solidFill>
                <a:latin typeface="Times New Roman" pitchFamily="18" charset="0"/>
                <a:cs typeface="Times New Roman" pitchFamily="18" charset="0"/>
              </a:rPr>
              <a:t>CIRCUIT THEORY</a:t>
            </a:r>
            <a:r>
              <a:rPr lang="en-IN" sz="3200" dirty="0" smtClean="0">
                <a:latin typeface="Times New Roman" pitchFamily="18" charset="0"/>
                <a:cs typeface="Times New Roman" pitchFamily="18" charset="0"/>
              </a:rPr>
              <a:t/>
            </a:r>
            <a:br>
              <a:rPr lang="en-IN" sz="3200" dirty="0" smtClean="0">
                <a:latin typeface="Times New Roman" pitchFamily="18" charset="0"/>
                <a:cs typeface="Times New Roman" pitchFamily="18" charset="0"/>
              </a:rPr>
            </a:br>
            <a:r>
              <a:rPr lang="en-IN" sz="3200" dirty="0" smtClean="0">
                <a:latin typeface="Times New Roman" pitchFamily="18" charset="0"/>
                <a:cs typeface="Times New Roman" pitchFamily="18" charset="0"/>
              </a:rPr>
              <a:t/>
            </a:r>
            <a:br>
              <a:rPr lang="en-IN" sz="3200" dirty="0" smtClean="0">
                <a:latin typeface="Times New Roman" pitchFamily="18" charset="0"/>
                <a:cs typeface="Times New Roman" pitchFamily="18" charset="0"/>
              </a:rPr>
            </a:br>
            <a:r>
              <a:rPr lang="en-IN" sz="3200" dirty="0" smtClean="0">
                <a:latin typeface="Times New Roman" pitchFamily="18" charset="0"/>
                <a:cs typeface="Times New Roman" pitchFamily="18" charset="0"/>
              </a:rPr>
              <a:t/>
            </a:r>
            <a:br>
              <a:rPr lang="en-IN" sz="3200" dirty="0" smtClean="0">
                <a:latin typeface="Times New Roman" pitchFamily="18" charset="0"/>
                <a:cs typeface="Times New Roman" pitchFamily="18" charset="0"/>
              </a:rPr>
            </a:br>
            <a:r>
              <a:rPr lang="en-IN" sz="3200" dirty="0" smtClean="0">
                <a:latin typeface="Times New Roman" pitchFamily="18" charset="0"/>
                <a:cs typeface="Times New Roman" pitchFamily="18" charset="0"/>
              </a:rPr>
              <a:t/>
            </a:r>
            <a:br>
              <a:rPr lang="en-IN" sz="3200" dirty="0" smtClean="0">
                <a:latin typeface="Times New Roman" pitchFamily="18" charset="0"/>
                <a:cs typeface="Times New Roman" pitchFamily="18" charset="0"/>
              </a:rPr>
            </a:br>
            <a:r>
              <a:rPr lang="en-IN" sz="3600" dirty="0" smtClean="0">
                <a:solidFill>
                  <a:srgbClr val="00B050"/>
                </a:solidFill>
                <a:latin typeface="Times New Roman" pitchFamily="18" charset="0"/>
                <a:cs typeface="Times New Roman" pitchFamily="18" charset="0"/>
              </a:rPr>
              <a:t>BASIC TERMS AND DEFINITION</a:t>
            </a:r>
            <a:endParaRPr lang="en-US" sz="3600" dirty="0">
              <a:solidFill>
                <a:srgbClr val="00B050"/>
              </a:solidFill>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435E54C7-FAA8-46C1-A880-53547F97989D}" type="slidenum">
              <a:rPr lang="en-US" smtClean="0"/>
              <a:pPr/>
              <a:t>1</a:t>
            </a:fld>
            <a:endParaRPr lang="en-US"/>
          </a:p>
        </p:txBody>
      </p:sp>
      <p:sp>
        <p:nvSpPr>
          <p:cNvPr id="6" name="Footer Placeholder 5"/>
          <p:cNvSpPr>
            <a:spLocks noGrp="1"/>
          </p:cNvSpPr>
          <p:nvPr>
            <p:ph type="ftr" sz="quarter" idx="11"/>
          </p:nvPr>
        </p:nvSpPr>
        <p:spPr/>
        <p:txBody>
          <a:bodyPr/>
          <a:lstStyle/>
          <a:p>
            <a:r>
              <a:rPr lang="en-US" smtClean="0"/>
              <a:t>syed hasan saeed</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39287" y="188640"/>
            <a:ext cx="11710251" cy="6192688"/>
          </a:xfrm>
        </p:spPr>
        <p:txBody>
          <a:bodyPr>
            <a:normAutofit/>
          </a:bodyPr>
          <a:lstStyle/>
          <a:p>
            <a:endParaRPr lang="en-IN" dirty="0" smtClean="0">
              <a:solidFill>
                <a:schemeClr val="tx1"/>
              </a:solidFill>
              <a:latin typeface="Times New Roman" pitchFamily="18" charset="0"/>
              <a:cs typeface="Times New Roman" pitchFamily="18" charset="0"/>
            </a:endParaRPr>
          </a:p>
          <a:p>
            <a:endParaRPr lang="en-US" dirty="0" smtClean="0">
              <a:solidFill>
                <a:schemeClr val="tx1"/>
              </a:solidFill>
              <a:latin typeface="Times New Roman" pitchFamily="18" charset="0"/>
              <a:cs typeface="Times New Roman" pitchFamily="18" charset="0"/>
            </a:endParaRPr>
          </a:p>
          <a:p>
            <a:r>
              <a:rPr lang="en-US" dirty="0" smtClean="0">
                <a:solidFill>
                  <a:srgbClr val="FF0000"/>
                </a:solidFill>
                <a:latin typeface="Times New Roman" pitchFamily="18" charset="0"/>
                <a:ea typeface="+mj-ea"/>
                <a:cs typeface="Times New Roman" pitchFamily="18" charset="0"/>
              </a:rPr>
              <a:t>SYED HASAN SAEED</a:t>
            </a:r>
          </a:p>
          <a:p>
            <a:endParaRPr lang="en-US" dirty="0" smtClean="0">
              <a:solidFill>
                <a:srgbClr val="FF0000"/>
              </a:solidFill>
              <a:latin typeface="Times New Roman" pitchFamily="18" charset="0"/>
              <a:ea typeface="+mj-ea"/>
              <a:cs typeface="Times New Roman" pitchFamily="18" charset="0"/>
            </a:endParaRPr>
          </a:p>
          <a:p>
            <a:endParaRPr lang="en-US" dirty="0" smtClean="0">
              <a:solidFill>
                <a:srgbClr val="FF0000"/>
              </a:solidFill>
              <a:latin typeface="Times New Roman" pitchFamily="18" charset="0"/>
              <a:ea typeface="+mj-ea"/>
              <a:cs typeface="Times New Roman" pitchFamily="18" charset="0"/>
            </a:endParaRPr>
          </a:p>
          <a:p>
            <a:pPr algn="l"/>
            <a:r>
              <a:rPr lang="en-US" sz="2200" dirty="0" smtClean="0">
                <a:solidFill>
                  <a:srgbClr val="FF0000"/>
                </a:solidFill>
                <a:latin typeface="Times New Roman" pitchFamily="18" charset="0"/>
                <a:ea typeface="+mj-ea"/>
                <a:cs typeface="Times New Roman" pitchFamily="18" charset="0"/>
              </a:rPr>
              <a:t>Email</a:t>
            </a:r>
          </a:p>
          <a:p>
            <a:pPr algn="l"/>
            <a:r>
              <a:rPr lang="en-US" sz="2200" dirty="0" smtClean="0">
                <a:solidFill>
                  <a:srgbClr val="FF0000"/>
                </a:solidFill>
                <a:latin typeface="Times New Roman" pitchFamily="18" charset="0"/>
                <a:ea typeface="+mj-ea"/>
                <a:cs typeface="Times New Roman" pitchFamily="18" charset="0"/>
                <a:hlinkClick r:id="rId2"/>
              </a:rPr>
              <a:t>hasansaeedcontrol@gmail.com</a:t>
            </a:r>
            <a:endParaRPr lang="en-US" sz="2200" dirty="0" smtClean="0">
              <a:solidFill>
                <a:srgbClr val="FF0000"/>
              </a:solidFill>
              <a:latin typeface="Times New Roman" pitchFamily="18" charset="0"/>
              <a:ea typeface="+mj-ea"/>
              <a:cs typeface="Times New Roman" pitchFamily="18" charset="0"/>
            </a:endParaRPr>
          </a:p>
          <a:p>
            <a:pPr algn="l"/>
            <a:r>
              <a:rPr lang="en-US" sz="2200" dirty="0" smtClean="0">
                <a:solidFill>
                  <a:srgbClr val="FF0000"/>
                </a:solidFill>
                <a:latin typeface="Times New Roman" pitchFamily="18" charset="0"/>
                <a:ea typeface="+mj-ea"/>
                <a:cs typeface="Times New Roman" pitchFamily="18" charset="0"/>
              </a:rPr>
              <a:t>URL </a:t>
            </a:r>
          </a:p>
          <a:p>
            <a:pPr algn="l"/>
            <a:r>
              <a:rPr lang="en-US" sz="2200" dirty="0" smtClean="0">
                <a:solidFill>
                  <a:srgbClr val="FF0000"/>
                </a:solidFill>
                <a:latin typeface="Times New Roman" pitchFamily="18" charset="0"/>
                <a:ea typeface="+mj-ea"/>
                <a:cs typeface="Times New Roman" pitchFamily="18" charset="0"/>
                <a:hlinkClick r:id="rId3"/>
              </a:rPr>
              <a:t>http://shasansaeed.yolasite.com/</a:t>
            </a:r>
          </a:p>
          <a:p>
            <a:pPr algn="l"/>
            <a:r>
              <a:rPr lang="en-US" sz="2200" dirty="0" smtClean="0">
                <a:solidFill>
                  <a:srgbClr val="FF0000"/>
                </a:solidFill>
                <a:latin typeface="Times New Roman" pitchFamily="18" charset="0"/>
                <a:ea typeface="+mj-ea"/>
                <a:cs typeface="Times New Roman" pitchFamily="18" charset="0"/>
                <a:hlinkClick r:id="rId3"/>
              </a:rPr>
              <a:t>http://hasansaeed872726549.wordpress.com/</a:t>
            </a:r>
          </a:p>
          <a:p>
            <a:pPr algn="l"/>
            <a:r>
              <a:rPr lang="en-US" sz="2200" dirty="0" smtClean="0">
                <a:solidFill>
                  <a:srgbClr val="FF0000"/>
                </a:solidFill>
                <a:latin typeface="Times New Roman" pitchFamily="18" charset="0"/>
                <a:ea typeface="+mj-ea"/>
                <a:cs typeface="Times New Roman" pitchFamily="18" charset="0"/>
                <a:hlinkClick r:id="rId3"/>
              </a:rPr>
              <a:t>http://syedhasansaeed.gnomio.com/</a:t>
            </a:r>
          </a:p>
          <a:p>
            <a:endParaRPr lang="en-US" sz="1200" b="1" i="1" dirty="0" smtClean="0">
              <a:solidFill>
                <a:schemeClr val="tx1"/>
              </a:solidFill>
              <a:latin typeface="Times New Roman" pitchFamily="18" charset="0"/>
              <a:cs typeface="Times New Roman" pitchFamily="18" charset="0"/>
            </a:endParaRPr>
          </a:p>
          <a:p>
            <a:endParaRPr lang="en-US" sz="1200" b="1" i="1" dirty="0" smtClean="0">
              <a:solidFill>
                <a:schemeClr val="tx1"/>
              </a:solidFill>
              <a:latin typeface="Times New Roman" pitchFamily="18" charset="0"/>
              <a:cs typeface="Times New Roman" pitchFamily="18" charset="0"/>
            </a:endParaRPr>
          </a:p>
          <a:p>
            <a:r>
              <a:rPr lang="en-US" sz="1400" b="1" i="1" dirty="0" smtClean="0">
                <a:solidFill>
                  <a:schemeClr val="tx1"/>
                </a:solidFill>
                <a:latin typeface="Times New Roman" pitchFamily="18" charset="0"/>
                <a:cs typeface="Times New Roman" pitchFamily="18" charset="0"/>
              </a:rPr>
              <a:t>Declaration: The content of the presentation has been created for academic use /non-commercial use with fair dealing.</a:t>
            </a:r>
            <a:endParaRPr lang="en-US" sz="1400" dirty="0" smtClean="0">
              <a:solidFill>
                <a:schemeClr val="tx1"/>
              </a:solidFill>
              <a:latin typeface="Times New Roman" pitchFamily="18" charset="0"/>
              <a:cs typeface="Times New Roman" pitchFamily="18" charset="0"/>
            </a:endParaRPr>
          </a:p>
          <a:p>
            <a:endParaRPr lang="en-US" sz="2800" dirty="0" smtClean="0">
              <a:solidFill>
                <a:srgbClr val="FF0000"/>
              </a:solidFill>
              <a:latin typeface="Times New Roman" pitchFamily="18" charset="0"/>
              <a:ea typeface="+mj-ea"/>
              <a:cs typeface="Times New Roman" pitchFamily="18" charset="0"/>
            </a:endParaRPr>
          </a:p>
          <a:p>
            <a:endParaRPr lang="en-US" sz="2800" dirty="0" smtClean="0">
              <a:solidFill>
                <a:srgbClr val="FF0000"/>
              </a:solidFill>
              <a:latin typeface="Times New Roman" pitchFamily="18" charset="0"/>
              <a:ea typeface="+mj-ea"/>
              <a:cs typeface="Times New Roman" pitchFamily="18" charset="0"/>
            </a:endParaRPr>
          </a:p>
          <a:p>
            <a:endParaRPr lang="en-US" dirty="0" smtClean="0"/>
          </a:p>
          <a:p>
            <a:endParaRPr lang="en-US" dirty="0" smtClean="0"/>
          </a:p>
          <a:p>
            <a:endParaRPr lang="en-IN" dirty="0" smtClean="0">
              <a:solidFill>
                <a:schemeClr val="tx1"/>
              </a:solidFill>
              <a:latin typeface="Times New Roman" pitchFamily="18" charset="0"/>
              <a:cs typeface="Times New Roman" pitchFamily="18" charset="0"/>
            </a:endParaRPr>
          </a:p>
          <a:p>
            <a:endParaRPr lang="en-IN" dirty="0" smtClean="0">
              <a:solidFill>
                <a:schemeClr val="tx1"/>
              </a:solidFill>
              <a:latin typeface="Times New Roman" pitchFamily="18" charset="0"/>
              <a:cs typeface="Times New Roman" pitchFamily="18" charset="0"/>
            </a:endParaRPr>
          </a:p>
          <a:p>
            <a:endParaRPr lang="en-IN" dirty="0" smtClean="0">
              <a:solidFill>
                <a:schemeClr val="tx1"/>
              </a:solidFill>
              <a:latin typeface="Times New Roman" pitchFamily="18" charset="0"/>
              <a:cs typeface="Times New Roman" pitchFamily="18" charset="0"/>
            </a:endParaRPr>
          </a:p>
          <a:p>
            <a:endParaRPr lang="en-US" dirty="0"/>
          </a:p>
        </p:txBody>
      </p:sp>
      <p:sp>
        <p:nvSpPr>
          <p:cNvPr id="5" name="Slide Number Placeholder 4"/>
          <p:cNvSpPr>
            <a:spLocks noGrp="1"/>
          </p:cNvSpPr>
          <p:nvPr>
            <p:ph type="sldNum" sz="quarter" idx="12"/>
          </p:nvPr>
        </p:nvSpPr>
        <p:spPr/>
        <p:txBody>
          <a:bodyPr/>
          <a:lstStyle/>
          <a:p>
            <a:fld id="{435E54C7-FAA8-46C1-A880-53547F97989D}" type="slidenum">
              <a:rPr lang="en-US" smtClean="0"/>
              <a:pPr/>
              <a:t>2</a:t>
            </a:fld>
            <a:endParaRPr lang="en-US"/>
          </a:p>
        </p:txBody>
      </p:sp>
      <p:sp>
        <p:nvSpPr>
          <p:cNvPr id="6" name="Footer Placeholder 5"/>
          <p:cNvSpPr>
            <a:spLocks noGrp="1"/>
          </p:cNvSpPr>
          <p:nvPr>
            <p:ph type="ftr" sz="quarter" idx="11"/>
          </p:nvPr>
        </p:nvSpPr>
        <p:spPr/>
        <p:txBody>
          <a:bodyPr/>
          <a:lstStyle/>
          <a:p>
            <a:r>
              <a:rPr lang="en-US" smtClean="0"/>
              <a:t>syed hasan saeed</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409" y="433713"/>
            <a:ext cx="11808007" cy="5643602"/>
          </a:xfrm>
        </p:spPr>
        <p:txBody>
          <a:bodyPr>
            <a:normAutofit/>
          </a:bodyPr>
          <a:lstStyle/>
          <a:p>
            <a:pPr algn="ctr">
              <a:buNone/>
            </a:pPr>
            <a:r>
              <a:rPr lang="en-IN" sz="2200" dirty="0" smtClean="0">
                <a:latin typeface="Times New Roman" pitchFamily="18" charset="0"/>
                <a:cs typeface="Times New Roman" pitchFamily="18" charset="0"/>
              </a:rPr>
              <a:t> </a:t>
            </a:r>
            <a:r>
              <a:rPr lang="en-IN" sz="2200" dirty="0" smtClean="0">
                <a:solidFill>
                  <a:srgbClr val="C00000"/>
                </a:solidFill>
                <a:latin typeface="Times New Roman" pitchFamily="18" charset="0"/>
                <a:cs typeface="Times New Roman" pitchFamily="18" charset="0"/>
              </a:rPr>
              <a:t>REFERENCE BOOKS</a:t>
            </a:r>
          </a:p>
          <a:p>
            <a:r>
              <a:rPr lang="en-IN" sz="2200" dirty="0" smtClean="0">
                <a:latin typeface="Times New Roman" pitchFamily="18" charset="0"/>
                <a:cs typeface="Times New Roman" pitchFamily="18" charset="0"/>
              </a:rPr>
              <a:t>Introductory Circuit Analysis, Robert L. </a:t>
            </a:r>
            <a:r>
              <a:rPr lang="en-IN" sz="2200" dirty="0" err="1" smtClean="0">
                <a:latin typeface="Times New Roman" pitchFamily="18" charset="0"/>
                <a:cs typeface="Times New Roman" pitchFamily="18" charset="0"/>
              </a:rPr>
              <a:t>Boylested</a:t>
            </a:r>
            <a:r>
              <a:rPr lang="en-IN" sz="2200" dirty="0" smtClean="0">
                <a:latin typeface="Times New Roman" pitchFamily="18" charset="0"/>
                <a:cs typeface="Times New Roman" pitchFamily="18" charset="0"/>
              </a:rPr>
              <a:t>, Pearson Education, Prentice Hall.</a:t>
            </a:r>
          </a:p>
          <a:p>
            <a:pPr>
              <a:buNone/>
            </a:pPr>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Networks And Systems, </a:t>
            </a:r>
            <a:r>
              <a:rPr lang="en-IN" sz="2200" dirty="0" err="1" smtClean="0">
                <a:latin typeface="Times New Roman" pitchFamily="18" charset="0"/>
                <a:cs typeface="Times New Roman" pitchFamily="18" charset="0"/>
              </a:rPr>
              <a:t>Ashfaq</a:t>
            </a:r>
            <a:r>
              <a:rPr lang="en-IN" sz="2200" dirty="0" smtClean="0">
                <a:latin typeface="Times New Roman" pitchFamily="18" charset="0"/>
                <a:cs typeface="Times New Roman" pitchFamily="18" charset="0"/>
              </a:rPr>
              <a:t> Husain, </a:t>
            </a:r>
            <a:r>
              <a:rPr lang="en-IN" sz="2200" dirty="0" err="1" smtClean="0">
                <a:latin typeface="Times New Roman" pitchFamily="18" charset="0"/>
                <a:cs typeface="Times New Roman" pitchFamily="18" charset="0"/>
              </a:rPr>
              <a:t>Khanna</a:t>
            </a:r>
            <a:r>
              <a:rPr lang="en-IN" sz="2200" dirty="0" smtClean="0">
                <a:latin typeface="Times New Roman" pitchFamily="18" charset="0"/>
                <a:cs typeface="Times New Roman" pitchFamily="18" charset="0"/>
              </a:rPr>
              <a:t> Book Publishing Co (P) Ltd. Delhi.</a:t>
            </a:r>
          </a:p>
          <a:p>
            <a:pPr>
              <a:buNone/>
            </a:pPr>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Networks And Systems, A </a:t>
            </a:r>
            <a:r>
              <a:rPr lang="en-IN" sz="2200" dirty="0" err="1" smtClean="0">
                <a:latin typeface="Times New Roman" pitchFamily="18" charset="0"/>
                <a:cs typeface="Times New Roman" pitchFamily="18" charset="0"/>
              </a:rPr>
              <a:t>Sudhakar</a:t>
            </a:r>
            <a:r>
              <a:rPr lang="en-IN" sz="2200" dirty="0" smtClean="0">
                <a:latin typeface="Times New Roman" pitchFamily="18" charset="0"/>
                <a:cs typeface="Times New Roman" pitchFamily="18" charset="0"/>
              </a:rPr>
              <a:t>, </a:t>
            </a:r>
            <a:r>
              <a:rPr lang="en-IN" sz="2200" dirty="0" err="1" smtClean="0">
                <a:latin typeface="Times New Roman" pitchFamily="18" charset="0"/>
                <a:cs typeface="Times New Roman" pitchFamily="18" charset="0"/>
              </a:rPr>
              <a:t>Shyammohan</a:t>
            </a:r>
            <a:r>
              <a:rPr lang="en-IN" sz="2200" dirty="0" smtClean="0">
                <a:latin typeface="Times New Roman" pitchFamily="18" charset="0"/>
                <a:cs typeface="Times New Roman" pitchFamily="18" charset="0"/>
              </a:rPr>
              <a:t> S </a:t>
            </a:r>
            <a:r>
              <a:rPr lang="en-IN" sz="2200" dirty="0" err="1" smtClean="0">
                <a:latin typeface="Times New Roman" pitchFamily="18" charset="0"/>
                <a:cs typeface="Times New Roman" pitchFamily="18" charset="0"/>
              </a:rPr>
              <a:t>Palli</a:t>
            </a:r>
            <a:r>
              <a:rPr lang="en-IN" sz="2200" dirty="0" smtClean="0">
                <a:latin typeface="Times New Roman" pitchFamily="18" charset="0"/>
                <a:cs typeface="Times New Roman" pitchFamily="18" charset="0"/>
              </a:rPr>
              <a:t>, Tata McGraw Hill, New Delhi.</a:t>
            </a:r>
          </a:p>
          <a:p>
            <a:pPr>
              <a:buNone/>
            </a:pPr>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Network Analysis, M.E. Van </a:t>
            </a:r>
            <a:r>
              <a:rPr lang="en-IN" sz="2200" dirty="0" err="1" smtClean="0">
                <a:latin typeface="Times New Roman" pitchFamily="18" charset="0"/>
                <a:cs typeface="Times New Roman" pitchFamily="18" charset="0"/>
              </a:rPr>
              <a:t>Valkenburg</a:t>
            </a:r>
            <a:r>
              <a:rPr lang="en-IN" sz="2200" dirty="0" smtClean="0">
                <a:latin typeface="Times New Roman" pitchFamily="18" charset="0"/>
                <a:cs typeface="Times New Roman" pitchFamily="18" charset="0"/>
              </a:rPr>
              <a:t>, PHI Learning Private limited, New Delhi.</a:t>
            </a:r>
          </a:p>
          <a:p>
            <a:pPr>
              <a:buNone/>
            </a:pPr>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Circuit Analysis Principle and Applications, Allan H. Robbins &amp;Wilhelm C. Miller, DELMAR CENGAGE Learning, Indian Reprint.</a:t>
            </a:r>
          </a:p>
          <a:p>
            <a:pPr>
              <a:buNone/>
            </a:pPr>
            <a:endParaRPr lang="en-IN" sz="2200" dirty="0" smtClean="0">
              <a:latin typeface="Times New Roman" pitchFamily="18" charset="0"/>
              <a:cs typeface="Times New Roman" pitchFamily="18" charset="0"/>
            </a:endParaRPr>
          </a:p>
          <a:p>
            <a:r>
              <a:rPr lang="en-IN" sz="2200" dirty="0" smtClean="0">
                <a:latin typeface="Times New Roman" pitchFamily="18" charset="0"/>
                <a:cs typeface="Times New Roman" pitchFamily="18" charset="0"/>
              </a:rPr>
              <a:t>Network Analysis and Synthesis, </a:t>
            </a:r>
            <a:r>
              <a:rPr lang="en-IN" sz="2200" dirty="0" err="1" smtClean="0">
                <a:latin typeface="Times New Roman" pitchFamily="18" charset="0"/>
                <a:cs typeface="Times New Roman" pitchFamily="18" charset="0"/>
              </a:rPr>
              <a:t>Pankaj</a:t>
            </a:r>
            <a:r>
              <a:rPr lang="en-IN" sz="2200" dirty="0" smtClean="0">
                <a:latin typeface="Times New Roman" pitchFamily="18" charset="0"/>
                <a:cs typeface="Times New Roman" pitchFamily="18" charset="0"/>
              </a:rPr>
              <a:t> </a:t>
            </a:r>
            <a:r>
              <a:rPr lang="en-IN" sz="2200" dirty="0" err="1" smtClean="0">
                <a:latin typeface="Times New Roman" pitchFamily="18" charset="0"/>
                <a:cs typeface="Times New Roman" pitchFamily="18" charset="0"/>
              </a:rPr>
              <a:t>Swarnkar</a:t>
            </a:r>
            <a:r>
              <a:rPr lang="en-IN" sz="2200" dirty="0" smtClean="0">
                <a:latin typeface="Times New Roman" pitchFamily="18" charset="0"/>
                <a:cs typeface="Times New Roman" pitchFamily="18" charset="0"/>
              </a:rPr>
              <a:t>, </a:t>
            </a:r>
            <a:r>
              <a:rPr lang="en-IN" sz="2200" dirty="0" err="1" smtClean="0">
                <a:latin typeface="Times New Roman" pitchFamily="18" charset="0"/>
                <a:cs typeface="Times New Roman" pitchFamily="18" charset="0"/>
              </a:rPr>
              <a:t>Satya</a:t>
            </a:r>
            <a:r>
              <a:rPr lang="en-IN" sz="2200" dirty="0" smtClean="0">
                <a:latin typeface="Times New Roman" pitchFamily="18" charset="0"/>
                <a:cs typeface="Times New Roman" pitchFamily="18" charset="0"/>
              </a:rPr>
              <a:t> </a:t>
            </a:r>
            <a:r>
              <a:rPr lang="en-IN" sz="2200" dirty="0" err="1" smtClean="0">
                <a:latin typeface="Times New Roman" pitchFamily="18" charset="0"/>
                <a:cs typeface="Times New Roman" pitchFamily="18" charset="0"/>
              </a:rPr>
              <a:t>Parkashan</a:t>
            </a:r>
            <a:r>
              <a:rPr lang="en-IN" sz="2200" dirty="0" smtClean="0">
                <a:latin typeface="Times New Roman" pitchFamily="18" charset="0"/>
                <a:cs typeface="Times New Roman" pitchFamily="18" charset="0"/>
              </a:rPr>
              <a:t>, New Delhi.</a:t>
            </a:r>
            <a:endParaRPr lang="en-IN" sz="2200" dirty="0">
              <a:latin typeface="Times New Roman" pitchFamily="18" charset="0"/>
              <a:cs typeface="Times New Roman" pitchFamily="18" charset="0"/>
            </a:endParaRPr>
          </a:p>
          <a:p>
            <a:pPr algn="ctr">
              <a:buNone/>
            </a:pPr>
            <a:endParaRPr lang="en-US" sz="2200" dirty="0">
              <a:solidFill>
                <a:srgbClr val="C00000"/>
              </a:solidFill>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smtClean="0"/>
              <a:t>syed hasan saeed</a:t>
            </a:r>
            <a:endParaRPr lang="en-US"/>
          </a:p>
        </p:txBody>
      </p:sp>
      <p:sp>
        <p:nvSpPr>
          <p:cNvPr id="6" name="Slide Number Placeholder 5"/>
          <p:cNvSpPr>
            <a:spLocks noGrp="1"/>
          </p:cNvSpPr>
          <p:nvPr>
            <p:ph type="sldNum" sz="quarter" idx="12"/>
          </p:nvPr>
        </p:nvSpPr>
        <p:spPr/>
        <p:txBody>
          <a:bodyPr/>
          <a:lstStyle/>
          <a:p>
            <a:fld id="{B68DB804-655C-4897-A9A8-35B75A326C3D}"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635" y="71414"/>
            <a:ext cx="11617555" cy="714380"/>
          </a:xfrm>
        </p:spPr>
        <p:txBody>
          <a:bodyPr>
            <a:normAutofit/>
          </a:bodyPr>
          <a:lstStyle/>
          <a:p>
            <a:r>
              <a:rPr lang="en-IN" sz="2800" dirty="0" smtClean="0">
                <a:solidFill>
                  <a:srgbClr val="00B050"/>
                </a:solidFill>
                <a:latin typeface="Times New Roman" pitchFamily="18" charset="0"/>
                <a:cs typeface="Times New Roman" pitchFamily="18" charset="0"/>
              </a:rPr>
              <a:t>BASIC TERMS AND DEFINITIONS</a:t>
            </a:r>
            <a:endParaRPr lang="en-US" sz="2800" dirty="0">
              <a:solidFill>
                <a:srgbClr val="FF0000"/>
              </a:solidFill>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smtClean="0"/>
              <a:t>syed hasan saeed</a:t>
            </a:r>
            <a:endParaRPr lang="en-US"/>
          </a:p>
        </p:txBody>
      </p:sp>
      <p:sp>
        <p:nvSpPr>
          <p:cNvPr id="6" name="Slide Number Placeholder 5"/>
          <p:cNvSpPr>
            <a:spLocks noGrp="1"/>
          </p:cNvSpPr>
          <p:nvPr>
            <p:ph type="sldNum" sz="quarter" idx="12"/>
          </p:nvPr>
        </p:nvSpPr>
        <p:spPr/>
        <p:txBody>
          <a:bodyPr/>
          <a:lstStyle/>
          <a:p>
            <a:fld id="{435E54C7-FAA8-46C1-A880-53547F97989D}" type="slidenum">
              <a:rPr lang="en-US" smtClean="0"/>
              <a:pPr/>
              <a:t>4</a:t>
            </a:fld>
            <a:endParaRPr lang="en-US"/>
          </a:p>
        </p:txBody>
      </p:sp>
      <p:sp>
        <p:nvSpPr>
          <p:cNvPr id="7" name="Content Placeholder 6"/>
          <p:cNvSpPr>
            <a:spLocks noGrp="1"/>
          </p:cNvSpPr>
          <p:nvPr>
            <p:ph idx="1"/>
          </p:nvPr>
        </p:nvSpPr>
        <p:spPr>
          <a:xfrm>
            <a:off x="190409" y="714356"/>
            <a:ext cx="11808007" cy="5643602"/>
          </a:xfrm>
        </p:spPr>
        <p:txBody>
          <a:bodyPr>
            <a:normAutofit/>
          </a:bodyPr>
          <a:lstStyle/>
          <a:p>
            <a:pPr>
              <a:lnSpc>
                <a:spcPct val="150000"/>
              </a:lnSpc>
              <a:buFont typeface="Wingdings" pitchFamily="2" charset="2"/>
              <a:buChar char="v"/>
            </a:pPr>
            <a:r>
              <a:rPr lang="en-US" sz="2200" u="sng" dirty="0" smtClean="0">
                <a:solidFill>
                  <a:schemeClr val="accent6">
                    <a:lumMod val="50000"/>
                  </a:schemeClr>
                </a:solidFill>
                <a:latin typeface="Times New Roman" pitchFamily="18" charset="0"/>
                <a:cs typeface="Times New Roman" pitchFamily="18" charset="0"/>
              </a:rPr>
              <a:t>  NETWORK: </a:t>
            </a:r>
            <a:r>
              <a:rPr lang="en-US" sz="2200" dirty="0" smtClean="0">
                <a:latin typeface="Times New Roman" pitchFamily="18" charset="0"/>
                <a:cs typeface="Times New Roman" pitchFamily="18" charset="0"/>
              </a:rPr>
              <a:t>Network is an arrangement of different network elements (passive or active) connected in any manner, so that the energy can be transferred from the point of supply to the point of load. </a:t>
            </a:r>
          </a:p>
          <a:p>
            <a:pPr>
              <a:lnSpc>
                <a:spcPct val="150000"/>
              </a:lnSpc>
              <a:buFont typeface="Wingdings" pitchFamily="2" charset="2"/>
              <a:buChar char="v"/>
            </a:pPr>
            <a:r>
              <a:rPr lang="en-US" sz="2200" u="sng" dirty="0" smtClean="0">
                <a:solidFill>
                  <a:schemeClr val="accent6">
                    <a:lumMod val="50000"/>
                  </a:schemeClr>
                </a:solidFill>
                <a:latin typeface="Times New Roman" pitchFamily="18" charset="0"/>
                <a:cs typeface="Times New Roman" pitchFamily="18" charset="0"/>
              </a:rPr>
              <a:t>CIRCUIT: </a:t>
            </a:r>
            <a:r>
              <a:rPr lang="en-US" sz="2200" dirty="0" smtClean="0">
                <a:latin typeface="Times New Roman" pitchFamily="18" charset="0"/>
                <a:cs typeface="Times New Roman" pitchFamily="18" charset="0"/>
              </a:rPr>
              <a:t>Circuit is the network, which must have at least one closed path, so that current can flow in it. So all circuits are network but all networks are not circuit.</a:t>
            </a:r>
          </a:p>
          <a:p>
            <a:pPr>
              <a:lnSpc>
                <a:spcPct val="150000"/>
              </a:lnSpc>
              <a:buFont typeface="Wingdings" pitchFamily="2" charset="2"/>
              <a:buChar char="v"/>
            </a:pPr>
            <a:r>
              <a:rPr lang="en-US" sz="2200" u="sng" dirty="0" smtClean="0">
                <a:solidFill>
                  <a:schemeClr val="accent6">
                    <a:lumMod val="50000"/>
                  </a:schemeClr>
                </a:solidFill>
                <a:latin typeface="Times New Roman" pitchFamily="18" charset="0"/>
                <a:cs typeface="Times New Roman" pitchFamily="18" charset="0"/>
              </a:rPr>
              <a:t>NETWORK ANALYSIS: </a:t>
            </a:r>
            <a:r>
              <a:rPr lang="en-US" sz="2200" dirty="0" smtClean="0">
                <a:latin typeface="Times New Roman" pitchFamily="18" charset="0"/>
                <a:cs typeface="Times New Roman" pitchFamily="18" charset="0"/>
              </a:rPr>
              <a:t>It is the process to find the output or response, when the network and input are known.</a:t>
            </a:r>
          </a:p>
          <a:p>
            <a:pPr>
              <a:lnSpc>
                <a:spcPct val="150000"/>
              </a:lnSpc>
              <a:buFont typeface="Wingdings" pitchFamily="2" charset="2"/>
              <a:buChar char="v"/>
            </a:pPr>
            <a:r>
              <a:rPr lang="en-US" sz="2200" u="sng" dirty="0" smtClean="0">
                <a:solidFill>
                  <a:schemeClr val="accent6">
                    <a:lumMod val="50000"/>
                  </a:schemeClr>
                </a:solidFill>
                <a:latin typeface="Times New Roman" pitchFamily="18" charset="0"/>
                <a:cs typeface="Times New Roman" pitchFamily="18" charset="0"/>
              </a:rPr>
              <a:t>NETWORK SYNTHESIS: </a:t>
            </a:r>
            <a:r>
              <a:rPr lang="en-US" sz="2200" dirty="0" smtClean="0">
                <a:latin typeface="Times New Roman" pitchFamily="18" charset="0"/>
                <a:cs typeface="Times New Roman" pitchFamily="18" charset="0"/>
              </a:rPr>
              <a:t>It is the process to design the network, when the reference input and the desired output are known.</a:t>
            </a:r>
            <a:endParaRPr lang="en-US" sz="2200" dirty="0">
              <a:latin typeface="Times New Roman" pitchFamily="18" charset="0"/>
              <a:cs typeface="Times New Roman" pitchFamily="18" charset="0"/>
            </a:endParaRPr>
          </a:p>
        </p:txBody>
      </p:sp>
      <p:graphicFrame>
        <p:nvGraphicFramePr>
          <p:cNvPr id="8" name="Object 7"/>
          <p:cNvGraphicFramePr>
            <a:graphicFrameLocks noChangeAspect="1"/>
          </p:cNvGraphicFramePr>
          <p:nvPr/>
        </p:nvGraphicFramePr>
        <p:xfrm>
          <a:off x="6018233" y="3321050"/>
          <a:ext cx="152360" cy="215900"/>
        </p:xfrm>
        <a:graphic>
          <a:graphicData uri="http://schemas.openxmlformats.org/presentationml/2006/ole">
            <p:oleObj spid="_x0000_s6145" name="Equation" r:id="rId3" imgW="114120" imgH="215640" progId="Equation.3">
              <p:embed/>
            </p:oleObj>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635" y="71414"/>
            <a:ext cx="11617555" cy="714380"/>
          </a:xfrm>
        </p:spPr>
        <p:txBody>
          <a:bodyPr>
            <a:normAutofit/>
          </a:bodyPr>
          <a:lstStyle/>
          <a:p>
            <a:r>
              <a:rPr lang="en-IN" sz="2800" dirty="0" smtClean="0">
                <a:solidFill>
                  <a:srgbClr val="00B050"/>
                </a:solidFill>
                <a:latin typeface="Times New Roman" pitchFamily="18" charset="0"/>
                <a:cs typeface="Times New Roman" pitchFamily="18" charset="0"/>
              </a:rPr>
              <a:t>BASIC TERMS AND DEFINITIONS</a:t>
            </a:r>
            <a:endParaRPr lang="en-US" sz="2800" dirty="0">
              <a:solidFill>
                <a:srgbClr val="FF0000"/>
              </a:solidFill>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smtClean="0"/>
              <a:t>syed hasan saeed</a:t>
            </a:r>
            <a:endParaRPr lang="en-US"/>
          </a:p>
        </p:txBody>
      </p:sp>
      <p:sp>
        <p:nvSpPr>
          <p:cNvPr id="6" name="Slide Number Placeholder 5"/>
          <p:cNvSpPr>
            <a:spLocks noGrp="1"/>
          </p:cNvSpPr>
          <p:nvPr>
            <p:ph type="sldNum" sz="quarter" idx="12"/>
          </p:nvPr>
        </p:nvSpPr>
        <p:spPr/>
        <p:txBody>
          <a:bodyPr/>
          <a:lstStyle/>
          <a:p>
            <a:fld id="{435E54C7-FAA8-46C1-A880-53547F97989D}" type="slidenum">
              <a:rPr lang="en-US" smtClean="0"/>
              <a:pPr/>
              <a:t>5</a:t>
            </a:fld>
            <a:endParaRPr lang="en-US"/>
          </a:p>
        </p:txBody>
      </p:sp>
      <p:sp>
        <p:nvSpPr>
          <p:cNvPr id="7" name="Content Placeholder 6"/>
          <p:cNvSpPr>
            <a:spLocks noGrp="1"/>
          </p:cNvSpPr>
          <p:nvPr>
            <p:ph idx="1"/>
          </p:nvPr>
        </p:nvSpPr>
        <p:spPr>
          <a:xfrm>
            <a:off x="190409" y="714356"/>
            <a:ext cx="11808007" cy="5643602"/>
          </a:xfrm>
        </p:spPr>
        <p:txBody>
          <a:bodyPr>
            <a:normAutofit/>
          </a:bodyPr>
          <a:lstStyle/>
          <a:p>
            <a:pPr>
              <a:lnSpc>
                <a:spcPct val="150000"/>
              </a:lnSpc>
              <a:buFont typeface="Wingdings" pitchFamily="2" charset="2"/>
              <a:buChar char="v"/>
            </a:pPr>
            <a:r>
              <a:rPr lang="en-US" sz="2200" u="sng" dirty="0" smtClean="0">
                <a:solidFill>
                  <a:schemeClr val="accent6">
                    <a:lumMod val="50000"/>
                  </a:schemeClr>
                </a:solidFill>
                <a:latin typeface="Times New Roman" pitchFamily="18" charset="0"/>
                <a:cs typeface="Times New Roman" pitchFamily="18" charset="0"/>
              </a:rPr>
              <a:t>CURRENT: </a:t>
            </a:r>
            <a:r>
              <a:rPr lang="en-US" sz="2200" dirty="0" smtClean="0">
                <a:latin typeface="Times New Roman" pitchFamily="18" charset="0"/>
                <a:cs typeface="Times New Roman" pitchFamily="18" charset="0"/>
              </a:rPr>
              <a:t>Electric current is defined as the time rate of net motion of electric charge in any conductor. Unit is Ampere (A)</a:t>
            </a:r>
          </a:p>
          <a:p>
            <a:pPr>
              <a:lnSpc>
                <a:spcPct val="150000"/>
              </a:lnSpc>
              <a:buFont typeface="Wingdings" pitchFamily="2" charset="2"/>
              <a:buChar char="v"/>
            </a:pPr>
            <a:r>
              <a:rPr lang="en-US" sz="2200" u="sng" dirty="0" smtClean="0">
                <a:solidFill>
                  <a:schemeClr val="accent6">
                    <a:lumMod val="50000"/>
                  </a:schemeClr>
                </a:solidFill>
                <a:latin typeface="Times New Roman" pitchFamily="18" charset="0"/>
                <a:cs typeface="Times New Roman" pitchFamily="18" charset="0"/>
              </a:rPr>
              <a:t>POTENTIAL: </a:t>
            </a:r>
            <a:r>
              <a:rPr lang="en-US" sz="2200" dirty="0" smtClean="0">
                <a:latin typeface="Times New Roman" pitchFamily="18" charset="0"/>
                <a:cs typeface="Times New Roman" pitchFamily="18" charset="0"/>
              </a:rPr>
              <a:t>Potential is defined as the work done to transfer unit positive charge from infinity to any point in electric field. Its unit is volt. It is also known as voltage.</a:t>
            </a:r>
          </a:p>
          <a:p>
            <a:pPr>
              <a:lnSpc>
                <a:spcPct val="150000"/>
              </a:lnSpc>
              <a:buFont typeface="Wingdings" pitchFamily="2" charset="2"/>
              <a:buChar char="v"/>
            </a:pPr>
            <a:r>
              <a:rPr lang="en-US" sz="2200" u="sng" dirty="0" smtClean="0">
                <a:solidFill>
                  <a:schemeClr val="accent6">
                    <a:lumMod val="50000"/>
                  </a:schemeClr>
                </a:solidFill>
                <a:latin typeface="Times New Roman" pitchFamily="18" charset="0"/>
                <a:cs typeface="Times New Roman" pitchFamily="18" charset="0"/>
              </a:rPr>
              <a:t>POTENTIAL DIFFERENCE: </a:t>
            </a:r>
            <a:r>
              <a:rPr lang="en-US" sz="2200" dirty="0" smtClean="0">
                <a:latin typeface="Times New Roman" pitchFamily="18" charset="0"/>
                <a:cs typeface="Times New Roman" pitchFamily="18" charset="0"/>
              </a:rPr>
              <a:t>It is given by work required to transfer unit positive charge from one point to the other. Electrical energy flows from higher potential to lower potential.</a:t>
            </a:r>
          </a:p>
          <a:p>
            <a:pPr>
              <a:lnSpc>
                <a:spcPct val="150000"/>
              </a:lnSpc>
              <a:buFont typeface="Wingdings" pitchFamily="2" charset="2"/>
              <a:buChar char="v"/>
            </a:pPr>
            <a:r>
              <a:rPr lang="en-US" sz="2200" u="sng" dirty="0" smtClean="0">
                <a:solidFill>
                  <a:schemeClr val="accent6">
                    <a:lumMod val="50000"/>
                  </a:schemeClr>
                </a:solidFill>
                <a:latin typeface="Times New Roman" pitchFamily="18" charset="0"/>
                <a:cs typeface="Times New Roman" pitchFamily="18" charset="0"/>
              </a:rPr>
              <a:t>POWER: </a:t>
            </a:r>
            <a:r>
              <a:rPr lang="en-US" sz="2200" dirty="0" smtClean="0">
                <a:latin typeface="Times New Roman" pitchFamily="18" charset="0"/>
                <a:cs typeface="Times New Roman" pitchFamily="18" charset="0"/>
              </a:rPr>
              <a:t>Power is defined as the rate of change of energy. </a:t>
            </a:r>
          </a:p>
          <a:p>
            <a:pPr>
              <a:lnSpc>
                <a:spcPct val="150000"/>
              </a:lnSpc>
              <a:buNone/>
            </a:pPr>
            <a:r>
              <a:rPr lang="en-US" sz="2200" dirty="0" smtClean="0">
                <a:latin typeface="Times New Roman" pitchFamily="18" charset="0"/>
                <a:cs typeface="Times New Roman" pitchFamily="18" charset="0"/>
              </a:rPr>
              <a:t>     p = v * I and energy is given by  </a:t>
            </a:r>
            <a:endParaRPr lang="en-US" sz="2200" dirty="0">
              <a:latin typeface="Times New Roman" pitchFamily="18" charset="0"/>
              <a:cs typeface="Times New Roman" pitchFamily="18" charset="0"/>
            </a:endParaRPr>
          </a:p>
        </p:txBody>
      </p:sp>
      <p:graphicFrame>
        <p:nvGraphicFramePr>
          <p:cNvPr id="8" name="Object 7"/>
          <p:cNvGraphicFramePr>
            <a:graphicFrameLocks noChangeAspect="1"/>
          </p:cNvGraphicFramePr>
          <p:nvPr/>
        </p:nvGraphicFramePr>
        <p:xfrm>
          <a:off x="6018233" y="3321050"/>
          <a:ext cx="152360" cy="215900"/>
        </p:xfrm>
        <a:graphic>
          <a:graphicData uri="http://schemas.openxmlformats.org/presentationml/2006/ole">
            <p:oleObj spid="_x0000_s63490" name="Equation" r:id="rId3" imgW="114120" imgH="215640" progId="Equation.3">
              <p:embed/>
            </p:oleObj>
          </a:graphicData>
        </a:graphic>
      </p:graphicFrame>
      <p:graphicFrame>
        <p:nvGraphicFramePr>
          <p:cNvPr id="9" name="Object 8"/>
          <p:cNvGraphicFramePr>
            <a:graphicFrameLocks noChangeAspect="1"/>
          </p:cNvGraphicFramePr>
          <p:nvPr/>
        </p:nvGraphicFramePr>
        <p:xfrm>
          <a:off x="3072021" y="5118770"/>
          <a:ext cx="3370549" cy="459740"/>
        </p:xfrm>
        <a:graphic>
          <a:graphicData uri="http://schemas.openxmlformats.org/presentationml/2006/ole">
            <p:oleObj spid="_x0000_s63491" name="Equation" r:id="rId4" imgW="1536480" imgH="279360" progId="Equation.3">
              <p:embed/>
            </p:oleObj>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635" y="71414"/>
            <a:ext cx="11617555" cy="714380"/>
          </a:xfrm>
        </p:spPr>
        <p:txBody>
          <a:bodyPr>
            <a:normAutofit/>
          </a:bodyPr>
          <a:lstStyle/>
          <a:p>
            <a:r>
              <a:rPr lang="en-IN" sz="2800" dirty="0" smtClean="0">
                <a:solidFill>
                  <a:srgbClr val="00B050"/>
                </a:solidFill>
                <a:latin typeface="Times New Roman" pitchFamily="18" charset="0"/>
                <a:cs typeface="Times New Roman" pitchFamily="18" charset="0"/>
              </a:rPr>
              <a:t>BASIC TERMS AND DEFINITIONS</a:t>
            </a:r>
            <a:endParaRPr lang="en-US" sz="2800" dirty="0">
              <a:solidFill>
                <a:srgbClr val="FF0000"/>
              </a:solidFill>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smtClean="0"/>
              <a:t>syed hasan saeed</a:t>
            </a:r>
            <a:endParaRPr lang="en-US"/>
          </a:p>
        </p:txBody>
      </p:sp>
      <p:sp>
        <p:nvSpPr>
          <p:cNvPr id="6" name="Slide Number Placeholder 5"/>
          <p:cNvSpPr>
            <a:spLocks noGrp="1"/>
          </p:cNvSpPr>
          <p:nvPr>
            <p:ph type="sldNum" sz="quarter" idx="12"/>
          </p:nvPr>
        </p:nvSpPr>
        <p:spPr/>
        <p:txBody>
          <a:bodyPr/>
          <a:lstStyle/>
          <a:p>
            <a:fld id="{435E54C7-FAA8-46C1-A880-53547F97989D}" type="slidenum">
              <a:rPr lang="en-US" smtClean="0"/>
              <a:pPr/>
              <a:t>6</a:t>
            </a:fld>
            <a:endParaRPr lang="en-US"/>
          </a:p>
        </p:txBody>
      </p:sp>
      <p:sp>
        <p:nvSpPr>
          <p:cNvPr id="7" name="Content Placeholder 6"/>
          <p:cNvSpPr>
            <a:spLocks noGrp="1"/>
          </p:cNvSpPr>
          <p:nvPr>
            <p:ph idx="1"/>
          </p:nvPr>
        </p:nvSpPr>
        <p:spPr>
          <a:xfrm>
            <a:off x="190409" y="714356"/>
            <a:ext cx="11808007" cy="5643602"/>
          </a:xfrm>
        </p:spPr>
        <p:txBody>
          <a:bodyPr>
            <a:normAutofit fontScale="92500" lnSpcReduction="10000"/>
          </a:bodyPr>
          <a:lstStyle/>
          <a:p>
            <a:pPr>
              <a:lnSpc>
                <a:spcPct val="150000"/>
              </a:lnSpc>
              <a:buFont typeface="Wingdings" pitchFamily="2" charset="2"/>
              <a:buChar char="v"/>
            </a:pPr>
            <a:r>
              <a:rPr lang="en-US" sz="2200" dirty="0" smtClean="0">
                <a:latin typeface="Times New Roman" pitchFamily="18" charset="0"/>
                <a:cs typeface="Times New Roman" pitchFamily="18" charset="0"/>
              </a:rPr>
              <a:t>  POWER IN AC CIRCUIT: Power in ac circuit is classified as</a:t>
            </a:r>
          </a:p>
          <a:p>
            <a:pPr marL="457200" indent="-457200">
              <a:lnSpc>
                <a:spcPct val="150000"/>
              </a:lnSpc>
              <a:buFont typeface="+mj-lt"/>
              <a:buAutoNum type="arabicPeriod"/>
            </a:pPr>
            <a:r>
              <a:rPr lang="en-US" sz="2400" u="sng" dirty="0" smtClean="0">
                <a:solidFill>
                  <a:schemeClr val="accent6">
                    <a:lumMod val="50000"/>
                  </a:schemeClr>
                </a:solidFill>
                <a:latin typeface="Times New Roman" pitchFamily="18" charset="0"/>
                <a:cs typeface="Times New Roman" pitchFamily="18" charset="0"/>
              </a:rPr>
              <a:t>Apparent Power:</a:t>
            </a:r>
          </a:p>
          <a:p>
            <a:pPr marL="457200" indent="-457200">
              <a:lnSpc>
                <a:spcPct val="150000"/>
              </a:lnSpc>
              <a:buNone/>
            </a:pPr>
            <a:r>
              <a:rPr lang="en-US" sz="2200" dirty="0" smtClean="0">
                <a:latin typeface="Times New Roman" pitchFamily="18" charset="0"/>
                <a:cs typeface="Times New Roman" pitchFamily="18" charset="0"/>
              </a:rPr>
              <a:t>      Product of voltage and current. Its unit is volt-amp.</a:t>
            </a:r>
          </a:p>
          <a:p>
            <a:pPr>
              <a:lnSpc>
                <a:spcPct val="150000"/>
              </a:lnSpc>
              <a:buNone/>
            </a:pPr>
            <a:r>
              <a:rPr lang="en-US" sz="2200" dirty="0" smtClean="0">
                <a:latin typeface="Times New Roman" pitchFamily="18" charset="0"/>
                <a:cs typeface="Times New Roman" pitchFamily="18" charset="0"/>
              </a:rPr>
              <a:t>      S = VI  Volt-Amp = I</a:t>
            </a:r>
            <a:r>
              <a:rPr lang="en-US" sz="2200" baseline="30000" dirty="0" smtClean="0">
                <a:latin typeface="Times New Roman" pitchFamily="18" charset="0"/>
                <a:cs typeface="Times New Roman" pitchFamily="18" charset="0"/>
              </a:rPr>
              <a:t>2 </a:t>
            </a:r>
            <a:r>
              <a:rPr lang="en-US" sz="2200" dirty="0" smtClean="0">
                <a:latin typeface="Times New Roman" pitchFamily="18" charset="0"/>
                <a:cs typeface="Times New Roman" pitchFamily="18" charset="0"/>
              </a:rPr>
              <a:t>Z                     where Z is the impedance in ohms</a:t>
            </a:r>
            <a:r>
              <a:rPr lang="en-US" sz="2200" baseline="30000" dirty="0" smtClean="0">
                <a:latin typeface="Times New Roman" pitchFamily="18" charset="0"/>
                <a:cs typeface="Times New Roman" pitchFamily="18" charset="0"/>
              </a:rPr>
              <a:t> </a:t>
            </a:r>
          </a:p>
          <a:p>
            <a:pPr marL="457200" indent="-457200">
              <a:lnSpc>
                <a:spcPct val="150000"/>
              </a:lnSpc>
              <a:buAutoNum type="arabicPeriod" startAt="2"/>
            </a:pPr>
            <a:r>
              <a:rPr lang="en-US" sz="2400" u="sng" dirty="0" smtClean="0">
                <a:solidFill>
                  <a:schemeClr val="accent6">
                    <a:lumMod val="50000"/>
                  </a:schemeClr>
                </a:solidFill>
                <a:latin typeface="Times New Roman" pitchFamily="18" charset="0"/>
                <a:cs typeface="Times New Roman" pitchFamily="18" charset="0"/>
              </a:rPr>
              <a:t>Active Power: </a:t>
            </a:r>
          </a:p>
          <a:p>
            <a:pPr marL="457200" indent="-457200">
              <a:lnSpc>
                <a:spcPct val="150000"/>
              </a:lnSpc>
              <a:buNone/>
            </a:pPr>
            <a:r>
              <a:rPr lang="en-US" sz="2200" dirty="0" smtClean="0">
                <a:solidFill>
                  <a:srgbClr val="7030A0"/>
                </a:solidFill>
                <a:latin typeface="Times New Roman" pitchFamily="18" charset="0"/>
                <a:cs typeface="Times New Roman" pitchFamily="18" charset="0"/>
              </a:rPr>
              <a:t>       </a:t>
            </a:r>
            <a:r>
              <a:rPr lang="en-US" sz="2200" dirty="0" smtClean="0">
                <a:latin typeface="Times New Roman" pitchFamily="18" charset="0"/>
                <a:cs typeface="Times New Roman" pitchFamily="18" charset="0"/>
              </a:rPr>
              <a:t>It is given by  P = VI </a:t>
            </a:r>
            <a:r>
              <a:rPr lang="en-US" sz="2200" dirty="0" err="1" smtClean="0">
                <a:latin typeface="Times New Roman" pitchFamily="18" charset="0"/>
                <a:cs typeface="Times New Roman" pitchFamily="18" charset="0"/>
              </a:rPr>
              <a:t>cos</a:t>
            </a:r>
            <a:r>
              <a:rPr lang="el-GR" sz="2200" dirty="0" smtClean="0">
                <a:latin typeface="Times New Roman" pitchFamily="18" charset="0"/>
                <a:cs typeface="Times New Roman" pitchFamily="18" charset="0"/>
              </a:rPr>
              <a:t>θ</a:t>
            </a:r>
            <a:r>
              <a:rPr lang="en-US" sz="2200" dirty="0" smtClean="0">
                <a:latin typeface="Times New Roman" pitchFamily="18" charset="0"/>
                <a:cs typeface="Times New Roman" pitchFamily="18" charset="0"/>
              </a:rPr>
              <a:t>   Watt</a:t>
            </a:r>
          </a:p>
          <a:p>
            <a:pPr marL="457200" indent="-457200">
              <a:lnSpc>
                <a:spcPct val="150000"/>
              </a:lnSpc>
              <a:buNone/>
            </a:pPr>
            <a:r>
              <a:rPr lang="en-US" sz="2200" dirty="0" smtClean="0">
                <a:latin typeface="Times New Roman" pitchFamily="18" charset="0"/>
                <a:cs typeface="Times New Roman" pitchFamily="18" charset="0"/>
              </a:rPr>
              <a:t>       Active Power also given by P </a:t>
            </a:r>
            <a:r>
              <a:rPr lang="en-US" sz="2200" i="1" dirty="0" smtClean="0">
                <a:solidFill>
                  <a:srgbClr val="7030A0"/>
                </a:solidFill>
                <a:latin typeface="Times New Roman" pitchFamily="18" charset="0"/>
                <a:cs typeface="Times New Roman" pitchFamily="18" charset="0"/>
              </a:rPr>
              <a:t>= </a:t>
            </a:r>
            <a:r>
              <a:rPr lang="en-US" sz="2200" dirty="0" smtClean="0">
                <a:latin typeface="Times New Roman" pitchFamily="18" charset="0"/>
                <a:cs typeface="Times New Roman" pitchFamily="18" charset="0"/>
              </a:rPr>
              <a:t>I</a:t>
            </a:r>
            <a:r>
              <a:rPr lang="en-US" sz="2200" baseline="30000" dirty="0" smtClean="0">
                <a:latin typeface="Times New Roman" pitchFamily="18" charset="0"/>
                <a:cs typeface="Times New Roman" pitchFamily="18" charset="0"/>
              </a:rPr>
              <a:t>2 </a:t>
            </a:r>
            <a:r>
              <a:rPr lang="en-US" sz="2200" dirty="0" smtClean="0">
                <a:latin typeface="Times New Roman" pitchFamily="18" charset="0"/>
                <a:cs typeface="Times New Roman" pitchFamily="18" charset="0"/>
              </a:rPr>
              <a:t>R</a:t>
            </a:r>
            <a:r>
              <a:rPr lang="en-US" sz="2200" baseline="30000" dirty="0" smtClean="0">
                <a:latin typeface="Times New Roman" pitchFamily="18" charset="0"/>
                <a:cs typeface="Times New Roman" pitchFamily="18" charset="0"/>
              </a:rPr>
              <a:t> </a:t>
            </a:r>
          </a:p>
          <a:p>
            <a:pPr marL="457200" indent="-457200">
              <a:lnSpc>
                <a:spcPct val="150000"/>
              </a:lnSpc>
              <a:buAutoNum type="arabicPeriod" startAt="3"/>
            </a:pPr>
            <a:r>
              <a:rPr lang="en-US" sz="2400" u="sng" dirty="0" smtClean="0">
                <a:solidFill>
                  <a:schemeClr val="accent6">
                    <a:lumMod val="50000"/>
                  </a:schemeClr>
                </a:solidFill>
                <a:latin typeface="Times New Roman" pitchFamily="18" charset="0"/>
                <a:cs typeface="Times New Roman" pitchFamily="18" charset="0"/>
              </a:rPr>
              <a:t>Reactive Power: </a:t>
            </a:r>
          </a:p>
          <a:p>
            <a:pPr marL="457200" indent="-457200">
              <a:lnSpc>
                <a:spcPct val="150000"/>
              </a:lnSpc>
              <a:buNone/>
            </a:pPr>
            <a:r>
              <a:rPr lang="en-US" sz="2200" dirty="0" smtClean="0">
                <a:solidFill>
                  <a:schemeClr val="accent6">
                    <a:lumMod val="50000"/>
                  </a:schemeClr>
                </a:solidFill>
                <a:latin typeface="Times New Roman" pitchFamily="18" charset="0"/>
                <a:cs typeface="Times New Roman" pitchFamily="18" charset="0"/>
              </a:rPr>
              <a:t>       </a:t>
            </a:r>
            <a:r>
              <a:rPr lang="en-US" sz="2200" dirty="0" smtClean="0">
                <a:latin typeface="Times New Roman" pitchFamily="18" charset="0"/>
                <a:cs typeface="Times New Roman" pitchFamily="18" charset="0"/>
              </a:rPr>
              <a:t>It is power taken by the reactance and its unit is volt-amp-reactive (</a:t>
            </a:r>
            <a:r>
              <a:rPr lang="en-US" sz="2200" dirty="0" err="1" smtClean="0">
                <a:latin typeface="Times New Roman" pitchFamily="18" charset="0"/>
                <a:cs typeface="Times New Roman" pitchFamily="18" charset="0"/>
              </a:rPr>
              <a:t>Var</a:t>
            </a:r>
            <a:r>
              <a:rPr lang="en-US" sz="2200" dirty="0" smtClean="0">
                <a:latin typeface="Times New Roman" pitchFamily="18" charset="0"/>
                <a:cs typeface="Times New Roman" pitchFamily="18" charset="0"/>
              </a:rPr>
              <a:t>). It is given by Q = V I sin</a:t>
            </a:r>
            <a:r>
              <a:rPr lang="el-GR" sz="2200" dirty="0" smtClean="0">
                <a:latin typeface="Times New Roman" pitchFamily="18" charset="0"/>
                <a:cs typeface="Times New Roman" pitchFamily="18" charset="0"/>
              </a:rPr>
              <a:t>θ</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Var</a:t>
            </a:r>
            <a:r>
              <a:rPr lang="en-US" sz="2200" dirty="0" smtClean="0">
                <a:latin typeface="Times New Roman" pitchFamily="18" charset="0"/>
                <a:cs typeface="Times New Roman" pitchFamily="18" charset="0"/>
              </a:rPr>
              <a:t>   = I</a:t>
            </a:r>
            <a:r>
              <a:rPr lang="en-US" sz="2200" baseline="30000" dirty="0" smtClean="0">
                <a:latin typeface="Times New Roman" pitchFamily="18" charset="0"/>
                <a:cs typeface="Times New Roman" pitchFamily="18" charset="0"/>
              </a:rPr>
              <a:t>2</a:t>
            </a:r>
            <a:r>
              <a:rPr lang="en-US" sz="2200" dirty="0" smtClean="0">
                <a:latin typeface="Times New Roman" pitchFamily="18" charset="0"/>
                <a:cs typeface="Times New Roman" pitchFamily="18" charset="0"/>
              </a:rPr>
              <a:t>X</a:t>
            </a:r>
          </a:p>
          <a:p>
            <a:pPr marL="457200" indent="-457200">
              <a:lnSpc>
                <a:spcPct val="150000"/>
              </a:lnSpc>
              <a:buNone/>
            </a:pPr>
            <a:r>
              <a:rPr lang="en-US" sz="2200" dirty="0" smtClean="0">
                <a:latin typeface="Times New Roman" pitchFamily="18" charset="0"/>
                <a:cs typeface="Times New Roman" pitchFamily="18" charset="0"/>
              </a:rPr>
              <a:t>       Where ‘X’ is the reactance in ohms</a:t>
            </a:r>
            <a:endParaRPr lang="en-US" sz="2200" dirty="0">
              <a:latin typeface="Times New Roman" pitchFamily="18" charset="0"/>
              <a:cs typeface="Times New Roman" pitchFamily="18" charset="0"/>
            </a:endParaRPr>
          </a:p>
        </p:txBody>
      </p:sp>
      <p:graphicFrame>
        <p:nvGraphicFramePr>
          <p:cNvPr id="8" name="Object 7"/>
          <p:cNvGraphicFramePr>
            <a:graphicFrameLocks noChangeAspect="1"/>
          </p:cNvGraphicFramePr>
          <p:nvPr/>
        </p:nvGraphicFramePr>
        <p:xfrm>
          <a:off x="6018233" y="3321050"/>
          <a:ext cx="152360" cy="215900"/>
        </p:xfrm>
        <a:graphic>
          <a:graphicData uri="http://schemas.openxmlformats.org/presentationml/2006/ole">
            <p:oleObj spid="_x0000_s62466" name="Equation" r:id="rId3" imgW="114120" imgH="215640" progId="Equation.3">
              <p:embed/>
            </p:oleObj>
          </a:graphicData>
        </a:graphic>
      </p:graphicFrame>
      <p:grpSp>
        <p:nvGrpSpPr>
          <p:cNvPr id="22" name="Group 21"/>
          <p:cNvGrpSpPr/>
          <p:nvPr/>
        </p:nvGrpSpPr>
        <p:grpSpPr>
          <a:xfrm>
            <a:off x="7891748" y="3107410"/>
            <a:ext cx="3819681" cy="1513882"/>
            <a:chOff x="7891748" y="3107410"/>
            <a:chExt cx="3819681" cy="1513882"/>
          </a:xfrm>
        </p:grpSpPr>
        <p:sp>
          <p:nvSpPr>
            <p:cNvPr id="19" name="Arc 18"/>
            <p:cNvSpPr/>
            <p:nvPr/>
          </p:nvSpPr>
          <p:spPr>
            <a:xfrm rot="1642835">
              <a:off x="8115726" y="3977640"/>
              <a:ext cx="446924" cy="403860"/>
            </a:xfrm>
            <a:prstGeom prst="arc">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18" name="Group 17"/>
            <p:cNvGrpSpPr/>
            <p:nvPr/>
          </p:nvGrpSpPr>
          <p:grpSpPr>
            <a:xfrm>
              <a:off x="7891748" y="3107410"/>
              <a:ext cx="3819681" cy="1513882"/>
              <a:chOff x="7891748" y="3107410"/>
              <a:chExt cx="3819681" cy="1513882"/>
            </a:xfrm>
          </p:grpSpPr>
          <p:cxnSp>
            <p:nvCxnSpPr>
              <p:cNvPr id="10" name="Straight Connector 9"/>
              <p:cNvCxnSpPr/>
              <p:nvPr/>
            </p:nvCxnSpPr>
            <p:spPr>
              <a:xfrm>
                <a:off x="7904634" y="4273236"/>
                <a:ext cx="22446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6200000" flipV="1">
                <a:off x="9568197" y="3695117"/>
                <a:ext cx="115884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7891748" y="3107410"/>
                <a:ext cx="2262163" cy="117012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8806426" y="4251960"/>
                <a:ext cx="497710" cy="369332"/>
              </a:xfrm>
              <a:prstGeom prst="rect">
                <a:avLst/>
              </a:prstGeom>
              <a:noFill/>
            </p:spPr>
            <p:txBody>
              <a:bodyPr wrap="square" rtlCol="0">
                <a:spAutoFit/>
              </a:bodyPr>
              <a:lstStyle/>
              <a:p>
                <a:r>
                  <a:rPr lang="en-US" dirty="0" smtClean="0">
                    <a:latin typeface="Times New Roman" pitchFamily="18" charset="0"/>
                    <a:cs typeface="Times New Roman" pitchFamily="18" charset="0"/>
                  </a:rPr>
                  <a:t>P</a:t>
                </a:r>
                <a:endParaRPr lang="en-US" dirty="0">
                  <a:latin typeface="Times New Roman" pitchFamily="18" charset="0"/>
                  <a:cs typeface="Times New Roman" pitchFamily="18" charset="0"/>
                </a:endParaRPr>
              </a:p>
            </p:txBody>
          </p:sp>
          <p:sp>
            <p:nvSpPr>
              <p:cNvPr id="16" name="TextBox 15"/>
              <p:cNvSpPr txBox="1"/>
              <p:nvPr/>
            </p:nvSpPr>
            <p:spPr>
              <a:xfrm>
                <a:off x="8694695" y="3390900"/>
                <a:ext cx="497710" cy="369332"/>
              </a:xfrm>
              <a:prstGeom prst="rect">
                <a:avLst/>
              </a:prstGeom>
              <a:noFill/>
            </p:spPr>
            <p:txBody>
              <a:bodyPr wrap="square" rtlCol="0">
                <a:spAutoFit/>
              </a:bodyPr>
              <a:lstStyle/>
              <a:p>
                <a:r>
                  <a:rPr lang="en-US" dirty="0" smtClean="0">
                    <a:latin typeface="Times New Roman" pitchFamily="18" charset="0"/>
                    <a:cs typeface="Times New Roman" pitchFamily="18" charset="0"/>
                  </a:rPr>
                  <a:t>S</a:t>
                </a:r>
                <a:endParaRPr lang="en-US" dirty="0">
                  <a:latin typeface="Times New Roman" pitchFamily="18" charset="0"/>
                  <a:cs typeface="Times New Roman" pitchFamily="18" charset="0"/>
                </a:endParaRPr>
              </a:p>
            </p:txBody>
          </p:sp>
          <p:sp>
            <p:nvSpPr>
              <p:cNvPr id="17" name="TextBox 16"/>
              <p:cNvSpPr txBox="1"/>
              <p:nvPr/>
            </p:nvSpPr>
            <p:spPr>
              <a:xfrm>
                <a:off x="10157354" y="3543300"/>
                <a:ext cx="497710" cy="369332"/>
              </a:xfrm>
              <a:prstGeom prst="rect">
                <a:avLst/>
              </a:prstGeom>
              <a:noFill/>
            </p:spPr>
            <p:txBody>
              <a:bodyPr wrap="square" rtlCol="0">
                <a:spAutoFit/>
              </a:bodyPr>
              <a:lstStyle/>
              <a:p>
                <a:r>
                  <a:rPr lang="en-US" dirty="0" smtClean="0">
                    <a:latin typeface="Times New Roman" pitchFamily="18" charset="0"/>
                    <a:cs typeface="Times New Roman" pitchFamily="18" charset="0"/>
                  </a:rPr>
                  <a:t>Q</a:t>
                </a:r>
                <a:endParaRPr lang="en-US" dirty="0">
                  <a:latin typeface="Times New Roman" pitchFamily="18" charset="0"/>
                  <a:cs typeface="Times New Roman" pitchFamily="18" charset="0"/>
                </a:endParaRPr>
              </a:p>
            </p:txBody>
          </p:sp>
          <p:sp>
            <p:nvSpPr>
              <p:cNvPr id="20" name="TextBox 19"/>
              <p:cNvSpPr txBox="1"/>
              <p:nvPr/>
            </p:nvSpPr>
            <p:spPr>
              <a:xfrm>
                <a:off x="8532178" y="3893820"/>
                <a:ext cx="497710" cy="369332"/>
              </a:xfrm>
              <a:prstGeom prst="rect">
                <a:avLst/>
              </a:prstGeom>
              <a:noFill/>
            </p:spPr>
            <p:txBody>
              <a:bodyPr wrap="square" rtlCol="0">
                <a:spAutoFit/>
              </a:bodyPr>
              <a:lstStyle/>
              <a:p>
                <a:r>
                  <a:rPr lang="en-US" dirty="0" smtClean="0">
                    <a:latin typeface="Times New Roman" pitchFamily="18" charset="0"/>
                    <a:cs typeface="Times New Roman" pitchFamily="18" charset="0"/>
                  </a:rPr>
                  <a:t>θ</a:t>
                </a:r>
                <a:endParaRPr lang="en-US" dirty="0">
                  <a:latin typeface="Times New Roman" pitchFamily="18" charset="0"/>
                  <a:cs typeface="Times New Roman" pitchFamily="18" charset="0"/>
                </a:endParaRPr>
              </a:p>
            </p:txBody>
          </p:sp>
          <p:sp>
            <p:nvSpPr>
              <p:cNvPr id="21" name="TextBox 20"/>
              <p:cNvSpPr txBox="1"/>
              <p:nvPr/>
            </p:nvSpPr>
            <p:spPr>
              <a:xfrm>
                <a:off x="10299557" y="4015740"/>
                <a:ext cx="1411872" cy="307777"/>
              </a:xfrm>
              <a:prstGeom prst="rect">
                <a:avLst/>
              </a:prstGeom>
              <a:noFill/>
            </p:spPr>
            <p:txBody>
              <a:bodyPr wrap="square" rtlCol="0">
                <a:spAutoFit/>
              </a:bodyPr>
              <a:lstStyle/>
              <a:p>
                <a:r>
                  <a:rPr lang="en-US" sz="1400" i="1" dirty="0" smtClean="0">
                    <a:solidFill>
                      <a:srgbClr val="C00000"/>
                    </a:solidFill>
                    <a:latin typeface="Times New Roman" pitchFamily="18" charset="0"/>
                    <a:cs typeface="Times New Roman" pitchFamily="18" charset="0"/>
                  </a:rPr>
                  <a:t>Power Triangle</a:t>
                </a:r>
                <a:endParaRPr lang="en-US" sz="1400" i="1" dirty="0">
                  <a:solidFill>
                    <a:srgbClr val="C00000"/>
                  </a:solidFill>
                  <a:latin typeface="Times New Roman" pitchFamily="18" charset="0"/>
                  <a:cs typeface="Times New Roman" pitchFamily="18" charset="0"/>
                </a:endParaRPr>
              </a:p>
            </p:txBody>
          </p:sp>
        </p:gr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635" y="71414"/>
            <a:ext cx="11617555" cy="714380"/>
          </a:xfrm>
        </p:spPr>
        <p:txBody>
          <a:bodyPr>
            <a:normAutofit/>
          </a:bodyPr>
          <a:lstStyle/>
          <a:p>
            <a:r>
              <a:rPr lang="en-IN" sz="2800" dirty="0" smtClean="0">
                <a:solidFill>
                  <a:srgbClr val="00B050"/>
                </a:solidFill>
                <a:latin typeface="Times New Roman" pitchFamily="18" charset="0"/>
                <a:cs typeface="Times New Roman" pitchFamily="18" charset="0"/>
              </a:rPr>
              <a:t>BASIC TERMS AND DEFINITIONS</a:t>
            </a:r>
            <a:endParaRPr lang="en-US" sz="2800" dirty="0">
              <a:solidFill>
                <a:srgbClr val="FF0000"/>
              </a:solidFill>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smtClean="0"/>
              <a:t>syed hasan saeed</a:t>
            </a:r>
            <a:endParaRPr lang="en-US"/>
          </a:p>
        </p:txBody>
      </p:sp>
      <p:sp>
        <p:nvSpPr>
          <p:cNvPr id="6" name="Slide Number Placeholder 5"/>
          <p:cNvSpPr>
            <a:spLocks noGrp="1"/>
          </p:cNvSpPr>
          <p:nvPr>
            <p:ph type="sldNum" sz="quarter" idx="12"/>
          </p:nvPr>
        </p:nvSpPr>
        <p:spPr/>
        <p:txBody>
          <a:bodyPr/>
          <a:lstStyle/>
          <a:p>
            <a:fld id="{435E54C7-FAA8-46C1-A880-53547F97989D}" type="slidenum">
              <a:rPr lang="en-US" smtClean="0"/>
              <a:pPr/>
              <a:t>7</a:t>
            </a:fld>
            <a:endParaRPr lang="en-US"/>
          </a:p>
        </p:txBody>
      </p:sp>
      <p:sp>
        <p:nvSpPr>
          <p:cNvPr id="7" name="Content Placeholder 6"/>
          <p:cNvSpPr>
            <a:spLocks noGrp="1"/>
          </p:cNvSpPr>
          <p:nvPr>
            <p:ph idx="1"/>
          </p:nvPr>
        </p:nvSpPr>
        <p:spPr>
          <a:xfrm>
            <a:off x="190409" y="714356"/>
            <a:ext cx="11808007" cy="5643602"/>
          </a:xfrm>
        </p:spPr>
        <p:txBody>
          <a:bodyPr>
            <a:normAutofit/>
          </a:bodyPr>
          <a:lstStyle/>
          <a:p>
            <a:pPr>
              <a:lnSpc>
                <a:spcPct val="150000"/>
              </a:lnSpc>
              <a:buNone/>
            </a:pPr>
            <a:r>
              <a:rPr lang="en-US" sz="2200" dirty="0" smtClean="0">
                <a:latin typeface="Times New Roman" pitchFamily="18" charset="0"/>
                <a:cs typeface="Times New Roman" pitchFamily="18" charset="0"/>
              </a:rPr>
              <a:t>  </a:t>
            </a:r>
            <a:r>
              <a:rPr lang="en-US" sz="2200" dirty="0" smtClean="0">
                <a:solidFill>
                  <a:srgbClr val="7030A0"/>
                </a:solidFill>
                <a:latin typeface="Times New Roman" pitchFamily="18" charset="0"/>
                <a:cs typeface="Times New Roman" pitchFamily="18" charset="0"/>
              </a:rPr>
              <a:t>NETWORK ELEMENTS: </a:t>
            </a:r>
          </a:p>
          <a:p>
            <a:pPr>
              <a:lnSpc>
                <a:spcPct val="150000"/>
              </a:lnSpc>
              <a:buNone/>
            </a:pPr>
            <a:r>
              <a:rPr lang="en-US" sz="2200" u="sng" dirty="0" smtClean="0">
                <a:solidFill>
                  <a:schemeClr val="accent6">
                    <a:lumMod val="50000"/>
                  </a:schemeClr>
                </a:solidFill>
                <a:latin typeface="Times New Roman" pitchFamily="18" charset="0"/>
                <a:cs typeface="Times New Roman" pitchFamily="18" charset="0"/>
              </a:rPr>
              <a:t>Active Elements: </a:t>
            </a:r>
            <a:r>
              <a:rPr lang="en-US" sz="2200" dirty="0" smtClean="0">
                <a:latin typeface="Times New Roman" pitchFamily="18" charset="0"/>
                <a:cs typeface="Times New Roman" pitchFamily="18" charset="0"/>
              </a:rPr>
              <a:t>These are energy suppliers in electrical network. Active elements may be classified as (</a:t>
            </a:r>
            <a:r>
              <a:rPr lang="en-US" sz="2200" dirty="0" err="1" smtClean="0">
                <a:latin typeface="Times New Roman" pitchFamily="18" charset="0"/>
                <a:cs typeface="Times New Roman" pitchFamily="18" charset="0"/>
              </a:rPr>
              <a:t>i</a:t>
            </a:r>
            <a:r>
              <a:rPr lang="en-US" sz="2200" dirty="0" smtClean="0">
                <a:latin typeface="Times New Roman" pitchFamily="18" charset="0"/>
                <a:cs typeface="Times New Roman" pitchFamily="18" charset="0"/>
              </a:rPr>
              <a:t>) Voltage source  (ii) Current source.</a:t>
            </a:r>
          </a:p>
          <a:p>
            <a:pPr>
              <a:lnSpc>
                <a:spcPct val="150000"/>
              </a:lnSpc>
              <a:buNone/>
            </a:pPr>
            <a:r>
              <a:rPr lang="en-US" sz="2200" dirty="0" smtClean="0">
                <a:latin typeface="Times New Roman" pitchFamily="18" charset="0"/>
                <a:cs typeface="Times New Roman" pitchFamily="18" charset="0"/>
              </a:rPr>
              <a:t>These sources may be independent sources and dependent sources.</a:t>
            </a:r>
          </a:p>
          <a:p>
            <a:pPr>
              <a:lnSpc>
                <a:spcPct val="150000"/>
              </a:lnSpc>
              <a:buNone/>
            </a:pPr>
            <a:r>
              <a:rPr lang="en-US" sz="2200" u="sng" dirty="0" smtClean="0">
                <a:solidFill>
                  <a:schemeClr val="accent6">
                    <a:lumMod val="50000"/>
                  </a:schemeClr>
                </a:solidFill>
                <a:latin typeface="Times New Roman" pitchFamily="18" charset="0"/>
                <a:cs typeface="Times New Roman" pitchFamily="18" charset="0"/>
              </a:rPr>
              <a:t>Independent Voltage Source: </a:t>
            </a:r>
            <a:r>
              <a:rPr lang="en-US" sz="2200" dirty="0" smtClean="0">
                <a:latin typeface="Times New Roman" pitchFamily="18" charset="0"/>
                <a:cs typeface="Times New Roman" pitchFamily="18" charset="0"/>
              </a:rPr>
              <a:t>It is the two terminal device. The voltage across these two terminals remain constant irrespective of all circuit conditions.</a:t>
            </a:r>
          </a:p>
          <a:p>
            <a:pPr>
              <a:lnSpc>
                <a:spcPct val="150000"/>
              </a:lnSpc>
              <a:buNone/>
            </a:pPr>
            <a:r>
              <a:rPr lang="en-US" sz="2200" dirty="0" smtClean="0">
                <a:latin typeface="Times New Roman" pitchFamily="18" charset="0"/>
                <a:cs typeface="Times New Roman" pitchFamily="18" charset="0"/>
              </a:rPr>
              <a:t>Symbol: </a:t>
            </a:r>
            <a:endParaRPr lang="en-US" sz="2200" dirty="0">
              <a:latin typeface="Times New Roman" pitchFamily="18" charset="0"/>
              <a:cs typeface="Times New Roman" pitchFamily="18" charset="0"/>
            </a:endParaRPr>
          </a:p>
        </p:txBody>
      </p:sp>
      <p:graphicFrame>
        <p:nvGraphicFramePr>
          <p:cNvPr id="8" name="Object 7"/>
          <p:cNvGraphicFramePr>
            <a:graphicFrameLocks noChangeAspect="1"/>
          </p:cNvGraphicFramePr>
          <p:nvPr/>
        </p:nvGraphicFramePr>
        <p:xfrm>
          <a:off x="6018233" y="3321050"/>
          <a:ext cx="152360" cy="215900"/>
        </p:xfrm>
        <a:graphic>
          <a:graphicData uri="http://schemas.openxmlformats.org/presentationml/2006/ole">
            <p:oleObj spid="_x0000_s61442" name="Equation" r:id="rId3" imgW="114120" imgH="215640" progId="Equation.3">
              <p:embed/>
            </p:oleObj>
          </a:graphicData>
        </a:graphic>
      </p:graphicFrame>
      <p:grpSp>
        <p:nvGrpSpPr>
          <p:cNvPr id="21" name="Group 20"/>
          <p:cNvGrpSpPr/>
          <p:nvPr/>
        </p:nvGrpSpPr>
        <p:grpSpPr>
          <a:xfrm>
            <a:off x="2791812" y="4367356"/>
            <a:ext cx="1067974" cy="1854969"/>
            <a:chOff x="2094404" y="4219302"/>
            <a:chExt cx="801189" cy="1854969"/>
          </a:xfrm>
        </p:grpSpPr>
        <p:grpSp>
          <p:nvGrpSpPr>
            <p:cNvPr id="18" name="Group 17"/>
            <p:cNvGrpSpPr/>
            <p:nvPr/>
          </p:nvGrpSpPr>
          <p:grpSpPr>
            <a:xfrm>
              <a:off x="2490651" y="4219302"/>
              <a:ext cx="404942" cy="1854969"/>
              <a:chOff x="2490651" y="4219302"/>
              <a:chExt cx="404942" cy="1854969"/>
            </a:xfrm>
          </p:grpSpPr>
          <p:grpSp>
            <p:nvGrpSpPr>
              <p:cNvPr id="14" name="Group 13"/>
              <p:cNvGrpSpPr/>
              <p:nvPr/>
            </p:nvGrpSpPr>
            <p:grpSpPr>
              <a:xfrm>
                <a:off x="2490651" y="5042263"/>
                <a:ext cx="404942" cy="332515"/>
                <a:chOff x="2490651" y="5042263"/>
                <a:chExt cx="404942" cy="332515"/>
              </a:xfrm>
            </p:grpSpPr>
            <p:cxnSp>
              <p:nvCxnSpPr>
                <p:cNvPr id="10" name="Straight Connector 9"/>
                <p:cNvCxnSpPr/>
                <p:nvPr/>
              </p:nvCxnSpPr>
              <p:spPr>
                <a:xfrm>
                  <a:off x="2490651" y="5042263"/>
                  <a:ext cx="391886"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503707" y="5229499"/>
                  <a:ext cx="391886"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603853" y="5373190"/>
                  <a:ext cx="182880"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590782" y="5142394"/>
                  <a:ext cx="182880"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 name="Straight Connector 15"/>
              <p:cNvCxnSpPr/>
              <p:nvPr/>
            </p:nvCxnSpPr>
            <p:spPr>
              <a:xfrm rot="16200000" flipH="1">
                <a:off x="2279468" y="4630782"/>
                <a:ext cx="822960" cy="0"/>
              </a:xfrm>
              <a:prstGeom prst="line">
                <a:avLst/>
              </a:prstGeom>
              <a:ln w="15875">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6200000" flipH="1">
                <a:off x="2346952" y="5725928"/>
                <a:ext cx="696686" cy="0"/>
              </a:xfrm>
              <a:prstGeom prst="line">
                <a:avLst/>
              </a:prstGeom>
              <a:ln w="15875">
                <a:solidFill>
                  <a:schemeClr val="tx1"/>
                </a:solidFill>
                <a:tailEnd type="oval"/>
              </a:ln>
            </p:spPr>
            <p:style>
              <a:lnRef idx="1">
                <a:schemeClr val="accent1"/>
              </a:lnRef>
              <a:fillRef idx="0">
                <a:schemeClr val="accent1"/>
              </a:fillRef>
              <a:effectRef idx="0">
                <a:schemeClr val="accent1"/>
              </a:effectRef>
              <a:fontRef idx="minor">
                <a:schemeClr val="tx1"/>
              </a:fontRef>
            </p:style>
          </p:cxnSp>
        </p:grpSp>
        <p:sp>
          <p:nvSpPr>
            <p:cNvPr id="19" name="TextBox 18"/>
            <p:cNvSpPr txBox="1"/>
            <p:nvPr/>
          </p:nvSpPr>
          <p:spPr>
            <a:xfrm>
              <a:off x="2437201" y="4604960"/>
              <a:ext cx="313509" cy="461665"/>
            </a:xfrm>
            <a:prstGeom prst="rect">
              <a:avLst/>
            </a:prstGeom>
            <a:noFill/>
          </p:spPr>
          <p:txBody>
            <a:bodyPr wrap="square" rtlCol="0">
              <a:spAutoFit/>
            </a:bodyPr>
            <a:lstStyle/>
            <a:p>
              <a:r>
                <a:rPr lang="en-US" sz="2400" b="1" dirty="0" smtClean="0">
                  <a:latin typeface="Times New Roman" pitchFamily="18" charset="0"/>
                  <a:cs typeface="Times New Roman" pitchFamily="18" charset="0"/>
                </a:rPr>
                <a:t>+</a:t>
              </a:r>
              <a:endParaRPr lang="en-US" sz="2400" b="1" dirty="0">
                <a:latin typeface="Times New Roman" pitchFamily="18" charset="0"/>
                <a:cs typeface="Times New Roman" pitchFamily="18" charset="0"/>
              </a:endParaRPr>
            </a:p>
          </p:txBody>
        </p:sp>
        <p:sp>
          <p:nvSpPr>
            <p:cNvPr id="20" name="TextBox 19"/>
            <p:cNvSpPr txBox="1"/>
            <p:nvPr/>
          </p:nvSpPr>
          <p:spPr>
            <a:xfrm>
              <a:off x="2094404" y="4985660"/>
              <a:ext cx="313509" cy="400110"/>
            </a:xfrm>
            <a:prstGeom prst="rect">
              <a:avLst/>
            </a:prstGeom>
            <a:noFill/>
          </p:spPr>
          <p:txBody>
            <a:bodyPr wrap="square" rtlCol="0">
              <a:spAutoFit/>
            </a:bodyPr>
            <a:lstStyle/>
            <a:p>
              <a:r>
                <a:rPr lang="en-US" sz="2000" dirty="0" smtClean="0">
                  <a:latin typeface="Times New Roman" pitchFamily="18" charset="0"/>
                  <a:cs typeface="Times New Roman" pitchFamily="18" charset="0"/>
                </a:rPr>
                <a:t>V</a:t>
              </a:r>
              <a:endParaRPr lang="en-US" sz="2000" dirty="0">
                <a:latin typeface="Times New Roman" pitchFamily="18" charset="0"/>
                <a:cs typeface="Times New Roman" pitchFamily="18" charset="0"/>
              </a:endParaRPr>
            </a:p>
          </p:txBody>
        </p:sp>
      </p:grpSp>
      <p:grpSp>
        <p:nvGrpSpPr>
          <p:cNvPr id="39" name="Group 38"/>
          <p:cNvGrpSpPr/>
          <p:nvPr/>
        </p:nvGrpSpPr>
        <p:grpSpPr>
          <a:xfrm>
            <a:off x="4460034" y="4136554"/>
            <a:ext cx="1123708" cy="2090117"/>
            <a:chOff x="3345896" y="4136554"/>
            <a:chExt cx="843000" cy="2090117"/>
          </a:xfrm>
        </p:grpSpPr>
        <p:sp>
          <p:nvSpPr>
            <p:cNvPr id="26" name="TextBox 25"/>
            <p:cNvSpPr txBox="1"/>
            <p:nvPr/>
          </p:nvSpPr>
          <p:spPr>
            <a:xfrm>
              <a:off x="3488007" y="4738077"/>
              <a:ext cx="313509" cy="461665"/>
            </a:xfrm>
            <a:prstGeom prst="rect">
              <a:avLst/>
            </a:prstGeom>
            <a:noFill/>
          </p:spPr>
          <p:txBody>
            <a:bodyPr wrap="square" rtlCol="0">
              <a:spAutoFit/>
            </a:bodyPr>
            <a:lstStyle/>
            <a:p>
              <a:r>
                <a:rPr lang="en-US" sz="2400" b="1" dirty="0" smtClean="0">
                  <a:latin typeface="Times New Roman" pitchFamily="18" charset="0"/>
                  <a:cs typeface="Times New Roman" pitchFamily="18" charset="0"/>
                </a:rPr>
                <a:t>+</a:t>
              </a:r>
              <a:endParaRPr lang="en-US" sz="2400" b="1" dirty="0">
                <a:latin typeface="Times New Roman" pitchFamily="18" charset="0"/>
                <a:cs typeface="Times New Roman" pitchFamily="18" charset="0"/>
              </a:endParaRPr>
            </a:p>
          </p:txBody>
        </p:sp>
        <p:grpSp>
          <p:nvGrpSpPr>
            <p:cNvPr id="28" name="Group 27"/>
            <p:cNvGrpSpPr/>
            <p:nvPr/>
          </p:nvGrpSpPr>
          <p:grpSpPr>
            <a:xfrm>
              <a:off x="3345896" y="4136554"/>
              <a:ext cx="843000" cy="2090117"/>
              <a:chOff x="3345896" y="4136554"/>
              <a:chExt cx="843000" cy="2090117"/>
            </a:xfrm>
          </p:grpSpPr>
          <p:sp>
            <p:nvSpPr>
              <p:cNvPr id="22" name="Oval 21"/>
              <p:cNvSpPr/>
              <p:nvPr/>
            </p:nvSpPr>
            <p:spPr>
              <a:xfrm>
                <a:off x="3345896" y="4842588"/>
                <a:ext cx="572959" cy="678647"/>
              </a:xfrm>
              <a:prstGeom prst="ellipse">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p:cNvCxnSpPr/>
              <p:nvPr/>
            </p:nvCxnSpPr>
            <p:spPr>
              <a:xfrm rot="16200000" flipH="1">
                <a:off x="3278814" y="4484897"/>
                <a:ext cx="696686" cy="0"/>
              </a:xfrm>
              <a:prstGeom prst="line">
                <a:avLst/>
              </a:prstGeom>
              <a:ln w="15875">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16200000" flipH="1">
                <a:off x="3277869" y="5878328"/>
                <a:ext cx="696686" cy="0"/>
              </a:xfrm>
              <a:prstGeom prst="line">
                <a:avLst/>
              </a:prstGeom>
              <a:ln w="15875">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3875387" y="5042261"/>
                <a:ext cx="313509" cy="400110"/>
              </a:xfrm>
              <a:prstGeom prst="rect">
                <a:avLst/>
              </a:prstGeom>
              <a:noFill/>
            </p:spPr>
            <p:txBody>
              <a:bodyPr wrap="square" rtlCol="0">
                <a:spAutoFit/>
              </a:bodyPr>
              <a:lstStyle/>
              <a:p>
                <a:r>
                  <a:rPr lang="en-US" sz="2000" dirty="0" smtClean="0">
                    <a:latin typeface="Times New Roman" pitchFamily="18" charset="0"/>
                    <a:cs typeface="Times New Roman" pitchFamily="18" charset="0"/>
                  </a:rPr>
                  <a:t>V</a:t>
                </a:r>
                <a:endParaRPr lang="en-US" sz="2000" dirty="0">
                  <a:latin typeface="Times New Roman" pitchFamily="18" charset="0"/>
                  <a:cs typeface="Times New Roman" pitchFamily="18" charset="0"/>
                </a:endParaRPr>
              </a:p>
            </p:txBody>
          </p:sp>
        </p:grpSp>
      </p:grpSp>
      <p:sp>
        <p:nvSpPr>
          <p:cNvPr id="40" name="TextBox 39"/>
          <p:cNvSpPr txBox="1"/>
          <p:nvPr/>
        </p:nvSpPr>
        <p:spPr>
          <a:xfrm>
            <a:off x="7252883" y="4779127"/>
            <a:ext cx="417903" cy="461665"/>
          </a:xfrm>
          <a:prstGeom prst="rect">
            <a:avLst/>
          </a:prstGeom>
          <a:noFill/>
        </p:spPr>
        <p:txBody>
          <a:bodyPr wrap="square" rtlCol="0">
            <a:spAutoFit/>
          </a:bodyPr>
          <a:lstStyle/>
          <a:p>
            <a:r>
              <a:rPr lang="en-US" sz="2400" b="1" dirty="0" smtClean="0">
                <a:latin typeface="Times New Roman" pitchFamily="18" charset="0"/>
                <a:cs typeface="Times New Roman" pitchFamily="18" charset="0"/>
              </a:rPr>
              <a:t>+</a:t>
            </a:r>
            <a:endParaRPr lang="en-US" sz="2400" b="1" dirty="0">
              <a:latin typeface="Times New Roman" pitchFamily="18" charset="0"/>
              <a:cs typeface="Times New Roman" pitchFamily="18" charset="0"/>
            </a:endParaRPr>
          </a:p>
        </p:txBody>
      </p:sp>
      <p:grpSp>
        <p:nvGrpSpPr>
          <p:cNvPr id="53" name="Group 52"/>
          <p:cNvGrpSpPr/>
          <p:nvPr/>
        </p:nvGrpSpPr>
        <p:grpSpPr>
          <a:xfrm>
            <a:off x="6258961" y="4176981"/>
            <a:ext cx="1561482" cy="2071455"/>
            <a:chOff x="5556085" y="4176981"/>
            <a:chExt cx="1171417" cy="2071455"/>
          </a:xfrm>
        </p:grpSpPr>
        <p:grpSp>
          <p:nvGrpSpPr>
            <p:cNvPr id="29" name="Group 28"/>
            <p:cNvGrpSpPr/>
            <p:nvPr/>
          </p:nvGrpSpPr>
          <p:grpSpPr>
            <a:xfrm>
              <a:off x="6145476" y="4176981"/>
              <a:ext cx="582026" cy="2071455"/>
              <a:chOff x="3336831" y="4155216"/>
              <a:chExt cx="582026" cy="2071455"/>
            </a:xfrm>
          </p:grpSpPr>
          <p:sp>
            <p:nvSpPr>
              <p:cNvPr id="30" name="Oval 29"/>
              <p:cNvSpPr/>
              <p:nvPr/>
            </p:nvSpPr>
            <p:spPr>
              <a:xfrm>
                <a:off x="3336831" y="4848816"/>
                <a:ext cx="582026" cy="672420"/>
              </a:xfrm>
              <a:prstGeom prst="ellipse">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p:cNvCxnSpPr/>
              <p:nvPr/>
            </p:nvCxnSpPr>
            <p:spPr>
              <a:xfrm rot="16200000" flipH="1">
                <a:off x="3278817" y="4503559"/>
                <a:ext cx="696686" cy="0"/>
              </a:xfrm>
              <a:prstGeom prst="line">
                <a:avLst/>
              </a:prstGeom>
              <a:ln w="15875">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16200000" flipH="1">
                <a:off x="3291871" y="5878328"/>
                <a:ext cx="696686" cy="0"/>
              </a:xfrm>
              <a:prstGeom prst="line">
                <a:avLst/>
              </a:prstGeom>
              <a:ln w="15875">
                <a:solidFill>
                  <a:schemeClr val="tx1"/>
                </a:solidFill>
                <a:tailEnd type="oval"/>
              </a:ln>
            </p:spPr>
            <p:style>
              <a:lnRef idx="1">
                <a:schemeClr val="accent1"/>
              </a:lnRef>
              <a:fillRef idx="0">
                <a:schemeClr val="accent1"/>
              </a:fillRef>
              <a:effectRef idx="0">
                <a:schemeClr val="accent1"/>
              </a:effectRef>
              <a:fontRef idx="minor">
                <a:schemeClr val="tx1"/>
              </a:fontRef>
            </p:style>
          </p:cxnSp>
        </p:grpSp>
        <p:sp>
          <p:nvSpPr>
            <p:cNvPr id="41" name="TextBox 40"/>
            <p:cNvSpPr txBox="1"/>
            <p:nvPr/>
          </p:nvSpPr>
          <p:spPr>
            <a:xfrm>
              <a:off x="5556085" y="5064026"/>
              <a:ext cx="788282" cy="400110"/>
            </a:xfrm>
            <a:prstGeom prst="rect">
              <a:avLst/>
            </a:prstGeom>
            <a:noFill/>
          </p:spPr>
          <p:txBody>
            <a:bodyPr wrap="square" rtlCol="0">
              <a:spAutoFit/>
            </a:bodyPr>
            <a:lstStyle/>
            <a:p>
              <a:r>
                <a:rPr lang="en-US" sz="2000" dirty="0" smtClean="0">
                  <a:latin typeface="Times New Roman" pitchFamily="18" charset="0"/>
                  <a:cs typeface="Times New Roman" pitchFamily="18" charset="0"/>
                </a:rPr>
                <a:t>V(t)</a:t>
              </a:r>
              <a:endParaRPr lang="en-US" sz="2000" dirty="0">
                <a:latin typeface="Times New Roman" pitchFamily="18" charset="0"/>
                <a:cs typeface="Times New Roman" pitchFamily="18" charset="0"/>
              </a:endParaRPr>
            </a:p>
          </p:txBody>
        </p:sp>
      </p:grpSp>
      <p:grpSp>
        <p:nvGrpSpPr>
          <p:cNvPr id="47" name="Group 46"/>
          <p:cNvGrpSpPr/>
          <p:nvPr/>
        </p:nvGrpSpPr>
        <p:grpSpPr>
          <a:xfrm>
            <a:off x="8089642" y="4146492"/>
            <a:ext cx="2779464" cy="2071455"/>
            <a:chOff x="7198402" y="4146492"/>
            <a:chExt cx="2085141" cy="2071455"/>
          </a:xfrm>
        </p:grpSpPr>
        <p:grpSp>
          <p:nvGrpSpPr>
            <p:cNvPr id="34" name="Group 33"/>
            <p:cNvGrpSpPr/>
            <p:nvPr/>
          </p:nvGrpSpPr>
          <p:grpSpPr>
            <a:xfrm>
              <a:off x="7198402" y="4146492"/>
              <a:ext cx="2085141" cy="2071455"/>
              <a:chOff x="3331621" y="4155216"/>
              <a:chExt cx="2085141" cy="2071455"/>
            </a:xfrm>
          </p:grpSpPr>
          <p:sp>
            <p:nvSpPr>
              <p:cNvPr id="35" name="Oval 34"/>
              <p:cNvSpPr/>
              <p:nvPr/>
            </p:nvSpPr>
            <p:spPr>
              <a:xfrm>
                <a:off x="3331621" y="4841982"/>
                <a:ext cx="587236" cy="679254"/>
              </a:xfrm>
              <a:prstGeom prst="ellipse">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p:cNvCxnSpPr/>
              <p:nvPr/>
            </p:nvCxnSpPr>
            <p:spPr>
              <a:xfrm rot="16200000" flipH="1">
                <a:off x="3271815" y="4503559"/>
                <a:ext cx="696686" cy="0"/>
              </a:xfrm>
              <a:prstGeom prst="line">
                <a:avLst/>
              </a:prstGeom>
              <a:ln w="15875">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rot="16200000" flipH="1">
                <a:off x="3284871" y="5878328"/>
                <a:ext cx="696686" cy="0"/>
              </a:xfrm>
              <a:prstGeom prst="line">
                <a:avLst/>
              </a:prstGeom>
              <a:ln w="15875">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3880450" y="4839175"/>
                <a:ext cx="1536312" cy="1015663"/>
              </a:xfrm>
              <a:prstGeom prst="rect">
                <a:avLst/>
              </a:prstGeom>
              <a:noFill/>
            </p:spPr>
            <p:txBody>
              <a:bodyPr wrap="square" rtlCol="0">
                <a:spAutoFit/>
              </a:bodyPr>
              <a:lstStyle/>
              <a:p>
                <a:r>
                  <a:rPr lang="en-US" sz="2000" dirty="0" smtClean="0">
                    <a:latin typeface="Times New Roman" pitchFamily="18" charset="0"/>
                    <a:cs typeface="Times New Roman" pitchFamily="18" charset="0"/>
                  </a:rPr>
                  <a:t>V(t) =</a:t>
                </a:r>
              </a:p>
              <a:p>
                <a:r>
                  <a:rPr lang="en-US" sz="2000" dirty="0" err="1" smtClean="0">
                    <a:latin typeface="Times New Roman" pitchFamily="18" charset="0"/>
                    <a:cs typeface="Times New Roman" pitchFamily="18" charset="0"/>
                  </a:rPr>
                  <a:t>V</a:t>
                </a:r>
                <a:r>
                  <a:rPr lang="en-US" sz="2000" baseline="-25000" dirty="0" err="1" smtClean="0">
                    <a:latin typeface="Times New Roman" pitchFamily="18" charset="0"/>
                    <a:cs typeface="Times New Roman" pitchFamily="18" charset="0"/>
                  </a:rPr>
                  <a:t>m</a:t>
                </a:r>
                <a:r>
                  <a:rPr lang="en-US" sz="2000" dirty="0" smtClean="0">
                    <a:latin typeface="Times New Roman" pitchFamily="18" charset="0"/>
                    <a:cs typeface="Times New Roman" pitchFamily="18" charset="0"/>
                  </a:rPr>
                  <a:t> sin</a:t>
                </a:r>
                <a:r>
                  <a:rPr lang="el-GR" sz="2000" dirty="0" smtClean="0">
                    <a:latin typeface="Times New Roman" pitchFamily="18" charset="0"/>
                    <a:cs typeface="Times New Roman" pitchFamily="18" charset="0"/>
                  </a:rPr>
                  <a:t>ω</a:t>
                </a:r>
                <a:r>
                  <a:rPr lang="en-US" sz="2000" dirty="0" smtClean="0">
                    <a:latin typeface="Times New Roman" pitchFamily="18" charset="0"/>
                    <a:cs typeface="Times New Roman" pitchFamily="18" charset="0"/>
                  </a:rPr>
                  <a:t>t or, </a:t>
                </a:r>
                <a:r>
                  <a:rPr lang="en-US" sz="2000" dirty="0" err="1" smtClean="0">
                    <a:latin typeface="Times New Roman" pitchFamily="18" charset="0"/>
                    <a:cs typeface="Times New Roman" pitchFamily="18" charset="0"/>
                  </a:rPr>
                  <a:t>V</a:t>
                </a:r>
                <a:r>
                  <a:rPr lang="en-US" sz="2000" baseline="-25000" dirty="0" err="1" smtClean="0">
                    <a:latin typeface="Times New Roman" pitchFamily="18" charset="0"/>
                    <a:cs typeface="Times New Roman" pitchFamily="18" charset="0"/>
                  </a:rPr>
                  <a:t>m</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cos</a:t>
                </a:r>
                <a:r>
                  <a:rPr lang="el-GR" sz="2000" dirty="0" smtClean="0">
                    <a:latin typeface="Times New Roman" pitchFamily="18" charset="0"/>
                    <a:cs typeface="Times New Roman" pitchFamily="18" charset="0"/>
                  </a:rPr>
                  <a:t>ω</a:t>
                </a:r>
                <a:r>
                  <a:rPr lang="en-US" sz="2000" dirty="0" smtClean="0">
                    <a:latin typeface="Times New Roman" pitchFamily="18" charset="0"/>
                    <a:cs typeface="Times New Roman" pitchFamily="18" charset="0"/>
                  </a:rPr>
                  <a:t>t </a:t>
                </a:r>
                <a:endParaRPr lang="en-US" sz="2000" dirty="0">
                  <a:latin typeface="Times New Roman" pitchFamily="18" charset="0"/>
                  <a:cs typeface="Times New Roman" pitchFamily="18" charset="0"/>
                </a:endParaRPr>
              </a:p>
            </p:txBody>
          </p:sp>
        </p:grpSp>
        <p:grpSp>
          <p:nvGrpSpPr>
            <p:cNvPr id="46" name="Group 45"/>
            <p:cNvGrpSpPr/>
            <p:nvPr/>
          </p:nvGrpSpPr>
          <p:grpSpPr>
            <a:xfrm>
              <a:off x="7360023" y="5071092"/>
              <a:ext cx="242047" cy="242047"/>
              <a:chOff x="4206240" y="4540094"/>
              <a:chExt cx="1389028" cy="912930"/>
            </a:xfrm>
          </p:grpSpPr>
          <p:sp>
            <p:nvSpPr>
              <p:cNvPr id="44" name="Freeform 43"/>
              <p:cNvSpPr/>
              <p:nvPr/>
            </p:nvSpPr>
            <p:spPr>
              <a:xfrm>
                <a:off x="4206240" y="4540094"/>
                <a:ext cx="696686" cy="473164"/>
              </a:xfrm>
              <a:custGeom>
                <a:avLst/>
                <a:gdLst>
                  <a:gd name="connsiteX0" fmla="*/ 0 w 696686"/>
                  <a:gd name="connsiteY0" fmla="*/ 473165 h 473165"/>
                  <a:gd name="connsiteX1" fmla="*/ 374469 w 696686"/>
                  <a:gd name="connsiteY1" fmla="*/ 2903 h 473165"/>
                  <a:gd name="connsiteX2" fmla="*/ 696686 w 696686"/>
                  <a:gd name="connsiteY2" fmla="*/ 455748 h 473165"/>
                </a:gdLst>
                <a:ahLst/>
                <a:cxnLst>
                  <a:cxn ang="0">
                    <a:pos x="connsiteX0" y="connsiteY0"/>
                  </a:cxn>
                  <a:cxn ang="0">
                    <a:pos x="connsiteX1" y="connsiteY1"/>
                  </a:cxn>
                  <a:cxn ang="0">
                    <a:pos x="connsiteX2" y="connsiteY2"/>
                  </a:cxn>
                </a:cxnLst>
                <a:rect l="l" t="t" r="r" b="b"/>
                <a:pathLst>
                  <a:path w="696686" h="473165">
                    <a:moveTo>
                      <a:pt x="0" y="473165"/>
                    </a:moveTo>
                    <a:cubicBezTo>
                      <a:pt x="129177" y="239485"/>
                      <a:pt x="258355" y="5806"/>
                      <a:pt x="374469" y="2903"/>
                    </a:cubicBezTo>
                    <a:cubicBezTo>
                      <a:pt x="490583" y="0"/>
                      <a:pt x="593634" y="227874"/>
                      <a:pt x="696686" y="455748"/>
                    </a:cubicBezTo>
                  </a:path>
                </a:pathLst>
              </a:cu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b="1" dirty="0">
                  <a:latin typeface="Times New Roman" pitchFamily="18" charset="0"/>
                  <a:cs typeface="Times New Roman" pitchFamily="18" charset="0"/>
                </a:endParaRPr>
              </a:p>
            </p:txBody>
          </p:sp>
          <p:sp>
            <p:nvSpPr>
              <p:cNvPr id="45" name="Freeform 44"/>
              <p:cNvSpPr/>
              <p:nvPr/>
            </p:nvSpPr>
            <p:spPr>
              <a:xfrm rot="10800000">
                <a:off x="4898582" y="4979860"/>
                <a:ext cx="696686" cy="473164"/>
              </a:xfrm>
              <a:custGeom>
                <a:avLst/>
                <a:gdLst>
                  <a:gd name="connsiteX0" fmla="*/ 0 w 696686"/>
                  <a:gd name="connsiteY0" fmla="*/ 473165 h 473165"/>
                  <a:gd name="connsiteX1" fmla="*/ 374469 w 696686"/>
                  <a:gd name="connsiteY1" fmla="*/ 2903 h 473165"/>
                  <a:gd name="connsiteX2" fmla="*/ 696686 w 696686"/>
                  <a:gd name="connsiteY2" fmla="*/ 455748 h 473165"/>
                </a:gdLst>
                <a:ahLst/>
                <a:cxnLst>
                  <a:cxn ang="0">
                    <a:pos x="connsiteX0" y="connsiteY0"/>
                  </a:cxn>
                  <a:cxn ang="0">
                    <a:pos x="connsiteX1" y="connsiteY1"/>
                  </a:cxn>
                  <a:cxn ang="0">
                    <a:pos x="connsiteX2" y="connsiteY2"/>
                  </a:cxn>
                </a:cxnLst>
                <a:rect l="l" t="t" r="r" b="b"/>
                <a:pathLst>
                  <a:path w="696686" h="473165">
                    <a:moveTo>
                      <a:pt x="0" y="473165"/>
                    </a:moveTo>
                    <a:cubicBezTo>
                      <a:pt x="129177" y="239485"/>
                      <a:pt x="258355" y="5806"/>
                      <a:pt x="374469" y="2903"/>
                    </a:cubicBezTo>
                    <a:cubicBezTo>
                      <a:pt x="490583" y="0"/>
                      <a:pt x="593634" y="227874"/>
                      <a:pt x="696686" y="455748"/>
                    </a:cubicBezTo>
                  </a:path>
                </a:pathLst>
              </a:cu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b="1"/>
              </a:p>
            </p:txBody>
          </p:sp>
        </p:grpSp>
      </p:grpSp>
      <p:sp>
        <p:nvSpPr>
          <p:cNvPr id="54" name="TextBox 53"/>
          <p:cNvSpPr txBox="1"/>
          <p:nvPr/>
        </p:nvSpPr>
        <p:spPr>
          <a:xfrm>
            <a:off x="2016600" y="5784643"/>
            <a:ext cx="1519706" cy="369332"/>
          </a:xfrm>
          <a:prstGeom prst="rect">
            <a:avLst/>
          </a:prstGeom>
          <a:noFill/>
        </p:spPr>
        <p:txBody>
          <a:bodyPr wrap="square" rtlCol="0">
            <a:spAutoFit/>
          </a:bodyPr>
          <a:lstStyle/>
          <a:p>
            <a:r>
              <a:rPr lang="en-US" dirty="0" smtClean="0">
                <a:latin typeface="Times New Roman" pitchFamily="18" charset="0"/>
                <a:cs typeface="Times New Roman" pitchFamily="18" charset="0"/>
              </a:rPr>
              <a:t>Direct Source</a:t>
            </a:r>
            <a:endParaRPr lang="en-US" dirty="0">
              <a:latin typeface="Times New Roman" pitchFamily="18" charset="0"/>
              <a:cs typeface="Times New Roman" pitchFamily="18" charset="0"/>
            </a:endParaRPr>
          </a:p>
        </p:txBody>
      </p:sp>
      <p:sp>
        <p:nvSpPr>
          <p:cNvPr id="55" name="TextBox 54"/>
          <p:cNvSpPr txBox="1"/>
          <p:nvPr/>
        </p:nvSpPr>
        <p:spPr>
          <a:xfrm>
            <a:off x="5465499" y="5692971"/>
            <a:ext cx="1924353" cy="369332"/>
          </a:xfrm>
          <a:prstGeom prst="rect">
            <a:avLst/>
          </a:prstGeom>
          <a:noFill/>
        </p:spPr>
        <p:txBody>
          <a:bodyPr wrap="square" rtlCol="0">
            <a:spAutoFit/>
          </a:bodyPr>
          <a:lstStyle/>
          <a:p>
            <a:r>
              <a:rPr lang="en-US" dirty="0" smtClean="0">
                <a:latin typeface="Times New Roman" pitchFamily="18" charset="0"/>
                <a:cs typeface="Times New Roman" pitchFamily="18" charset="0"/>
              </a:rPr>
              <a:t>Alternating Source</a:t>
            </a:r>
            <a:endParaRPr lang="en-US" dirty="0">
              <a:latin typeface="Times New Roman" pitchFamily="18" charset="0"/>
              <a:cs typeface="Times New Roman" pitchFamily="18" charset="0"/>
            </a:endParaRPr>
          </a:p>
        </p:txBody>
      </p:sp>
      <p:sp>
        <p:nvSpPr>
          <p:cNvPr id="48" name="TextBox 47"/>
          <p:cNvSpPr txBox="1"/>
          <p:nvPr/>
        </p:nvSpPr>
        <p:spPr>
          <a:xfrm>
            <a:off x="4689899" y="5133072"/>
            <a:ext cx="417903" cy="461665"/>
          </a:xfrm>
          <a:prstGeom prst="rect">
            <a:avLst/>
          </a:prstGeom>
          <a:noFill/>
        </p:spPr>
        <p:txBody>
          <a:bodyPr wrap="square" rtlCol="0">
            <a:spAutoFit/>
          </a:bodyPr>
          <a:lstStyle/>
          <a:p>
            <a:r>
              <a:rPr lang="en-US" sz="2400" b="1" dirty="0" smtClean="0">
                <a:latin typeface="Times New Roman" pitchFamily="18" charset="0"/>
                <a:cs typeface="Times New Roman" pitchFamily="18" charset="0"/>
              </a:rPr>
              <a:t>-</a:t>
            </a:r>
            <a:endParaRPr lang="en-US" sz="2400" b="1" dirty="0">
              <a:latin typeface="Times New Roman" pitchFamily="18" charset="0"/>
              <a:cs typeface="Times New Roman" pitchFamily="18" charset="0"/>
            </a:endParaRPr>
          </a:p>
        </p:txBody>
      </p:sp>
      <p:sp>
        <p:nvSpPr>
          <p:cNvPr id="49" name="TextBox 48"/>
          <p:cNvSpPr txBox="1"/>
          <p:nvPr/>
        </p:nvSpPr>
        <p:spPr>
          <a:xfrm>
            <a:off x="7296252" y="5145515"/>
            <a:ext cx="417903" cy="461665"/>
          </a:xfrm>
          <a:prstGeom prst="rect">
            <a:avLst/>
          </a:prstGeom>
          <a:noFill/>
        </p:spPr>
        <p:txBody>
          <a:bodyPr wrap="square" rtlCol="0">
            <a:spAutoFit/>
          </a:bodyPr>
          <a:lstStyle/>
          <a:p>
            <a:r>
              <a:rPr lang="en-US" sz="2400" b="1" dirty="0" smtClean="0">
                <a:latin typeface="Times New Roman" pitchFamily="18" charset="0"/>
                <a:cs typeface="Times New Roman" pitchFamily="18" charset="0"/>
              </a:rPr>
              <a:t>-</a:t>
            </a:r>
            <a:endParaRPr lang="en-US" sz="2400" b="1" dirty="0">
              <a:latin typeface="Times New Roman" pitchFamily="18" charset="0"/>
              <a:cs typeface="Times New Roman" pitchFamily="18" charset="0"/>
            </a:endParaRPr>
          </a:p>
        </p:txBody>
      </p:sp>
      <p:sp>
        <p:nvSpPr>
          <p:cNvPr id="50" name="TextBox 49"/>
          <p:cNvSpPr txBox="1"/>
          <p:nvPr/>
        </p:nvSpPr>
        <p:spPr>
          <a:xfrm>
            <a:off x="3240549" y="5372555"/>
            <a:ext cx="417903" cy="461665"/>
          </a:xfrm>
          <a:prstGeom prst="rect">
            <a:avLst/>
          </a:prstGeom>
          <a:noFill/>
        </p:spPr>
        <p:txBody>
          <a:bodyPr wrap="square" rtlCol="0">
            <a:spAutoFit/>
          </a:bodyPr>
          <a:lstStyle/>
          <a:p>
            <a:r>
              <a:rPr lang="en-US" sz="2400" b="1" dirty="0" smtClean="0">
                <a:latin typeface="Times New Roman" pitchFamily="18" charset="0"/>
                <a:cs typeface="Times New Roman" pitchFamily="18" charset="0"/>
              </a:rPr>
              <a:t>-</a:t>
            </a:r>
            <a:endParaRPr lang="en-US" sz="24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635" y="71414"/>
            <a:ext cx="11617555" cy="714380"/>
          </a:xfrm>
        </p:spPr>
        <p:txBody>
          <a:bodyPr>
            <a:normAutofit/>
          </a:bodyPr>
          <a:lstStyle/>
          <a:p>
            <a:r>
              <a:rPr lang="en-IN" sz="2800" dirty="0" smtClean="0">
                <a:solidFill>
                  <a:srgbClr val="00B050"/>
                </a:solidFill>
                <a:latin typeface="Times New Roman" pitchFamily="18" charset="0"/>
                <a:cs typeface="Times New Roman" pitchFamily="18" charset="0"/>
              </a:rPr>
              <a:t>BASIC TERMS AND DEFINITIONS</a:t>
            </a:r>
            <a:endParaRPr lang="en-US" sz="2800" dirty="0">
              <a:solidFill>
                <a:srgbClr val="FF0000"/>
              </a:solidFill>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smtClean="0"/>
              <a:t>syed hasan saeed</a:t>
            </a:r>
            <a:endParaRPr lang="en-US"/>
          </a:p>
        </p:txBody>
      </p:sp>
      <p:sp>
        <p:nvSpPr>
          <p:cNvPr id="6" name="Slide Number Placeholder 5"/>
          <p:cNvSpPr>
            <a:spLocks noGrp="1"/>
          </p:cNvSpPr>
          <p:nvPr>
            <p:ph type="sldNum" sz="quarter" idx="12"/>
          </p:nvPr>
        </p:nvSpPr>
        <p:spPr/>
        <p:txBody>
          <a:bodyPr/>
          <a:lstStyle/>
          <a:p>
            <a:fld id="{435E54C7-FAA8-46C1-A880-53547F97989D}" type="slidenum">
              <a:rPr lang="en-US" smtClean="0"/>
              <a:pPr/>
              <a:t>8</a:t>
            </a:fld>
            <a:endParaRPr lang="en-US"/>
          </a:p>
        </p:txBody>
      </p:sp>
      <p:sp>
        <p:nvSpPr>
          <p:cNvPr id="7" name="Content Placeholder 6"/>
          <p:cNvSpPr>
            <a:spLocks noGrp="1"/>
          </p:cNvSpPr>
          <p:nvPr>
            <p:ph idx="1"/>
          </p:nvPr>
        </p:nvSpPr>
        <p:spPr>
          <a:xfrm>
            <a:off x="190409" y="714356"/>
            <a:ext cx="11808007" cy="5643602"/>
          </a:xfrm>
        </p:spPr>
        <p:txBody>
          <a:bodyPr>
            <a:normAutofit/>
          </a:bodyPr>
          <a:lstStyle/>
          <a:p>
            <a:pPr>
              <a:lnSpc>
                <a:spcPct val="150000"/>
              </a:lnSpc>
              <a:buNone/>
            </a:pPr>
            <a:r>
              <a:rPr lang="en-US" sz="2200" dirty="0" smtClean="0">
                <a:latin typeface="Times New Roman" pitchFamily="18" charset="0"/>
                <a:cs typeface="Times New Roman" pitchFamily="18" charset="0"/>
              </a:rPr>
              <a:t>  </a:t>
            </a:r>
            <a:r>
              <a:rPr lang="en-US" sz="2200" u="sng" dirty="0" smtClean="0">
                <a:solidFill>
                  <a:schemeClr val="accent6">
                    <a:lumMod val="50000"/>
                  </a:schemeClr>
                </a:solidFill>
                <a:latin typeface="Times New Roman" pitchFamily="18" charset="0"/>
                <a:cs typeface="Times New Roman" pitchFamily="18" charset="0"/>
              </a:rPr>
              <a:t>Ideal voltage source: </a:t>
            </a:r>
            <a:r>
              <a:rPr lang="en-US" sz="2000" dirty="0" smtClean="0">
                <a:latin typeface="Times New Roman" pitchFamily="18" charset="0"/>
                <a:cs typeface="Times New Roman" pitchFamily="18" charset="0"/>
              </a:rPr>
              <a:t>Independent voltage source, which has zero internal resistance is considered as the ideal source. The V-I characteristic shown in fig</a:t>
            </a:r>
          </a:p>
          <a:p>
            <a:pPr>
              <a:lnSpc>
                <a:spcPct val="150000"/>
              </a:lnSpc>
              <a:buNone/>
            </a:pPr>
            <a:endParaRPr lang="en-US" sz="2000" dirty="0" smtClean="0">
              <a:latin typeface="Times New Roman" pitchFamily="18" charset="0"/>
              <a:cs typeface="Times New Roman" pitchFamily="18" charset="0"/>
            </a:endParaRPr>
          </a:p>
          <a:p>
            <a:pPr>
              <a:lnSpc>
                <a:spcPct val="150000"/>
              </a:lnSpc>
              <a:buNone/>
            </a:pPr>
            <a:endParaRPr lang="en-US" sz="2000" dirty="0" smtClean="0">
              <a:latin typeface="Times New Roman" pitchFamily="18" charset="0"/>
              <a:cs typeface="Times New Roman" pitchFamily="18" charset="0"/>
            </a:endParaRPr>
          </a:p>
          <a:p>
            <a:pPr>
              <a:lnSpc>
                <a:spcPct val="150000"/>
              </a:lnSpc>
              <a:buNone/>
            </a:pPr>
            <a:endParaRPr lang="en-US" sz="2000" dirty="0" smtClean="0">
              <a:latin typeface="Times New Roman" pitchFamily="18" charset="0"/>
              <a:cs typeface="Times New Roman" pitchFamily="18" charset="0"/>
            </a:endParaRPr>
          </a:p>
          <a:p>
            <a:pPr>
              <a:lnSpc>
                <a:spcPct val="150000"/>
              </a:lnSpc>
              <a:buNone/>
            </a:pPr>
            <a:endParaRPr lang="en-US" sz="2000" dirty="0" smtClean="0">
              <a:latin typeface="Times New Roman" pitchFamily="18" charset="0"/>
              <a:cs typeface="Times New Roman" pitchFamily="18" charset="0"/>
            </a:endParaRPr>
          </a:p>
          <a:p>
            <a:pPr>
              <a:lnSpc>
                <a:spcPct val="150000"/>
              </a:lnSpc>
              <a:buNone/>
            </a:pPr>
            <a:endParaRPr lang="en-US" sz="2000" dirty="0" smtClean="0">
              <a:latin typeface="Times New Roman" pitchFamily="18" charset="0"/>
              <a:cs typeface="Times New Roman" pitchFamily="18" charset="0"/>
            </a:endParaRPr>
          </a:p>
          <a:p>
            <a:pPr>
              <a:lnSpc>
                <a:spcPct val="150000"/>
              </a:lnSpc>
              <a:buNone/>
            </a:pPr>
            <a:r>
              <a:rPr lang="en-US" sz="2200" u="sng" dirty="0" smtClean="0">
                <a:solidFill>
                  <a:schemeClr val="accent6">
                    <a:lumMod val="50000"/>
                  </a:schemeClr>
                </a:solidFill>
                <a:latin typeface="Times New Roman" pitchFamily="18" charset="0"/>
                <a:cs typeface="Times New Roman" pitchFamily="18" charset="0"/>
              </a:rPr>
              <a:t>Practical voltage source: </a:t>
            </a:r>
            <a:r>
              <a:rPr lang="en-US" sz="2000" dirty="0" smtClean="0">
                <a:latin typeface="Times New Roman" pitchFamily="18" charset="0"/>
                <a:cs typeface="Times New Roman" pitchFamily="18" charset="0"/>
              </a:rPr>
              <a:t>Source having some amount of internal resistance is known as the Practical source. Due to this resistance, voltage drop takes place and it causes the terminal voltage to reduce.</a:t>
            </a:r>
          </a:p>
          <a:p>
            <a:pPr>
              <a:lnSpc>
                <a:spcPct val="150000"/>
              </a:lnSpc>
              <a:buNone/>
            </a:pPr>
            <a:endParaRPr lang="en-US" sz="2000" dirty="0" smtClean="0">
              <a:latin typeface="Times New Roman" pitchFamily="18" charset="0"/>
              <a:cs typeface="Times New Roman" pitchFamily="18" charset="0"/>
            </a:endParaRPr>
          </a:p>
          <a:p>
            <a:pPr>
              <a:lnSpc>
                <a:spcPct val="150000"/>
              </a:lnSpc>
              <a:buNone/>
            </a:pPr>
            <a:endParaRPr lang="en-US" sz="2000" dirty="0">
              <a:latin typeface="Times New Roman" pitchFamily="18" charset="0"/>
              <a:cs typeface="Times New Roman" pitchFamily="18" charset="0"/>
            </a:endParaRPr>
          </a:p>
        </p:txBody>
      </p:sp>
      <p:graphicFrame>
        <p:nvGraphicFramePr>
          <p:cNvPr id="8" name="Object 7"/>
          <p:cNvGraphicFramePr>
            <a:graphicFrameLocks noChangeAspect="1"/>
          </p:cNvGraphicFramePr>
          <p:nvPr/>
        </p:nvGraphicFramePr>
        <p:xfrm>
          <a:off x="6018233" y="3321050"/>
          <a:ext cx="152360" cy="215900"/>
        </p:xfrm>
        <a:graphic>
          <a:graphicData uri="http://schemas.openxmlformats.org/presentationml/2006/ole">
            <p:oleObj spid="_x0000_s60418" name="Equation" r:id="rId3" imgW="114120" imgH="215640" progId="Equation.3">
              <p:embed/>
            </p:oleObj>
          </a:graphicData>
        </a:graphic>
      </p:graphicFrame>
      <p:sp>
        <p:nvSpPr>
          <p:cNvPr id="26" name="TextBox 25"/>
          <p:cNvSpPr txBox="1"/>
          <p:nvPr/>
        </p:nvSpPr>
        <p:spPr>
          <a:xfrm>
            <a:off x="7004836" y="1649172"/>
            <a:ext cx="397265" cy="430887"/>
          </a:xfrm>
          <a:prstGeom prst="rect">
            <a:avLst/>
          </a:prstGeom>
          <a:noFill/>
        </p:spPr>
        <p:txBody>
          <a:bodyPr wrap="square" rtlCol="0">
            <a:spAutoFit/>
          </a:bodyPr>
          <a:lstStyle/>
          <a:p>
            <a:r>
              <a:rPr lang="en-US" sz="2200" dirty="0" err="1" smtClean="0">
                <a:latin typeface="Times New Roman" pitchFamily="18" charset="0"/>
                <a:cs typeface="Times New Roman" pitchFamily="18" charset="0"/>
              </a:rPr>
              <a:t>v</a:t>
            </a:r>
            <a:endParaRPr lang="en-US" sz="2200" dirty="0">
              <a:latin typeface="Times New Roman" pitchFamily="18" charset="0"/>
              <a:cs typeface="Times New Roman" pitchFamily="18" charset="0"/>
            </a:endParaRPr>
          </a:p>
        </p:txBody>
      </p:sp>
      <p:grpSp>
        <p:nvGrpSpPr>
          <p:cNvPr id="29" name="Group 28"/>
          <p:cNvGrpSpPr/>
          <p:nvPr/>
        </p:nvGrpSpPr>
        <p:grpSpPr>
          <a:xfrm>
            <a:off x="6755363" y="1870245"/>
            <a:ext cx="4817872" cy="2197630"/>
            <a:chOff x="6755363" y="1870245"/>
            <a:chExt cx="4817872" cy="2197630"/>
          </a:xfrm>
        </p:grpSpPr>
        <p:cxnSp>
          <p:nvCxnSpPr>
            <p:cNvPr id="15" name="Straight Arrow Connector 14"/>
            <p:cNvCxnSpPr/>
            <p:nvPr/>
          </p:nvCxnSpPr>
          <p:spPr>
            <a:xfrm>
              <a:off x="7331600" y="3421138"/>
              <a:ext cx="2688712"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5400000" flipH="1" flipV="1">
              <a:off x="6568099" y="2645692"/>
              <a:ext cx="1550894"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335583" y="2482434"/>
              <a:ext cx="2248161" cy="1588"/>
            </a:xfrm>
            <a:prstGeom prst="line">
              <a:avLst/>
            </a:prstGeom>
            <a:ln w="9525">
              <a:solidFill>
                <a:srgbClr val="00B050"/>
              </a:solidFill>
              <a:prstDash val="lg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7331353" y="2492587"/>
              <a:ext cx="2275247" cy="237066"/>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755363" y="3667765"/>
              <a:ext cx="4817872" cy="400110"/>
            </a:xfrm>
            <a:prstGeom prst="rect">
              <a:avLst/>
            </a:prstGeom>
            <a:noFill/>
          </p:spPr>
          <p:txBody>
            <a:bodyPr wrap="square" rtlCol="0">
              <a:spAutoFit/>
            </a:bodyPr>
            <a:lstStyle/>
            <a:p>
              <a:r>
                <a:rPr lang="en-US" sz="2000" dirty="0" smtClean="0">
                  <a:latin typeface="Times New Roman" pitchFamily="18" charset="0"/>
                  <a:cs typeface="Times New Roman" pitchFamily="18" charset="0"/>
                </a:rPr>
                <a:t>V-I characteristic of practical voltage source</a:t>
              </a:r>
              <a:endParaRPr lang="en-US" sz="2000" dirty="0">
                <a:latin typeface="Times New Roman" pitchFamily="18" charset="0"/>
                <a:cs typeface="Times New Roman" pitchFamily="18" charset="0"/>
              </a:endParaRPr>
            </a:p>
          </p:txBody>
        </p:sp>
        <p:sp>
          <p:nvSpPr>
            <p:cNvPr id="22" name="TextBox 21"/>
            <p:cNvSpPr txBox="1"/>
            <p:nvPr/>
          </p:nvSpPr>
          <p:spPr>
            <a:xfrm>
              <a:off x="9976788" y="3224105"/>
              <a:ext cx="397265" cy="430887"/>
            </a:xfrm>
            <a:prstGeom prst="rect">
              <a:avLst/>
            </a:prstGeom>
            <a:noFill/>
          </p:spPr>
          <p:txBody>
            <a:bodyPr wrap="square" rtlCol="0">
              <a:spAutoFit/>
            </a:bodyPr>
            <a:lstStyle/>
            <a:p>
              <a:r>
                <a:rPr lang="en-US" sz="2200" dirty="0" err="1" smtClean="0">
                  <a:latin typeface="Times New Roman" pitchFamily="18" charset="0"/>
                  <a:cs typeface="Times New Roman" pitchFamily="18" charset="0"/>
                </a:rPr>
                <a:t>i</a:t>
              </a:r>
              <a:endParaRPr lang="en-US" sz="2200" dirty="0">
                <a:latin typeface="Times New Roman" pitchFamily="18" charset="0"/>
                <a:cs typeface="Times New Roman" pitchFamily="18" charset="0"/>
              </a:endParaRPr>
            </a:p>
          </p:txBody>
        </p:sp>
        <p:sp>
          <p:nvSpPr>
            <p:cNvPr id="27" name="TextBox 26"/>
            <p:cNvSpPr txBox="1"/>
            <p:nvPr/>
          </p:nvSpPr>
          <p:spPr>
            <a:xfrm>
              <a:off x="7121709" y="3346024"/>
              <a:ext cx="397265" cy="430887"/>
            </a:xfrm>
            <a:prstGeom prst="rect">
              <a:avLst/>
            </a:prstGeom>
            <a:noFill/>
          </p:spPr>
          <p:txBody>
            <a:bodyPr wrap="square" rtlCol="0">
              <a:spAutoFit/>
            </a:bodyPr>
            <a:lstStyle/>
            <a:p>
              <a:r>
                <a:rPr lang="en-US" sz="2200" dirty="0" err="1" smtClean="0">
                  <a:latin typeface="Times New Roman" pitchFamily="18" charset="0"/>
                  <a:cs typeface="Times New Roman" pitchFamily="18" charset="0"/>
                </a:rPr>
                <a:t>0</a:t>
              </a:r>
              <a:endParaRPr lang="en-US" sz="2200" dirty="0">
                <a:latin typeface="Times New Roman" pitchFamily="18" charset="0"/>
                <a:cs typeface="Times New Roman" pitchFamily="18" charset="0"/>
              </a:endParaRPr>
            </a:p>
          </p:txBody>
        </p:sp>
      </p:grpSp>
      <p:grpSp>
        <p:nvGrpSpPr>
          <p:cNvPr id="30" name="Group 29"/>
          <p:cNvGrpSpPr/>
          <p:nvPr/>
        </p:nvGrpSpPr>
        <p:grpSpPr>
          <a:xfrm>
            <a:off x="916445" y="1729623"/>
            <a:ext cx="4588615" cy="2349023"/>
            <a:chOff x="916445" y="1729623"/>
            <a:chExt cx="4588615" cy="2349023"/>
          </a:xfrm>
        </p:grpSpPr>
        <p:cxnSp>
          <p:nvCxnSpPr>
            <p:cNvPr id="10" name="Straight Arrow Connector 9"/>
            <p:cNvCxnSpPr/>
            <p:nvPr/>
          </p:nvCxnSpPr>
          <p:spPr>
            <a:xfrm>
              <a:off x="1350331" y="3424517"/>
              <a:ext cx="2688712"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5400000" flipH="1" flipV="1">
              <a:off x="586830" y="2649071"/>
              <a:ext cx="1550894"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354314" y="2485813"/>
              <a:ext cx="2248161" cy="1588"/>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074421" y="3678536"/>
              <a:ext cx="4430639" cy="400110"/>
            </a:xfrm>
            <a:prstGeom prst="rect">
              <a:avLst/>
            </a:prstGeom>
            <a:noFill/>
          </p:spPr>
          <p:txBody>
            <a:bodyPr wrap="square" rtlCol="0">
              <a:spAutoFit/>
            </a:bodyPr>
            <a:lstStyle/>
            <a:p>
              <a:r>
                <a:rPr lang="en-US" sz="2000" dirty="0" smtClean="0">
                  <a:latin typeface="Times New Roman" pitchFamily="18" charset="0"/>
                  <a:cs typeface="Times New Roman" pitchFamily="18" charset="0"/>
                </a:rPr>
                <a:t>V-I characteristic of ideal voltage source</a:t>
              </a:r>
              <a:endParaRPr lang="en-US" sz="2000" dirty="0">
                <a:latin typeface="Times New Roman" pitchFamily="18" charset="0"/>
                <a:cs typeface="Times New Roman" pitchFamily="18" charset="0"/>
              </a:endParaRPr>
            </a:p>
          </p:txBody>
        </p:sp>
        <p:sp>
          <p:nvSpPr>
            <p:cNvPr id="23" name="TextBox 22"/>
            <p:cNvSpPr txBox="1"/>
            <p:nvPr/>
          </p:nvSpPr>
          <p:spPr>
            <a:xfrm>
              <a:off x="3986212" y="3227497"/>
              <a:ext cx="397265" cy="430887"/>
            </a:xfrm>
            <a:prstGeom prst="rect">
              <a:avLst/>
            </a:prstGeom>
            <a:noFill/>
          </p:spPr>
          <p:txBody>
            <a:bodyPr wrap="square" rtlCol="0">
              <a:spAutoFit/>
            </a:bodyPr>
            <a:lstStyle/>
            <a:p>
              <a:r>
                <a:rPr lang="en-US" sz="2200" dirty="0" err="1" smtClean="0">
                  <a:latin typeface="Times New Roman" pitchFamily="18" charset="0"/>
                  <a:cs typeface="Times New Roman" pitchFamily="18" charset="0"/>
                </a:rPr>
                <a:t>i</a:t>
              </a:r>
              <a:endParaRPr lang="en-US" sz="2200" dirty="0">
                <a:latin typeface="Times New Roman" pitchFamily="18" charset="0"/>
                <a:cs typeface="Times New Roman" pitchFamily="18" charset="0"/>
              </a:endParaRPr>
            </a:p>
          </p:txBody>
        </p:sp>
        <p:sp>
          <p:nvSpPr>
            <p:cNvPr id="24" name="TextBox 23"/>
            <p:cNvSpPr txBox="1"/>
            <p:nvPr/>
          </p:nvSpPr>
          <p:spPr>
            <a:xfrm>
              <a:off x="1041945" y="1729623"/>
              <a:ext cx="397265" cy="430887"/>
            </a:xfrm>
            <a:prstGeom prst="rect">
              <a:avLst/>
            </a:prstGeom>
            <a:noFill/>
          </p:spPr>
          <p:txBody>
            <a:bodyPr wrap="square" rtlCol="0">
              <a:spAutoFit/>
            </a:bodyPr>
            <a:lstStyle/>
            <a:p>
              <a:r>
                <a:rPr lang="en-US" sz="2200" dirty="0" err="1" smtClean="0">
                  <a:latin typeface="Times New Roman" pitchFamily="18" charset="0"/>
                  <a:cs typeface="Times New Roman" pitchFamily="18" charset="0"/>
                </a:rPr>
                <a:t>v</a:t>
              </a:r>
              <a:endParaRPr lang="en-US" sz="2200" dirty="0">
                <a:latin typeface="Times New Roman" pitchFamily="18" charset="0"/>
                <a:cs typeface="Times New Roman" pitchFamily="18" charset="0"/>
              </a:endParaRPr>
            </a:p>
          </p:txBody>
        </p:sp>
        <p:sp>
          <p:nvSpPr>
            <p:cNvPr id="25" name="TextBox 24"/>
            <p:cNvSpPr txBox="1"/>
            <p:nvPr/>
          </p:nvSpPr>
          <p:spPr>
            <a:xfrm>
              <a:off x="916445" y="2265668"/>
              <a:ext cx="397265" cy="369332"/>
            </a:xfrm>
            <a:prstGeom prst="rect">
              <a:avLst/>
            </a:prstGeom>
            <a:noFill/>
          </p:spPr>
          <p:txBody>
            <a:bodyPr wrap="square" rtlCol="0">
              <a:spAutoFit/>
            </a:bodyPr>
            <a:lstStyle/>
            <a:p>
              <a:r>
                <a:rPr lang="en-US" dirty="0" err="1" smtClean="0">
                  <a:latin typeface="Times New Roman" pitchFamily="18" charset="0"/>
                  <a:cs typeface="Times New Roman" pitchFamily="18" charset="0"/>
                </a:rPr>
                <a:t>V</a:t>
              </a:r>
              <a:endParaRPr lang="en-US" dirty="0">
                <a:latin typeface="Times New Roman" pitchFamily="18" charset="0"/>
                <a:cs typeface="Times New Roman" pitchFamily="18" charset="0"/>
              </a:endParaRPr>
            </a:p>
          </p:txBody>
        </p:sp>
        <p:sp>
          <p:nvSpPr>
            <p:cNvPr id="28" name="TextBox 27"/>
            <p:cNvSpPr txBox="1"/>
            <p:nvPr/>
          </p:nvSpPr>
          <p:spPr>
            <a:xfrm>
              <a:off x="1114232" y="3369727"/>
              <a:ext cx="397265" cy="430887"/>
            </a:xfrm>
            <a:prstGeom prst="rect">
              <a:avLst/>
            </a:prstGeom>
            <a:noFill/>
          </p:spPr>
          <p:txBody>
            <a:bodyPr wrap="square" rtlCol="0">
              <a:spAutoFit/>
            </a:bodyPr>
            <a:lstStyle/>
            <a:p>
              <a:r>
                <a:rPr lang="en-US" sz="2200" dirty="0" err="1" smtClean="0">
                  <a:latin typeface="Times New Roman" pitchFamily="18" charset="0"/>
                  <a:cs typeface="Times New Roman" pitchFamily="18" charset="0"/>
                </a:rPr>
                <a:t>0</a:t>
              </a:r>
              <a:endParaRPr lang="en-US" sz="2200" dirty="0">
                <a:latin typeface="Times New Roman" pitchFamily="18" charset="0"/>
                <a:cs typeface="Times New Roman" pitchFamily="18" charset="0"/>
              </a:endParaRP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553" y="99155"/>
            <a:ext cx="11708657" cy="704417"/>
          </a:xfrm>
        </p:spPr>
        <p:txBody>
          <a:bodyPr>
            <a:normAutofit/>
          </a:bodyPr>
          <a:lstStyle/>
          <a:p>
            <a:r>
              <a:rPr lang="en-IN" sz="2800" dirty="0" smtClean="0">
                <a:solidFill>
                  <a:srgbClr val="00B050"/>
                </a:solidFill>
                <a:latin typeface="Times New Roman" pitchFamily="18" charset="0"/>
                <a:cs typeface="Times New Roman" pitchFamily="18" charset="0"/>
              </a:rPr>
              <a:t>BASIC TERMS AND DEFINITIONS</a:t>
            </a:r>
            <a:endParaRPr lang="en-US" sz="2800" dirty="0"/>
          </a:p>
        </p:txBody>
      </p:sp>
      <p:sp>
        <p:nvSpPr>
          <p:cNvPr id="3" name="Content Placeholder 2"/>
          <p:cNvSpPr>
            <a:spLocks noGrp="1"/>
          </p:cNvSpPr>
          <p:nvPr>
            <p:ph idx="1"/>
          </p:nvPr>
        </p:nvSpPr>
        <p:spPr>
          <a:xfrm>
            <a:off x="172368" y="757382"/>
            <a:ext cx="11819467" cy="5634182"/>
          </a:xfrm>
        </p:spPr>
        <p:txBody>
          <a:bodyPr>
            <a:normAutofit/>
          </a:bodyPr>
          <a:lstStyle/>
          <a:p>
            <a:pPr>
              <a:lnSpc>
                <a:spcPct val="150000"/>
              </a:lnSpc>
              <a:buNone/>
            </a:pPr>
            <a:r>
              <a:rPr lang="en-US" sz="2200" u="sng" dirty="0" smtClean="0">
                <a:solidFill>
                  <a:schemeClr val="accent6">
                    <a:lumMod val="50000"/>
                  </a:schemeClr>
                </a:solidFill>
                <a:latin typeface="Times New Roman" pitchFamily="18" charset="0"/>
                <a:cs typeface="Times New Roman" pitchFamily="18" charset="0"/>
              </a:rPr>
              <a:t>Independent current source: </a:t>
            </a:r>
            <a:r>
              <a:rPr lang="en-US" sz="2200" dirty="0" smtClean="0">
                <a:latin typeface="Times New Roman" pitchFamily="18" charset="0"/>
                <a:cs typeface="Times New Roman" pitchFamily="18" charset="0"/>
              </a:rPr>
              <a:t>It is also two terminal device, and gives the constant current, irrespective the external circuit condition.</a:t>
            </a:r>
            <a:endParaRPr lang="en-US" sz="2200" dirty="0" smtClean="0">
              <a:solidFill>
                <a:srgbClr val="C00000"/>
              </a:solidFill>
              <a:latin typeface="Times New Roman" pitchFamily="18" charset="0"/>
              <a:cs typeface="Times New Roman" pitchFamily="18" charset="0"/>
            </a:endParaRPr>
          </a:p>
          <a:p>
            <a:pPr>
              <a:lnSpc>
                <a:spcPct val="150000"/>
              </a:lnSpc>
              <a:buNone/>
            </a:pPr>
            <a:r>
              <a:rPr lang="en-US" sz="2200" u="sng" dirty="0" smtClean="0">
                <a:solidFill>
                  <a:schemeClr val="accent6">
                    <a:lumMod val="50000"/>
                  </a:schemeClr>
                </a:solidFill>
                <a:latin typeface="Times New Roman" pitchFamily="18" charset="0"/>
                <a:cs typeface="Times New Roman" pitchFamily="18" charset="0"/>
              </a:rPr>
              <a:t>Ideal Current Source: </a:t>
            </a:r>
            <a:r>
              <a:rPr lang="en-US" sz="2200" dirty="0" smtClean="0">
                <a:latin typeface="Times New Roman" pitchFamily="18" charset="0"/>
                <a:cs typeface="Times New Roman" pitchFamily="18" charset="0"/>
              </a:rPr>
              <a:t>Ideal current source has the infinite resistance. The symbol and V-I characteristic is shown in fig.</a:t>
            </a:r>
          </a:p>
          <a:p>
            <a:pPr>
              <a:lnSpc>
                <a:spcPct val="150000"/>
              </a:lnSpc>
              <a:buNone/>
            </a:pPr>
            <a:endParaRPr lang="en-US" sz="2200" dirty="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smtClean="0"/>
              <a:t>syed hasan saeed</a:t>
            </a:r>
            <a:endParaRPr lang="en-US"/>
          </a:p>
        </p:txBody>
      </p:sp>
      <p:sp>
        <p:nvSpPr>
          <p:cNvPr id="6" name="Slide Number Placeholder 5"/>
          <p:cNvSpPr>
            <a:spLocks noGrp="1"/>
          </p:cNvSpPr>
          <p:nvPr>
            <p:ph type="sldNum" sz="quarter" idx="12"/>
          </p:nvPr>
        </p:nvSpPr>
        <p:spPr/>
        <p:txBody>
          <a:bodyPr/>
          <a:lstStyle/>
          <a:p>
            <a:fld id="{435E54C7-FAA8-46C1-A880-53547F97989D}" type="slidenum">
              <a:rPr lang="en-US" smtClean="0"/>
              <a:pPr/>
              <a:t>9</a:t>
            </a:fld>
            <a:endParaRPr lang="en-US"/>
          </a:p>
        </p:txBody>
      </p:sp>
      <p:grpSp>
        <p:nvGrpSpPr>
          <p:cNvPr id="28" name="Group 27"/>
          <p:cNvGrpSpPr/>
          <p:nvPr/>
        </p:nvGrpSpPr>
        <p:grpSpPr>
          <a:xfrm>
            <a:off x="1943376" y="3143444"/>
            <a:ext cx="8944332" cy="2647045"/>
            <a:chOff x="1943376" y="3143444"/>
            <a:chExt cx="8944332" cy="2647045"/>
          </a:xfrm>
        </p:grpSpPr>
        <p:grpSp>
          <p:nvGrpSpPr>
            <p:cNvPr id="27" name="Group 26"/>
            <p:cNvGrpSpPr/>
            <p:nvPr/>
          </p:nvGrpSpPr>
          <p:grpSpPr>
            <a:xfrm>
              <a:off x="1943376" y="3143444"/>
              <a:ext cx="8944332" cy="2647045"/>
              <a:chOff x="2616592" y="3143444"/>
              <a:chExt cx="8944332" cy="2647045"/>
            </a:xfrm>
          </p:grpSpPr>
          <p:grpSp>
            <p:nvGrpSpPr>
              <p:cNvPr id="25" name="Group 24"/>
              <p:cNvGrpSpPr/>
              <p:nvPr/>
            </p:nvGrpSpPr>
            <p:grpSpPr>
              <a:xfrm>
                <a:off x="3237722" y="3361204"/>
                <a:ext cx="1622128" cy="2052793"/>
                <a:chOff x="2449922" y="3351874"/>
                <a:chExt cx="1216913" cy="2052793"/>
              </a:xfrm>
            </p:grpSpPr>
            <p:grpSp>
              <p:nvGrpSpPr>
                <p:cNvPr id="9" name="Group 27"/>
                <p:cNvGrpSpPr/>
                <p:nvPr/>
              </p:nvGrpSpPr>
              <p:grpSpPr>
                <a:xfrm>
                  <a:off x="2449922" y="3351874"/>
                  <a:ext cx="1216913" cy="2052793"/>
                  <a:chOff x="3391994" y="4173878"/>
                  <a:chExt cx="1216913" cy="2052793"/>
                </a:xfrm>
              </p:grpSpPr>
              <p:sp>
                <p:nvSpPr>
                  <p:cNvPr id="10" name="Oval 9"/>
                  <p:cNvSpPr/>
                  <p:nvPr/>
                </p:nvSpPr>
                <p:spPr>
                  <a:xfrm>
                    <a:off x="3391994" y="4871490"/>
                    <a:ext cx="526862" cy="649745"/>
                  </a:xfrm>
                  <a:prstGeom prst="ellipse">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rot="16200000" flipH="1">
                    <a:off x="3299815" y="4522221"/>
                    <a:ext cx="696686" cy="0"/>
                  </a:xfrm>
                  <a:prstGeom prst="line">
                    <a:avLst/>
                  </a:prstGeom>
                  <a:ln w="15875">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6200000" flipH="1">
                    <a:off x="3312871" y="5878328"/>
                    <a:ext cx="696686" cy="0"/>
                  </a:xfrm>
                  <a:prstGeom prst="line">
                    <a:avLst/>
                  </a:prstGeom>
                  <a:ln w="15875">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921567" y="4894485"/>
                    <a:ext cx="687340" cy="338554"/>
                  </a:xfrm>
                  <a:prstGeom prst="rect">
                    <a:avLst/>
                  </a:prstGeom>
                  <a:noFill/>
                </p:spPr>
                <p:txBody>
                  <a:bodyPr wrap="square" rtlCol="0">
                    <a:spAutoFit/>
                  </a:bodyPr>
                  <a:lstStyle/>
                  <a:p>
                    <a:r>
                      <a:rPr lang="en-US" sz="1600" dirty="0" smtClean="0">
                        <a:latin typeface="Times New Roman" pitchFamily="18" charset="0"/>
                        <a:cs typeface="Times New Roman" pitchFamily="18" charset="0"/>
                      </a:rPr>
                      <a:t>I or </a:t>
                    </a:r>
                    <a:r>
                      <a:rPr lang="en-US" sz="1600" dirty="0" err="1" smtClean="0">
                        <a:latin typeface="Times New Roman" pitchFamily="18" charset="0"/>
                        <a:cs typeface="Times New Roman" pitchFamily="18" charset="0"/>
                      </a:rPr>
                      <a:t>i</a:t>
                    </a:r>
                    <a:r>
                      <a:rPr lang="en-US" sz="1600" dirty="0" smtClean="0">
                        <a:latin typeface="Times New Roman" pitchFamily="18" charset="0"/>
                        <a:cs typeface="Times New Roman" pitchFamily="18" charset="0"/>
                      </a:rPr>
                      <a:t>(t)</a:t>
                    </a:r>
                    <a:endParaRPr lang="en-US" sz="1600" dirty="0">
                      <a:latin typeface="Times New Roman" pitchFamily="18" charset="0"/>
                      <a:cs typeface="Times New Roman" pitchFamily="18" charset="0"/>
                    </a:endParaRPr>
                  </a:p>
                </p:txBody>
              </p:sp>
            </p:grpSp>
            <p:cxnSp>
              <p:nvCxnSpPr>
                <p:cNvPr id="15" name="Straight Arrow Connector 14"/>
                <p:cNvCxnSpPr/>
                <p:nvPr/>
              </p:nvCxnSpPr>
              <p:spPr>
                <a:xfrm rot="16200000" flipV="1">
                  <a:off x="2521674" y="4363424"/>
                  <a:ext cx="341745"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6852024" y="3143444"/>
                <a:ext cx="3248281" cy="2351363"/>
                <a:chOff x="5140356" y="3143444"/>
                <a:chExt cx="2436845" cy="2351363"/>
              </a:xfrm>
            </p:grpSpPr>
            <p:cxnSp>
              <p:nvCxnSpPr>
                <p:cNvPr id="16" name="Straight Arrow Connector 15"/>
                <p:cNvCxnSpPr/>
                <p:nvPr/>
              </p:nvCxnSpPr>
              <p:spPr>
                <a:xfrm>
                  <a:off x="5474081" y="5290262"/>
                  <a:ext cx="2103120"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rot="5400000" flipH="1" flipV="1">
                  <a:off x="4477204" y="4292645"/>
                  <a:ext cx="2011680"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5883572" y="4655127"/>
                  <a:ext cx="1293091" cy="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5140356" y="3143444"/>
                  <a:ext cx="298026" cy="430887"/>
                </a:xfrm>
                <a:prstGeom prst="rect">
                  <a:avLst/>
                </a:prstGeom>
                <a:noFill/>
              </p:spPr>
              <p:txBody>
                <a:bodyPr wrap="square" rtlCol="0">
                  <a:spAutoFit/>
                </a:bodyPr>
                <a:lstStyle/>
                <a:p>
                  <a:r>
                    <a:rPr lang="en-US" sz="2200" dirty="0" err="1" smtClean="0">
                      <a:latin typeface="Times New Roman" pitchFamily="18" charset="0"/>
                      <a:cs typeface="Times New Roman" pitchFamily="18" charset="0"/>
                    </a:rPr>
                    <a:t>v</a:t>
                  </a:r>
                  <a:endParaRPr lang="en-US" sz="2200" dirty="0">
                    <a:latin typeface="Times New Roman" pitchFamily="18" charset="0"/>
                    <a:cs typeface="Times New Roman" pitchFamily="18" charset="0"/>
                  </a:endParaRPr>
                </a:p>
              </p:txBody>
            </p:sp>
            <p:sp>
              <p:nvSpPr>
                <p:cNvPr id="21" name="TextBox 20"/>
                <p:cNvSpPr txBox="1"/>
                <p:nvPr/>
              </p:nvSpPr>
              <p:spPr>
                <a:xfrm>
                  <a:off x="5256729" y="5063920"/>
                  <a:ext cx="298026" cy="430887"/>
                </a:xfrm>
                <a:prstGeom prst="rect">
                  <a:avLst/>
                </a:prstGeom>
                <a:noFill/>
              </p:spPr>
              <p:txBody>
                <a:bodyPr wrap="square" rtlCol="0">
                  <a:spAutoFit/>
                </a:bodyPr>
                <a:lstStyle/>
                <a:p>
                  <a:r>
                    <a:rPr lang="en-US" sz="2200" dirty="0" err="1" smtClean="0">
                      <a:latin typeface="Times New Roman" pitchFamily="18" charset="0"/>
                      <a:cs typeface="Times New Roman" pitchFamily="18" charset="0"/>
                    </a:rPr>
                    <a:t>0</a:t>
                  </a:r>
                  <a:endParaRPr lang="en-US" sz="2200" dirty="0">
                    <a:latin typeface="Times New Roman" pitchFamily="18" charset="0"/>
                    <a:cs typeface="Times New Roman" pitchFamily="18" charset="0"/>
                  </a:endParaRPr>
                </a:p>
              </p:txBody>
            </p:sp>
          </p:grpSp>
          <p:sp>
            <p:nvSpPr>
              <p:cNvPr id="22" name="TextBox 21"/>
              <p:cNvSpPr txBox="1"/>
              <p:nvPr/>
            </p:nvSpPr>
            <p:spPr>
              <a:xfrm>
                <a:off x="7030452" y="5478092"/>
                <a:ext cx="4530472" cy="307777"/>
              </a:xfrm>
              <a:prstGeom prst="rect">
                <a:avLst/>
              </a:prstGeom>
              <a:noFill/>
            </p:spPr>
            <p:txBody>
              <a:bodyPr wrap="square" rtlCol="0">
                <a:spAutoFit/>
              </a:bodyPr>
              <a:lstStyle/>
              <a:p>
                <a:r>
                  <a:rPr lang="en-US" sz="1400" dirty="0" smtClean="0">
                    <a:latin typeface="Times New Roman" pitchFamily="18" charset="0"/>
                    <a:cs typeface="Times New Roman" pitchFamily="18" charset="0"/>
                  </a:rPr>
                  <a:t>V-I characteristic of ideal current source</a:t>
                </a:r>
                <a:endParaRPr lang="en-US" sz="1400" dirty="0">
                  <a:latin typeface="Times New Roman" pitchFamily="18" charset="0"/>
                  <a:cs typeface="Times New Roman" pitchFamily="18" charset="0"/>
                </a:endParaRPr>
              </a:p>
            </p:txBody>
          </p:sp>
          <p:sp>
            <p:nvSpPr>
              <p:cNvPr id="23" name="TextBox 22"/>
              <p:cNvSpPr txBox="1"/>
              <p:nvPr/>
            </p:nvSpPr>
            <p:spPr>
              <a:xfrm>
                <a:off x="2616592" y="5482712"/>
                <a:ext cx="2197350" cy="307777"/>
              </a:xfrm>
              <a:prstGeom prst="rect">
                <a:avLst/>
              </a:prstGeom>
              <a:noFill/>
            </p:spPr>
            <p:txBody>
              <a:bodyPr wrap="square" rtlCol="0">
                <a:spAutoFit/>
              </a:bodyPr>
              <a:lstStyle/>
              <a:p>
                <a:r>
                  <a:rPr lang="en-US" sz="1400" dirty="0" smtClean="0">
                    <a:latin typeface="Times New Roman" pitchFamily="18" charset="0"/>
                    <a:cs typeface="Times New Roman" pitchFamily="18" charset="0"/>
                  </a:rPr>
                  <a:t>ideal current source</a:t>
                </a:r>
                <a:endParaRPr lang="en-US" sz="1400" dirty="0">
                  <a:latin typeface="Times New Roman" pitchFamily="18" charset="0"/>
                  <a:cs typeface="Times New Roman" pitchFamily="18" charset="0"/>
                </a:endParaRPr>
              </a:p>
            </p:txBody>
          </p:sp>
        </p:grpSp>
        <p:sp>
          <p:nvSpPr>
            <p:cNvPr id="26" name="TextBox 25"/>
            <p:cNvSpPr txBox="1"/>
            <p:nvPr/>
          </p:nvSpPr>
          <p:spPr>
            <a:xfrm>
              <a:off x="9467706" y="5078708"/>
              <a:ext cx="397265" cy="430887"/>
            </a:xfrm>
            <a:prstGeom prst="rect">
              <a:avLst/>
            </a:prstGeom>
            <a:noFill/>
          </p:spPr>
          <p:txBody>
            <a:bodyPr wrap="square" rtlCol="0">
              <a:spAutoFit/>
            </a:bodyPr>
            <a:lstStyle/>
            <a:p>
              <a:r>
                <a:rPr lang="en-US" sz="2200" dirty="0" err="1" smtClean="0">
                  <a:latin typeface="Times New Roman" pitchFamily="18" charset="0"/>
                  <a:cs typeface="Times New Roman" pitchFamily="18" charset="0"/>
                </a:rPr>
                <a:t>i</a:t>
              </a:r>
              <a:endParaRPr lang="en-US" sz="2200" dirty="0">
                <a:latin typeface="Times New Roman" pitchFamily="18" charset="0"/>
                <a:cs typeface="Times New Roman" pitchFamily="18" charset="0"/>
              </a:endParaRPr>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441" y="99154"/>
            <a:ext cx="10969943" cy="602810"/>
          </a:xfrm>
        </p:spPr>
        <p:txBody>
          <a:bodyPr>
            <a:normAutofit/>
          </a:bodyPr>
          <a:lstStyle/>
          <a:p>
            <a:r>
              <a:rPr lang="en-IN" sz="2800" dirty="0" smtClean="0">
                <a:solidFill>
                  <a:srgbClr val="00B050"/>
                </a:solidFill>
                <a:latin typeface="Times New Roman" pitchFamily="18" charset="0"/>
                <a:cs typeface="Times New Roman" pitchFamily="18" charset="0"/>
              </a:rPr>
              <a:t>BASIC TERMS AND DEFINITIONS</a:t>
            </a:r>
            <a:endParaRPr lang="en-US" sz="2800" dirty="0"/>
          </a:p>
        </p:txBody>
      </p:sp>
      <p:sp>
        <p:nvSpPr>
          <p:cNvPr id="3" name="Content Placeholder 2"/>
          <p:cNvSpPr>
            <a:spLocks noGrp="1"/>
          </p:cNvSpPr>
          <p:nvPr>
            <p:ph idx="1"/>
          </p:nvPr>
        </p:nvSpPr>
        <p:spPr>
          <a:xfrm>
            <a:off x="246239" y="720437"/>
            <a:ext cx="11770219" cy="5661891"/>
          </a:xfrm>
        </p:spPr>
        <p:txBody>
          <a:bodyPr>
            <a:normAutofit/>
          </a:bodyPr>
          <a:lstStyle/>
          <a:p>
            <a:pPr>
              <a:lnSpc>
                <a:spcPct val="150000"/>
              </a:lnSpc>
              <a:buNone/>
            </a:pPr>
            <a:r>
              <a:rPr lang="en-US" sz="2200" u="sng" dirty="0" smtClean="0">
                <a:solidFill>
                  <a:schemeClr val="accent6">
                    <a:lumMod val="50000"/>
                  </a:schemeClr>
                </a:solidFill>
                <a:latin typeface="Times New Roman" pitchFamily="18" charset="0"/>
                <a:cs typeface="Times New Roman" pitchFamily="18" charset="0"/>
              </a:rPr>
              <a:t>Practical current source: </a:t>
            </a:r>
            <a:r>
              <a:rPr lang="en-US" sz="2200" dirty="0" smtClean="0">
                <a:latin typeface="Times New Roman" pitchFamily="18" charset="0"/>
                <a:cs typeface="Times New Roman" pitchFamily="18" charset="0"/>
              </a:rPr>
              <a:t>It has the internal resistance R (in Mega ohms). The symbol and V-I characteristic are shown in fig. </a:t>
            </a:r>
          </a:p>
          <a:p>
            <a:pPr>
              <a:lnSpc>
                <a:spcPct val="150000"/>
              </a:lnSpc>
              <a:buNone/>
            </a:pPr>
            <a:endParaRPr lang="en-US" sz="2200" dirty="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smtClean="0"/>
              <a:t>syed hasan saeed</a:t>
            </a:r>
            <a:endParaRPr lang="en-US"/>
          </a:p>
        </p:txBody>
      </p:sp>
      <p:sp>
        <p:nvSpPr>
          <p:cNvPr id="6" name="Slide Number Placeholder 5"/>
          <p:cNvSpPr>
            <a:spLocks noGrp="1"/>
          </p:cNvSpPr>
          <p:nvPr>
            <p:ph type="sldNum" sz="quarter" idx="12"/>
          </p:nvPr>
        </p:nvSpPr>
        <p:spPr/>
        <p:txBody>
          <a:bodyPr/>
          <a:lstStyle/>
          <a:p>
            <a:fld id="{435E54C7-FAA8-46C1-A880-53547F97989D}" type="slidenum">
              <a:rPr lang="en-US" smtClean="0"/>
              <a:pPr/>
              <a:t>10</a:t>
            </a:fld>
            <a:endParaRPr lang="en-US"/>
          </a:p>
        </p:txBody>
      </p:sp>
      <p:grpSp>
        <p:nvGrpSpPr>
          <p:cNvPr id="7" name="Group 6"/>
          <p:cNvGrpSpPr/>
          <p:nvPr/>
        </p:nvGrpSpPr>
        <p:grpSpPr>
          <a:xfrm>
            <a:off x="7049007" y="2072068"/>
            <a:ext cx="3248281" cy="2351363"/>
            <a:chOff x="5140356" y="3143444"/>
            <a:chExt cx="2436845" cy="2351363"/>
          </a:xfrm>
        </p:grpSpPr>
        <p:cxnSp>
          <p:nvCxnSpPr>
            <p:cNvPr id="8" name="Straight Arrow Connector 7"/>
            <p:cNvCxnSpPr/>
            <p:nvPr/>
          </p:nvCxnSpPr>
          <p:spPr>
            <a:xfrm>
              <a:off x="5474081" y="5290262"/>
              <a:ext cx="2103120"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5400000" flipH="1" flipV="1">
              <a:off x="4477204" y="4292645"/>
              <a:ext cx="2011680"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5883572" y="4655127"/>
              <a:ext cx="1293091" cy="0"/>
            </a:xfrm>
            <a:prstGeom prst="line">
              <a:avLst/>
            </a:prstGeom>
            <a:ln w="15875">
              <a:solidFill>
                <a:srgbClr val="00B050"/>
              </a:solidFill>
              <a:prstDash val="sysDash"/>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140356" y="3143444"/>
              <a:ext cx="298026" cy="430887"/>
            </a:xfrm>
            <a:prstGeom prst="rect">
              <a:avLst/>
            </a:prstGeom>
            <a:noFill/>
          </p:spPr>
          <p:txBody>
            <a:bodyPr wrap="square" rtlCol="0">
              <a:spAutoFit/>
            </a:bodyPr>
            <a:lstStyle/>
            <a:p>
              <a:r>
                <a:rPr lang="en-US" sz="2200" dirty="0" err="1" smtClean="0">
                  <a:latin typeface="Times New Roman" pitchFamily="18" charset="0"/>
                  <a:cs typeface="Times New Roman" pitchFamily="18" charset="0"/>
                </a:rPr>
                <a:t>v</a:t>
              </a:r>
              <a:endParaRPr lang="en-US" sz="2200" dirty="0">
                <a:latin typeface="Times New Roman" pitchFamily="18" charset="0"/>
                <a:cs typeface="Times New Roman" pitchFamily="18" charset="0"/>
              </a:endParaRPr>
            </a:p>
          </p:txBody>
        </p:sp>
        <p:sp>
          <p:nvSpPr>
            <p:cNvPr id="12" name="TextBox 11"/>
            <p:cNvSpPr txBox="1"/>
            <p:nvPr/>
          </p:nvSpPr>
          <p:spPr>
            <a:xfrm>
              <a:off x="5256729" y="5063920"/>
              <a:ext cx="298026" cy="430887"/>
            </a:xfrm>
            <a:prstGeom prst="rect">
              <a:avLst/>
            </a:prstGeom>
            <a:noFill/>
          </p:spPr>
          <p:txBody>
            <a:bodyPr wrap="square" rtlCol="0">
              <a:spAutoFit/>
            </a:bodyPr>
            <a:lstStyle/>
            <a:p>
              <a:r>
                <a:rPr lang="en-US" sz="2200" dirty="0" err="1" smtClean="0">
                  <a:latin typeface="Times New Roman" pitchFamily="18" charset="0"/>
                  <a:cs typeface="Times New Roman" pitchFamily="18" charset="0"/>
                </a:rPr>
                <a:t>0</a:t>
              </a:r>
              <a:endParaRPr lang="en-US" sz="2200" dirty="0">
                <a:latin typeface="Times New Roman" pitchFamily="18" charset="0"/>
                <a:cs typeface="Times New Roman" pitchFamily="18" charset="0"/>
              </a:endParaRPr>
            </a:p>
          </p:txBody>
        </p:sp>
      </p:grpSp>
      <p:cxnSp>
        <p:nvCxnSpPr>
          <p:cNvPr id="14" name="Straight Connector 13"/>
          <p:cNvCxnSpPr/>
          <p:nvPr/>
        </p:nvCxnSpPr>
        <p:spPr>
          <a:xfrm rot="16200000" flipV="1">
            <a:off x="7994913" y="3314394"/>
            <a:ext cx="1209963" cy="603286"/>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7030452" y="4499076"/>
            <a:ext cx="4530472" cy="369332"/>
          </a:xfrm>
          <a:prstGeom prst="rect">
            <a:avLst/>
          </a:prstGeom>
          <a:noFill/>
        </p:spPr>
        <p:txBody>
          <a:bodyPr wrap="square" rtlCol="0">
            <a:spAutoFit/>
          </a:bodyPr>
          <a:lstStyle/>
          <a:p>
            <a:r>
              <a:rPr lang="en-US" dirty="0" smtClean="0">
                <a:latin typeface="Times New Roman" pitchFamily="18" charset="0"/>
                <a:cs typeface="Times New Roman" pitchFamily="18" charset="0"/>
              </a:rPr>
              <a:t>V-I characteristic of practical current source</a:t>
            </a:r>
            <a:endParaRPr lang="en-US" dirty="0">
              <a:latin typeface="Times New Roman" pitchFamily="18" charset="0"/>
              <a:cs typeface="Times New Roman" pitchFamily="18" charset="0"/>
            </a:endParaRPr>
          </a:p>
        </p:txBody>
      </p:sp>
      <p:grpSp>
        <p:nvGrpSpPr>
          <p:cNvPr id="39" name="Group 38"/>
          <p:cNvGrpSpPr/>
          <p:nvPr/>
        </p:nvGrpSpPr>
        <p:grpSpPr>
          <a:xfrm>
            <a:off x="1601367" y="2420653"/>
            <a:ext cx="2785232" cy="1896916"/>
            <a:chOff x="1201338" y="2420653"/>
            <a:chExt cx="2089468" cy="1896916"/>
          </a:xfrm>
        </p:grpSpPr>
        <p:grpSp>
          <p:nvGrpSpPr>
            <p:cNvPr id="16" name="Group 27"/>
            <p:cNvGrpSpPr/>
            <p:nvPr/>
          </p:nvGrpSpPr>
          <p:grpSpPr>
            <a:xfrm>
              <a:off x="1201338" y="2420653"/>
              <a:ext cx="1264817" cy="1894166"/>
              <a:chOff x="3344090" y="4332505"/>
              <a:chExt cx="1264817" cy="1894166"/>
            </a:xfrm>
          </p:grpSpPr>
          <p:sp>
            <p:nvSpPr>
              <p:cNvPr id="17" name="Oval 16"/>
              <p:cNvSpPr/>
              <p:nvPr/>
            </p:nvSpPr>
            <p:spPr>
              <a:xfrm>
                <a:off x="3344090" y="5024846"/>
                <a:ext cx="574766" cy="496389"/>
              </a:xfrm>
              <a:prstGeom prst="ellipse">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p:nvCxnSpPr>
            <p:spPr>
              <a:xfrm rot="16200000" flipH="1">
                <a:off x="3278815" y="4680848"/>
                <a:ext cx="696686" cy="0"/>
              </a:xfrm>
              <a:prstGeom prst="line">
                <a:avLst/>
              </a:prstGeom>
              <a:ln w="15875">
                <a:solidFill>
                  <a:schemeClr val="tx1"/>
                </a:solidFill>
                <a:head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6200000" flipH="1">
                <a:off x="3273399" y="5878328"/>
                <a:ext cx="696686" cy="0"/>
              </a:xfrm>
              <a:prstGeom prst="line">
                <a:avLst/>
              </a:prstGeom>
              <a:ln w="15875">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921567" y="4894485"/>
                <a:ext cx="687340" cy="338554"/>
              </a:xfrm>
              <a:prstGeom prst="rect">
                <a:avLst/>
              </a:prstGeom>
              <a:noFill/>
            </p:spPr>
            <p:txBody>
              <a:bodyPr wrap="square" rtlCol="0">
                <a:spAutoFit/>
              </a:bodyPr>
              <a:lstStyle/>
              <a:p>
                <a:r>
                  <a:rPr lang="en-US" sz="1600" dirty="0" smtClean="0">
                    <a:latin typeface="Times New Roman" pitchFamily="18" charset="0"/>
                    <a:cs typeface="Times New Roman" pitchFamily="18" charset="0"/>
                  </a:rPr>
                  <a:t>I or </a:t>
                </a:r>
                <a:r>
                  <a:rPr lang="en-US" sz="1600" dirty="0" err="1" smtClean="0">
                    <a:latin typeface="Times New Roman" pitchFamily="18" charset="0"/>
                    <a:cs typeface="Times New Roman" pitchFamily="18" charset="0"/>
                  </a:rPr>
                  <a:t>i</a:t>
                </a:r>
                <a:r>
                  <a:rPr lang="en-US" sz="1600" dirty="0" smtClean="0">
                    <a:latin typeface="Times New Roman" pitchFamily="18" charset="0"/>
                    <a:cs typeface="Times New Roman" pitchFamily="18" charset="0"/>
                  </a:rPr>
                  <a:t>(t)</a:t>
                </a:r>
                <a:endParaRPr lang="en-US" sz="1600" dirty="0">
                  <a:latin typeface="Times New Roman" pitchFamily="18" charset="0"/>
                  <a:cs typeface="Times New Roman" pitchFamily="18" charset="0"/>
                </a:endParaRPr>
              </a:p>
            </p:txBody>
          </p:sp>
        </p:grpSp>
        <p:cxnSp>
          <p:nvCxnSpPr>
            <p:cNvPr id="21" name="Straight Arrow Connector 20"/>
            <p:cNvCxnSpPr/>
            <p:nvPr/>
          </p:nvCxnSpPr>
          <p:spPr>
            <a:xfrm rot="16200000" flipV="1">
              <a:off x="1306948" y="3357417"/>
              <a:ext cx="341745"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476213" y="2421611"/>
              <a:ext cx="1813301" cy="3874"/>
            </a:xfrm>
            <a:prstGeom prst="line">
              <a:avLst/>
            </a:prstGeom>
            <a:ln w="15875">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477505" y="4313695"/>
              <a:ext cx="1813301" cy="3874"/>
            </a:xfrm>
            <a:prstGeom prst="line">
              <a:avLst/>
            </a:prstGeom>
            <a:ln w="15875">
              <a:solidFill>
                <a:schemeClr val="tx1"/>
              </a:solidFill>
              <a:tailEnd type="oval"/>
            </a:ln>
          </p:spPr>
          <p:style>
            <a:lnRef idx="1">
              <a:schemeClr val="accent1"/>
            </a:lnRef>
            <a:fillRef idx="0">
              <a:schemeClr val="accent1"/>
            </a:fillRef>
            <a:effectRef idx="0">
              <a:schemeClr val="accent1"/>
            </a:effectRef>
            <a:fontRef idx="minor">
              <a:schemeClr val="tx1"/>
            </a:fontRef>
          </p:style>
        </p:cxnSp>
        <p:grpSp>
          <p:nvGrpSpPr>
            <p:cNvPr id="64513" name="Group 1"/>
            <p:cNvGrpSpPr>
              <a:grpSpLocks/>
            </p:cNvGrpSpPr>
            <p:nvPr/>
          </p:nvGrpSpPr>
          <p:grpSpPr bwMode="auto">
            <a:xfrm rot="16200000">
              <a:off x="1755396" y="3258802"/>
              <a:ext cx="1889162" cy="216976"/>
              <a:chOff x="-3100" y="2700"/>
              <a:chExt cx="17125" cy="1440"/>
            </a:xfrm>
          </p:grpSpPr>
          <p:cxnSp>
            <p:nvCxnSpPr>
              <p:cNvPr id="64514" name="AutoShape 2"/>
              <p:cNvCxnSpPr>
                <a:cxnSpLocks noChangeShapeType="1"/>
              </p:cNvCxnSpPr>
              <p:nvPr/>
            </p:nvCxnSpPr>
            <p:spPr bwMode="auto">
              <a:xfrm flipV="1">
                <a:off x="3240" y="2700"/>
                <a:ext cx="360" cy="720"/>
              </a:xfrm>
              <a:prstGeom prst="straightConnector1">
                <a:avLst/>
              </a:prstGeom>
              <a:noFill/>
              <a:ln w="15875">
                <a:solidFill>
                  <a:srgbClr val="000000"/>
                </a:solidFill>
                <a:round/>
                <a:headEnd/>
                <a:tailEnd/>
              </a:ln>
            </p:spPr>
          </p:cxnSp>
          <p:cxnSp>
            <p:nvCxnSpPr>
              <p:cNvPr id="64515" name="AutoShape 3"/>
              <p:cNvCxnSpPr>
                <a:cxnSpLocks noChangeShapeType="1"/>
              </p:cNvCxnSpPr>
              <p:nvPr/>
            </p:nvCxnSpPr>
            <p:spPr bwMode="auto">
              <a:xfrm>
                <a:off x="3600" y="2700"/>
                <a:ext cx="720" cy="1440"/>
              </a:xfrm>
              <a:prstGeom prst="straightConnector1">
                <a:avLst/>
              </a:prstGeom>
              <a:noFill/>
              <a:ln w="15875">
                <a:solidFill>
                  <a:srgbClr val="000000"/>
                </a:solidFill>
                <a:round/>
                <a:headEnd/>
                <a:tailEnd/>
              </a:ln>
            </p:spPr>
          </p:cxnSp>
          <p:cxnSp>
            <p:nvCxnSpPr>
              <p:cNvPr id="64516" name="AutoShape 4"/>
              <p:cNvCxnSpPr>
                <a:cxnSpLocks noChangeShapeType="1"/>
              </p:cNvCxnSpPr>
              <p:nvPr/>
            </p:nvCxnSpPr>
            <p:spPr bwMode="auto">
              <a:xfrm flipV="1">
                <a:off x="4320" y="2700"/>
                <a:ext cx="720" cy="1440"/>
              </a:xfrm>
              <a:prstGeom prst="straightConnector1">
                <a:avLst/>
              </a:prstGeom>
              <a:noFill/>
              <a:ln w="15875">
                <a:solidFill>
                  <a:srgbClr val="000000"/>
                </a:solidFill>
                <a:round/>
                <a:headEnd/>
                <a:tailEnd/>
              </a:ln>
            </p:spPr>
          </p:cxnSp>
          <p:cxnSp>
            <p:nvCxnSpPr>
              <p:cNvPr id="64517" name="AutoShape 5"/>
              <p:cNvCxnSpPr>
                <a:cxnSpLocks noChangeShapeType="1"/>
              </p:cNvCxnSpPr>
              <p:nvPr/>
            </p:nvCxnSpPr>
            <p:spPr bwMode="auto">
              <a:xfrm flipH="1" flipV="1">
                <a:off x="5040" y="2700"/>
                <a:ext cx="720" cy="1440"/>
              </a:xfrm>
              <a:prstGeom prst="straightConnector1">
                <a:avLst/>
              </a:prstGeom>
              <a:noFill/>
              <a:ln w="15875">
                <a:solidFill>
                  <a:srgbClr val="000000"/>
                </a:solidFill>
                <a:round/>
                <a:headEnd/>
                <a:tailEnd/>
              </a:ln>
            </p:spPr>
          </p:cxnSp>
          <p:cxnSp>
            <p:nvCxnSpPr>
              <p:cNvPr id="64518" name="AutoShape 6"/>
              <p:cNvCxnSpPr>
                <a:cxnSpLocks noChangeShapeType="1"/>
              </p:cNvCxnSpPr>
              <p:nvPr/>
            </p:nvCxnSpPr>
            <p:spPr bwMode="auto">
              <a:xfrm flipH="1">
                <a:off x="5760" y="2700"/>
                <a:ext cx="720" cy="1440"/>
              </a:xfrm>
              <a:prstGeom prst="straightConnector1">
                <a:avLst/>
              </a:prstGeom>
              <a:noFill/>
              <a:ln w="15875">
                <a:solidFill>
                  <a:srgbClr val="000000"/>
                </a:solidFill>
                <a:round/>
                <a:headEnd/>
                <a:tailEnd/>
              </a:ln>
            </p:spPr>
          </p:cxnSp>
          <p:cxnSp>
            <p:nvCxnSpPr>
              <p:cNvPr id="64519" name="AutoShape 7"/>
              <p:cNvCxnSpPr>
                <a:cxnSpLocks noChangeShapeType="1"/>
              </p:cNvCxnSpPr>
              <p:nvPr/>
            </p:nvCxnSpPr>
            <p:spPr bwMode="auto">
              <a:xfrm flipH="1" flipV="1">
                <a:off x="6480" y="2700"/>
                <a:ext cx="720" cy="1440"/>
              </a:xfrm>
              <a:prstGeom prst="straightConnector1">
                <a:avLst/>
              </a:prstGeom>
              <a:noFill/>
              <a:ln w="15875">
                <a:solidFill>
                  <a:srgbClr val="000000"/>
                </a:solidFill>
                <a:round/>
                <a:headEnd/>
                <a:tailEnd/>
              </a:ln>
            </p:spPr>
          </p:cxnSp>
          <p:cxnSp>
            <p:nvCxnSpPr>
              <p:cNvPr id="64520" name="AutoShape 8"/>
              <p:cNvCxnSpPr>
                <a:cxnSpLocks noChangeShapeType="1"/>
              </p:cNvCxnSpPr>
              <p:nvPr/>
            </p:nvCxnSpPr>
            <p:spPr bwMode="auto">
              <a:xfrm>
                <a:off x="2520" y="3420"/>
                <a:ext cx="720" cy="0"/>
              </a:xfrm>
              <a:prstGeom prst="straightConnector1">
                <a:avLst/>
              </a:prstGeom>
              <a:noFill/>
              <a:ln w="15875">
                <a:solidFill>
                  <a:srgbClr val="000000"/>
                </a:solidFill>
                <a:round/>
                <a:headEnd/>
                <a:tailEnd/>
              </a:ln>
            </p:spPr>
          </p:cxnSp>
          <p:cxnSp>
            <p:nvCxnSpPr>
              <p:cNvPr id="64521" name="AutoShape 9"/>
              <p:cNvCxnSpPr>
                <a:cxnSpLocks noChangeShapeType="1"/>
              </p:cNvCxnSpPr>
              <p:nvPr/>
            </p:nvCxnSpPr>
            <p:spPr bwMode="auto">
              <a:xfrm flipV="1">
                <a:off x="3240" y="2700"/>
                <a:ext cx="360" cy="720"/>
              </a:xfrm>
              <a:prstGeom prst="straightConnector1">
                <a:avLst/>
              </a:prstGeom>
              <a:noFill/>
              <a:ln w="15875">
                <a:solidFill>
                  <a:srgbClr val="000000"/>
                </a:solidFill>
                <a:round/>
                <a:headEnd/>
                <a:tailEnd/>
              </a:ln>
            </p:spPr>
          </p:cxnSp>
          <p:cxnSp>
            <p:nvCxnSpPr>
              <p:cNvPr id="64522" name="AutoShape 10"/>
              <p:cNvCxnSpPr>
                <a:cxnSpLocks noChangeShapeType="1"/>
              </p:cNvCxnSpPr>
              <p:nvPr/>
            </p:nvCxnSpPr>
            <p:spPr bwMode="auto">
              <a:xfrm>
                <a:off x="3600" y="2700"/>
                <a:ext cx="720" cy="1440"/>
              </a:xfrm>
              <a:prstGeom prst="straightConnector1">
                <a:avLst/>
              </a:prstGeom>
              <a:noFill/>
              <a:ln w="15875">
                <a:solidFill>
                  <a:srgbClr val="000000"/>
                </a:solidFill>
                <a:round/>
                <a:headEnd/>
                <a:tailEnd/>
              </a:ln>
            </p:spPr>
          </p:cxnSp>
          <p:cxnSp>
            <p:nvCxnSpPr>
              <p:cNvPr id="64523" name="AutoShape 11"/>
              <p:cNvCxnSpPr>
                <a:cxnSpLocks noChangeShapeType="1"/>
              </p:cNvCxnSpPr>
              <p:nvPr/>
            </p:nvCxnSpPr>
            <p:spPr bwMode="auto">
              <a:xfrm>
                <a:off x="-3100" y="3420"/>
                <a:ext cx="6382" cy="0"/>
              </a:xfrm>
              <a:prstGeom prst="straightConnector1">
                <a:avLst/>
              </a:prstGeom>
              <a:noFill/>
              <a:ln w="15875">
                <a:solidFill>
                  <a:srgbClr val="000000"/>
                </a:solidFill>
                <a:round/>
                <a:headEnd/>
                <a:tailEnd/>
              </a:ln>
            </p:spPr>
          </p:cxnSp>
          <p:cxnSp>
            <p:nvCxnSpPr>
              <p:cNvPr id="64524" name="AutoShape 12"/>
              <p:cNvCxnSpPr>
                <a:cxnSpLocks noChangeShapeType="1"/>
              </p:cNvCxnSpPr>
              <p:nvPr/>
            </p:nvCxnSpPr>
            <p:spPr bwMode="auto">
              <a:xfrm flipV="1">
                <a:off x="7200" y="3420"/>
                <a:ext cx="360" cy="720"/>
              </a:xfrm>
              <a:prstGeom prst="straightConnector1">
                <a:avLst/>
              </a:prstGeom>
              <a:noFill/>
              <a:ln w="15875">
                <a:solidFill>
                  <a:srgbClr val="000000"/>
                </a:solidFill>
                <a:round/>
                <a:headEnd/>
                <a:tailEnd/>
              </a:ln>
            </p:spPr>
          </p:cxnSp>
          <p:cxnSp>
            <p:nvCxnSpPr>
              <p:cNvPr id="64525" name="AutoShape 13"/>
              <p:cNvCxnSpPr>
                <a:cxnSpLocks noChangeShapeType="1"/>
              </p:cNvCxnSpPr>
              <p:nvPr/>
            </p:nvCxnSpPr>
            <p:spPr bwMode="auto">
              <a:xfrm>
                <a:off x="7560" y="3420"/>
                <a:ext cx="6465" cy="0"/>
              </a:xfrm>
              <a:prstGeom prst="straightConnector1">
                <a:avLst/>
              </a:prstGeom>
              <a:noFill/>
              <a:ln w="15875">
                <a:solidFill>
                  <a:srgbClr val="000000"/>
                </a:solidFill>
                <a:round/>
                <a:headEnd/>
                <a:tailEnd/>
              </a:ln>
            </p:spPr>
          </p:cxnSp>
        </p:grpSp>
        <p:sp>
          <p:nvSpPr>
            <p:cNvPr id="38" name="TextBox 37"/>
            <p:cNvSpPr txBox="1"/>
            <p:nvPr/>
          </p:nvSpPr>
          <p:spPr>
            <a:xfrm>
              <a:off x="2770309" y="3173269"/>
              <a:ext cx="317715" cy="338554"/>
            </a:xfrm>
            <a:prstGeom prst="rect">
              <a:avLst/>
            </a:prstGeom>
            <a:noFill/>
          </p:spPr>
          <p:txBody>
            <a:bodyPr wrap="square" rtlCol="0">
              <a:spAutoFit/>
            </a:bodyPr>
            <a:lstStyle/>
            <a:p>
              <a:r>
                <a:rPr lang="en-US" sz="1600" dirty="0" smtClean="0">
                  <a:latin typeface="Times New Roman" pitchFamily="18" charset="0"/>
                  <a:cs typeface="Times New Roman" pitchFamily="18" charset="0"/>
                </a:rPr>
                <a:t>R</a:t>
              </a:r>
              <a:endParaRPr lang="en-US" sz="1600" dirty="0">
                <a:latin typeface="Times New Roman" pitchFamily="18" charset="0"/>
                <a:cs typeface="Times New Roman" pitchFamily="18" charset="0"/>
              </a:endParaRPr>
            </a:p>
          </p:txBody>
        </p:sp>
      </p:grpSp>
      <p:sp>
        <p:nvSpPr>
          <p:cNvPr id="40" name="TextBox 39"/>
          <p:cNvSpPr txBox="1"/>
          <p:nvPr/>
        </p:nvSpPr>
        <p:spPr>
          <a:xfrm>
            <a:off x="2455978" y="4463700"/>
            <a:ext cx="1864525" cy="369332"/>
          </a:xfrm>
          <a:prstGeom prst="rect">
            <a:avLst/>
          </a:prstGeom>
          <a:noFill/>
        </p:spPr>
        <p:txBody>
          <a:bodyPr wrap="square" rtlCol="0">
            <a:spAutoFit/>
          </a:bodyPr>
          <a:lstStyle/>
          <a:p>
            <a:r>
              <a:rPr lang="en-US" dirty="0" smtClean="0">
                <a:latin typeface="Times New Roman" pitchFamily="18" charset="0"/>
                <a:cs typeface="Times New Roman" pitchFamily="18" charset="0"/>
              </a:rPr>
              <a:t>Source Symbol</a:t>
            </a:r>
            <a:endParaRPr lang="en-US" dirty="0">
              <a:latin typeface="Times New Roman" pitchFamily="18" charset="0"/>
              <a:cs typeface="Times New Roman" pitchFamily="18" charset="0"/>
            </a:endParaRPr>
          </a:p>
        </p:txBody>
      </p:sp>
      <p:sp>
        <p:nvSpPr>
          <p:cNvPr id="41" name="TextBox 40"/>
          <p:cNvSpPr txBox="1"/>
          <p:nvPr/>
        </p:nvSpPr>
        <p:spPr>
          <a:xfrm>
            <a:off x="10305394" y="4035161"/>
            <a:ext cx="397265" cy="430887"/>
          </a:xfrm>
          <a:prstGeom prst="rect">
            <a:avLst/>
          </a:prstGeom>
          <a:noFill/>
        </p:spPr>
        <p:txBody>
          <a:bodyPr wrap="square" rtlCol="0">
            <a:spAutoFit/>
          </a:bodyPr>
          <a:lstStyle/>
          <a:p>
            <a:r>
              <a:rPr lang="en-US" sz="2200" dirty="0" err="1" smtClean="0">
                <a:latin typeface="Times New Roman" pitchFamily="18" charset="0"/>
                <a:cs typeface="Times New Roman" pitchFamily="18" charset="0"/>
              </a:rPr>
              <a:t>i</a:t>
            </a:r>
            <a:endParaRPr lang="en-US" sz="2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635" y="71414"/>
            <a:ext cx="11617555" cy="714380"/>
          </a:xfrm>
        </p:spPr>
        <p:txBody>
          <a:bodyPr>
            <a:normAutofit/>
          </a:bodyPr>
          <a:lstStyle/>
          <a:p>
            <a:r>
              <a:rPr lang="en-IN" sz="2800" dirty="0" smtClean="0">
                <a:solidFill>
                  <a:srgbClr val="00B050"/>
                </a:solidFill>
                <a:latin typeface="Times New Roman" pitchFamily="18" charset="0"/>
                <a:cs typeface="Times New Roman" pitchFamily="18" charset="0"/>
              </a:rPr>
              <a:t>BASIC TERMS AND DEFINITIONS</a:t>
            </a:r>
            <a:endParaRPr lang="en-US" sz="2800" dirty="0">
              <a:solidFill>
                <a:srgbClr val="FF0000"/>
              </a:solidFill>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smtClean="0"/>
              <a:t>syed hasan saeed</a:t>
            </a:r>
            <a:endParaRPr lang="en-US"/>
          </a:p>
        </p:txBody>
      </p:sp>
      <p:sp>
        <p:nvSpPr>
          <p:cNvPr id="6" name="Slide Number Placeholder 5"/>
          <p:cNvSpPr>
            <a:spLocks noGrp="1"/>
          </p:cNvSpPr>
          <p:nvPr>
            <p:ph type="sldNum" sz="quarter" idx="12"/>
          </p:nvPr>
        </p:nvSpPr>
        <p:spPr/>
        <p:txBody>
          <a:bodyPr/>
          <a:lstStyle/>
          <a:p>
            <a:fld id="{435E54C7-FAA8-46C1-A880-53547F97989D}" type="slidenum">
              <a:rPr lang="en-US" smtClean="0"/>
              <a:pPr/>
              <a:t>11</a:t>
            </a:fld>
            <a:endParaRPr lang="en-US"/>
          </a:p>
        </p:txBody>
      </p:sp>
      <p:sp>
        <p:nvSpPr>
          <p:cNvPr id="7" name="Content Placeholder 6"/>
          <p:cNvSpPr>
            <a:spLocks noGrp="1"/>
          </p:cNvSpPr>
          <p:nvPr>
            <p:ph idx="1"/>
          </p:nvPr>
        </p:nvSpPr>
        <p:spPr>
          <a:xfrm>
            <a:off x="190409" y="714356"/>
            <a:ext cx="11808007" cy="5643602"/>
          </a:xfrm>
        </p:spPr>
        <p:txBody>
          <a:bodyPr>
            <a:normAutofit/>
          </a:bodyPr>
          <a:lstStyle/>
          <a:p>
            <a:pPr>
              <a:lnSpc>
                <a:spcPct val="150000"/>
              </a:lnSpc>
              <a:buNone/>
            </a:pPr>
            <a:r>
              <a:rPr lang="en-US" sz="2200" dirty="0" smtClean="0">
                <a:latin typeface="Times New Roman" pitchFamily="18" charset="0"/>
                <a:cs typeface="Times New Roman" pitchFamily="18" charset="0"/>
              </a:rPr>
              <a:t>  </a:t>
            </a:r>
            <a:r>
              <a:rPr lang="en-US" sz="2200" u="sng" dirty="0" smtClean="0">
                <a:solidFill>
                  <a:srgbClr val="FF0000"/>
                </a:solidFill>
                <a:latin typeface="Times New Roman" pitchFamily="18" charset="0"/>
                <a:cs typeface="Times New Roman" pitchFamily="18" charset="0"/>
              </a:rPr>
              <a:t>DEPENDENT OR CONTROLLED ENERGY SOURCE</a:t>
            </a:r>
          </a:p>
          <a:p>
            <a:pPr marL="457200" indent="-457200">
              <a:lnSpc>
                <a:spcPct val="150000"/>
              </a:lnSpc>
              <a:buAutoNum type="alphaLcParenBoth"/>
            </a:pPr>
            <a:r>
              <a:rPr lang="en-US" sz="2200" u="sng" dirty="0" smtClean="0">
                <a:solidFill>
                  <a:schemeClr val="accent6">
                    <a:lumMod val="50000"/>
                  </a:schemeClr>
                </a:solidFill>
                <a:latin typeface="Times New Roman" pitchFamily="18" charset="0"/>
                <a:cs typeface="Times New Roman" pitchFamily="18" charset="0"/>
              </a:rPr>
              <a:t>Voltage Controlled Voltage Source (VCVS):   </a:t>
            </a:r>
          </a:p>
          <a:p>
            <a:pPr marL="457200" indent="-457200">
              <a:lnSpc>
                <a:spcPct val="150000"/>
              </a:lnSpc>
              <a:buNone/>
            </a:pPr>
            <a:r>
              <a:rPr lang="en-US" sz="2200" dirty="0" smtClean="0">
                <a:latin typeface="Times New Roman" pitchFamily="18" charset="0"/>
                <a:cs typeface="Times New Roman" pitchFamily="18" charset="0"/>
              </a:rPr>
              <a:t>       Here the voltage across source terminal </a:t>
            </a:r>
            <a:r>
              <a:rPr lang="en-US" sz="2200" dirty="0" err="1" smtClean="0">
                <a:latin typeface="Times New Roman" pitchFamily="18" charset="0"/>
                <a:cs typeface="Times New Roman" pitchFamily="18" charset="0"/>
              </a:rPr>
              <a:t>V</a:t>
            </a:r>
            <a:r>
              <a:rPr lang="en-US" sz="2200" baseline="-25000" dirty="0" err="1" smtClean="0">
                <a:latin typeface="Times New Roman" pitchFamily="18" charset="0"/>
                <a:cs typeface="Times New Roman" pitchFamily="18" charset="0"/>
              </a:rPr>
              <a:t>ab</a:t>
            </a:r>
            <a:r>
              <a:rPr lang="en-US" sz="2200" dirty="0" smtClean="0">
                <a:latin typeface="Times New Roman" pitchFamily="18" charset="0"/>
                <a:cs typeface="Times New Roman" pitchFamily="18" charset="0"/>
              </a:rPr>
              <a:t> is dependent upon the </a:t>
            </a:r>
            <a:r>
              <a:rPr lang="en-US" sz="2200" dirty="0" err="1" smtClean="0">
                <a:latin typeface="Times New Roman" pitchFamily="18" charset="0"/>
                <a:cs typeface="Times New Roman" pitchFamily="18" charset="0"/>
              </a:rPr>
              <a:t>V</a:t>
            </a:r>
            <a:r>
              <a:rPr lang="en-US" sz="2200" baseline="-25000" dirty="0" err="1" smtClean="0">
                <a:latin typeface="Times New Roman" pitchFamily="18" charset="0"/>
                <a:cs typeface="Times New Roman" pitchFamily="18" charset="0"/>
              </a:rPr>
              <a:t>cd</a:t>
            </a:r>
            <a:r>
              <a:rPr lang="en-US" sz="2200" dirty="0" smtClean="0">
                <a:latin typeface="Times New Roman" pitchFamily="18" charset="0"/>
                <a:cs typeface="Times New Roman" pitchFamily="18" charset="0"/>
              </a:rPr>
              <a:t>, that is voltage across the any element in the network. Symbol is shown in fig.</a:t>
            </a:r>
          </a:p>
          <a:p>
            <a:pPr marL="457200" indent="-457200">
              <a:lnSpc>
                <a:spcPct val="150000"/>
              </a:lnSpc>
              <a:buNone/>
            </a:pPr>
            <a:endParaRPr lang="en-US" sz="2200" dirty="0">
              <a:latin typeface="Times New Roman" pitchFamily="18" charset="0"/>
              <a:cs typeface="Times New Roman" pitchFamily="18" charset="0"/>
            </a:endParaRPr>
          </a:p>
        </p:txBody>
      </p:sp>
      <p:graphicFrame>
        <p:nvGraphicFramePr>
          <p:cNvPr id="8" name="Object 7"/>
          <p:cNvGraphicFramePr>
            <a:graphicFrameLocks noChangeAspect="1"/>
          </p:cNvGraphicFramePr>
          <p:nvPr/>
        </p:nvGraphicFramePr>
        <p:xfrm>
          <a:off x="6018233" y="3321050"/>
          <a:ext cx="152360" cy="215900"/>
        </p:xfrm>
        <a:graphic>
          <a:graphicData uri="http://schemas.openxmlformats.org/presentationml/2006/ole">
            <p:oleObj spid="_x0000_s59394" name="Equation" r:id="rId3" imgW="114120" imgH="215640" progId="Equation.3">
              <p:embed/>
            </p:oleObj>
          </a:graphicData>
        </a:graphic>
      </p:graphicFrame>
      <p:graphicFrame>
        <p:nvGraphicFramePr>
          <p:cNvPr id="9" name="Object 8"/>
          <p:cNvGraphicFramePr>
            <a:graphicFrameLocks noChangeAspect="1"/>
          </p:cNvGraphicFramePr>
          <p:nvPr/>
        </p:nvGraphicFramePr>
        <p:xfrm>
          <a:off x="3529515" y="3014808"/>
          <a:ext cx="1611514" cy="791313"/>
        </p:xfrm>
        <a:graphic>
          <a:graphicData uri="http://schemas.openxmlformats.org/presentationml/2006/ole">
            <p:oleObj spid="_x0000_s59395" name="Equation" r:id="rId4" imgW="698400" imgH="457200" progId="Equation.3">
              <p:embed/>
            </p:oleObj>
          </a:graphicData>
        </a:graphic>
      </p:graphicFrame>
      <p:grpSp>
        <p:nvGrpSpPr>
          <p:cNvPr id="49" name="Group 48"/>
          <p:cNvGrpSpPr/>
          <p:nvPr/>
        </p:nvGrpSpPr>
        <p:grpSpPr>
          <a:xfrm>
            <a:off x="637129" y="4003968"/>
            <a:ext cx="7294830" cy="2274334"/>
            <a:chOff x="477971" y="4121727"/>
            <a:chExt cx="5472548" cy="2274334"/>
          </a:xfrm>
        </p:grpSpPr>
        <p:grpSp>
          <p:nvGrpSpPr>
            <p:cNvPr id="22" name="Group 21"/>
            <p:cNvGrpSpPr/>
            <p:nvPr/>
          </p:nvGrpSpPr>
          <p:grpSpPr>
            <a:xfrm>
              <a:off x="2700844" y="4344194"/>
              <a:ext cx="1589" cy="1896835"/>
              <a:chOff x="1765662" y="4344194"/>
              <a:chExt cx="1589" cy="1896835"/>
            </a:xfrm>
          </p:grpSpPr>
          <p:cxnSp>
            <p:nvCxnSpPr>
              <p:cNvPr id="20" name="Straight Connector 19"/>
              <p:cNvCxnSpPr/>
              <p:nvPr/>
            </p:nvCxnSpPr>
            <p:spPr>
              <a:xfrm rot="5400000" flipH="1" flipV="1">
                <a:off x="1544783" y="4565073"/>
                <a:ext cx="443345"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5400000" flipH="1" flipV="1">
                <a:off x="1544784" y="6018563"/>
                <a:ext cx="443345"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 name="Straight Connector 23"/>
            <p:cNvCxnSpPr/>
            <p:nvPr/>
          </p:nvCxnSpPr>
          <p:spPr>
            <a:xfrm rot="10800000">
              <a:off x="810492" y="4350327"/>
              <a:ext cx="1898073" cy="0"/>
            </a:xfrm>
            <a:prstGeom prst="line">
              <a:avLst/>
            </a:prstGeom>
            <a:ln w="15875">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10800000">
              <a:off x="803566" y="6241473"/>
              <a:ext cx="1898073" cy="0"/>
            </a:xfrm>
            <a:prstGeom prst="line">
              <a:avLst/>
            </a:prstGeom>
            <a:ln w="15875">
              <a:solidFill>
                <a:schemeClr val="tx1"/>
              </a:solidFill>
              <a:tailEnd type="oval"/>
            </a:ln>
          </p:spPr>
          <p:style>
            <a:lnRef idx="1">
              <a:schemeClr val="accent1"/>
            </a:lnRef>
            <a:fillRef idx="0">
              <a:schemeClr val="accent1"/>
            </a:fillRef>
            <a:effectRef idx="0">
              <a:schemeClr val="accent1"/>
            </a:effectRef>
            <a:fontRef idx="minor">
              <a:schemeClr val="tx1"/>
            </a:fontRef>
          </p:style>
        </p:cxnSp>
        <p:grpSp>
          <p:nvGrpSpPr>
            <p:cNvPr id="59396" name="Group 4"/>
            <p:cNvGrpSpPr>
              <a:grpSpLocks/>
            </p:cNvGrpSpPr>
            <p:nvPr/>
          </p:nvGrpSpPr>
          <p:grpSpPr bwMode="auto">
            <a:xfrm rot="5400000">
              <a:off x="2700581" y="5113428"/>
              <a:ext cx="1865615" cy="360218"/>
              <a:chOff x="-98" y="2700"/>
              <a:chExt cx="10848" cy="1440"/>
            </a:xfrm>
          </p:grpSpPr>
          <p:cxnSp>
            <p:nvCxnSpPr>
              <p:cNvPr id="59397" name="AutoShape 5"/>
              <p:cNvCxnSpPr>
                <a:cxnSpLocks noChangeShapeType="1"/>
              </p:cNvCxnSpPr>
              <p:nvPr/>
            </p:nvCxnSpPr>
            <p:spPr bwMode="auto">
              <a:xfrm flipV="1">
                <a:off x="3240" y="2700"/>
                <a:ext cx="360" cy="720"/>
              </a:xfrm>
              <a:prstGeom prst="straightConnector1">
                <a:avLst/>
              </a:prstGeom>
              <a:noFill/>
              <a:ln w="15875">
                <a:solidFill>
                  <a:srgbClr val="000000"/>
                </a:solidFill>
                <a:round/>
                <a:headEnd/>
                <a:tailEnd/>
              </a:ln>
            </p:spPr>
          </p:cxnSp>
          <p:cxnSp>
            <p:nvCxnSpPr>
              <p:cNvPr id="59398" name="AutoShape 6"/>
              <p:cNvCxnSpPr>
                <a:cxnSpLocks noChangeShapeType="1"/>
              </p:cNvCxnSpPr>
              <p:nvPr/>
            </p:nvCxnSpPr>
            <p:spPr bwMode="auto">
              <a:xfrm>
                <a:off x="3600" y="2700"/>
                <a:ext cx="720" cy="1440"/>
              </a:xfrm>
              <a:prstGeom prst="straightConnector1">
                <a:avLst/>
              </a:prstGeom>
              <a:noFill/>
              <a:ln w="15875">
                <a:solidFill>
                  <a:srgbClr val="000000"/>
                </a:solidFill>
                <a:round/>
                <a:headEnd/>
                <a:tailEnd/>
              </a:ln>
            </p:spPr>
          </p:cxnSp>
          <p:cxnSp>
            <p:nvCxnSpPr>
              <p:cNvPr id="59399" name="AutoShape 7"/>
              <p:cNvCxnSpPr>
                <a:cxnSpLocks noChangeShapeType="1"/>
              </p:cNvCxnSpPr>
              <p:nvPr/>
            </p:nvCxnSpPr>
            <p:spPr bwMode="auto">
              <a:xfrm flipV="1">
                <a:off x="4320" y="2700"/>
                <a:ext cx="720" cy="1440"/>
              </a:xfrm>
              <a:prstGeom prst="straightConnector1">
                <a:avLst/>
              </a:prstGeom>
              <a:noFill/>
              <a:ln w="15875">
                <a:solidFill>
                  <a:srgbClr val="000000"/>
                </a:solidFill>
                <a:round/>
                <a:headEnd/>
                <a:tailEnd/>
              </a:ln>
            </p:spPr>
          </p:cxnSp>
          <p:cxnSp>
            <p:nvCxnSpPr>
              <p:cNvPr id="59400" name="AutoShape 8"/>
              <p:cNvCxnSpPr>
                <a:cxnSpLocks noChangeShapeType="1"/>
              </p:cNvCxnSpPr>
              <p:nvPr/>
            </p:nvCxnSpPr>
            <p:spPr bwMode="auto">
              <a:xfrm flipH="1" flipV="1">
                <a:off x="5040" y="2700"/>
                <a:ext cx="720" cy="1440"/>
              </a:xfrm>
              <a:prstGeom prst="straightConnector1">
                <a:avLst/>
              </a:prstGeom>
              <a:noFill/>
              <a:ln w="15875">
                <a:solidFill>
                  <a:srgbClr val="000000"/>
                </a:solidFill>
                <a:round/>
                <a:headEnd/>
                <a:tailEnd/>
              </a:ln>
            </p:spPr>
          </p:cxnSp>
          <p:cxnSp>
            <p:nvCxnSpPr>
              <p:cNvPr id="59401" name="AutoShape 9"/>
              <p:cNvCxnSpPr>
                <a:cxnSpLocks noChangeShapeType="1"/>
              </p:cNvCxnSpPr>
              <p:nvPr/>
            </p:nvCxnSpPr>
            <p:spPr bwMode="auto">
              <a:xfrm flipH="1">
                <a:off x="5760" y="2700"/>
                <a:ext cx="720" cy="1440"/>
              </a:xfrm>
              <a:prstGeom prst="straightConnector1">
                <a:avLst/>
              </a:prstGeom>
              <a:noFill/>
              <a:ln w="15875">
                <a:solidFill>
                  <a:srgbClr val="000000"/>
                </a:solidFill>
                <a:round/>
                <a:headEnd/>
                <a:tailEnd/>
              </a:ln>
            </p:spPr>
          </p:cxnSp>
          <p:cxnSp>
            <p:nvCxnSpPr>
              <p:cNvPr id="59402" name="AutoShape 10"/>
              <p:cNvCxnSpPr>
                <a:cxnSpLocks noChangeShapeType="1"/>
              </p:cNvCxnSpPr>
              <p:nvPr/>
            </p:nvCxnSpPr>
            <p:spPr bwMode="auto">
              <a:xfrm flipH="1" flipV="1">
                <a:off x="6480" y="2700"/>
                <a:ext cx="720" cy="1440"/>
              </a:xfrm>
              <a:prstGeom prst="straightConnector1">
                <a:avLst/>
              </a:prstGeom>
              <a:noFill/>
              <a:ln w="15875">
                <a:solidFill>
                  <a:srgbClr val="000000"/>
                </a:solidFill>
                <a:round/>
                <a:headEnd/>
                <a:tailEnd/>
              </a:ln>
            </p:spPr>
          </p:cxnSp>
          <p:cxnSp>
            <p:nvCxnSpPr>
              <p:cNvPr id="59403" name="AutoShape 11"/>
              <p:cNvCxnSpPr>
                <a:cxnSpLocks noChangeShapeType="1"/>
              </p:cNvCxnSpPr>
              <p:nvPr/>
            </p:nvCxnSpPr>
            <p:spPr bwMode="auto">
              <a:xfrm>
                <a:off x="2520" y="3420"/>
                <a:ext cx="720" cy="0"/>
              </a:xfrm>
              <a:prstGeom prst="straightConnector1">
                <a:avLst/>
              </a:prstGeom>
              <a:noFill/>
              <a:ln w="15875">
                <a:solidFill>
                  <a:srgbClr val="000000"/>
                </a:solidFill>
                <a:round/>
                <a:headEnd/>
                <a:tailEnd/>
              </a:ln>
            </p:spPr>
          </p:cxnSp>
          <p:cxnSp>
            <p:nvCxnSpPr>
              <p:cNvPr id="59404" name="AutoShape 12"/>
              <p:cNvCxnSpPr>
                <a:cxnSpLocks noChangeShapeType="1"/>
              </p:cNvCxnSpPr>
              <p:nvPr/>
            </p:nvCxnSpPr>
            <p:spPr bwMode="auto">
              <a:xfrm flipV="1">
                <a:off x="3240" y="2700"/>
                <a:ext cx="360" cy="720"/>
              </a:xfrm>
              <a:prstGeom prst="straightConnector1">
                <a:avLst/>
              </a:prstGeom>
              <a:noFill/>
              <a:ln w="15875">
                <a:solidFill>
                  <a:srgbClr val="000000"/>
                </a:solidFill>
                <a:round/>
                <a:headEnd/>
                <a:tailEnd/>
              </a:ln>
            </p:spPr>
          </p:cxnSp>
          <p:cxnSp>
            <p:nvCxnSpPr>
              <p:cNvPr id="59405" name="AutoShape 13"/>
              <p:cNvCxnSpPr>
                <a:cxnSpLocks noChangeShapeType="1"/>
              </p:cNvCxnSpPr>
              <p:nvPr/>
            </p:nvCxnSpPr>
            <p:spPr bwMode="auto">
              <a:xfrm>
                <a:off x="3600" y="2700"/>
                <a:ext cx="720" cy="1440"/>
              </a:xfrm>
              <a:prstGeom prst="straightConnector1">
                <a:avLst/>
              </a:prstGeom>
              <a:noFill/>
              <a:ln w="15875">
                <a:solidFill>
                  <a:srgbClr val="000000"/>
                </a:solidFill>
                <a:round/>
                <a:headEnd/>
                <a:tailEnd/>
              </a:ln>
            </p:spPr>
          </p:cxnSp>
          <p:cxnSp>
            <p:nvCxnSpPr>
              <p:cNvPr id="59406" name="AutoShape 14"/>
              <p:cNvCxnSpPr>
                <a:cxnSpLocks noChangeShapeType="1"/>
              </p:cNvCxnSpPr>
              <p:nvPr/>
            </p:nvCxnSpPr>
            <p:spPr bwMode="auto">
              <a:xfrm>
                <a:off x="-98" y="3420"/>
                <a:ext cx="3190" cy="0"/>
              </a:xfrm>
              <a:prstGeom prst="straightConnector1">
                <a:avLst/>
              </a:prstGeom>
              <a:noFill/>
              <a:ln w="15875">
                <a:solidFill>
                  <a:srgbClr val="000000"/>
                </a:solidFill>
                <a:round/>
                <a:headEnd/>
                <a:tailEnd/>
              </a:ln>
            </p:spPr>
          </p:cxnSp>
          <p:cxnSp>
            <p:nvCxnSpPr>
              <p:cNvPr id="59407" name="AutoShape 15"/>
              <p:cNvCxnSpPr>
                <a:cxnSpLocks noChangeShapeType="1"/>
              </p:cNvCxnSpPr>
              <p:nvPr/>
            </p:nvCxnSpPr>
            <p:spPr bwMode="auto">
              <a:xfrm flipV="1">
                <a:off x="7200" y="3420"/>
                <a:ext cx="360" cy="720"/>
              </a:xfrm>
              <a:prstGeom prst="straightConnector1">
                <a:avLst/>
              </a:prstGeom>
              <a:noFill/>
              <a:ln w="15875">
                <a:solidFill>
                  <a:srgbClr val="000000"/>
                </a:solidFill>
                <a:round/>
                <a:headEnd/>
                <a:tailEnd/>
              </a:ln>
            </p:spPr>
          </p:cxnSp>
          <p:cxnSp>
            <p:nvCxnSpPr>
              <p:cNvPr id="59408" name="AutoShape 16"/>
              <p:cNvCxnSpPr>
                <a:cxnSpLocks noChangeShapeType="1"/>
              </p:cNvCxnSpPr>
              <p:nvPr/>
            </p:nvCxnSpPr>
            <p:spPr bwMode="auto">
              <a:xfrm>
                <a:off x="7560" y="3420"/>
                <a:ext cx="3190" cy="0"/>
              </a:xfrm>
              <a:prstGeom prst="straightConnector1">
                <a:avLst/>
              </a:prstGeom>
              <a:noFill/>
              <a:ln w="15875">
                <a:solidFill>
                  <a:srgbClr val="000000"/>
                </a:solidFill>
                <a:round/>
                <a:headEnd/>
                <a:tailEnd/>
              </a:ln>
            </p:spPr>
          </p:cxnSp>
        </p:grpSp>
        <p:cxnSp>
          <p:nvCxnSpPr>
            <p:cNvPr id="38" name="Straight Connector 37"/>
            <p:cNvCxnSpPr/>
            <p:nvPr/>
          </p:nvCxnSpPr>
          <p:spPr>
            <a:xfrm>
              <a:off x="3629892" y="4371109"/>
              <a:ext cx="1898073" cy="0"/>
            </a:xfrm>
            <a:prstGeom prst="line">
              <a:avLst/>
            </a:prstGeom>
            <a:ln w="15875">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3636819" y="6227618"/>
              <a:ext cx="1898073" cy="0"/>
            </a:xfrm>
            <a:prstGeom prst="line">
              <a:avLst/>
            </a:prstGeom>
            <a:ln w="15875">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2078182" y="4184073"/>
              <a:ext cx="2050473" cy="2202872"/>
            </a:xfrm>
            <a:prstGeom prst="rect">
              <a:avLst/>
            </a:prstGeom>
            <a:noFill/>
            <a:ln w="1270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p:cNvSpPr txBox="1"/>
            <p:nvPr/>
          </p:nvSpPr>
          <p:spPr>
            <a:xfrm>
              <a:off x="2577444" y="4781798"/>
              <a:ext cx="394855" cy="430887"/>
            </a:xfrm>
            <a:prstGeom prst="rect">
              <a:avLst/>
            </a:prstGeom>
            <a:noFill/>
          </p:spPr>
          <p:txBody>
            <a:bodyPr wrap="square" rtlCol="0">
              <a:spAutoFit/>
            </a:bodyPr>
            <a:lstStyle/>
            <a:p>
              <a:r>
                <a:rPr lang="en-US" sz="2200" b="1" dirty="0" smtClean="0">
                  <a:latin typeface="Times New Roman" pitchFamily="18" charset="0"/>
                  <a:cs typeface="Times New Roman" pitchFamily="18" charset="0"/>
                </a:rPr>
                <a:t>+</a:t>
              </a:r>
              <a:endParaRPr lang="en-US" sz="2200" b="1" dirty="0">
                <a:latin typeface="Times New Roman" pitchFamily="18" charset="0"/>
                <a:cs typeface="Times New Roman" pitchFamily="18" charset="0"/>
              </a:endParaRPr>
            </a:p>
          </p:txBody>
        </p:sp>
        <p:sp>
          <p:nvSpPr>
            <p:cNvPr id="42" name="TextBox 41"/>
            <p:cNvSpPr txBox="1"/>
            <p:nvPr/>
          </p:nvSpPr>
          <p:spPr>
            <a:xfrm>
              <a:off x="2592901" y="5340930"/>
              <a:ext cx="394855" cy="430887"/>
            </a:xfrm>
            <a:prstGeom prst="rect">
              <a:avLst/>
            </a:prstGeom>
            <a:noFill/>
          </p:spPr>
          <p:txBody>
            <a:bodyPr wrap="square" rtlCol="0">
              <a:spAutoFit/>
            </a:bodyPr>
            <a:lstStyle/>
            <a:p>
              <a:r>
                <a:rPr lang="en-US" sz="2200" dirty="0" smtClean="0">
                  <a:latin typeface="Times New Roman" pitchFamily="18" charset="0"/>
                  <a:cs typeface="Times New Roman" pitchFamily="18" charset="0"/>
                </a:rPr>
                <a:t>-</a:t>
              </a:r>
              <a:endParaRPr lang="en-US" sz="2200" dirty="0">
                <a:latin typeface="Times New Roman" pitchFamily="18" charset="0"/>
                <a:cs typeface="Times New Roman" pitchFamily="18" charset="0"/>
              </a:endParaRPr>
            </a:p>
          </p:txBody>
        </p:sp>
        <p:sp>
          <p:nvSpPr>
            <p:cNvPr id="43" name="TextBox 42"/>
            <p:cNvSpPr txBox="1"/>
            <p:nvPr/>
          </p:nvSpPr>
          <p:spPr>
            <a:xfrm>
              <a:off x="477971" y="4121727"/>
              <a:ext cx="394855" cy="369332"/>
            </a:xfrm>
            <a:prstGeom prst="rect">
              <a:avLst/>
            </a:prstGeom>
            <a:noFill/>
          </p:spPr>
          <p:txBody>
            <a:bodyPr wrap="square" rtlCol="0">
              <a:spAutoFit/>
            </a:bodyPr>
            <a:lstStyle/>
            <a:p>
              <a:r>
                <a:rPr lang="en-US" dirty="0" smtClean="0">
                  <a:latin typeface="Times New Roman" pitchFamily="18" charset="0"/>
                  <a:cs typeface="Times New Roman" pitchFamily="18" charset="0"/>
                </a:rPr>
                <a:t>a</a:t>
              </a:r>
              <a:endParaRPr lang="en-US" dirty="0">
                <a:latin typeface="Times New Roman" pitchFamily="18" charset="0"/>
                <a:cs typeface="Times New Roman" pitchFamily="18" charset="0"/>
              </a:endParaRPr>
            </a:p>
          </p:txBody>
        </p:sp>
        <p:sp>
          <p:nvSpPr>
            <p:cNvPr id="44" name="TextBox 43"/>
            <p:cNvSpPr txBox="1"/>
            <p:nvPr/>
          </p:nvSpPr>
          <p:spPr>
            <a:xfrm>
              <a:off x="484897" y="6026729"/>
              <a:ext cx="394855" cy="369332"/>
            </a:xfrm>
            <a:prstGeom prst="rect">
              <a:avLst/>
            </a:prstGeom>
            <a:noFill/>
          </p:spPr>
          <p:txBody>
            <a:bodyPr wrap="square" rtlCol="0">
              <a:spAutoFit/>
            </a:bodyPr>
            <a:lstStyle/>
            <a:p>
              <a:r>
                <a:rPr lang="en-US" dirty="0" smtClean="0">
                  <a:latin typeface="Times New Roman" pitchFamily="18" charset="0"/>
                  <a:cs typeface="Times New Roman" pitchFamily="18" charset="0"/>
                </a:rPr>
                <a:t>b</a:t>
              </a:r>
              <a:endParaRPr lang="en-US" dirty="0">
                <a:latin typeface="Times New Roman" pitchFamily="18" charset="0"/>
                <a:cs typeface="Times New Roman" pitchFamily="18" charset="0"/>
              </a:endParaRPr>
            </a:p>
          </p:txBody>
        </p:sp>
        <p:sp>
          <p:nvSpPr>
            <p:cNvPr id="45" name="TextBox 44"/>
            <p:cNvSpPr txBox="1"/>
            <p:nvPr/>
          </p:nvSpPr>
          <p:spPr>
            <a:xfrm>
              <a:off x="5548735" y="4156366"/>
              <a:ext cx="394855" cy="369332"/>
            </a:xfrm>
            <a:prstGeom prst="rect">
              <a:avLst/>
            </a:prstGeom>
            <a:noFill/>
          </p:spPr>
          <p:txBody>
            <a:bodyPr wrap="square" rtlCol="0">
              <a:spAutoFit/>
            </a:bodyPr>
            <a:lstStyle/>
            <a:p>
              <a:r>
                <a:rPr lang="en-US" dirty="0" smtClean="0">
                  <a:latin typeface="Times New Roman" pitchFamily="18" charset="0"/>
                  <a:cs typeface="Times New Roman" pitchFamily="18" charset="0"/>
                </a:rPr>
                <a:t>c</a:t>
              </a:r>
              <a:endParaRPr lang="en-US" dirty="0">
                <a:latin typeface="Times New Roman" pitchFamily="18" charset="0"/>
                <a:cs typeface="Times New Roman" pitchFamily="18" charset="0"/>
              </a:endParaRPr>
            </a:p>
          </p:txBody>
        </p:sp>
        <p:sp>
          <p:nvSpPr>
            <p:cNvPr id="46" name="TextBox 45"/>
            <p:cNvSpPr txBox="1"/>
            <p:nvPr/>
          </p:nvSpPr>
          <p:spPr>
            <a:xfrm>
              <a:off x="5555664" y="6012875"/>
              <a:ext cx="394855" cy="369332"/>
            </a:xfrm>
            <a:prstGeom prst="rect">
              <a:avLst/>
            </a:prstGeom>
            <a:noFill/>
          </p:spPr>
          <p:txBody>
            <a:bodyPr wrap="square" rtlCol="0">
              <a:spAutoFit/>
            </a:bodyPr>
            <a:lstStyle/>
            <a:p>
              <a:r>
                <a:rPr lang="en-US" dirty="0" smtClean="0">
                  <a:latin typeface="Times New Roman" pitchFamily="18" charset="0"/>
                  <a:cs typeface="Times New Roman" pitchFamily="18" charset="0"/>
                </a:rPr>
                <a:t>d</a:t>
              </a:r>
              <a:endParaRPr lang="en-US" dirty="0">
                <a:latin typeface="Times New Roman" pitchFamily="18" charset="0"/>
                <a:cs typeface="Times New Roman" pitchFamily="18" charset="0"/>
              </a:endParaRPr>
            </a:p>
          </p:txBody>
        </p:sp>
        <p:sp>
          <p:nvSpPr>
            <p:cNvPr id="47" name="TextBox 46"/>
            <p:cNvSpPr txBox="1"/>
            <p:nvPr/>
          </p:nvSpPr>
          <p:spPr>
            <a:xfrm>
              <a:off x="5334000" y="5077691"/>
              <a:ext cx="588818" cy="400110"/>
            </a:xfrm>
            <a:prstGeom prst="rect">
              <a:avLst/>
            </a:prstGeom>
            <a:noFill/>
          </p:spPr>
          <p:txBody>
            <a:bodyPr wrap="square" rtlCol="0">
              <a:spAutoFit/>
            </a:bodyPr>
            <a:lstStyle/>
            <a:p>
              <a:r>
                <a:rPr lang="en-US" sz="2000" dirty="0" err="1" smtClean="0">
                  <a:latin typeface="Times New Roman" pitchFamily="18" charset="0"/>
                  <a:cs typeface="Times New Roman" pitchFamily="18" charset="0"/>
                </a:rPr>
                <a:t>V</a:t>
              </a:r>
              <a:r>
                <a:rPr lang="en-US" sz="2000" baseline="-25000" dirty="0" err="1" smtClean="0">
                  <a:latin typeface="Times New Roman" pitchFamily="18" charset="0"/>
                  <a:cs typeface="Times New Roman" pitchFamily="18" charset="0"/>
                </a:rPr>
                <a:t>cd</a:t>
              </a:r>
              <a:endParaRPr lang="en-US" sz="2000" baseline="-25000" dirty="0">
                <a:latin typeface="Times New Roman" pitchFamily="18" charset="0"/>
                <a:cs typeface="Times New Roman" pitchFamily="18" charset="0"/>
              </a:endParaRPr>
            </a:p>
          </p:txBody>
        </p:sp>
        <p:sp>
          <p:nvSpPr>
            <p:cNvPr id="48" name="TextBox 47"/>
            <p:cNvSpPr txBox="1"/>
            <p:nvPr/>
          </p:nvSpPr>
          <p:spPr>
            <a:xfrm>
              <a:off x="547255" y="5105400"/>
              <a:ext cx="588818" cy="400110"/>
            </a:xfrm>
            <a:prstGeom prst="rect">
              <a:avLst/>
            </a:prstGeom>
            <a:noFill/>
          </p:spPr>
          <p:txBody>
            <a:bodyPr wrap="square" rtlCol="0">
              <a:spAutoFit/>
            </a:bodyPr>
            <a:lstStyle/>
            <a:p>
              <a:r>
                <a:rPr lang="en-US" sz="2000" dirty="0" err="1" smtClean="0">
                  <a:latin typeface="Times New Roman" pitchFamily="18" charset="0"/>
                  <a:cs typeface="Times New Roman" pitchFamily="18" charset="0"/>
                </a:rPr>
                <a:t>V</a:t>
              </a:r>
              <a:r>
                <a:rPr lang="en-US" sz="2000" baseline="-25000" dirty="0" err="1" smtClean="0">
                  <a:latin typeface="Times New Roman" pitchFamily="18" charset="0"/>
                  <a:cs typeface="Times New Roman" pitchFamily="18" charset="0"/>
                </a:rPr>
                <a:t>ab</a:t>
              </a:r>
              <a:endParaRPr lang="en-US" sz="2000" baseline="-25000" dirty="0">
                <a:latin typeface="Times New Roman" pitchFamily="18" charset="0"/>
                <a:cs typeface="Times New Roman" pitchFamily="18" charset="0"/>
              </a:endParaRPr>
            </a:p>
          </p:txBody>
        </p:sp>
      </p:grpSp>
      <p:sp>
        <p:nvSpPr>
          <p:cNvPr id="50" name="TextBox 49"/>
          <p:cNvSpPr txBox="1"/>
          <p:nvPr/>
        </p:nvSpPr>
        <p:spPr>
          <a:xfrm>
            <a:off x="8563121" y="5820458"/>
            <a:ext cx="2142095" cy="369332"/>
          </a:xfrm>
          <a:prstGeom prst="rect">
            <a:avLst/>
          </a:prstGeom>
          <a:noFill/>
        </p:spPr>
        <p:txBody>
          <a:bodyPr wrap="square" rtlCol="0">
            <a:spAutoFit/>
          </a:bodyPr>
          <a:lstStyle/>
          <a:p>
            <a:r>
              <a:rPr lang="en-US" dirty="0" smtClean="0">
                <a:latin typeface="Times New Roman" pitchFamily="18" charset="0"/>
                <a:cs typeface="Times New Roman" pitchFamily="18" charset="0"/>
              </a:rPr>
              <a:t>Fig.1: VCVS</a:t>
            </a:r>
            <a:endParaRPr lang="en-US" dirty="0">
              <a:latin typeface="Times New Roman" pitchFamily="18" charset="0"/>
              <a:cs typeface="Times New Roman" pitchFamily="18" charset="0"/>
            </a:endParaRPr>
          </a:p>
        </p:txBody>
      </p:sp>
      <p:sp>
        <p:nvSpPr>
          <p:cNvPr id="51" name="TextBox 50"/>
          <p:cNvSpPr txBox="1"/>
          <p:nvPr/>
        </p:nvSpPr>
        <p:spPr>
          <a:xfrm>
            <a:off x="6927097" y="3195873"/>
            <a:ext cx="3201642" cy="369332"/>
          </a:xfrm>
          <a:prstGeom prst="rect">
            <a:avLst/>
          </a:prstGeom>
          <a:noFill/>
        </p:spPr>
        <p:txBody>
          <a:bodyPr wrap="square" rtlCol="0">
            <a:spAutoFit/>
          </a:bodyPr>
          <a:lstStyle/>
          <a:p>
            <a:r>
              <a:rPr lang="en-US" dirty="0" smtClean="0">
                <a:latin typeface="Times New Roman" pitchFamily="18" charset="0"/>
                <a:cs typeface="Times New Roman" pitchFamily="18" charset="0"/>
              </a:rPr>
              <a:t>‘k’ is constant (dimensionless)</a:t>
            </a:r>
            <a:endParaRPr lang="en-US" dirty="0">
              <a:latin typeface="Times New Roman" pitchFamily="18" charset="0"/>
              <a:cs typeface="Times New Roman" pitchFamily="18" charset="0"/>
            </a:endParaRPr>
          </a:p>
        </p:txBody>
      </p:sp>
      <p:grpSp>
        <p:nvGrpSpPr>
          <p:cNvPr id="57" name="Group 56"/>
          <p:cNvGrpSpPr/>
          <p:nvPr/>
        </p:nvGrpSpPr>
        <p:grpSpPr>
          <a:xfrm>
            <a:off x="3282046" y="4669974"/>
            <a:ext cx="640080" cy="1005840"/>
            <a:chOff x="9834880" y="3421888"/>
            <a:chExt cx="1875536" cy="1881632"/>
          </a:xfrm>
        </p:grpSpPr>
        <p:cxnSp>
          <p:nvCxnSpPr>
            <p:cNvPr id="53" name="Straight Connector 52"/>
            <p:cNvCxnSpPr/>
            <p:nvPr/>
          </p:nvCxnSpPr>
          <p:spPr>
            <a:xfrm rot="5400000">
              <a:off x="9838944" y="3421888"/>
              <a:ext cx="938784" cy="93878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rot="5400000">
              <a:off x="10759440" y="4358640"/>
              <a:ext cx="938784" cy="93878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rot="10800000">
              <a:off x="10771632" y="3423920"/>
              <a:ext cx="938784" cy="93878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10800000">
              <a:off x="9834880" y="4364736"/>
              <a:ext cx="938784" cy="93878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635" y="71414"/>
            <a:ext cx="11617555" cy="714380"/>
          </a:xfrm>
        </p:spPr>
        <p:txBody>
          <a:bodyPr>
            <a:normAutofit/>
          </a:bodyPr>
          <a:lstStyle/>
          <a:p>
            <a:r>
              <a:rPr lang="en-IN" sz="2800" dirty="0" smtClean="0">
                <a:solidFill>
                  <a:srgbClr val="00B050"/>
                </a:solidFill>
                <a:latin typeface="Times New Roman" pitchFamily="18" charset="0"/>
                <a:cs typeface="Times New Roman" pitchFamily="18" charset="0"/>
              </a:rPr>
              <a:t>BASIC TERMS AND DEFINITIONS</a:t>
            </a:r>
            <a:endParaRPr lang="en-US" sz="2800" dirty="0">
              <a:solidFill>
                <a:srgbClr val="FF0000"/>
              </a:solidFill>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smtClean="0"/>
              <a:t>syed hasan saeed</a:t>
            </a:r>
            <a:endParaRPr lang="en-US"/>
          </a:p>
        </p:txBody>
      </p:sp>
      <p:sp>
        <p:nvSpPr>
          <p:cNvPr id="6" name="Slide Number Placeholder 5"/>
          <p:cNvSpPr>
            <a:spLocks noGrp="1"/>
          </p:cNvSpPr>
          <p:nvPr>
            <p:ph type="sldNum" sz="quarter" idx="12"/>
          </p:nvPr>
        </p:nvSpPr>
        <p:spPr/>
        <p:txBody>
          <a:bodyPr/>
          <a:lstStyle/>
          <a:p>
            <a:fld id="{435E54C7-FAA8-46C1-A880-53547F97989D}" type="slidenum">
              <a:rPr lang="en-US" smtClean="0"/>
              <a:pPr/>
              <a:t>12</a:t>
            </a:fld>
            <a:endParaRPr lang="en-US"/>
          </a:p>
        </p:txBody>
      </p:sp>
      <p:sp>
        <p:nvSpPr>
          <p:cNvPr id="7" name="Content Placeholder 6"/>
          <p:cNvSpPr>
            <a:spLocks noGrp="1"/>
          </p:cNvSpPr>
          <p:nvPr>
            <p:ph idx="1"/>
          </p:nvPr>
        </p:nvSpPr>
        <p:spPr>
          <a:xfrm>
            <a:off x="190409" y="714356"/>
            <a:ext cx="11808007" cy="5643602"/>
          </a:xfrm>
        </p:spPr>
        <p:txBody>
          <a:bodyPr>
            <a:normAutofit/>
          </a:bodyPr>
          <a:lstStyle/>
          <a:p>
            <a:pPr>
              <a:lnSpc>
                <a:spcPct val="150000"/>
              </a:lnSpc>
              <a:buNone/>
            </a:pPr>
            <a:r>
              <a:rPr lang="en-US" sz="2200" dirty="0" smtClean="0">
                <a:solidFill>
                  <a:schemeClr val="accent6">
                    <a:lumMod val="50000"/>
                  </a:schemeClr>
                </a:solidFill>
                <a:latin typeface="Times New Roman" pitchFamily="18" charset="0"/>
                <a:cs typeface="Times New Roman" pitchFamily="18" charset="0"/>
              </a:rPr>
              <a:t> (b) </a:t>
            </a:r>
            <a:r>
              <a:rPr lang="en-US" sz="2200" u="sng" dirty="0" smtClean="0">
                <a:solidFill>
                  <a:schemeClr val="accent6">
                    <a:lumMod val="50000"/>
                  </a:schemeClr>
                </a:solidFill>
                <a:latin typeface="Times New Roman" pitchFamily="18" charset="0"/>
                <a:cs typeface="Times New Roman" pitchFamily="18" charset="0"/>
              </a:rPr>
              <a:t>Voltage Controlled Current Source (VCCS):   </a:t>
            </a:r>
          </a:p>
          <a:p>
            <a:pPr>
              <a:lnSpc>
                <a:spcPct val="150000"/>
              </a:lnSpc>
              <a:buNone/>
            </a:pPr>
            <a:r>
              <a:rPr lang="en-US" sz="2200" dirty="0" smtClean="0">
                <a:latin typeface="Times New Roman" pitchFamily="18" charset="0"/>
                <a:cs typeface="Times New Roman" pitchFamily="18" charset="0"/>
              </a:rPr>
              <a:t>In this dependent source current of the source </a:t>
            </a:r>
            <a:r>
              <a:rPr lang="en-US" sz="2200" dirty="0" err="1" smtClean="0">
                <a:latin typeface="Times New Roman" pitchFamily="18" charset="0"/>
                <a:cs typeface="Times New Roman" pitchFamily="18" charset="0"/>
              </a:rPr>
              <a:t>i</a:t>
            </a:r>
            <a:r>
              <a:rPr lang="en-US" sz="2200" baseline="-25000" dirty="0" err="1" smtClean="0">
                <a:latin typeface="Times New Roman" pitchFamily="18" charset="0"/>
                <a:cs typeface="Times New Roman" pitchFamily="18" charset="0"/>
              </a:rPr>
              <a:t>ab</a:t>
            </a:r>
            <a:r>
              <a:rPr lang="en-US" sz="2200" dirty="0" smtClean="0">
                <a:latin typeface="Times New Roman" pitchFamily="18" charset="0"/>
                <a:cs typeface="Times New Roman" pitchFamily="18" charset="0"/>
              </a:rPr>
              <a:t>  depends on the voltage </a:t>
            </a:r>
            <a:r>
              <a:rPr lang="en-US" sz="2200" dirty="0" err="1" smtClean="0">
                <a:latin typeface="Times New Roman" pitchFamily="18" charset="0"/>
                <a:cs typeface="Times New Roman" pitchFamily="18" charset="0"/>
              </a:rPr>
              <a:t>V</a:t>
            </a:r>
            <a:r>
              <a:rPr lang="en-US" sz="2200" baseline="-25000" dirty="0" err="1" smtClean="0">
                <a:latin typeface="Times New Roman" pitchFamily="18" charset="0"/>
                <a:cs typeface="Times New Roman" pitchFamily="18" charset="0"/>
              </a:rPr>
              <a:t>cd</a:t>
            </a:r>
            <a:r>
              <a:rPr lang="en-US" sz="2200" dirty="0" smtClean="0">
                <a:latin typeface="Times New Roman" pitchFamily="18" charset="0"/>
                <a:cs typeface="Times New Roman" pitchFamily="18" charset="0"/>
              </a:rPr>
              <a:t>. </a:t>
            </a:r>
          </a:p>
          <a:p>
            <a:pPr>
              <a:lnSpc>
                <a:spcPct val="150000"/>
              </a:lnSpc>
              <a:buNone/>
            </a:pP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i</a:t>
            </a:r>
            <a:r>
              <a:rPr lang="en-US" sz="2200" baseline="-25000" dirty="0" err="1" smtClean="0">
                <a:latin typeface="Times New Roman" pitchFamily="18" charset="0"/>
                <a:cs typeface="Times New Roman" pitchFamily="18" charset="0"/>
              </a:rPr>
              <a:t>ab</a:t>
            </a:r>
            <a:r>
              <a:rPr lang="en-US" sz="2200" dirty="0" smtClean="0">
                <a:latin typeface="Times New Roman" pitchFamily="18" charset="0"/>
                <a:cs typeface="Times New Roman" pitchFamily="18" charset="0"/>
              </a:rPr>
              <a:t> </a:t>
            </a:r>
            <a:r>
              <a:rPr lang="el-GR" sz="2200" dirty="0" smtClean="0">
                <a:latin typeface="Times New Roman" pitchFamily="18" charset="0"/>
                <a:cs typeface="Times New Roman" pitchFamily="18" charset="0"/>
              </a:rPr>
              <a:t>α</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V</a:t>
            </a:r>
            <a:r>
              <a:rPr lang="en-US" sz="2200" baseline="-25000" dirty="0" err="1" smtClean="0">
                <a:latin typeface="Times New Roman" pitchFamily="18" charset="0"/>
                <a:cs typeface="Times New Roman" pitchFamily="18" charset="0"/>
              </a:rPr>
              <a:t>cd</a:t>
            </a:r>
            <a:r>
              <a:rPr lang="en-US" sz="2200" baseline="-25000"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 or                       </a:t>
            </a:r>
            <a:r>
              <a:rPr lang="en-US" sz="2200" dirty="0" err="1" smtClean="0">
                <a:latin typeface="Times New Roman" pitchFamily="18" charset="0"/>
                <a:cs typeface="Times New Roman" pitchFamily="18" charset="0"/>
              </a:rPr>
              <a:t>i</a:t>
            </a:r>
            <a:r>
              <a:rPr lang="en-US" sz="2200" baseline="-25000" dirty="0" err="1" smtClean="0">
                <a:latin typeface="Times New Roman" pitchFamily="18" charset="0"/>
                <a:cs typeface="Times New Roman" pitchFamily="18" charset="0"/>
              </a:rPr>
              <a:t>ab</a:t>
            </a:r>
            <a:r>
              <a:rPr lang="en-US" sz="2200" dirty="0" smtClean="0">
                <a:latin typeface="Times New Roman" pitchFamily="18" charset="0"/>
                <a:cs typeface="Times New Roman" pitchFamily="18" charset="0"/>
              </a:rPr>
              <a:t> = </a:t>
            </a:r>
            <a:r>
              <a:rPr lang="el-GR" sz="2200" dirty="0" smtClean="0">
                <a:latin typeface="Times New Roman" pitchFamily="18" charset="0"/>
                <a:cs typeface="Times New Roman" pitchFamily="18" charset="0"/>
              </a:rPr>
              <a:t>η</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V</a:t>
            </a:r>
            <a:r>
              <a:rPr lang="en-US" sz="2200" baseline="-25000" dirty="0" err="1" smtClean="0">
                <a:latin typeface="Times New Roman" pitchFamily="18" charset="0"/>
                <a:cs typeface="Times New Roman" pitchFamily="18" charset="0"/>
              </a:rPr>
              <a:t>cd</a:t>
            </a:r>
            <a:r>
              <a:rPr lang="en-US" sz="2200" baseline="-25000" dirty="0" smtClean="0">
                <a:latin typeface="Times New Roman" pitchFamily="18" charset="0"/>
                <a:cs typeface="Times New Roman" pitchFamily="18" charset="0"/>
              </a:rPr>
              <a:t>                          </a:t>
            </a:r>
          </a:p>
          <a:p>
            <a:pPr>
              <a:lnSpc>
                <a:spcPct val="150000"/>
              </a:lnSpc>
              <a:buNone/>
            </a:pPr>
            <a:r>
              <a:rPr lang="en-US" sz="1800" baseline="-25000" dirty="0" smtClean="0">
                <a:latin typeface="Times New Roman" pitchFamily="18" charset="0"/>
                <a:cs typeface="Times New Roman" pitchFamily="18" charset="0"/>
              </a:rPr>
              <a:t>          </a:t>
            </a:r>
            <a:r>
              <a:rPr lang="en-US" sz="1800" dirty="0" smtClean="0">
                <a:latin typeface="Times New Roman" pitchFamily="18" charset="0"/>
                <a:cs typeface="Times New Roman" pitchFamily="18" charset="0"/>
              </a:rPr>
              <a:t>Where,‘</a:t>
            </a:r>
            <a:r>
              <a:rPr lang="el-GR" sz="1800" dirty="0" smtClean="0">
                <a:latin typeface="Times New Roman" pitchFamily="18" charset="0"/>
                <a:cs typeface="Times New Roman" pitchFamily="18" charset="0"/>
              </a:rPr>
              <a:t>η</a:t>
            </a:r>
            <a:r>
              <a:rPr lang="en-US" sz="1800" dirty="0" smtClean="0">
                <a:latin typeface="Times New Roman" pitchFamily="18" charset="0"/>
                <a:cs typeface="Times New Roman" pitchFamily="18" charset="0"/>
              </a:rPr>
              <a:t>’  is known as transconductance and its unit is mho.</a:t>
            </a:r>
            <a:endParaRPr lang="en-US" sz="1800" dirty="0">
              <a:latin typeface="Times New Roman" pitchFamily="18" charset="0"/>
              <a:cs typeface="Times New Roman" pitchFamily="18" charset="0"/>
            </a:endParaRPr>
          </a:p>
        </p:txBody>
      </p:sp>
      <p:graphicFrame>
        <p:nvGraphicFramePr>
          <p:cNvPr id="8" name="Object 7"/>
          <p:cNvGraphicFramePr>
            <a:graphicFrameLocks noChangeAspect="1"/>
          </p:cNvGraphicFramePr>
          <p:nvPr/>
        </p:nvGraphicFramePr>
        <p:xfrm>
          <a:off x="6018233" y="3321050"/>
          <a:ext cx="152360" cy="215900"/>
        </p:xfrm>
        <a:graphic>
          <a:graphicData uri="http://schemas.openxmlformats.org/presentationml/2006/ole">
            <p:oleObj spid="_x0000_s58370" name="Equation" r:id="rId3" imgW="114120" imgH="215640" progId="Equation.3">
              <p:embed/>
            </p:oleObj>
          </a:graphicData>
        </a:graphic>
      </p:graphicFrame>
      <p:sp>
        <p:nvSpPr>
          <p:cNvPr id="46" name="TextBox 45"/>
          <p:cNvSpPr txBox="1"/>
          <p:nvPr/>
        </p:nvSpPr>
        <p:spPr>
          <a:xfrm>
            <a:off x="3647958" y="3700534"/>
            <a:ext cx="784886" cy="400110"/>
          </a:xfrm>
          <a:prstGeom prst="rect">
            <a:avLst/>
          </a:prstGeom>
          <a:noFill/>
        </p:spPr>
        <p:txBody>
          <a:bodyPr wrap="square" rtlCol="0">
            <a:spAutoFit/>
          </a:bodyPr>
          <a:lstStyle/>
          <a:p>
            <a:r>
              <a:rPr lang="en-US" sz="2000" dirty="0" err="1" smtClean="0">
                <a:latin typeface="Times New Roman" pitchFamily="18" charset="0"/>
                <a:cs typeface="Times New Roman" pitchFamily="18" charset="0"/>
              </a:rPr>
              <a:t>i</a:t>
            </a:r>
            <a:r>
              <a:rPr lang="en-US" sz="2000" baseline="-25000" dirty="0" err="1" smtClean="0">
                <a:latin typeface="Times New Roman" pitchFamily="18" charset="0"/>
                <a:cs typeface="Times New Roman" pitchFamily="18" charset="0"/>
              </a:rPr>
              <a:t>ab</a:t>
            </a:r>
            <a:endParaRPr lang="en-US" sz="2000" baseline="-25000" dirty="0">
              <a:latin typeface="Times New Roman" pitchFamily="18" charset="0"/>
              <a:cs typeface="Times New Roman" pitchFamily="18" charset="0"/>
            </a:endParaRPr>
          </a:p>
        </p:txBody>
      </p:sp>
      <p:cxnSp>
        <p:nvCxnSpPr>
          <p:cNvPr id="48" name="Straight Arrow Connector 47"/>
          <p:cNvCxnSpPr/>
          <p:nvPr/>
        </p:nvCxnSpPr>
        <p:spPr>
          <a:xfrm rot="10800000">
            <a:off x="3415285" y="3702867"/>
            <a:ext cx="941315"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8574417" y="5859443"/>
            <a:ext cx="2081755" cy="369332"/>
          </a:xfrm>
          <a:prstGeom prst="rect">
            <a:avLst/>
          </a:prstGeom>
          <a:noFill/>
        </p:spPr>
        <p:txBody>
          <a:bodyPr wrap="square" rtlCol="0">
            <a:spAutoFit/>
          </a:bodyPr>
          <a:lstStyle/>
          <a:p>
            <a:r>
              <a:rPr lang="en-US" dirty="0" smtClean="0">
                <a:latin typeface="Times New Roman" pitchFamily="18" charset="0"/>
                <a:cs typeface="Times New Roman" pitchFamily="18" charset="0"/>
              </a:rPr>
              <a:t>Fig.2: VCCS</a:t>
            </a:r>
            <a:endParaRPr lang="en-US" dirty="0">
              <a:latin typeface="Times New Roman" pitchFamily="18" charset="0"/>
              <a:cs typeface="Times New Roman" pitchFamily="18" charset="0"/>
            </a:endParaRPr>
          </a:p>
        </p:txBody>
      </p:sp>
      <p:grpSp>
        <p:nvGrpSpPr>
          <p:cNvPr id="43" name="Group 42"/>
          <p:cNvGrpSpPr/>
          <p:nvPr/>
        </p:nvGrpSpPr>
        <p:grpSpPr>
          <a:xfrm>
            <a:off x="2580100" y="3324958"/>
            <a:ext cx="7294830" cy="2274334"/>
            <a:chOff x="2580100" y="3324958"/>
            <a:chExt cx="7294830" cy="2274334"/>
          </a:xfrm>
        </p:grpSpPr>
        <p:grpSp>
          <p:nvGrpSpPr>
            <p:cNvPr id="9" name="Group 8"/>
            <p:cNvGrpSpPr/>
            <p:nvPr/>
          </p:nvGrpSpPr>
          <p:grpSpPr>
            <a:xfrm>
              <a:off x="2580100" y="3324958"/>
              <a:ext cx="7294830" cy="2274334"/>
              <a:chOff x="477971" y="4121727"/>
              <a:chExt cx="5472548" cy="2274334"/>
            </a:xfrm>
          </p:grpSpPr>
          <p:grpSp>
            <p:nvGrpSpPr>
              <p:cNvPr id="10" name="Group 21"/>
              <p:cNvGrpSpPr/>
              <p:nvPr/>
            </p:nvGrpSpPr>
            <p:grpSpPr>
              <a:xfrm>
                <a:off x="2700844" y="4344194"/>
                <a:ext cx="1589" cy="1888671"/>
                <a:chOff x="1765662" y="4344194"/>
                <a:chExt cx="1589" cy="1888671"/>
              </a:xfrm>
            </p:grpSpPr>
            <p:cxnSp>
              <p:nvCxnSpPr>
                <p:cNvPr id="38" name="Straight Connector 37"/>
                <p:cNvCxnSpPr/>
                <p:nvPr/>
              </p:nvCxnSpPr>
              <p:spPr>
                <a:xfrm rot="5400000" flipH="1" flipV="1">
                  <a:off x="1544783" y="4565073"/>
                  <a:ext cx="443345"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5400000" flipH="1" flipV="1">
                  <a:off x="1544784" y="6010399"/>
                  <a:ext cx="443345"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Straight Connector 10"/>
              <p:cNvCxnSpPr/>
              <p:nvPr/>
            </p:nvCxnSpPr>
            <p:spPr>
              <a:xfrm rot="10800000">
                <a:off x="810492" y="4350327"/>
                <a:ext cx="1898073" cy="0"/>
              </a:xfrm>
              <a:prstGeom prst="line">
                <a:avLst/>
              </a:prstGeom>
              <a:ln w="15875">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0800000">
                <a:off x="803566" y="6241473"/>
                <a:ext cx="1898073" cy="0"/>
              </a:xfrm>
              <a:prstGeom prst="line">
                <a:avLst/>
              </a:prstGeom>
              <a:ln w="15875">
                <a:solidFill>
                  <a:schemeClr val="tx1"/>
                </a:solidFill>
                <a:tailEnd type="oval"/>
              </a:ln>
            </p:spPr>
            <p:style>
              <a:lnRef idx="1">
                <a:schemeClr val="accent1"/>
              </a:lnRef>
              <a:fillRef idx="0">
                <a:schemeClr val="accent1"/>
              </a:fillRef>
              <a:effectRef idx="0">
                <a:schemeClr val="accent1"/>
              </a:effectRef>
              <a:fontRef idx="minor">
                <a:schemeClr val="tx1"/>
              </a:fontRef>
            </p:style>
          </p:cxnSp>
          <p:grpSp>
            <p:nvGrpSpPr>
              <p:cNvPr id="13" name="Group 4"/>
              <p:cNvGrpSpPr>
                <a:grpSpLocks/>
              </p:cNvGrpSpPr>
              <p:nvPr/>
            </p:nvGrpSpPr>
            <p:grpSpPr bwMode="auto">
              <a:xfrm rot="5400000">
                <a:off x="2700583" y="5113430"/>
                <a:ext cx="1865615" cy="360218"/>
                <a:chOff x="-98" y="2700"/>
                <a:chExt cx="10848" cy="1440"/>
              </a:xfrm>
            </p:grpSpPr>
            <p:cxnSp>
              <p:nvCxnSpPr>
                <p:cNvPr id="25" name="AutoShape 5"/>
                <p:cNvCxnSpPr>
                  <a:cxnSpLocks noChangeShapeType="1"/>
                </p:cNvCxnSpPr>
                <p:nvPr/>
              </p:nvCxnSpPr>
              <p:spPr bwMode="auto">
                <a:xfrm flipV="1">
                  <a:off x="3240" y="2700"/>
                  <a:ext cx="360" cy="720"/>
                </a:xfrm>
                <a:prstGeom prst="straightConnector1">
                  <a:avLst/>
                </a:prstGeom>
                <a:noFill/>
                <a:ln w="15875">
                  <a:solidFill>
                    <a:srgbClr val="000000"/>
                  </a:solidFill>
                  <a:round/>
                  <a:headEnd/>
                  <a:tailEnd/>
                </a:ln>
              </p:spPr>
            </p:cxnSp>
            <p:cxnSp>
              <p:nvCxnSpPr>
                <p:cNvPr id="26" name="AutoShape 6"/>
                <p:cNvCxnSpPr>
                  <a:cxnSpLocks noChangeShapeType="1"/>
                </p:cNvCxnSpPr>
                <p:nvPr/>
              </p:nvCxnSpPr>
              <p:spPr bwMode="auto">
                <a:xfrm>
                  <a:off x="3600" y="2700"/>
                  <a:ext cx="720" cy="1440"/>
                </a:xfrm>
                <a:prstGeom prst="straightConnector1">
                  <a:avLst/>
                </a:prstGeom>
                <a:noFill/>
                <a:ln w="15875">
                  <a:solidFill>
                    <a:srgbClr val="000000"/>
                  </a:solidFill>
                  <a:round/>
                  <a:headEnd/>
                  <a:tailEnd/>
                </a:ln>
              </p:spPr>
            </p:cxnSp>
            <p:cxnSp>
              <p:nvCxnSpPr>
                <p:cNvPr id="27" name="AutoShape 7"/>
                <p:cNvCxnSpPr>
                  <a:cxnSpLocks noChangeShapeType="1"/>
                </p:cNvCxnSpPr>
                <p:nvPr/>
              </p:nvCxnSpPr>
              <p:spPr bwMode="auto">
                <a:xfrm flipV="1">
                  <a:off x="4320" y="2700"/>
                  <a:ext cx="720" cy="1440"/>
                </a:xfrm>
                <a:prstGeom prst="straightConnector1">
                  <a:avLst/>
                </a:prstGeom>
                <a:noFill/>
                <a:ln w="15875">
                  <a:solidFill>
                    <a:srgbClr val="000000"/>
                  </a:solidFill>
                  <a:round/>
                  <a:headEnd/>
                  <a:tailEnd/>
                </a:ln>
              </p:spPr>
            </p:cxnSp>
            <p:cxnSp>
              <p:nvCxnSpPr>
                <p:cNvPr id="28" name="AutoShape 8"/>
                <p:cNvCxnSpPr>
                  <a:cxnSpLocks noChangeShapeType="1"/>
                </p:cNvCxnSpPr>
                <p:nvPr/>
              </p:nvCxnSpPr>
              <p:spPr bwMode="auto">
                <a:xfrm flipH="1" flipV="1">
                  <a:off x="5040" y="2700"/>
                  <a:ext cx="720" cy="1440"/>
                </a:xfrm>
                <a:prstGeom prst="straightConnector1">
                  <a:avLst/>
                </a:prstGeom>
                <a:noFill/>
                <a:ln w="15875">
                  <a:solidFill>
                    <a:srgbClr val="000000"/>
                  </a:solidFill>
                  <a:round/>
                  <a:headEnd/>
                  <a:tailEnd/>
                </a:ln>
              </p:spPr>
            </p:cxnSp>
            <p:cxnSp>
              <p:nvCxnSpPr>
                <p:cNvPr id="29" name="AutoShape 9"/>
                <p:cNvCxnSpPr>
                  <a:cxnSpLocks noChangeShapeType="1"/>
                </p:cNvCxnSpPr>
                <p:nvPr/>
              </p:nvCxnSpPr>
              <p:spPr bwMode="auto">
                <a:xfrm flipH="1">
                  <a:off x="5760" y="2700"/>
                  <a:ext cx="720" cy="1440"/>
                </a:xfrm>
                <a:prstGeom prst="straightConnector1">
                  <a:avLst/>
                </a:prstGeom>
                <a:noFill/>
                <a:ln w="15875">
                  <a:solidFill>
                    <a:srgbClr val="000000"/>
                  </a:solidFill>
                  <a:round/>
                  <a:headEnd/>
                  <a:tailEnd/>
                </a:ln>
              </p:spPr>
            </p:cxnSp>
            <p:cxnSp>
              <p:nvCxnSpPr>
                <p:cNvPr id="30" name="AutoShape 10"/>
                <p:cNvCxnSpPr>
                  <a:cxnSpLocks noChangeShapeType="1"/>
                </p:cNvCxnSpPr>
                <p:nvPr/>
              </p:nvCxnSpPr>
              <p:spPr bwMode="auto">
                <a:xfrm flipH="1" flipV="1">
                  <a:off x="6480" y="2700"/>
                  <a:ext cx="720" cy="1440"/>
                </a:xfrm>
                <a:prstGeom prst="straightConnector1">
                  <a:avLst/>
                </a:prstGeom>
                <a:noFill/>
                <a:ln w="15875">
                  <a:solidFill>
                    <a:srgbClr val="000000"/>
                  </a:solidFill>
                  <a:round/>
                  <a:headEnd/>
                  <a:tailEnd/>
                </a:ln>
              </p:spPr>
            </p:cxnSp>
            <p:cxnSp>
              <p:nvCxnSpPr>
                <p:cNvPr id="31" name="AutoShape 11"/>
                <p:cNvCxnSpPr>
                  <a:cxnSpLocks noChangeShapeType="1"/>
                </p:cNvCxnSpPr>
                <p:nvPr/>
              </p:nvCxnSpPr>
              <p:spPr bwMode="auto">
                <a:xfrm>
                  <a:off x="2520" y="3420"/>
                  <a:ext cx="720" cy="0"/>
                </a:xfrm>
                <a:prstGeom prst="straightConnector1">
                  <a:avLst/>
                </a:prstGeom>
                <a:noFill/>
                <a:ln w="15875">
                  <a:solidFill>
                    <a:srgbClr val="000000"/>
                  </a:solidFill>
                  <a:round/>
                  <a:headEnd/>
                  <a:tailEnd/>
                </a:ln>
              </p:spPr>
            </p:cxnSp>
            <p:cxnSp>
              <p:nvCxnSpPr>
                <p:cNvPr id="32" name="AutoShape 12"/>
                <p:cNvCxnSpPr>
                  <a:cxnSpLocks noChangeShapeType="1"/>
                </p:cNvCxnSpPr>
                <p:nvPr/>
              </p:nvCxnSpPr>
              <p:spPr bwMode="auto">
                <a:xfrm flipV="1">
                  <a:off x="3240" y="2700"/>
                  <a:ext cx="360" cy="720"/>
                </a:xfrm>
                <a:prstGeom prst="straightConnector1">
                  <a:avLst/>
                </a:prstGeom>
                <a:noFill/>
                <a:ln w="15875">
                  <a:solidFill>
                    <a:srgbClr val="000000"/>
                  </a:solidFill>
                  <a:round/>
                  <a:headEnd/>
                  <a:tailEnd/>
                </a:ln>
              </p:spPr>
            </p:cxnSp>
            <p:cxnSp>
              <p:nvCxnSpPr>
                <p:cNvPr id="33" name="AutoShape 13"/>
                <p:cNvCxnSpPr>
                  <a:cxnSpLocks noChangeShapeType="1"/>
                </p:cNvCxnSpPr>
                <p:nvPr/>
              </p:nvCxnSpPr>
              <p:spPr bwMode="auto">
                <a:xfrm>
                  <a:off x="3600" y="2700"/>
                  <a:ext cx="720" cy="1440"/>
                </a:xfrm>
                <a:prstGeom prst="straightConnector1">
                  <a:avLst/>
                </a:prstGeom>
                <a:noFill/>
                <a:ln w="15875">
                  <a:solidFill>
                    <a:srgbClr val="000000"/>
                  </a:solidFill>
                  <a:round/>
                  <a:headEnd/>
                  <a:tailEnd/>
                </a:ln>
              </p:spPr>
            </p:cxnSp>
            <p:cxnSp>
              <p:nvCxnSpPr>
                <p:cNvPr id="34" name="AutoShape 14"/>
                <p:cNvCxnSpPr>
                  <a:cxnSpLocks noChangeShapeType="1"/>
                </p:cNvCxnSpPr>
                <p:nvPr/>
              </p:nvCxnSpPr>
              <p:spPr bwMode="auto">
                <a:xfrm>
                  <a:off x="-98" y="3420"/>
                  <a:ext cx="3190" cy="0"/>
                </a:xfrm>
                <a:prstGeom prst="straightConnector1">
                  <a:avLst/>
                </a:prstGeom>
                <a:noFill/>
                <a:ln w="15875">
                  <a:solidFill>
                    <a:srgbClr val="000000"/>
                  </a:solidFill>
                  <a:round/>
                  <a:headEnd/>
                  <a:tailEnd/>
                </a:ln>
              </p:spPr>
            </p:cxnSp>
            <p:cxnSp>
              <p:nvCxnSpPr>
                <p:cNvPr id="35" name="AutoShape 15"/>
                <p:cNvCxnSpPr>
                  <a:cxnSpLocks noChangeShapeType="1"/>
                </p:cNvCxnSpPr>
                <p:nvPr/>
              </p:nvCxnSpPr>
              <p:spPr bwMode="auto">
                <a:xfrm flipV="1">
                  <a:off x="7200" y="3420"/>
                  <a:ext cx="360" cy="720"/>
                </a:xfrm>
                <a:prstGeom prst="straightConnector1">
                  <a:avLst/>
                </a:prstGeom>
                <a:noFill/>
                <a:ln w="15875">
                  <a:solidFill>
                    <a:srgbClr val="000000"/>
                  </a:solidFill>
                  <a:round/>
                  <a:headEnd/>
                  <a:tailEnd/>
                </a:ln>
              </p:spPr>
            </p:cxnSp>
            <p:cxnSp>
              <p:nvCxnSpPr>
                <p:cNvPr id="36" name="AutoShape 16"/>
                <p:cNvCxnSpPr>
                  <a:cxnSpLocks noChangeShapeType="1"/>
                </p:cNvCxnSpPr>
                <p:nvPr/>
              </p:nvCxnSpPr>
              <p:spPr bwMode="auto">
                <a:xfrm>
                  <a:off x="7560" y="3420"/>
                  <a:ext cx="3190" cy="0"/>
                </a:xfrm>
                <a:prstGeom prst="straightConnector1">
                  <a:avLst/>
                </a:prstGeom>
                <a:noFill/>
                <a:ln w="15875">
                  <a:solidFill>
                    <a:srgbClr val="000000"/>
                  </a:solidFill>
                  <a:round/>
                  <a:headEnd/>
                  <a:tailEnd/>
                </a:ln>
              </p:spPr>
            </p:cxnSp>
          </p:grpSp>
          <p:cxnSp>
            <p:nvCxnSpPr>
              <p:cNvPr id="14" name="Straight Connector 13"/>
              <p:cNvCxnSpPr/>
              <p:nvPr/>
            </p:nvCxnSpPr>
            <p:spPr>
              <a:xfrm>
                <a:off x="3629892" y="4371109"/>
                <a:ext cx="1898073" cy="0"/>
              </a:xfrm>
              <a:prstGeom prst="line">
                <a:avLst/>
              </a:prstGeom>
              <a:ln w="15875">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636819" y="6227618"/>
                <a:ext cx="1898073" cy="0"/>
              </a:xfrm>
              <a:prstGeom prst="line">
                <a:avLst/>
              </a:prstGeom>
              <a:ln w="15875">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2078182" y="4184073"/>
                <a:ext cx="2050473" cy="2202872"/>
              </a:xfrm>
              <a:prstGeom prst="rect">
                <a:avLst/>
              </a:prstGeom>
              <a:noFill/>
              <a:ln w="1270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477971" y="4121727"/>
                <a:ext cx="394855" cy="369332"/>
              </a:xfrm>
              <a:prstGeom prst="rect">
                <a:avLst/>
              </a:prstGeom>
              <a:noFill/>
            </p:spPr>
            <p:txBody>
              <a:bodyPr wrap="square" rtlCol="0">
                <a:spAutoFit/>
              </a:bodyPr>
              <a:lstStyle/>
              <a:p>
                <a:r>
                  <a:rPr lang="en-US" dirty="0" smtClean="0">
                    <a:latin typeface="Times New Roman" pitchFamily="18" charset="0"/>
                    <a:cs typeface="Times New Roman" pitchFamily="18" charset="0"/>
                  </a:rPr>
                  <a:t>a</a:t>
                </a:r>
                <a:endParaRPr lang="en-US" dirty="0">
                  <a:latin typeface="Times New Roman" pitchFamily="18" charset="0"/>
                  <a:cs typeface="Times New Roman" pitchFamily="18" charset="0"/>
                </a:endParaRPr>
              </a:p>
            </p:txBody>
          </p:sp>
          <p:sp>
            <p:nvSpPr>
              <p:cNvPr id="20" name="TextBox 19"/>
              <p:cNvSpPr txBox="1"/>
              <p:nvPr/>
            </p:nvSpPr>
            <p:spPr>
              <a:xfrm>
                <a:off x="484897" y="6026729"/>
                <a:ext cx="394855" cy="369332"/>
              </a:xfrm>
              <a:prstGeom prst="rect">
                <a:avLst/>
              </a:prstGeom>
              <a:noFill/>
            </p:spPr>
            <p:txBody>
              <a:bodyPr wrap="square" rtlCol="0">
                <a:spAutoFit/>
              </a:bodyPr>
              <a:lstStyle/>
              <a:p>
                <a:r>
                  <a:rPr lang="en-US" dirty="0" smtClean="0">
                    <a:latin typeface="Times New Roman" pitchFamily="18" charset="0"/>
                    <a:cs typeface="Times New Roman" pitchFamily="18" charset="0"/>
                  </a:rPr>
                  <a:t>b</a:t>
                </a:r>
                <a:endParaRPr lang="en-US" dirty="0">
                  <a:latin typeface="Times New Roman" pitchFamily="18" charset="0"/>
                  <a:cs typeface="Times New Roman" pitchFamily="18" charset="0"/>
                </a:endParaRPr>
              </a:p>
            </p:txBody>
          </p:sp>
          <p:sp>
            <p:nvSpPr>
              <p:cNvPr id="21" name="TextBox 20"/>
              <p:cNvSpPr txBox="1"/>
              <p:nvPr/>
            </p:nvSpPr>
            <p:spPr>
              <a:xfrm>
                <a:off x="5548735" y="4156366"/>
                <a:ext cx="394855" cy="369332"/>
              </a:xfrm>
              <a:prstGeom prst="rect">
                <a:avLst/>
              </a:prstGeom>
              <a:noFill/>
            </p:spPr>
            <p:txBody>
              <a:bodyPr wrap="square" rtlCol="0">
                <a:spAutoFit/>
              </a:bodyPr>
              <a:lstStyle/>
              <a:p>
                <a:r>
                  <a:rPr lang="en-US" dirty="0" smtClean="0">
                    <a:latin typeface="Times New Roman" pitchFamily="18" charset="0"/>
                    <a:cs typeface="Times New Roman" pitchFamily="18" charset="0"/>
                  </a:rPr>
                  <a:t>c</a:t>
                </a:r>
                <a:endParaRPr lang="en-US" dirty="0">
                  <a:latin typeface="Times New Roman" pitchFamily="18" charset="0"/>
                  <a:cs typeface="Times New Roman" pitchFamily="18" charset="0"/>
                </a:endParaRPr>
              </a:p>
            </p:txBody>
          </p:sp>
          <p:sp>
            <p:nvSpPr>
              <p:cNvPr id="22" name="TextBox 21"/>
              <p:cNvSpPr txBox="1"/>
              <p:nvPr/>
            </p:nvSpPr>
            <p:spPr>
              <a:xfrm>
                <a:off x="5555664" y="6012875"/>
                <a:ext cx="394855" cy="369332"/>
              </a:xfrm>
              <a:prstGeom prst="rect">
                <a:avLst/>
              </a:prstGeom>
              <a:noFill/>
            </p:spPr>
            <p:txBody>
              <a:bodyPr wrap="square" rtlCol="0">
                <a:spAutoFit/>
              </a:bodyPr>
              <a:lstStyle/>
              <a:p>
                <a:r>
                  <a:rPr lang="en-US" dirty="0" smtClean="0">
                    <a:latin typeface="Times New Roman" pitchFamily="18" charset="0"/>
                    <a:cs typeface="Times New Roman" pitchFamily="18" charset="0"/>
                  </a:rPr>
                  <a:t>d</a:t>
                </a:r>
                <a:endParaRPr lang="en-US" dirty="0">
                  <a:latin typeface="Times New Roman" pitchFamily="18" charset="0"/>
                  <a:cs typeface="Times New Roman" pitchFamily="18" charset="0"/>
                </a:endParaRPr>
              </a:p>
            </p:txBody>
          </p:sp>
          <p:sp>
            <p:nvSpPr>
              <p:cNvPr id="23" name="TextBox 22"/>
              <p:cNvSpPr txBox="1"/>
              <p:nvPr/>
            </p:nvSpPr>
            <p:spPr>
              <a:xfrm>
                <a:off x="5334000" y="5077691"/>
                <a:ext cx="588818" cy="400110"/>
              </a:xfrm>
              <a:prstGeom prst="rect">
                <a:avLst/>
              </a:prstGeom>
              <a:noFill/>
            </p:spPr>
            <p:txBody>
              <a:bodyPr wrap="square" rtlCol="0">
                <a:spAutoFit/>
              </a:bodyPr>
              <a:lstStyle/>
              <a:p>
                <a:r>
                  <a:rPr lang="en-US" sz="2000" dirty="0" err="1" smtClean="0">
                    <a:latin typeface="Times New Roman" pitchFamily="18" charset="0"/>
                    <a:cs typeface="Times New Roman" pitchFamily="18" charset="0"/>
                  </a:rPr>
                  <a:t>V</a:t>
                </a:r>
                <a:r>
                  <a:rPr lang="en-US" sz="2000" baseline="-25000" dirty="0" err="1" smtClean="0">
                    <a:latin typeface="Times New Roman" pitchFamily="18" charset="0"/>
                    <a:cs typeface="Times New Roman" pitchFamily="18" charset="0"/>
                  </a:rPr>
                  <a:t>cd</a:t>
                </a:r>
                <a:endParaRPr lang="en-US" sz="2000" baseline="-25000" dirty="0">
                  <a:latin typeface="Times New Roman" pitchFamily="18" charset="0"/>
                  <a:cs typeface="Times New Roman" pitchFamily="18" charset="0"/>
                </a:endParaRPr>
              </a:p>
            </p:txBody>
          </p:sp>
        </p:grpSp>
        <p:cxnSp>
          <p:nvCxnSpPr>
            <p:cNvPr id="45" name="Straight Arrow Connector 44"/>
            <p:cNvCxnSpPr/>
            <p:nvPr/>
          </p:nvCxnSpPr>
          <p:spPr>
            <a:xfrm rot="5400000" flipH="1" flipV="1">
              <a:off x="5264958" y="4483917"/>
              <a:ext cx="548640" cy="2117"/>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44" name="Group 43"/>
            <p:cNvGrpSpPr/>
            <p:nvPr/>
          </p:nvGrpSpPr>
          <p:grpSpPr>
            <a:xfrm>
              <a:off x="5222425" y="3997779"/>
              <a:ext cx="640080" cy="1005840"/>
              <a:chOff x="9834880" y="3421888"/>
              <a:chExt cx="1875536" cy="1881632"/>
            </a:xfrm>
          </p:grpSpPr>
          <p:cxnSp>
            <p:nvCxnSpPr>
              <p:cNvPr id="47" name="Straight Connector 46"/>
              <p:cNvCxnSpPr/>
              <p:nvPr/>
            </p:nvCxnSpPr>
            <p:spPr>
              <a:xfrm rot="5400000">
                <a:off x="9838944" y="3421888"/>
                <a:ext cx="938784" cy="93878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5400000">
                <a:off x="10759440" y="4358640"/>
                <a:ext cx="938784" cy="93878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10800000">
                <a:off x="10771632" y="3423920"/>
                <a:ext cx="938784" cy="93878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10800000">
                <a:off x="9834880" y="4364736"/>
                <a:ext cx="938784" cy="93878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635" y="71414"/>
            <a:ext cx="11617555" cy="714380"/>
          </a:xfrm>
        </p:spPr>
        <p:txBody>
          <a:bodyPr>
            <a:normAutofit/>
          </a:bodyPr>
          <a:lstStyle/>
          <a:p>
            <a:r>
              <a:rPr lang="en-IN" sz="2800" dirty="0" smtClean="0">
                <a:solidFill>
                  <a:srgbClr val="00B050"/>
                </a:solidFill>
                <a:latin typeface="Times New Roman" pitchFamily="18" charset="0"/>
                <a:cs typeface="Times New Roman" pitchFamily="18" charset="0"/>
              </a:rPr>
              <a:t>BASIC TERMS AND DEFINITIONS</a:t>
            </a:r>
            <a:endParaRPr lang="en-US" sz="2800" dirty="0">
              <a:solidFill>
                <a:srgbClr val="FF0000"/>
              </a:solidFill>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smtClean="0"/>
              <a:t>syed hasan saeed</a:t>
            </a:r>
            <a:endParaRPr lang="en-US"/>
          </a:p>
        </p:txBody>
      </p:sp>
      <p:sp>
        <p:nvSpPr>
          <p:cNvPr id="6" name="Slide Number Placeholder 5"/>
          <p:cNvSpPr>
            <a:spLocks noGrp="1"/>
          </p:cNvSpPr>
          <p:nvPr>
            <p:ph type="sldNum" sz="quarter" idx="12"/>
          </p:nvPr>
        </p:nvSpPr>
        <p:spPr/>
        <p:txBody>
          <a:bodyPr/>
          <a:lstStyle/>
          <a:p>
            <a:fld id="{435E54C7-FAA8-46C1-A880-53547F97989D}" type="slidenum">
              <a:rPr lang="en-US" smtClean="0"/>
              <a:pPr/>
              <a:t>13</a:t>
            </a:fld>
            <a:endParaRPr lang="en-US"/>
          </a:p>
        </p:txBody>
      </p:sp>
      <p:sp>
        <p:nvSpPr>
          <p:cNvPr id="7" name="Content Placeholder 6"/>
          <p:cNvSpPr>
            <a:spLocks noGrp="1"/>
          </p:cNvSpPr>
          <p:nvPr>
            <p:ph idx="1"/>
          </p:nvPr>
        </p:nvSpPr>
        <p:spPr>
          <a:xfrm>
            <a:off x="190409" y="714356"/>
            <a:ext cx="11808007" cy="5643602"/>
          </a:xfrm>
        </p:spPr>
        <p:txBody>
          <a:bodyPr>
            <a:normAutofit/>
          </a:bodyPr>
          <a:lstStyle/>
          <a:p>
            <a:pPr>
              <a:lnSpc>
                <a:spcPct val="150000"/>
              </a:lnSpc>
              <a:buNone/>
            </a:pPr>
            <a:r>
              <a:rPr lang="en-US" sz="2200" dirty="0" smtClean="0">
                <a:latin typeface="Times New Roman" pitchFamily="18" charset="0"/>
                <a:cs typeface="Times New Roman" pitchFamily="18" charset="0"/>
              </a:rPr>
              <a:t> </a:t>
            </a:r>
            <a:r>
              <a:rPr lang="en-US" sz="2200" dirty="0" smtClean="0">
                <a:solidFill>
                  <a:schemeClr val="accent6">
                    <a:lumMod val="50000"/>
                  </a:schemeClr>
                </a:solidFill>
                <a:latin typeface="Times New Roman" pitchFamily="18" charset="0"/>
                <a:cs typeface="Times New Roman" pitchFamily="18" charset="0"/>
              </a:rPr>
              <a:t>(c) </a:t>
            </a:r>
            <a:r>
              <a:rPr lang="en-US" sz="2200" u="sng" dirty="0" smtClean="0">
                <a:solidFill>
                  <a:schemeClr val="accent6">
                    <a:lumMod val="50000"/>
                  </a:schemeClr>
                </a:solidFill>
                <a:latin typeface="Times New Roman" pitchFamily="18" charset="0"/>
                <a:cs typeface="Times New Roman" pitchFamily="18" charset="0"/>
              </a:rPr>
              <a:t>Current Controlled Voltage Source (CCVS):</a:t>
            </a:r>
          </a:p>
          <a:p>
            <a:pPr>
              <a:lnSpc>
                <a:spcPct val="150000"/>
              </a:lnSpc>
              <a:buNone/>
            </a:pPr>
            <a:r>
              <a:rPr lang="en-US" sz="2200" dirty="0" smtClean="0">
                <a:latin typeface="Times New Roman" pitchFamily="18" charset="0"/>
                <a:cs typeface="Times New Roman" pitchFamily="18" charset="0"/>
              </a:rPr>
              <a:t>Voltage of the source </a:t>
            </a:r>
            <a:r>
              <a:rPr lang="en-US" sz="2200" dirty="0" err="1" smtClean="0">
                <a:latin typeface="Times New Roman" pitchFamily="18" charset="0"/>
                <a:cs typeface="Times New Roman" pitchFamily="18" charset="0"/>
              </a:rPr>
              <a:t>V</a:t>
            </a:r>
            <a:r>
              <a:rPr lang="en-US" sz="2200" baseline="-25000" dirty="0" err="1" smtClean="0">
                <a:latin typeface="Times New Roman" pitchFamily="18" charset="0"/>
                <a:cs typeface="Times New Roman" pitchFamily="18" charset="0"/>
              </a:rPr>
              <a:t>ab</a:t>
            </a:r>
            <a:r>
              <a:rPr lang="en-US" sz="2200" dirty="0" smtClean="0">
                <a:latin typeface="Times New Roman" pitchFamily="18" charset="0"/>
                <a:cs typeface="Times New Roman" pitchFamily="18" charset="0"/>
              </a:rPr>
              <a:t> depends on the current of branch ‘</a:t>
            </a:r>
            <a:r>
              <a:rPr lang="en-US" sz="2200" dirty="0" err="1" smtClean="0">
                <a:latin typeface="Times New Roman" pitchFamily="18" charset="0"/>
                <a:cs typeface="Times New Roman" pitchFamily="18" charset="0"/>
              </a:rPr>
              <a:t>cd</a:t>
            </a:r>
            <a:r>
              <a:rPr lang="en-US" sz="2200" dirty="0" smtClean="0">
                <a:latin typeface="Times New Roman" pitchFamily="18" charset="0"/>
                <a:cs typeface="Times New Roman" pitchFamily="18" charset="0"/>
              </a:rPr>
              <a:t>’</a:t>
            </a:r>
          </a:p>
          <a:p>
            <a:pPr>
              <a:lnSpc>
                <a:spcPct val="150000"/>
              </a:lnSpc>
              <a:buNone/>
            </a:pP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V</a:t>
            </a:r>
            <a:r>
              <a:rPr lang="en-US" sz="2200" baseline="-25000" dirty="0" err="1" smtClean="0">
                <a:latin typeface="Times New Roman" pitchFamily="18" charset="0"/>
                <a:cs typeface="Times New Roman" pitchFamily="18" charset="0"/>
              </a:rPr>
              <a:t>ab</a:t>
            </a:r>
            <a:r>
              <a:rPr lang="en-US" sz="2200" dirty="0" smtClean="0">
                <a:latin typeface="Times New Roman" pitchFamily="18" charset="0"/>
                <a:cs typeface="Times New Roman" pitchFamily="18" charset="0"/>
              </a:rPr>
              <a:t> </a:t>
            </a:r>
            <a:r>
              <a:rPr lang="el-GR" sz="2200" dirty="0" smtClean="0">
                <a:latin typeface="Times New Roman" pitchFamily="18" charset="0"/>
                <a:cs typeface="Times New Roman" pitchFamily="18" charset="0"/>
              </a:rPr>
              <a:t>α</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i</a:t>
            </a:r>
            <a:r>
              <a:rPr lang="en-US" sz="2200" baseline="-25000" dirty="0" err="1" smtClean="0">
                <a:latin typeface="Times New Roman" pitchFamily="18" charset="0"/>
                <a:cs typeface="Times New Roman" pitchFamily="18" charset="0"/>
              </a:rPr>
              <a:t>cd</a:t>
            </a:r>
            <a:r>
              <a:rPr lang="en-US" sz="2200" dirty="0" smtClean="0">
                <a:latin typeface="Times New Roman" pitchFamily="18" charset="0"/>
                <a:cs typeface="Times New Roman" pitchFamily="18" charset="0"/>
              </a:rPr>
              <a:t>            or </a:t>
            </a:r>
            <a:r>
              <a:rPr lang="en-US" sz="2200" dirty="0" err="1" smtClean="0">
                <a:latin typeface="Times New Roman" pitchFamily="18" charset="0"/>
                <a:cs typeface="Times New Roman" pitchFamily="18" charset="0"/>
              </a:rPr>
              <a:t>V</a:t>
            </a:r>
            <a:r>
              <a:rPr lang="en-US" sz="2200" baseline="-25000" dirty="0" err="1" smtClean="0">
                <a:latin typeface="Times New Roman" pitchFamily="18" charset="0"/>
                <a:cs typeface="Times New Roman" pitchFamily="18" charset="0"/>
              </a:rPr>
              <a:t>ab</a:t>
            </a:r>
            <a:r>
              <a:rPr lang="en-US" sz="2200" dirty="0" smtClean="0">
                <a:latin typeface="Times New Roman" pitchFamily="18" charset="0"/>
                <a:cs typeface="Times New Roman" pitchFamily="18" charset="0"/>
              </a:rPr>
              <a:t> = r </a:t>
            </a:r>
            <a:r>
              <a:rPr lang="en-US" sz="2200" dirty="0" err="1" smtClean="0">
                <a:latin typeface="Times New Roman" pitchFamily="18" charset="0"/>
                <a:cs typeface="Times New Roman" pitchFamily="18" charset="0"/>
              </a:rPr>
              <a:t>i</a:t>
            </a:r>
            <a:r>
              <a:rPr lang="en-US" sz="2200" baseline="-25000" dirty="0" err="1" smtClean="0">
                <a:latin typeface="Times New Roman" pitchFamily="18" charset="0"/>
                <a:cs typeface="Times New Roman" pitchFamily="18" charset="0"/>
              </a:rPr>
              <a:t>cd</a:t>
            </a:r>
            <a:endParaRPr lang="en-US" sz="2200" baseline="-25000" dirty="0" smtClean="0">
              <a:latin typeface="Times New Roman" pitchFamily="18" charset="0"/>
              <a:cs typeface="Times New Roman" pitchFamily="18" charset="0"/>
            </a:endParaRPr>
          </a:p>
          <a:p>
            <a:pPr>
              <a:lnSpc>
                <a:spcPct val="150000"/>
              </a:lnSpc>
              <a:buNone/>
            </a:pPr>
            <a:r>
              <a:rPr lang="en-US" sz="1800" dirty="0" smtClean="0">
                <a:latin typeface="Times New Roman" pitchFamily="18" charset="0"/>
                <a:cs typeface="Times New Roman" pitchFamily="18" charset="0"/>
              </a:rPr>
              <a:t>          Where</a:t>
            </a:r>
            <a:r>
              <a:rPr lang="en-US" sz="2200" dirty="0" smtClean="0">
                <a:latin typeface="Times New Roman" pitchFamily="18" charset="0"/>
                <a:cs typeface="Times New Roman" pitchFamily="18" charset="0"/>
              </a:rPr>
              <a:t> </a:t>
            </a:r>
            <a:r>
              <a:rPr lang="en-US" sz="1800" dirty="0" smtClean="0">
                <a:latin typeface="Times New Roman" pitchFamily="18" charset="0"/>
                <a:cs typeface="Times New Roman" pitchFamily="18" charset="0"/>
              </a:rPr>
              <a:t>‘r’ is the constant, has the unit resistance (</a:t>
            </a:r>
            <a:r>
              <a:rPr lang="en-US" sz="1800" dirty="0" err="1" smtClean="0">
                <a:latin typeface="Times New Roman" pitchFamily="18" charset="0"/>
                <a:cs typeface="Times New Roman" pitchFamily="18" charset="0"/>
              </a:rPr>
              <a:t>i.e</a:t>
            </a:r>
            <a:r>
              <a:rPr lang="en-US" sz="1800" dirty="0" smtClean="0">
                <a:latin typeface="Times New Roman" pitchFamily="18" charset="0"/>
                <a:cs typeface="Times New Roman" pitchFamily="18" charset="0"/>
              </a:rPr>
              <a:t> </a:t>
            </a:r>
            <a:r>
              <a:rPr lang="el-GR" sz="1800" dirty="0" smtClean="0">
                <a:latin typeface="Times New Roman" pitchFamily="18" charset="0"/>
                <a:cs typeface="Times New Roman" pitchFamily="18" charset="0"/>
              </a:rPr>
              <a:t>Ω</a:t>
            </a:r>
            <a:r>
              <a:rPr lang="en-US" sz="1800" dirty="0" smtClean="0">
                <a:latin typeface="Times New Roman" pitchFamily="18" charset="0"/>
                <a:cs typeface="Times New Roman" pitchFamily="18" charset="0"/>
              </a:rPr>
              <a:t> )</a:t>
            </a:r>
            <a:endParaRPr lang="en-US" sz="1800" dirty="0">
              <a:latin typeface="Times New Roman" pitchFamily="18" charset="0"/>
              <a:cs typeface="Times New Roman" pitchFamily="18" charset="0"/>
            </a:endParaRPr>
          </a:p>
        </p:txBody>
      </p:sp>
      <p:graphicFrame>
        <p:nvGraphicFramePr>
          <p:cNvPr id="8" name="Object 7"/>
          <p:cNvGraphicFramePr>
            <a:graphicFrameLocks noChangeAspect="1"/>
          </p:cNvGraphicFramePr>
          <p:nvPr/>
        </p:nvGraphicFramePr>
        <p:xfrm>
          <a:off x="6018233" y="3321050"/>
          <a:ext cx="152360" cy="215900"/>
        </p:xfrm>
        <a:graphic>
          <a:graphicData uri="http://schemas.openxmlformats.org/presentationml/2006/ole">
            <p:oleObj spid="_x0000_s57346" name="Equation" r:id="rId3" imgW="114120" imgH="215640" progId="Equation.3">
              <p:embed/>
            </p:oleObj>
          </a:graphicData>
        </a:graphic>
      </p:graphicFrame>
      <p:sp>
        <p:nvSpPr>
          <p:cNvPr id="51" name="TextBox 50"/>
          <p:cNvSpPr txBox="1"/>
          <p:nvPr/>
        </p:nvSpPr>
        <p:spPr>
          <a:xfrm>
            <a:off x="2334547" y="4544023"/>
            <a:ext cx="784886" cy="400110"/>
          </a:xfrm>
          <a:prstGeom prst="rect">
            <a:avLst/>
          </a:prstGeom>
          <a:noFill/>
        </p:spPr>
        <p:txBody>
          <a:bodyPr wrap="square" rtlCol="0">
            <a:spAutoFit/>
          </a:bodyPr>
          <a:lstStyle/>
          <a:p>
            <a:r>
              <a:rPr lang="en-US" sz="2000" dirty="0" err="1" smtClean="0">
                <a:latin typeface="Times New Roman" pitchFamily="18" charset="0"/>
                <a:cs typeface="Times New Roman" pitchFamily="18" charset="0"/>
              </a:rPr>
              <a:t>V</a:t>
            </a:r>
            <a:r>
              <a:rPr lang="en-US" sz="2000" baseline="-25000" dirty="0" err="1" smtClean="0">
                <a:latin typeface="Times New Roman" pitchFamily="18" charset="0"/>
                <a:cs typeface="Times New Roman" pitchFamily="18" charset="0"/>
              </a:rPr>
              <a:t>ab</a:t>
            </a:r>
            <a:endParaRPr lang="en-US" sz="2000" baseline="-25000" dirty="0">
              <a:latin typeface="Times New Roman" pitchFamily="18" charset="0"/>
              <a:cs typeface="Times New Roman" pitchFamily="18" charset="0"/>
            </a:endParaRPr>
          </a:p>
        </p:txBody>
      </p:sp>
      <p:sp>
        <p:nvSpPr>
          <p:cNvPr id="54" name="TextBox 53"/>
          <p:cNvSpPr txBox="1"/>
          <p:nvPr/>
        </p:nvSpPr>
        <p:spPr>
          <a:xfrm>
            <a:off x="8127895" y="5968085"/>
            <a:ext cx="2142095" cy="369332"/>
          </a:xfrm>
          <a:prstGeom prst="rect">
            <a:avLst/>
          </a:prstGeom>
          <a:noFill/>
        </p:spPr>
        <p:txBody>
          <a:bodyPr wrap="square" rtlCol="0">
            <a:spAutoFit/>
          </a:bodyPr>
          <a:lstStyle/>
          <a:p>
            <a:r>
              <a:rPr lang="en-US" dirty="0" smtClean="0">
                <a:latin typeface="Times New Roman" pitchFamily="18" charset="0"/>
                <a:cs typeface="Times New Roman" pitchFamily="18" charset="0"/>
              </a:rPr>
              <a:t>Fig.3: CCVS</a:t>
            </a:r>
            <a:endParaRPr lang="en-US" dirty="0">
              <a:latin typeface="Times New Roman" pitchFamily="18" charset="0"/>
              <a:cs typeface="Times New Roman" pitchFamily="18" charset="0"/>
            </a:endParaRPr>
          </a:p>
        </p:txBody>
      </p:sp>
      <p:grpSp>
        <p:nvGrpSpPr>
          <p:cNvPr id="44" name="Group 43"/>
          <p:cNvGrpSpPr/>
          <p:nvPr/>
        </p:nvGrpSpPr>
        <p:grpSpPr>
          <a:xfrm>
            <a:off x="2423214" y="3632797"/>
            <a:ext cx="7294830" cy="2274334"/>
            <a:chOff x="2423214" y="3632797"/>
            <a:chExt cx="7294830" cy="2274334"/>
          </a:xfrm>
        </p:grpSpPr>
        <p:grpSp>
          <p:nvGrpSpPr>
            <p:cNvPr id="9" name="Group 8"/>
            <p:cNvGrpSpPr/>
            <p:nvPr/>
          </p:nvGrpSpPr>
          <p:grpSpPr>
            <a:xfrm>
              <a:off x="2423214" y="3632797"/>
              <a:ext cx="7294830" cy="2274334"/>
              <a:chOff x="477971" y="4121727"/>
              <a:chExt cx="5472548" cy="2274334"/>
            </a:xfrm>
          </p:grpSpPr>
          <p:grpSp>
            <p:nvGrpSpPr>
              <p:cNvPr id="10" name="Group 21"/>
              <p:cNvGrpSpPr/>
              <p:nvPr/>
            </p:nvGrpSpPr>
            <p:grpSpPr>
              <a:xfrm>
                <a:off x="2694721" y="4344194"/>
                <a:ext cx="7711" cy="1888671"/>
                <a:chOff x="1759539" y="4344194"/>
                <a:chExt cx="7711" cy="1888671"/>
              </a:xfrm>
            </p:grpSpPr>
            <p:cxnSp>
              <p:nvCxnSpPr>
                <p:cNvPr id="38" name="Straight Connector 37"/>
                <p:cNvCxnSpPr/>
                <p:nvPr/>
              </p:nvCxnSpPr>
              <p:spPr>
                <a:xfrm rot="5400000" flipH="1" flipV="1">
                  <a:off x="1544783" y="4565073"/>
                  <a:ext cx="443345"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5400000" flipH="1" flipV="1">
                  <a:off x="1538660" y="6010399"/>
                  <a:ext cx="443345"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Straight Connector 10"/>
              <p:cNvCxnSpPr/>
              <p:nvPr/>
            </p:nvCxnSpPr>
            <p:spPr>
              <a:xfrm rot="10800000">
                <a:off x="810492" y="4350327"/>
                <a:ext cx="1898073" cy="0"/>
              </a:xfrm>
              <a:prstGeom prst="line">
                <a:avLst/>
              </a:prstGeom>
              <a:ln w="15875">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0800000">
                <a:off x="803566" y="6241473"/>
                <a:ext cx="1898073" cy="0"/>
              </a:xfrm>
              <a:prstGeom prst="line">
                <a:avLst/>
              </a:prstGeom>
              <a:ln w="15875">
                <a:solidFill>
                  <a:schemeClr val="tx1"/>
                </a:solidFill>
                <a:tailEnd type="oval"/>
              </a:ln>
            </p:spPr>
            <p:style>
              <a:lnRef idx="1">
                <a:schemeClr val="accent1"/>
              </a:lnRef>
              <a:fillRef idx="0">
                <a:schemeClr val="accent1"/>
              </a:fillRef>
              <a:effectRef idx="0">
                <a:schemeClr val="accent1"/>
              </a:effectRef>
              <a:fontRef idx="minor">
                <a:schemeClr val="tx1"/>
              </a:fontRef>
            </p:style>
          </p:cxnSp>
          <p:grpSp>
            <p:nvGrpSpPr>
              <p:cNvPr id="13" name="Group 4"/>
              <p:cNvGrpSpPr>
                <a:grpSpLocks/>
              </p:cNvGrpSpPr>
              <p:nvPr/>
            </p:nvGrpSpPr>
            <p:grpSpPr bwMode="auto">
              <a:xfrm rot="5400000">
                <a:off x="2700583" y="5113430"/>
                <a:ext cx="1865615" cy="360218"/>
                <a:chOff x="-98" y="2700"/>
                <a:chExt cx="10848" cy="1440"/>
              </a:xfrm>
            </p:grpSpPr>
            <p:cxnSp>
              <p:nvCxnSpPr>
                <p:cNvPr id="25" name="AutoShape 5"/>
                <p:cNvCxnSpPr>
                  <a:cxnSpLocks noChangeShapeType="1"/>
                </p:cNvCxnSpPr>
                <p:nvPr/>
              </p:nvCxnSpPr>
              <p:spPr bwMode="auto">
                <a:xfrm flipV="1">
                  <a:off x="3240" y="2700"/>
                  <a:ext cx="360" cy="720"/>
                </a:xfrm>
                <a:prstGeom prst="straightConnector1">
                  <a:avLst/>
                </a:prstGeom>
                <a:noFill/>
                <a:ln w="15875">
                  <a:solidFill>
                    <a:srgbClr val="000000"/>
                  </a:solidFill>
                  <a:round/>
                  <a:headEnd/>
                  <a:tailEnd/>
                </a:ln>
              </p:spPr>
            </p:cxnSp>
            <p:cxnSp>
              <p:nvCxnSpPr>
                <p:cNvPr id="26" name="AutoShape 6"/>
                <p:cNvCxnSpPr>
                  <a:cxnSpLocks noChangeShapeType="1"/>
                </p:cNvCxnSpPr>
                <p:nvPr/>
              </p:nvCxnSpPr>
              <p:spPr bwMode="auto">
                <a:xfrm>
                  <a:off x="3600" y="2700"/>
                  <a:ext cx="720" cy="1440"/>
                </a:xfrm>
                <a:prstGeom prst="straightConnector1">
                  <a:avLst/>
                </a:prstGeom>
                <a:noFill/>
                <a:ln w="15875">
                  <a:solidFill>
                    <a:srgbClr val="000000"/>
                  </a:solidFill>
                  <a:round/>
                  <a:headEnd/>
                  <a:tailEnd/>
                </a:ln>
              </p:spPr>
            </p:cxnSp>
            <p:cxnSp>
              <p:nvCxnSpPr>
                <p:cNvPr id="27" name="AutoShape 7"/>
                <p:cNvCxnSpPr>
                  <a:cxnSpLocks noChangeShapeType="1"/>
                </p:cNvCxnSpPr>
                <p:nvPr/>
              </p:nvCxnSpPr>
              <p:spPr bwMode="auto">
                <a:xfrm flipV="1">
                  <a:off x="4320" y="2700"/>
                  <a:ext cx="720" cy="1440"/>
                </a:xfrm>
                <a:prstGeom prst="straightConnector1">
                  <a:avLst/>
                </a:prstGeom>
                <a:noFill/>
                <a:ln w="15875">
                  <a:solidFill>
                    <a:srgbClr val="000000"/>
                  </a:solidFill>
                  <a:round/>
                  <a:headEnd/>
                  <a:tailEnd/>
                </a:ln>
              </p:spPr>
            </p:cxnSp>
            <p:cxnSp>
              <p:nvCxnSpPr>
                <p:cNvPr id="28" name="AutoShape 8"/>
                <p:cNvCxnSpPr>
                  <a:cxnSpLocks noChangeShapeType="1"/>
                </p:cNvCxnSpPr>
                <p:nvPr/>
              </p:nvCxnSpPr>
              <p:spPr bwMode="auto">
                <a:xfrm flipH="1" flipV="1">
                  <a:off x="5040" y="2700"/>
                  <a:ext cx="720" cy="1440"/>
                </a:xfrm>
                <a:prstGeom prst="straightConnector1">
                  <a:avLst/>
                </a:prstGeom>
                <a:noFill/>
                <a:ln w="15875">
                  <a:solidFill>
                    <a:srgbClr val="000000"/>
                  </a:solidFill>
                  <a:round/>
                  <a:headEnd/>
                  <a:tailEnd/>
                </a:ln>
              </p:spPr>
            </p:cxnSp>
            <p:cxnSp>
              <p:nvCxnSpPr>
                <p:cNvPr id="29" name="AutoShape 9"/>
                <p:cNvCxnSpPr>
                  <a:cxnSpLocks noChangeShapeType="1"/>
                </p:cNvCxnSpPr>
                <p:nvPr/>
              </p:nvCxnSpPr>
              <p:spPr bwMode="auto">
                <a:xfrm flipH="1">
                  <a:off x="5760" y="2700"/>
                  <a:ext cx="720" cy="1440"/>
                </a:xfrm>
                <a:prstGeom prst="straightConnector1">
                  <a:avLst/>
                </a:prstGeom>
                <a:noFill/>
                <a:ln w="15875">
                  <a:solidFill>
                    <a:srgbClr val="000000"/>
                  </a:solidFill>
                  <a:round/>
                  <a:headEnd/>
                  <a:tailEnd/>
                </a:ln>
              </p:spPr>
            </p:cxnSp>
            <p:cxnSp>
              <p:nvCxnSpPr>
                <p:cNvPr id="30" name="AutoShape 10"/>
                <p:cNvCxnSpPr>
                  <a:cxnSpLocks noChangeShapeType="1"/>
                </p:cNvCxnSpPr>
                <p:nvPr/>
              </p:nvCxnSpPr>
              <p:spPr bwMode="auto">
                <a:xfrm flipH="1" flipV="1">
                  <a:off x="6480" y="2700"/>
                  <a:ext cx="720" cy="1440"/>
                </a:xfrm>
                <a:prstGeom prst="straightConnector1">
                  <a:avLst/>
                </a:prstGeom>
                <a:noFill/>
                <a:ln w="15875">
                  <a:solidFill>
                    <a:srgbClr val="000000"/>
                  </a:solidFill>
                  <a:round/>
                  <a:headEnd/>
                  <a:tailEnd/>
                </a:ln>
              </p:spPr>
            </p:cxnSp>
            <p:cxnSp>
              <p:nvCxnSpPr>
                <p:cNvPr id="31" name="AutoShape 11"/>
                <p:cNvCxnSpPr>
                  <a:cxnSpLocks noChangeShapeType="1"/>
                </p:cNvCxnSpPr>
                <p:nvPr/>
              </p:nvCxnSpPr>
              <p:spPr bwMode="auto">
                <a:xfrm>
                  <a:off x="2520" y="3420"/>
                  <a:ext cx="720" cy="0"/>
                </a:xfrm>
                <a:prstGeom prst="straightConnector1">
                  <a:avLst/>
                </a:prstGeom>
                <a:noFill/>
                <a:ln w="15875">
                  <a:solidFill>
                    <a:srgbClr val="000000"/>
                  </a:solidFill>
                  <a:round/>
                  <a:headEnd/>
                  <a:tailEnd/>
                </a:ln>
              </p:spPr>
            </p:cxnSp>
            <p:cxnSp>
              <p:nvCxnSpPr>
                <p:cNvPr id="32" name="AutoShape 12"/>
                <p:cNvCxnSpPr>
                  <a:cxnSpLocks noChangeShapeType="1"/>
                </p:cNvCxnSpPr>
                <p:nvPr/>
              </p:nvCxnSpPr>
              <p:spPr bwMode="auto">
                <a:xfrm flipV="1">
                  <a:off x="3240" y="2700"/>
                  <a:ext cx="360" cy="720"/>
                </a:xfrm>
                <a:prstGeom prst="straightConnector1">
                  <a:avLst/>
                </a:prstGeom>
                <a:noFill/>
                <a:ln w="15875">
                  <a:solidFill>
                    <a:srgbClr val="000000"/>
                  </a:solidFill>
                  <a:round/>
                  <a:headEnd/>
                  <a:tailEnd/>
                </a:ln>
              </p:spPr>
            </p:cxnSp>
            <p:cxnSp>
              <p:nvCxnSpPr>
                <p:cNvPr id="33" name="AutoShape 13"/>
                <p:cNvCxnSpPr>
                  <a:cxnSpLocks noChangeShapeType="1"/>
                </p:cNvCxnSpPr>
                <p:nvPr/>
              </p:nvCxnSpPr>
              <p:spPr bwMode="auto">
                <a:xfrm>
                  <a:off x="3600" y="2700"/>
                  <a:ext cx="720" cy="1440"/>
                </a:xfrm>
                <a:prstGeom prst="straightConnector1">
                  <a:avLst/>
                </a:prstGeom>
                <a:noFill/>
                <a:ln w="15875">
                  <a:solidFill>
                    <a:srgbClr val="000000"/>
                  </a:solidFill>
                  <a:round/>
                  <a:headEnd/>
                  <a:tailEnd/>
                </a:ln>
              </p:spPr>
            </p:cxnSp>
            <p:cxnSp>
              <p:nvCxnSpPr>
                <p:cNvPr id="34" name="AutoShape 14"/>
                <p:cNvCxnSpPr>
                  <a:cxnSpLocks noChangeShapeType="1"/>
                </p:cNvCxnSpPr>
                <p:nvPr/>
              </p:nvCxnSpPr>
              <p:spPr bwMode="auto">
                <a:xfrm>
                  <a:off x="-98" y="3420"/>
                  <a:ext cx="3190" cy="0"/>
                </a:xfrm>
                <a:prstGeom prst="straightConnector1">
                  <a:avLst/>
                </a:prstGeom>
                <a:noFill/>
                <a:ln w="15875">
                  <a:solidFill>
                    <a:srgbClr val="000000"/>
                  </a:solidFill>
                  <a:round/>
                  <a:headEnd/>
                  <a:tailEnd/>
                </a:ln>
              </p:spPr>
            </p:cxnSp>
            <p:cxnSp>
              <p:nvCxnSpPr>
                <p:cNvPr id="35" name="AutoShape 15"/>
                <p:cNvCxnSpPr>
                  <a:cxnSpLocks noChangeShapeType="1"/>
                </p:cNvCxnSpPr>
                <p:nvPr/>
              </p:nvCxnSpPr>
              <p:spPr bwMode="auto">
                <a:xfrm flipV="1">
                  <a:off x="7200" y="3420"/>
                  <a:ext cx="360" cy="720"/>
                </a:xfrm>
                <a:prstGeom prst="straightConnector1">
                  <a:avLst/>
                </a:prstGeom>
                <a:noFill/>
                <a:ln w="15875">
                  <a:solidFill>
                    <a:srgbClr val="000000"/>
                  </a:solidFill>
                  <a:round/>
                  <a:headEnd/>
                  <a:tailEnd/>
                </a:ln>
              </p:spPr>
            </p:cxnSp>
            <p:cxnSp>
              <p:nvCxnSpPr>
                <p:cNvPr id="36" name="AutoShape 16"/>
                <p:cNvCxnSpPr>
                  <a:cxnSpLocks noChangeShapeType="1"/>
                </p:cNvCxnSpPr>
                <p:nvPr/>
              </p:nvCxnSpPr>
              <p:spPr bwMode="auto">
                <a:xfrm>
                  <a:off x="7560" y="3420"/>
                  <a:ext cx="3190" cy="0"/>
                </a:xfrm>
                <a:prstGeom prst="straightConnector1">
                  <a:avLst/>
                </a:prstGeom>
                <a:noFill/>
                <a:ln w="15875">
                  <a:solidFill>
                    <a:srgbClr val="000000"/>
                  </a:solidFill>
                  <a:round/>
                  <a:headEnd/>
                  <a:tailEnd/>
                </a:ln>
              </p:spPr>
            </p:cxnSp>
          </p:grpSp>
          <p:cxnSp>
            <p:nvCxnSpPr>
              <p:cNvPr id="14" name="Straight Connector 13"/>
              <p:cNvCxnSpPr/>
              <p:nvPr/>
            </p:nvCxnSpPr>
            <p:spPr>
              <a:xfrm>
                <a:off x="3629892" y="4371109"/>
                <a:ext cx="1898073" cy="0"/>
              </a:xfrm>
              <a:prstGeom prst="line">
                <a:avLst/>
              </a:prstGeom>
              <a:ln w="15875">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636819" y="6227618"/>
                <a:ext cx="1898073" cy="0"/>
              </a:xfrm>
              <a:prstGeom prst="line">
                <a:avLst/>
              </a:prstGeom>
              <a:ln w="15875">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2078182" y="4184073"/>
                <a:ext cx="2050473" cy="2202872"/>
              </a:xfrm>
              <a:prstGeom prst="rect">
                <a:avLst/>
              </a:prstGeom>
              <a:noFill/>
              <a:ln w="1270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477971" y="4121727"/>
                <a:ext cx="394855" cy="369332"/>
              </a:xfrm>
              <a:prstGeom prst="rect">
                <a:avLst/>
              </a:prstGeom>
              <a:noFill/>
            </p:spPr>
            <p:txBody>
              <a:bodyPr wrap="square" rtlCol="0">
                <a:spAutoFit/>
              </a:bodyPr>
              <a:lstStyle/>
              <a:p>
                <a:r>
                  <a:rPr lang="en-US" dirty="0" smtClean="0">
                    <a:latin typeface="Times New Roman" pitchFamily="18" charset="0"/>
                    <a:cs typeface="Times New Roman" pitchFamily="18" charset="0"/>
                  </a:rPr>
                  <a:t>a</a:t>
                </a:r>
                <a:endParaRPr lang="en-US" dirty="0">
                  <a:latin typeface="Times New Roman" pitchFamily="18" charset="0"/>
                  <a:cs typeface="Times New Roman" pitchFamily="18" charset="0"/>
                </a:endParaRPr>
              </a:p>
            </p:txBody>
          </p:sp>
          <p:sp>
            <p:nvSpPr>
              <p:cNvPr id="20" name="TextBox 19"/>
              <p:cNvSpPr txBox="1"/>
              <p:nvPr/>
            </p:nvSpPr>
            <p:spPr>
              <a:xfrm>
                <a:off x="484897" y="6026729"/>
                <a:ext cx="394855" cy="369332"/>
              </a:xfrm>
              <a:prstGeom prst="rect">
                <a:avLst/>
              </a:prstGeom>
              <a:noFill/>
            </p:spPr>
            <p:txBody>
              <a:bodyPr wrap="square" rtlCol="0">
                <a:spAutoFit/>
              </a:bodyPr>
              <a:lstStyle/>
              <a:p>
                <a:r>
                  <a:rPr lang="en-US" dirty="0" smtClean="0">
                    <a:latin typeface="Times New Roman" pitchFamily="18" charset="0"/>
                    <a:cs typeface="Times New Roman" pitchFamily="18" charset="0"/>
                  </a:rPr>
                  <a:t>b</a:t>
                </a:r>
                <a:endParaRPr lang="en-US" dirty="0">
                  <a:latin typeface="Times New Roman" pitchFamily="18" charset="0"/>
                  <a:cs typeface="Times New Roman" pitchFamily="18" charset="0"/>
                </a:endParaRPr>
              </a:p>
            </p:txBody>
          </p:sp>
          <p:sp>
            <p:nvSpPr>
              <p:cNvPr id="21" name="TextBox 20"/>
              <p:cNvSpPr txBox="1"/>
              <p:nvPr/>
            </p:nvSpPr>
            <p:spPr>
              <a:xfrm>
                <a:off x="5548735" y="4156366"/>
                <a:ext cx="394855" cy="369332"/>
              </a:xfrm>
              <a:prstGeom prst="rect">
                <a:avLst/>
              </a:prstGeom>
              <a:noFill/>
            </p:spPr>
            <p:txBody>
              <a:bodyPr wrap="square" rtlCol="0">
                <a:spAutoFit/>
              </a:bodyPr>
              <a:lstStyle/>
              <a:p>
                <a:r>
                  <a:rPr lang="en-US" dirty="0" smtClean="0">
                    <a:latin typeface="Times New Roman" pitchFamily="18" charset="0"/>
                    <a:cs typeface="Times New Roman" pitchFamily="18" charset="0"/>
                  </a:rPr>
                  <a:t>c</a:t>
                </a:r>
                <a:endParaRPr lang="en-US" dirty="0">
                  <a:latin typeface="Times New Roman" pitchFamily="18" charset="0"/>
                  <a:cs typeface="Times New Roman" pitchFamily="18" charset="0"/>
                </a:endParaRPr>
              </a:p>
            </p:txBody>
          </p:sp>
          <p:sp>
            <p:nvSpPr>
              <p:cNvPr id="22" name="TextBox 21"/>
              <p:cNvSpPr txBox="1"/>
              <p:nvPr/>
            </p:nvSpPr>
            <p:spPr>
              <a:xfrm>
                <a:off x="5555664" y="6012875"/>
                <a:ext cx="394855" cy="369332"/>
              </a:xfrm>
              <a:prstGeom prst="rect">
                <a:avLst/>
              </a:prstGeom>
              <a:noFill/>
            </p:spPr>
            <p:txBody>
              <a:bodyPr wrap="square" rtlCol="0">
                <a:spAutoFit/>
              </a:bodyPr>
              <a:lstStyle/>
              <a:p>
                <a:r>
                  <a:rPr lang="en-US" dirty="0" smtClean="0">
                    <a:latin typeface="Times New Roman" pitchFamily="18" charset="0"/>
                    <a:cs typeface="Times New Roman" pitchFamily="18" charset="0"/>
                  </a:rPr>
                  <a:t>d</a:t>
                </a:r>
                <a:endParaRPr lang="en-US" dirty="0">
                  <a:latin typeface="Times New Roman" pitchFamily="18" charset="0"/>
                  <a:cs typeface="Times New Roman" pitchFamily="18" charset="0"/>
                </a:endParaRPr>
              </a:p>
            </p:txBody>
          </p:sp>
          <p:sp>
            <p:nvSpPr>
              <p:cNvPr id="23" name="TextBox 22"/>
              <p:cNvSpPr txBox="1"/>
              <p:nvPr/>
            </p:nvSpPr>
            <p:spPr>
              <a:xfrm>
                <a:off x="4627829" y="4516375"/>
                <a:ext cx="588818" cy="400110"/>
              </a:xfrm>
              <a:prstGeom prst="rect">
                <a:avLst/>
              </a:prstGeom>
              <a:noFill/>
            </p:spPr>
            <p:txBody>
              <a:bodyPr wrap="square" rtlCol="0">
                <a:spAutoFit/>
              </a:bodyPr>
              <a:lstStyle/>
              <a:p>
                <a:r>
                  <a:rPr lang="en-US" sz="2000" dirty="0" err="1" smtClean="0">
                    <a:latin typeface="Times New Roman" pitchFamily="18" charset="0"/>
                    <a:cs typeface="Times New Roman" pitchFamily="18" charset="0"/>
                  </a:rPr>
                  <a:t>i</a:t>
                </a:r>
                <a:r>
                  <a:rPr lang="en-US" sz="2000" baseline="-25000" dirty="0" err="1" smtClean="0">
                    <a:latin typeface="Times New Roman" pitchFamily="18" charset="0"/>
                    <a:cs typeface="Times New Roman" pitchFamily="18" charset="0"/>
                  </a:rPr>
                  <a:t>cd</a:t>
                </a:r>
                <a:endParaRPr lang="en-US" sz="2000" baseline="-25000" dirty="0">
                  <a:latin typeface="Times New Roman" pitchFamily="18" charset="0"/>
                  <a:cs typeface="Times New Roman" pitchFamily="18" charset="0"/>
                </a:endParaRPr>
              </a:p>
            </p:txBody>
          </p:sp>
        </p:grpSp>
        <p:cxnSp>
          <p:nvCxnSpPr>
            <p:cNvPr id="45" name="Straight Arrow Connector 44"/>
            <p:cNvCxnSpPr/>
            <p:nvPr/>
          </p:nvCxnSpPr>
          <p:spPr>
            <a:xfrm rot="10800000">
              <a:off x="7723627" y="4055948"/>
              <a:ext cx="1061995"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5217520" y="4288242"/>
              <a:ext cx="526336" cy="430887"/>
            </a:xfrm>
            <a:prstGeom prst="rect">
              <a:avLst/>
            </a:prstGeom>
            <a:noFill/>
          </p:spPr>
          <p:txBody>
            <a:bodyPr wrap="square" rtlCol="0">
              <a:spAutoFit/>
            </a:bodyPr>
            <a:lstStyle/>
            <a:p>
              <a:r>
                <a:rPr lang="en-US" sz="2200" b="1" dirty="0" smtClean="0">
                  <a:latin typeface="Times New Roman" pitchFamily="18" charset="0"/>
                  <a:cs typeface="Times New Roman" pitchFamily="18" charset="0"/>
                </a:rPr>
                <a:t>+</a:t>
              </a:r>
              <a:endParaRPr lang="en-US" sz="2200" b="1" dirty="0">
                <a:latin typeface="Times New Roman" pitchFamily="18" charset="0"/>
                <a:cs typeface="Times New Roman" pitchFamily="18" charset="0"/>
              </a:endParaRPr>
            </a:p>
          </p:txBody>
        </p:sp>
        <p:sp>
          <p:nvSpPr>
            <p:cNvPr id="53" name="TextBox 52"/>
            <p:cNvSpPr txBox="1"/>
            <p:nvPr/>
          </p:nvSpPr>
          <p:spPr>
            <a:xfrm>
              <a:off x="5246288" y="4833876"/>
              <a:ext cx="526336" cy="430887"/>
            </a:xfrm>
            <a:prstGeom prst="rect">
              <a:avLst/>
            </a:prstGeom>
            <a:noFill/>
          </p:spPr>
          <p:txBody>
            <a:bodyPr wrap="square" rtlCol="0">
              <a:spAutoFit/>
            </a:bodyPr>
            <a:lstStyle/>
            <a:p>
              <a:r>
                <a:rPr lang="en-US" sz="2200" dirty="0" smtClean="0">
                  <a:latin typeface="Times New Roman" pitchFamily="18" charset="0"/>
                  <a:cs typeface="Times New Roman" pitchFamily="18" charset="0"/>
                </a:rPr>
                <a:t>-</a:t>
              </a:r>
              <a:endParaRPr lang="en-US" sz="2200" dirty="0">
                <a:latin typeface="Times New Roman" pitchFamily="18" charset="0"/>
                <a:cs typeface="Times New Roman" pitchFamily="18" charset="0"/>
              </a:endParaRPr>
            </a:p>
          </p:txBody>
        </p:sp>
        <p:grpSp>
          <p:nvGrpSpPr>
            <p:cNvPr id="46" name="Group 45"/>
            <p:cNvGrpSpPr/>
            <p:nvPr/>
          </p:nvGrpSpPr>
          <p:grpSpPr>
            <a:xfrm>
              <a:off x="5067303" y="4299858"/>
              <a:ext cx="640080" cy="1005840"/>
              <a:chOff x="9834880" y="3421888"/>
              <a:chExt cx="1875536" cy="1881632"/>
            </a:xfrm>
          </p:grpSpPr>
          <p:cxnSp>
            <p:nvCxnSpPr>
              <p:cNvPr id="47" name="Straight Connector 46"/>
              <p:cNvCxnSpPr/>
              <p:nvPr/>
            </p:nvCxnSpPr>
            <p:spPr>
              <a:xfrm rot="5400000">
                <a:off x="9838944" y="3421888"/>
                <a:ext cx="938784" cy="93878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5400000">
                <a:off x="10759440" y="4358640"/>
                <a:ext cx="938784" cy="93878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10800000">
                <a:off x="10771632" y="3423920"/>
                <a:ext cx="938784" cy="93878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10800000">
                <a:off x="9834880" y="4364736"/>
                <a:ext cx="938784" cy="93878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635" y="71414"/>
            <a:ext cx="11617555" cy="714380"/>
          </a:xfrm>
        </p:spPr>
        <p:txBody>
          <a:bodyPr>
            <a:normAutofit/>
          </a:bodyPr>
          <a:lstStyle/>
          <a:p>
            <a:r>
              <a:rPr lang="en-IN" sz="2800" dirty="0" smtClean="0">
                <a:solidFill>
                  <a:srgbClr val="00B050"/>
                </a:solidFill>
                <a:latin typeface="Times New Roman" pitchFamily="18" charset="0"/>
                <a:cs typeface="Times New Roman" pitchFamily="18" charset="0"/>
              </a:rPr>
              <a:t>BASIC TERMS AND DEFINITIONS</a:t>
            </a:r>
            <a:endParaRPr lang="en-US" sz="2800" dirty="0">
              <a:solidFill>
                <a:srgbClr val="FF0000"/>
              </a:solidFill>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smtClean="0"/>
              <a:t>syed hasan saeed</a:t>
            </a:r>
            <a:endParaRPr lang="en-US"/>
          </a:p>
        </p:txBody>
      </p:sp>
      <p:sp>
        <p:nvSpPr>
          <p:cNvPr id="6" name="Slide Number Placeholder 5"/>
          <p:cNvSpPr>
            <a:spLocks noGrp="1"/>
          </p:cNvSpPr>
          <p:nvPr>
            <p:ph type="sldNum" sz="quarter" idx="12"/>
          </p:nvPr>
        </p:nvSpPr>
        <p:spPr/>
        <p:txBody>
          <a:bodyPr/>
          <a:lstStyle/>
          <a:p>
            <a:fld id="{435E54C7-FAA8-46C1-A880-53547F97989D}" type="slidenum">
              <a:rPr lang="en-US" smtClean="0"/>
              <a:pPr/>
              <a:t>14</a:t>
            </a:fld>
            <a:endParaRPr lang="en-US"/>
          </a:p>
        </p:txBody>
      </p:sp>
      <p:sp>
        <p:nvSpPr>
          <p:cNvPr id="7" name="Content Placeholder 6"/>
          <p:cNvSpPr>
            <a:spLocks noGrp="1"/>
          </p:cNvSpPr>
          <p:nvPr>
            <p:ph idx="1"/>
          </p:nvPr>
        </p:nvSpPr>
        <p:spPr>
          <a:xfrm>
            <a:off x="190409" y="714356"/>
            <a:ext cx="11808007" cy="5643602"/>
          </a:xfrm>
        </p:spPr>
        <p:txBody>
          <a:bodyPr>
            <a:normAutofit/>
          </a:bodyPr>
          <a:lstStyle/>
          <a:p>
            <a:pPr>
              <a:lnSpc>
                <a:spcPct val="150000"/>
              </a:lnSpc>
              <a:buNone/>
            </a:pPr>
            <a:r>
              <a:rPr lang="en-US" sz="2200" dirty="0" smtClean="0">
                <a:latin typeface="Times New Roman" pitchFamily="18" charset="0"/>
                <a:cs typeface="Times New Roman" pitchFamily="18" charset="0"/>
              </a:rPr>
              <a:t> </a:t>
            </a:r>
            <a:r>
              <a:rPr lang="en-US" sz="2200" dirty="0" smtClean="0">
                <a:solidFill>
                  <a:schemeClr val="accent6">
                    <a:lumMod val="50000"/>
                  </a:schemeClr>
                </a:solidFill>
                <a:latin typeface="Times New Roman" pitchFamily="18" charset="0"/>
                <a:cs typeface="Times New Roman" pitchFamily="18" charset="0"/>
              </a:rPr>
              <a:t>(d) </a:t>
            </a:r>
            <a:r>
              <a:rPr lang="en-US" sz="2200" u="sng" dirty="0" smtClean="0">
                <a:solidFill>
                  <a:schemeClr val="accent6">
                    <a:lumMod val="50000"/>
                  </a:schemeClr>
                </a:solidFill>
                <a:latin typeface="Times New Roman" pitchFamily="18" charset="0"/>
                <a:cs typeface="Times New Roman" pitchFamily="18" charset="0"/>
              </a:rPr>
              <a:t>Current Controlled Current Source (CCCS):</a:t>
            </a:r>
          </a:p>
          <a:p>
            <a:pPr>
              <a:lnSpc>
                <a:spcPct val="150000"/>
              </a:lnSpc>
              <a:buNone/>
            </a:pPr>
            <a:r>
              <a:rPr lang="en-US" sz="2200" dirty="0" smtClean="0">
                <a:latin typeface="Times New Roman" pitchFamily="18" charset="0"/>
                <a:cs typeface="Times New Roman" pitchFamily="18" charset="0"/>
              </a:rPr>
              <a:t>Current of the dependent source, depends on the current of branch </a:t>
            </a:r>
            <a:r>
              <a:rPr lang="en-US" sz="2200" dirty="0" err="1" smtClean="0">
                <a:latin typeface="Times New Roman" pitchFamily="18" charset="0"/>
                <a:cs typeface="Times New Roman" pitchFamily="18" charset="0"/>
              </a:rPr>
              <a:t>cd</a:t>
            </a:r>
            <a:r>
              <a:rPr lang="en-US" sz="2200" dirty="0" smtClean="0">
                <a:latin typeface="Times New Roman" pitchFamily="18" charset="0"/>
                <a:cs typeface="Times New Roman" pitchFamily="18" charset="0"/>
              </a:rPr>
              <a:t>.</a:t>
            </a:r>
          </a:p>
          <a:p>
            <a:pPr>
              <a:lnSpc>
                <a:spcPct val="150000"/>
              </a:lnSpc>
              <a:buNone/>
            </a:pP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i</a:t>
            </a:r>
            <a:r>
              <a:rPr lang="en-US" sz="2200" baseline="-25000" dirty="0" err="1" smtClean="0">
                <a:latin typeface="Times New Roman" pitchFamily="18" charset="0"/>
                <a:cs typeface="Times New Roman" pitchFamily="18" charset="0"/>
              </a:rPr>
              <a:t>ab</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i</a:t>
            </a:r>
            <a:r>
              <a:rPr lang="en-US" sz="2200" baseline="-25000" dirty="0" err="1" smtClean="0">
                <a:latin typeface="Times New Roman" pitchFamily="18" charset="0"/>
                <a:cs typeface="Times New Roman" pitchFamily="18" charset="0"/>
              </a:rPr>
              <a:t>ab</a:t>
            </a:r>
            <a:r>
              <a:rPr lang="en-US" sz="2200" dirty="0" smtClean="0">
                <a:latin typeface="Times New Roman" pitchFamily="18" charset="0"/>
                <a:cs typeface="Times New Roman" pitchFamily="18" charset="0"/>
              </a:rPr>
              <a:t>                 or,       </a:t>
            </a:r>
            <a:r>
              <a:rPr lang="en-US" sz="2200" dirty="0" err="1" smtClean="0">
                <a:latin typeface="Times New Roman" pitchFamily="18" charset="0"/>
                <a:cs typeface="Times New Roman" pitchFamily="18" charset="0"/>
              </a:rPr>
              <a:t>i</a:t>
            </a:r>
            <a:r>
              <a:rPr lang="en-US" sz="2200" baseline="-25000" dirty="0" err="1" smtClean="0">
                <a:latin typeface="Times New Roman" pitchFamily="18" charset="0"/>
                <a:cs typeface="Times New Roman" pitchFamily="18" charset="0"/>
              </a:rPr>
              <a:t>ab</a:t>
            </a:r>
            <a:r>
              <a:rPr lang="en-US" sz="2200" dirty="0" smtClean="0">
                <a:latin typeface="Times New Roman" pitchFamily="18" charset="0"/>
                <a:cs typeface="Times New Roman" pitchFamily="18" charset="0"/>
              </a:rPr>
              <a:t> = </a:t>
            </a:r>
            <a:r>
              <a:rPr lang="el-GR" sz="2200" dirty="0" smtClean="0">
                <a:latin typeface="Times New Roman" pitchFamily="18" charset="0"/>
                <a:cs typeface="Times New Roman" pitchFamily="18" charset="0"/>
              </a:rPr>
              <a:t>β</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i</a:t>
            </a:r>
            <a:r>
              <a:rPr lang="en-US" sz="2200" baseline="-25000" dirty="0" err="1" smtClean="0">
                <a:latin typeface="Times New Roman" pitchFamily="18" charset="0"/>
                <a:cs typeface="Times New Roman" pitchFamily="18" charset="0"/>
              </a:rPr>
              <a:t>ab</a:t>
            </a:r>
            <a:r>
              <a:rPr lang="en-US" sz="2200" dirty="0" smtClean="0">
                <a:latin typeface="Times New Roman" pitchFamily="18" charset="0"/>
                <a:cs typeface="Times New Roman" pitchFamily="18" charset="0"/>
              </a:rPr>
              <a:t>      </a:t>
            </a:r>
          </a:p>
          <a:p>
            <a:pPr>
              <a:lnSpc>
                <a:spcPct val="150000"/>
              </a:lnSpc>
              <a:buNone/>
            </a:pPr>
            <a:r>
              <a:rPr lang="en-US" sz="2200" dirty="0" smtClean="0">
                <a:latin typeface="Times New Roman" pitchFamily="18" charset="0"/>
                <a:cs typeface="Times New Roman" pitchFamily="18" charset="0"/>
              </a:rPr>
              <a:t>              </a:t>
            </a:r>
            <a:r>
              <a:rPr lang="en-US" sz="1800" dirty="0" smtClean="0">
                <a:latin typeface="Times New Roman" pitchFamily="18" charset="0"/>
                <a:cs typeface="Times New Roman" pitchFamily="18" charset="0"/>
              </a:rPr>
              <a:t>where ‘</a:t>
            </a:r>
            <a:r>
              <a:rPr lang="el-GR" sz="1800" dirty="0" smtClean="0">
                <a:latin typeface="Times New Roman" pitchFamily="18" charset="0"/>
                <a:cs typeface="Times New Roman" pitchFamily="18" charset="0"/>
              </a:rPr>
              <a:t>β</a:t>
            </a:r>
            <a:r>
              <a:rPr lang="en-US" sz="1800" dirty="0" smtClean="0">
                <a:latin typeface="Times New Roman" pitchFamily="18" charset="0"/>
                <a:cs typeface="Times New Roman" pitchFamily="18" charset="0"/>
              </a:rPr>
              <a:t>’ = is dimensionless constant.</a:t>
            </a:r>
            <a:endParaRPr lang="en-US" sz="1800" dirty="0">
              <a:latin typeface="Times New Roman" pitchFamily="18" charset="0"/>
              <a:cs typeface="Times New Roman" pitchFamily="18" charset="0"/>
            </a:endParaRPr>
          </a:p>
        </p:txBody>
      </p:sp>
      <p:graphicFrame>
        <p:nvGraphicFramePr>
          <p:cNvPr id="8" name="Object 7"/>
          <p:cNvGraphicFramePr>
            <a:graphicFrameLocks noChangeAspect="1"/>
          </p:cNvGraphicFramePr>
          <p:nvPr/>
        </p:nvGraphicFramePr>
        <p:xfrm>
          <a:off x="6018233" y="3321050"/>
          <a:ext cx="152360" cy="215900"/>
        </p:xfrm>
        <a:graphic>
          <a:graphicData uri="http://schemas.openxmlformats.org/presentationml/2006/ole">
            <p:oleObj spid="_x0000_s56322" name="Equation" r:id="rId3" imgW="114120" imgH="215640" progId="Equation.3">
              <p:embed/>
            </p:oleObj>
          </a:graphicData>
        </a:graphic>
      </p:graphicFrame>
      <p:sp>
        <p:nvSpPr>
          <p:cNvPr id="44" name="Rectangle 43"/>
          <p:cNvSpPr/>
          <p:nvPr/>
        </p:nvSpPr>
        <p:spPr>
          <a:xfrm>
            <a:off x="1679192" y="1976021"/>
            <a:ext cx="319318" cy="400110"/>
          </a:xfrm>
          <a:prstGeom prst="rect">
            <a:avLst/>
          </a:prstGeom>
        </p:spPr>
        <p:txBody>
          <a:bodyPr wrap="none">
            <a:spAutoFit/>
          </a:bodyPr>
          <a:lstStyle/>
          <a:p>
            <a:r>
              <a:rPr lang="el-GR" sz="2000" dirty="0" smtClean="0">
                <a:latin typeface="Times New Roman" pitchFamily="18" charset="0"/>
                <a:cs typeface="Times New Roman" pitchFamily="18" charset="0"/>
              </a:rPr>
              <a:t>α</a:t>
            </a:r>
            <a:endParaRPr lang="en-US" sz="2000" dirty="0"/>
          </a:p>
        </p:txBody>
      </p:sp>
      <p:sp>
        <p:nvSpPr>
          <p:cNvPr id="52" name="TextBox 51"/>
          <p:cNvSpPr txBox="1"/>
          <p:nvPr/>
        </p:nvSpPr>
        <p:spPr>
          <a:xfrm>
            <a:off x="8345121" y="5931871"/>
            <a:ext cx="2504140" cy="369332"/>
          </a:xfrm>
          <a:prstGeom prst="rect">
            <a:avLst/>
          </a:prstGeom>
          <a:noFill/>
        </p:spPr>
        <p:txBody>
          <a:bodyPr wrap="square" rtlCol="0">
            <a:spAutoFit/>
          </a:bodyPr>
          <a:lstStyle/>
          <a:p>
            <a:r>
              <a:rPr lang="en-US" dirty="0" smtClean="0">
                <a:latin typeface="Times New Roman" pitchFamily="18" charset="0"/>
                <a:cs typeface="Times New Roman" pitchFamily="18" charset="0"/>
              </a:rPr>
              <a:t>Fig.4: CCCS</a:t>
            </a:r>
            <a:endParaRPr lang="en-US" dirty="0">
              <a:latin typeface="Times New Roman" pitchFamily="18" charset="0"/>
              <a:cs typeface="Times New Roman" pitchFamily="18" charset="0"/>
            </a:endParaRPr>
          </a:p>
        </p:txBody>
      </p:sp>
      <p:grpSp>
        <p:nvGrpSpPr>
          <p:cNvPr id="45" name="Group 44"/>
          <p:cNvGrpSpPr/>
          <p:nvPr/>
        </p:nvGrpSpPr>
        <p:grpSpPr>
          <a:xfrm>
            <a:off x="1542193" y="3361205"/>
            <a:ext cx="7294830" cy="2274334"/>
            <a:chOff x="1542193" y="3361205"/>
            <a:chExt cx="7294830" cy="2274334"/>
          </a:xfrm>
        </p:grpSpPr>
        <p:grpSp>
          <p:nvGrpSpPr>
            <p:cNvPr id="9" name="Group 8"/>
            <p:cNvGrpSpPr/>
            <p:nvPr/>
          </p:nvGrpSpPr>
          <p:grpSpPr>
            <a:xfrm>
              <a:off x="1542193" y="3361205"/>
              <a:ext cx="7294830" cy="2274334"/>
              <a:chOff x="477971" y="4121727"/>
              <a:chExt cx="5472548" cy="2274334"/>
            </a:xfrm>
          </p:grpSpPr>
          <p:grpSp>
            <p:nvGrpSpPr>
              <p:cNvPr id="10" name="Group 21"/>
              <p:cNvGrpSpPr/>
              <p:nvPr/>
            </p:nvGrpSpPr>
            <p:grpSpPr>
              <a:xfrm>
                <a:off x="2700844" y="4344194"/>
                <a:ext cx="1589" cy="1888671"/>
                <a:chOff x="1765662" y="4344194"/>
                <a:chExt cx="1589" cy="1888671"/>
              </a:xfrm>
            </p:grpSpPr>
            <p:cxnSp>
              <p:nvCxnSpPr>
                <p:cNvPr id="38" name="Straight Connector 37"/>
                <p:cNvCxnSpPr/>
                <p:nvPr/>
              </p:nvCxnSpPr>
              <p:spPr>
                <a:xfrm rot="5400000" flipH="1" flipV="1">
                  <a:off x="1544783" y="4565073"/>
                  <a:ext cx="443345"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5400000" flipH="1" flipV="1">
                  <a:off x="1544784" y="6010399"/>
                  <a:ext cx="443345"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Straight Connector 10"/>
              <p:cNvCxnSpPr/>
              <p:nvPr/>
            </p:nvCxnSpPr>
            <p:spPr>
              <a:xfrm rot="10800000">
                <a:off x="810492" y="4350327"/>
                <a:ext cx="1898073" cy="0"/>
              </a:xfrm>
              <a:prstGeom prst="line">
                <a:avLst/>
              </a:prstGeom>
              <a:ln w="15875">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0800000">
                <a:off x="803566" y="6241473"/>
                <a:ext cx="1898073" cy="0"/>
              </a:xfrm>
              <a:prstGeom prst="line">
                <a:avLst/>
              </a:prstGeom>
              <a:ln w="15875">
                <a:solidFill>
                  <a:schemeClr val="tx1"/>
                </a:solidFill>
                <a:tailEnd type="oval"/>
              </a:ln>
            </p:spPr>
            <p:style>
              <a:lnRef idx="1">
                <a:schemeClr val="accent1"/>
              </a:lnRef>
              <a:fillRef idx="0">
                <a:schemeClr val="accent1"/>
              </a:fillRef>
              <a:effectRef idx="0">
                <a:schemeClr val="accent1"/>
              </a:effectRef>
              <a:fontRef idx="minor">
                <a:schemeClr val="tx1"/>
              </a:fontRef>
            </p:style>
          </p:cxnSp>
          <p:grpSp>
            <p:nvGrpSpPr>
              <p:cNvPr id="13" name="Group 4"/>
              <p:cNvGrpSpPr>
                <a:grpSpLocks/>
              </p:cNvGrpSpPr>
              <p:nvPr/>
            </p:nvGrpSpPr>
            <p:grpSpPr bwMode="auto">
              <a:xfrm rot="5400000">
                <a:off x="2700583" y="5113430"/>
                <a:ext cx="1865615" cy="360218"/>
                <a:chOff x="-98" y="2700"/>
                <a:chExt cx="10848" cy="1440"/>
              </a:xfrm>
            </p:grpSpPr>
            <p:cxnSp>
              <p:nvCxnSpPr>
                <p:cNvPr id="25" name="AutoShape 5"/>
                <p:cNvCxnSpPr>
                  <a:cxnSpLocks noChangeShapeType="1"/>
                </p:cNvCxnSpPr>
                <p:nvPr/>
              </p:nvCxnSpPr>
              <p:spPr bwMode="auto">
                <a:xfrm flipV="1">
                  <a:off x="3240" y="2700"/>
                  <a:ext cx="360" cy="720"/>
                </a:xfrm>
                <a:prstGeom prst="straightConnector1">
                  <a:avLst/>
                </a:prstGeom>
                <a:noFill/>
                <a:ln w="15875">
                  <a:solidFill>
                    <a:srgbClr val="000000"/>
                  </a:solidFill>
                  <a:round/>
                  <a:headEnd/>
                  <a:tailEnd/>
                </a:ln>
              </p:spPr>
            </p:cxnSp>
            <p:cxnSp>
              <p:nvCxnSpPr>
                <p:cNvPr id="26" name="AutoShape 6"/>
                <p:cNvCxnSpPr>
                  <a:cxnSpLocks noChangeShapeType="1"/>
                </p:cNvCxnSpPr>
                <p:nvPr/>
              </p:nvCxnSpPr>
              <p:spPr bwMode="auto">
                <a:xfrm>
                  <a:off x="3600" y="2700"/>
                  <a:ext cx="720" cy="1440"/>
                </a:xfrm>
                <a:prstGeom prst="straightConnector1">
                  <a:avLst/>
                </a:prstGeom>
                <a:noFill/>
                <a:ln w="15875">
                  <a:solidFill>
                    <a:srgbClr val="000000"/>
                  </a:solidFill>
                  <a:round/>
                  <a:headEnd/>
                  <a:tailEnd/>
                </a:ln>
              </p:spPr>
            </p:cxnSp>
            <p:cxnSp>
              <p:nvCxnSpPr>
                <p:cNvPr id="27" name="AutoShape 7"/>
                <p:cNvCxnSpPr>
                  <a:cxnSpLocks noChangeShapeType="1"/>
                </p:cNvCxnSpPr>
                <p:nvPr/>
              </p:nvCxnSpPr>
              <p:spPr bwMode="auto">
                <a:xfrm flipV="1">
                  <a:off x="4320" y="2700"/>
                  <a:ext cx="720" cy="1440"/>
                </a:xfrm>
                <a:prstGeom prst="straightConnector1">
                  <a:avLst/>
                </a:prstGeom>
                <a:noFill/>
                <a:ln w="15875">
                  <a:solidFill>
                    <a:srgbClr val="000000"/>
                  </a:solidFill>
                  <a:round/>
                  <a:headEnd/>
                  <a:tailEnd/>
                </a:ln>
              </p:spPr>
            </p:cxnSp>
            <p:cxnSp>
              <p:nvCxnSpPr>
                <p:cNvPr id="28" name="AutoShape 8"/>
                <p:cNvCxnSpPr>
                  <a:cxnSpLocks noChangeShapeType="1"/>
                </p:cNvCxnSpPr>
                <p:nvPr/>
              </p:nvCxnSpPr>
              <p:spPr bwMode="auto">
                <a:xfrm flipH="1" flipV="1">
                  <a:off x="5040" y="2700"/>
                  <a:ext cx="720" cy="1440"/>
                </a:xfrm>
                <a:prstGeom prst="straightConnector1">
                  <a:avLst/>
                </a:prstGeom>
                <a:noFill/>
                <a:ln w="15875">
                  <a:solidFill>
                    <a:srgbClr val="000000"/>
                  </a:solidFill>
                  <a:round/>
                  <a:headEnd/>
                  <a:tailEnd/>
                </a:ln>
              </p:spPr>
            </p:cxnSp>
            <p:cxnSp>
              <p:nvCxnSpPr>
                <p:cNvPr id="29" name="AutoShape 9"/>
                <p:cNvCxnSpPr>
                  <a:cxnSpLocks noChangeShapeType="1"/>
                </p:cNvCxnSpPr>
                <p:nvPr/>
              </p:nvCxnSpPr>
              <p:spPr bwMode="auto">
                <a:xfrm flipH="1">
                  <a:off x="5760" y="2700"/>
                  <a:ext cx="720" cy="1440"/>
                </a:xfrm>
                <a:prstGeom prst="straightConnector1">
                  <a:avLst/>
                </a:prstGeom>
                <a:noFill/>
                <a:ln w="15875">
                  <a:solidFill>
                    <a:srgbClr val="000000"/>
                  </a:solidFill>
                  <a:round/>
                  <a:headEnd/>
                  <a:tailEnd/>
                </a:ln>
              </p:spPr>
            </p:cxnSp>
            <p:cxnSp>
              <p:nvCxnSpPr>
                <p:cNvPr id="30" name="AutoShape 10"/>
                <p:cNvCxnSpPr>
                  <a:cxnSpLocks noChangeShapeType="1"/>
                </p:cNvCxnSpPr>
                <p:nvPr/>
              </p:nvCxnSpPr>
              <p:spPr bwMode="auto">
                <a:xfrm flipH="1" flipV="1">
                  <a:off x="6480" y="2700"/>
                  <a:ext cx="720" cy="1440"/>
                </a:xfrm>
                <a:prstGeom prst="straightConnector1">
                  <a:avLst/>
                </a:prstGeom>
                <a:noFill/>
                <a:ln w="15875">
                  <a:solidFill>
                    <a:srgbClr val="000000"/>
                  </a:solidFill>
                  <a:round/>
                  <a:headEnd/>
                  <a:tailEnd/>
                </a:ln>
              </p:spPr>
            </p:cxnSp>
            <p:cxnSp>
              <p:nvCxnSpPr>
                <p:cNvPr id="31" name="AutoShape 11"/>
                <p:cNvCxnSpPr>
                  <a:cxnSpLocks noChangeShapeType="1"/>
                </p:cNvCxnSpPr>
                <p:nvPr/>
              </p:nvCxnSpPr>
              <p:spPr bwMode="auto">
                <a:xfrm>
                  <a:off x="2520" y="3420"/>
                  <a:ext cx="720" cy="0"/>
                </a:xfrm>
                <a:prstGeom prst="straightConnector1">
                  <a:avLst/>
                </a:prstGeom>
                <a:noFill/>
                <a:ln w="15875">
                  <a:solidFill>
                    <a:srgbClr val="000000"/>
                  </a:solidFill>
                  <a:round/>
                  <a:headEnd/>
                  <a:tailEnd/>
                </a:ln>
              </p:spPr>
            </p:cxnSp>
            <p:cxnSp>
              <p:nvCxnSpPr>
                <p:cNvPr id="32" name="AutoShape 12"/>
                <p:cNvCxnSpPr>
                  <a:cxnSpLocks noChangeShapeType="1"/>
                </p:cNvCxnSpPr>
                <p:nvPr/>
              </p:nvCxnSpPr>
              <p:spPr bwMode="auto">
                <a:xfrm flipV="1">
                  <a:off x="3240" y="2700"/>
                  <a:ext cx="360" cy="720"/>
                </a:xfrm>
                <a:prstGeom prst="straightConnector1">
                  <a:avLst/>
                </a:prstGeom>
                <a:noFill/>
                <a:ln w="15875">
                  <a:solidFill>
                    <a:srgbClr val="000000"/>
                  </a:solidFill>
                  <a:round/>
                  <a:headEnd/>
                  <a:tailEnd/>
                </a:ln>
              </p:spPr>
            </p:cxnSp>
            <p:cxnSp>
              <p:nvCxnSpPr>
                <p:cNvPr id="33" name="AutoShape 13"/>
                <p:cNvCxnSpPr>
                  <a:cxnSpLocks noChangeShapeType="1"/>
                </p:cNvCxnSpPr>
                <p:nvPr/>
              </p:nvCxnSpPr>
              <p:spPr bwMode="auto">
                <a:xfrm>
                  <a:off x="3600" y="2700"/>
                  <a:ext cx="720" cy="1440"/>
                </a:xfrm>
                <a:prstGeom prst="straightConnector1">
                  <a:avLst/>
                </a:prstGeom>
                <a:noFill/>
                <a:ln w="15875">
                  <a:solidFill>
                    <a:srgbClr val="000000"/>
                  </a:solidFill>
                  <a:round/>
                  <a:headEnd/>
                  <a:tailEnd/>
                </a:ln>
              </p:spPr>
            </p:cxnSp>
            <p:cxnSp>
              <p:nvCxnSpPr>
                <p:cNvPr id="34" name="AutoShape 14"/>
                <p:cNvCxnSpPr>
                  <a:cxnSpLocks noChangeShapeType="1"/>
                </p:cNvCxnSpPr>
                <p:nvPr/>
              </p:nvCxnSpPr>
              <p:spPr bwMode="auto">
                <a:xfrm>
                  <a:off x="-98" y="3420"/>
                  <a:ext cx="3190" cy="0"/>
                </a:xfrm>
                <a:prstGeom prst="straightConnector1">
                  <a:avLst/>
                </a:prstGeom>
                <a:noFill/>
                <a:ln w="15875">
                  <a:solidFill>
                    <a:srgbClr val="000000"/>
                  </a:solidFill>
                  <a:round/>
                  <a:headEnd/>
                  <a:tailEnd/>
                </a:ln>
              </p:spPr>
            </p:cxnSp>
            <p:cxnSp>
              <p:nvCxnSpPr>
                <p:cNvPr id="35" name="AutoShape 15"/>
                <p:cNvCxnSpPr>
                  <a:cxnSpLocks noChangeShapeType="1"/>
                </p:cNvCxnSpPr>
                <p:nvPr/>
              </p:nvCxnSpPr>
              <p:spPr bwMode="auto">
                <a:xfrm flipV="1">
                  <a:off x="7200" y="3420"/>
                  <a:ext cx="360" cy="720"/>
                </a:xfrm>
                <a:prstGeom prst="straightConnector1">
                  <a:avLst/>
                </a:prstGeom>
                <a:noFill/>
                <a:ln w="15875">
                  <a:solidFill>
                    <a:srgbClr val="000000"/>
                  </a:solidFill>
                  <a:round/>
                  <a:headEnd/>
                  <a:tailEnd/>
                </a:ln>
              </p:spPr>
            </p:cxnSp>
            <p:cxnSp>
              <p:nvCxnSpPr>
                <p:cNvPr id="36" name="AutoShape 16"/>
                <p:cNvCxnSpPr>
                  <a:cxnSpLocks noChangeShapeType="1"/>
                </p:cNvCxnSpPr>
                <p:nvPr/>
              </p:nvCxnSpPr>
              <p:spPr bwMode="auto">
                <a:xfrm>
                  <a:off x="7560" y="3420"/>
                  <a:ext cx="3190" cy="0"/>
                </a:xfrm>
                <a:prstGeom prst="straightConnector1">
                  <a:avLst/>
                </a:prstGeom>
                <a:noFill/>
                <a:ln w="15875">
                  <a:solidFill>
                    <a:srgbClr val="000000"/>
                  </a:solidFill>
                  <a:round/>
                  <a:headEnd/>
                  <a:tailEnd/>
                </a:ln>
              </p:spPr>
            </p:cxnSp>
          </p:grpSp>
          <p:cxnSp>
            <p:nvCxnSpPr>
              <p:cNvPr id="14" name="Straight Connector 13"/>
              <p:cNvCxnSpPr/>
              <p:nvPr/>
            </p:nvCxnSpPr>
            <p:spPr>
              <a:xfrm>
                <a:off x="3629892" y="4371109"/>
                <a:ext cx="1898073" cy="0"/>
              </a:xfrm>
              <a:prstGeom prst="line">
                <a:avLst/>
              </a:prstGeom>
              <a:ln w="15875">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636819" y="6227618"/>
                <a:ext cx="1898073" cy="0"/>
              </a:xfrm>
              <a:prstGeom prst="line">
                <a:avLst/>
              </a:prstGeom>
              <a:ln w="15875">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2078182" y="4184073"/>
                <a:ext cx="2050473" cy="2202872"/>
              </a:xfrm>
              <a:prstGeom prst="rect">
                <a:avLst/>
              </a:prstGeom>
              <a:noFill/>
              <a:ln w="1270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477971" y="4121727"/>
                <a:ext cx="394855" cy="369332"/>
              </a:xfrm>
              <a:prstGeom prst="rect">
                <a:avLst/>
              </a:prstGeom>
              <a:noFill/>
            </p:spPr>
            <p:txBody>
              <a:bodyPr wrap="square" rtlCol="0">
                <a:spAutoFit/>
              </a:bodyPr>
              <a:lstStyle/>
              <a:p>
                <a:r>
                  <a:rPr lang="en-US" dirty="0" smtClean="0">
                    <a:latin typeface="Times New Roman" pitchFamily="18" charset="0"/>
                    <a:cs typeface="Times New Roman" pitchFamily="18" charset="0"/>
                  </a:rPr>
                  <a:t>a</a:t>
                </a:r>
                <a:endParaRPr lang="en-US" dirty="0">
                  <a:latin typeface="Times New Roman" pitchFamily="18" charset="0"/>
                  <a:cs typeface="Times New Roman" pitchFamily="18" charset="0"/>
                </a:endParaRPr>
              </a:p>
            </p:txBody>
          </p:sp>
          <p:sp>
            <p:nvSpPr>
              <p:cNvPr id="20" name="TextBox 19"/>
              <p:cNvSpPr txBox="1"/>
              <p:nvPr/>
            </p:nvSpPr>
            <p:spPr>
              <a:xfrm>
                <a:off x="484897" y="6026729"/>
                <a:ext cx="394855" cy="369332"/>
              </a:xfrm>
              <a:prstGeom prst="rect">
                <a:avLst/>
              </a:prstGeom>
              <a:noFill/>
            </p:spPr>
            <p:txBody>
              <a:bodyPr wrap="square" rtlCol="0">
                <a:spAutoFit/>
              </a:bodyPr>
              <a:lstStyle/>
              <a:p>
                <a:r>
                  <a:rPr lang="en-US" dirty="0" smtClean="0">
                    <a:latin typeface="Times New Roman" pitchFamily="18" charset="0"/>
                    <a:cs typeface="Times New Roman" pitchFamily="18" charset="0"/>
                  </a:rPr>
                  <a:t>b</a:t>
                </a:r>
                <a:endParaRPr lang="en-US" dirty="0">
                  <a:latin typeface="Times New Roman" pitchFamily="18" charset="0"/>
                  <a:cs typeface="Times New Roman" pitchFamily="18" charset="0"/>
                </a:endParaRPr>
              </a:p>
            </p:txBody>
          </p:sp>
          <p:sp>
            <p:nvSpPr>
              <p:cNvPr id="21" name="TextBox 20"/>
              <p:cNvSpPr txBox="1"/>
              <p:nvPr/>
            </p:nvSpPr>
            <p:spPr>
              <a:xfrm>
                <a:off x="5548735" y="4156366"/>
                <a:ext cx="394855" cy="369332"/>
              </a:xfrm>
              <a:prstGeom prst="rect">
                <a:avLst/>
              </a:prstGeom>
              <a:noFill/>
            </p:spPr>
            <p:txBody>
              <a:bodyPr wrap="square" rtlCol="0">
                <a:spAutoFit/>
              </a:bodyPr>
              <a:lstStyle/>
              <a:p>
                <a:r>
                  <a:rPr lang="en-US" dirty="0" smtClean="0">
                    <a:latin typeface="Times New Roman" pitchFamily="18" charset="0"/>
                    <a:cs typeface="Times New Roman" pitchFamily="18" charset="0"/>
                  </a:rPr>
                  <a:t>c</a:t>
                </a:r>
                <a:endParaRPr lang="en-US" dirty="0">
                  <a:latin typeface="Times New Roman" pitchFamily="18" charset="0"/>
                  <a:cs typeface="Times New Roman" pitchFamily="18" charset="0"/>
                </a:endParaRPr>
              </a:p>
            </p:txBody>
          </p:sp>
          <p:sp>
            <p:nvSpPr>
              <p:cNvPr id="22" name="TextBox 21"/>
              <p:cNvSpPr txBox="1"/>
              <p:nvPr/>
            </p:nvSpPr>
            <p:spPr>
              <a:xfrm>
                <a:off x="5555664" y="6012875"/>
                <a:ext cx="394855" cy="369332"/>
              </a:xfrm>
              <a:prstGeom prst="rect">
                <a:avLst/>
              </a:prstGeom>
              <a:noFill/>
            </p:spPr>
            <p:txBody>
              <a:bodyPr wrap="square" rtlCol="0">
                <a:spAutoFit/>
              </a:bodyPr>
              <a:lstStyle/>
              <a:p>
                <a:r>
                  <a:rPr lang="en-US" dirty="0" smtClean="0">
                    <a:latin typeface="Times New Roman" pitchFamily="18" charset="0"/>
                    <a:cs typeface="Times New Roman" pitchFamily="18" charset="0"/>
                  </a:rPr>
                  <a:t>d</a:t>
                </a:r>
                <a:endParaRPr lang="en-US" dirty="0">
                  <a:latin typeface="Times New Roman" pitchFamily="18" charset="0"/>
                  <a:cs typeface="Times New Roman" pitchFamily="18" charset="0"/>
                </a:endParaRPr>
              </a:p>
            </p:txBody>
          </p:sp>
          <p:sp>
            <p:nvSpPr>
              <p:cNvPr id="23" name="TextBox 22"/>
              <p:cNvSpPr txBox="1"/>
              <p:nvPr/>
            </p:nvSpPr>
            <p:spPr>
              <a:xfrm>
                <a:off x="4700252" y="4434900"/>
                <a:ext cx="588818" cy="400110"/>
              </a:xfrm>
              <a:prstGeom prst="rect">
                <a:avLst/>
              </a:prstGeom>
              <a:noFill/>
            </p:spPr>
            <p:txBody>
              <a:bodyPr wrap="square" rtlCol="0">
                <a:spAutoFit/>
              </a:bodyPr>
              <a:lstStyle/>
              <a:p>
                <a:r>
                  <a:rPr lang="en-US" sz="2000" dirty="0" err="1" smtClean="0">
                    <a:latin typeface="Times New Roman" pitchFamily="18" charset="0"/>
                    <a:cs typeface="Times New Roman" pitchFamily="18" charset="0"/>
                  </a:rPr>
                  <a:t>i</a:t>
                </a:r>
                <a:r>
                  <a:rPr lang="en-US" sz="2000" baseline="-25000" dirty="0" err="1" smtClean="0">
                    <a:latin typeface="Times New Roman" pitchFamily="18" charset="0"/>
                    <a:cs typeface="Times New Roman" pitchFamily="18" charset="0"/>
                  </a:rPr>
                  <a:t>cd</a:t>
                </a:r>
                <a:endParaRPr lang="en-US" sz="2000" baseline="-25000" dirty="0">
                  <a:latin typeface="Times New Roman" pitchFamily="18" charset="0"/>
                  <a:cs typeface="Times New Roman" pitchFamily="18" charset="0"/>
                </a:endParaRPr>
              </a:p>
            </p:txBody>
          </p:sp>
        </p:grpSp>
        <p:cxnSp>
          <p:nvCxnSpPr>
            <p:cNvPr id="46" name="Straight Arrow Connector 45"/>
            <p:cNvCxnSpPr/>
            <p:nvPr/>
          </p:nvCxnSpPr>
          <p:spPr>
            <a:xfrm rot="5400000">
              <a:off x="4226796" y="4529753"/>
              <a:ext cx="561315" cy="1206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2622113" y="3682470"/>
              <a:ext cx="784886" cy="400110"/>
            </a:xfrm>
            <a:prstGeom prst="rect">
              <a:avLst/>
            </a:prstGeom>
            <a:noFill/>
          </p:spPr>
          <p:txBody>
            <a:bodyPr wrap="square" rtlCol="0">
              <a:spAutoFit/>
            </a:bodyPr>
            <a:lstStyle/>
            <a:p>
              <a:r>
                <a:rPr lang="en-US" sz="2000" dirty="0" err="1" smtClean="0">
                  <a:latin typeface="Times New Roman" pitchFamily="18" charset="0"/>
                  <a:cs typeface="Times New Roman" pitchFamily="18" charset="0"/>
                </a:rPr>
                <a:t>i</a:t>
              </a:r>
              <a:r>
                <a:rPr lang="en-US" sz="2000" baseline="-25000" dirty="0" err="1" smtClean="0">
                  <a:latin typeface="Times New Roman" pitchFamily="18" charset="0"/>
                  <a:cs typeface="Times New Roman" pitchFamily="18" charset="0"/>
                </a:rPr>
                <a:t>ab</a:t>
              </a:r>
              <a:endParaRPr lang="en-US" sz="2000" baseline="-25000" dirty="0">
                <a:latin typeface="Times New Roman" pitchFamily="18" charset="0"/>
                <a:cs typeface="Times New Roman" pitchFamily="18" charset="0"/>
              </a:endParaRPr>
            </a:p>
          </p:txBody>
        </p:sp>
        <p:cxnSp>
          <p:nvCxnSpPr>
            <p:cNvPr id="49" name="Straight Arrow Connector 48"/>
            <p:cNvCxnSpPr/>
            <p:nvPr/>
          </p:nvCxnSpPr>
          <p:spPr>
            <a:xfrm>
              <a:off x="2365357" y="3720974"/>
              <a:ext cx="97752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rot="10800000">
              <a:off x="6842639" y="3730030"/>
              <a:ext cx="1061997"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a:xfrm>
              <a:off x="4185560" y="4022274"/>
              <a:ext cx="640080" cy="1005840"/>
              <a:chOff x="9834880" y="3421888"/>
              <a:chExt cx="1875536" cy="1881632"/>
            </a:xfrm>
          </p:grpSpPr>
          <p:cxnSp>
            <p:nvCxnSpPr>
              <p:cNvPr id="50" name="Straight Connector 49"/>
              <p:cNvCxnSpPr/>
              <p:nvPr/>
            </p:nvCxnSpPr>
            <p:spPr>
              <a:xfrm rot="5400000">
                <a:off x="9838944" y="3421888"/>
                <a:ext cx="938784" cy="93878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5400000">
                <a:off x="10759440" y="4358640"/>
                <a:ext cx="938784" cy="93878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rot="10800000">
                <a:off x="10771632" y="3423920"/>
                <a:ext cx="938784" cy="93878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rot="10800000">
                <a:off x="9834880" y="4364736"/>
                <a:ext cx="938784" cy="93878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635" y="71414"/>
            <a:ext cx="11617555" cy="714380"/>
          </a:xfrm>
        </p:spPr>
        <p:txBody>
          <a:bodyPr>
            <a:normAutofit/>
          </a:bodyPr>
          <a:lstStyle/>
          <a:p>
            <a:r>
              <a:rPr lang="en-IN" sz="2800" dirty="0" smtClean="0">
                <a:solidFill>
                  <a:srgbClr val="00B050"/>
                </a:solidFill>
                <a:latin typeface="Times New Roman" pitchFamily="18" charset="0"/>
                <a:cs typeface="Times New Roman" pitchFamily="18" charset="0"/>
              </a:rPr>
              <a:t>BASIC TERMS AND DEFINITIONS</a:t>
            </a:r>
            <a:endParaRPr lang="en-US" sz="2800" dirty="0">
              <a:solidFill>
                <a:srgbClr val="FF0000"/>
              </a:solidFill>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smtClean="0"/>
              <a:t>syed hasan saeed</a:t>
            </a:r>
            <a:endParaRPr lang="en-US"/>
          </a:p>
        </p:txBody>
      </p:sp>
      <p:sp>
        <p:nvSpPr>
          <p:cNvPr id="6" name="Slide Number Placeholder 5"/>
          <p:cNvSpPr>
            <a:spLocks noGrp="1"/>
          </p:cNvSpPr>
          <p:nvPr>
            <p:ph type="sldNum" sz="quarter" idx="12"/>
          </p:nvPr>
        </p:nvSpPr>
        <p:spPr/>
        <p:txBody>
          <a:bodyPr/>
          <a:lstStyle/>
          <a:p>
            <a:fld id="{435E54C7-FAA8-46C1-A880-53547F97989D}" type="slidenum">
              <a:rPr lang="en-US" smtClean="0"/>
              <a:pPr/>
              <a:t>15</a:t>
            </a:fld>
            <a:endParaRPr lang="en-US"/>
          </a:p>
        </p:txBody>
      </p:sp>
      <p:sp>
        <p:nvSpPr>
          <p:cNvPr id="7" name="Content Placeholder 6"/>
          <p:cNvSpPr>
            <a:spLocks noGrp="1"/>
          </p:cNvSpPr>
          <p:nvPr>
            <p:ph idx="1"/>
          </p:nvPr>
        </p:nvSpPr>
        <p:spPr>
          <a:xfrm>
            <a:off x="190409" y="714356"/>
            <a:ext cx="11808007" cy="5643602"/>
          </a:xfrm>
        </p:spPr>
        <p:txBody>
          <a:bodyPr>
            <a:normAutofit/>
          </a:bodyPr>
          <a:lstStyle/>
          <a:p>
            <a:pPr>
              <a:lnSpc>
                <a:spcPct val="150000"/>
              </a:lnSpc>
              <a:buNone/>
            </a:pPr>
            <a:r>
              <a:rPr lang="en-US" sz="2200" dirty="0" smtClean="0">
                <a:latin typeface="Times New Roman" pitchFamily="18" charset="0"/>
                <a:cs typeface="Times New Roman" pitchFamily="18" charset="0"/>
              </a:rPr>
              <a:t>  </a:t>
            </a:r>
            <a:r>
              <a:rPr lang="en-US" sz="2200" u="sng" dirty="0" smtClean="0">
                <a:solidFill>
                  <a:schemeClr val="accent6">
                    <a:lumMod val="50000"/>
                  </a:schemeClr>
                </a:solidFill>
                <a:latin typeface="Times New Roman" pitchFamily="18" charset="0"/>
                <a:cs typeface="Times New Roman" pitchFamily="18" charset="0"/>
              </a:rPr>
              <a:t>Passive Elements:</a:t>
            </a:r>
            <a:r>
              <a:rPr lang="en-US" sz="2200" dirty="0" smtClean="0">
                <a:latin typeface="Times New Roman" pitchFamily="18" charset="0"/>
                <a:cs typeface="Times New Roman" pitchFamily="18" charset="0"/>
              </a:rPr>
              <a:t>  Passive elements are consumers of electrical energy. There are three passive elements in AC circuits.</a:t>
            </a:r>
          </a:p>
          <a:p>
            <a:pPr>
              <a:lnSpc>
                <a:spcPct val="150000"/>
              </a:lnSpc>
              <a:buNone/>
            </a:pPr>
            <a:r>
              <a:rPr lang="en-US" sz="2200" dirty="0" smtClean="0">
                <a:solidFill>
                  <a:schemeClr val="accent6">
                    <a:lumMod val="50000"/>
                  </a:schemeClr>
                </a:solidFill>
                <a:latin typeface="Times New Roman" pitchFamily="18" charset="0"/>
                <a:cs typeface="Times New Roman" pitchFamily="18" charset="0"/>
              </a:rPr>
              <a:t> </a:t>
            </a:r>
            <a:r>
              <a:rPr lang="en-US" sz="2200" u="sng" dirty="0" smtClean="0">
                <a:solidFill>
                  <a:schemeClr val="accent6">
                    <a:lumMod val="50000"/>
                  </a:schemeClr>
                </a:solidFill>
                <a:latin typeface="Times New Roman" pitchFamily="18" charset="0"/>
                <a:cs typeface="Times New Roman" pitchFamily="18" charset="0"/>
              </a:rPr>
              <a:t>Resistance:</a:t>
            </a:r>
            <a:r>
              <a:rPr lang="en-US" sz="2200" dirty="0" smtClean="0">
                <a:solidFill>
                  <a:schemeClr val="accent6">
                    <a:lumMod val="50000"/>
                  </a:schemeClr>
                </a:solidFill>
                <a:latin typeface="Times New Roman" pitchFamily="18" charset="0"/>
                <a:cs typeface="Times New Roman" pitchFamily="18" charset="0"/>
              </a:rPr>
              <a:t>   </a:t>
            </a:r>
            <a:r>
              <a:rPr lang="en-US" sz="2200" dirty="0" smtClean="0">
                <a:latin typeface="Times New Roman" pitchFamily="18" charset="0"/>
                <a:cs typeface="Times New Roman" pitchFamily="18" charset="0"/>
              </a:rPr>
              <a:t>Resistance is the property of material due to which it opposes the flow of current through it. Its unit is ohm (</a:t>
            </a:r>
            <a:r>
              <a:rPr lang="el-GR" sz="2200" dirty="0" smtClean="0">
                <a:latin typeface="Times New Roman" pitchFamily="18" charset="0"/>
                <a:cs typeface="Times New Roman" pitchFamily="18" charset="0"/>
              </a:rPr>
              <a:t>Ω</a:t>
            </a:r>
            <a:r>
              <a:rPr lang="en-US" sz="2200" dirty="0" smtClean="0">
                <a:latin typeface="Times New Roman" pitchFamily="18" charset="0"/>
                <a:cs typeface="Times New Roman" pitchFamily="18" charset="0"/>
              </a:rPr>
              <a:t>) and symbol is ‘R’.</a:t>
            </a:r>
          </a:p>
          <a:p>
            <a:pPr>
              <a:lnSpc>
                <a:spcPct val="150000"/>
              </a:lnSpc>
              <a:buNone/>
            </a:pPr>
            <a:r>
              <a:rPr lang="en-US" sz="2200" dirty="0" smtClean="0">
                <a:latin typeface="Times New Roman" pitchFamily="18" charset="0"/>
                <a:cs typeface="Times New Roman" pitchFamily="18" charset="0"/>
              </a:rPr>
              <a:t>     According to Ohm’s law v = </a:t>
            </a:r>
            <a:r>
              <a:rPr lang="en-US" sz="2200" dirty="0" err="1" smtClean="0">
                <a:latin typeface="Times New Roman" pitchFamily="18" charset="0"/>
                <a:cs typeface="Times New Roman" pitchFamily="18" charset="0"/>
              </a:rPr>
              <a:t>i</a:t>
            </a:r>
            <a:r>
              <a:rPr lang="en-US" sz="2200" dirty="0" smtClean="0">
                <a:latin typeface="Times New Roman" pitchFamily="18" charset="0"/>
                <a:cs typeface="Times New Roman" pitchFamily="18" charset="0"/>
              </a:rPr>
              <a:t> R</a:t>
            </a:r>
          </a:p>
          <a:p>
            <a:pPr>
              <a:lnSpc>
                <a:spcPct val="150000"/>
              </a:lnSpc>
              <a:buNone/>
            </a:pPr>
            <a:r>
              <a:rPr lang="en-US" sz="2200" dirty="0" smtClean="0">
                <a:latin typeface="Times New Roman" pitchFamily="18" charset="0"/>
                <a:cs typeface="Times New Roman" pitchFamily="18" charset="0"/>
              </a:rPr>
              <a:t>     v-</a:t>
            </a:r>
            <a:r>
              <a:rPr lang="en-US" sz="2200" dirty="0" err="1" smtClean="0">
                <a:latin typeface="Times New Roman" pitchFamily="18" charset="0"/>
                <a:cs typeface="Times New Roman" pitchFamily="18" charset="0"/>
              </a:rPr>
              <a:t>i</a:t>
            </a:r>
            <a:r>
              <a:rPr lang="en-US" sz="2200" dirty="0" smtClean="0">
                <a:latin typeface="Times New Roman" pitchFamily="18" charset="0"/>
                <a:cs typeface="Times New Roman" pitchFamily="18" charset="0"/>
              </a:rPr>
              <a:t> characteristics is shown in fig.</a:t>
            </a:r>
          </a:p>
          <a:p>
            <a:pPr>
              <a:lnSpc>
                <a:spcPct val="150000"/>
              </a:lnSpc>
              <a:buNone/>
            </a:pPr>
            <a:endParaRPr lang="en-US" sz="2200" u="sng" dirty="0" smtClean="0">
              <a:latin typeface="Times New Roman" pitchFamily="18" charset="0"/>
              <a:cs typeface="Times New Roman" pitchFamily="18" charset="0"/>
            </a:endParaRPr>
          </a:p>
          <a:p>
            <a:pPr>
              <a:lnSpc>
                <a:spcPct val="150000"/>
              </a:lnSpc>
              <a:buNone/>
            </a:pPr>
            <a:endParaRPr lang="en-US" sz="2200" u="sng" dirty="0" smtClean="0">
              <a:latin typeface="Times New Roman" pitchFamily="18" charset="0"/>
              <a:cs typeface="Times New Roman" pitchFamily="18" charset="0"/>
            </a:endParaRPr>
          </a:p>
          <a:p>
            <a:pPr>
              <a:lnSpc>
                <a:spcPct val="150000"/>
              </a:lnSpc>
              <a:buNone/>
            </a:pPr>
            <a:endParaRPr lang="en-US" sz="2200" u="sng" dirty="0">
              <a:latin typeface="Times New Roman" pitchFamily="18" charset="0"/>
              <a:cs typeface="Times New Roman" pitchFamily="18" charset="0"/>
            </a:endParaRPr>
          </a:p>
        </p:txBody>
      </p:sp>
      <p:graphicFrame>
        <p:nvGraphicFramePr>
          <p:cNvPr id="8" name="Object 7"/>
          <p:cNvGraphicFramePr>
            <a:graphicFrameLocks noChangeAspect="1"/>
          </p:cNvGraphicFramePr>
          <p:nvPr/>
        </p:nvGraphicFramePr>
        <p:xfrm>
          <a:off x="6018233" y="3321050"/>
          <a:ext cx="152360" cy="215900"/>
        </p:xfrm>
        <a:graphic>
          <a:graphicData uri="http://schemas.openxmlformats.org/presentationml/2006/ole">
            <p:oleObj spid="_x0000_s55298" name="Equation" r:id="rId3" imgW="114120" imgH="215640" progId="Equation.3">
              <p:embed/>
            </p:oleObj>
          </a:graphicData>
        </a:graphic>
      </p:graphicFrame>
      <p:grpSp>
        <p:nvGrpSpPr>
          <p:cNvPr id="28" name="Group 27"/>
          <p:cNvGrpSpPr/>
          <p:nvPr/>
        </p:nvGrpSpPr>
        <p:grpSpPr>
          <a:xfrm>
            <a:off x="6818492" y="3259253"/>
            <a:ext cx="4680431" cy="3241103"/>
            <a:chOff x="6818492" y="3259253"/>
            <a:chExt cx="4680431" cy="3241103"/>
          </a:xfrm>
        </p:grpSpPr>
        <p:cxnSp>
          <p:nvCxnSpPr>
            <p:cNvPr id="10" name="Straight Arrow Connector 9"/>
            <p:cNvCxnSpPr/>
            <p:nvPr/>
          </p:nvCxnSpPr>
          <p:spPr>
            <a:xfrm flipV="1">
              <a:off x="7325363" y="6002448"/>
              <a:ext cx="3825602"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16200000" flipV="1">
              <a:off x="6039773" y="4716855"/>
              <a:ext cx="2571185"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7337431" y="4354718"/>
              <a:ext cx="2473969" cy="1647731"/>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818492" y="3259253"/>
              <a:ext cx="603408" cy="400110"/>
            </a:xfrm>
            <a:prstGeom prst="rect">
              <a:avLst/>
            </a:prstGeom>
            <a:noFill/>
          </p:spPr>
          <p:txBody>
            <a:bodyPr wrap="square" rtlCol="0">
              <a:spAutoFit/>
            </a:bodyPr>
            <a:lstStyle/>
            <a:p>
              <a:r>
                <a:rPr lang="en-US" sz="2000" dirty="0" smtClean="0">
                  <a:latin typeface="Times New Roman" pitchFamily="18" charset="0"/>
                  <a:cs typeface="Times New Roman" pitchFamily="18" charset="0"/>
                </a:rPr>
                <a:t>v</a:t>
              </a:r>
              <a:endParaRPr lang="en-US" sz="2000" dirty="0">
                <a:latin typeface="Times New Roman" pitchFamily="18" charset="0"/>
                <a:cs typeface="Times New Roman" pitchFamily="18" charset="0"/>
              </a:endParaRPr>
            </a:p>
          </p:txBody>
        </p:sp>
        <p:sp>
          <p:nvSpPr>
            <p:cNvPr id="16" name="TextBox 15"/>
            <p:cNvSpPr txBox="1"/>
            <p:nvPr/>
          </p:nvSpPr>
          <p:spPr>
            <a:xfrm>
              <a:off x="10895515" y="5566372"/>
              <a:ext cx="603408" cy="400110"/>
            </a:xfrm>
            <a:prstGeom prst="rect">
              <a:avLst/>
            </a:prstGeom>
            <a:noFill/>
          </p:spPr>
          <p:txBody>
            <a:bodyPr wrap="square" rtlCol="0">
              <a:spAutoFit/>
            </a:bodyPr>
            <a:lstStyle/>
            <a:p>
              <a:r>
                <a:rPr lang="en-US" sz="2000" dirty="0" smtClean="0">
                  <a:latin typeface="Times New Roman" pitchFamily="18" charset="0"/>
                  <a:cs typeface="Times New Roman" pitchFamily="18" charset="0"/>
                </a:rPr>
                <a:t>i</a:t>
              </a:r>
              <a:endParaRPr lang="en-US" sz="2000" dirty="0">
                <a:latin typeface="Times New Roman" pitchFamily="18" charset="0"/>
                <a:cs typeface="Times New Roman" pitchFamily="18" charset="0"/>
              </a:endParaRPr>
            </a:p>
          </p:txBody>
        </p:sp>
        <p:sp>
          <p:nvSpPr>
            <p:cNvPr id="17" name="TextBox 16"/>
            <p:cNvSpPr txBox="1"/>
            <p:nvPr/>
          </p:nvSpPr>
          <p:spPr>
            <a:xfrm>
              <a:off x="6973356" y="5819875"/>
              <a:ext cx="603408" cy="400110"/>
            </a:xfrm>
            <a:prstGeom prst="rect">
              <a:avLst/>
            </a:prstGeom>
            <a:noFill/>
          </p:spPr>
          <p:txBody>
            <a:bodyPr wrap="square" rtlCol="0">
              <a:spAutoFit/>
            </a:bodyPr>
            <a:lstStyle/>
            <a:p>
              <a:r>
                <a:rPr lang="en-US" sz="2000" dirty="0" smtClean="0">
                  <a:latin typeface="Times New Roman" pitchFamily="18" charset="0"/>
                  <a:cs typeface="Times New Roman" pitchFamily="18" charset="0"/>
                </a:rPr>
                <a:t>0</a:t>
              </a:r>
              <a:endParaRPr lang="en-US" sz="2000" dirty="0">
                <a:latin typeface="Times New Roman" pitchFamily="18" charset="0"/>
                <a:cs typeface="Times New Roman" pitchFamily="18" charset="0"/>
              </a:endParaRPr>
            </a:p>
          </p:txBody>
        </p:sp>
        <p:sp>
          <p:nvSpPr>
            <p:cNvPr id="18" name="TextBox 17"/>
            <p:cNvSpPr txBox="1"/>
            <p:nvPr/>
          </p:nvSpPr>
          <p:spPr>
            <a:xfrm>
              <a:off x="7687394" y="6131024"/>
              <a:ext cx="3415285" cy="369332"/>
            </a:xfrm>
            <a:prstGeom prst="rect">
              <a:avLst/>
            </a:prstGeom>
            <a:noFill/>
          </p:spPr>
          <p:txBody>
            <a:bodyPr wrap="square" rtlCol="0">
              <a:spAutoFit/>
            </a:bodyPr>
            <a:lstStyle/>
            <a:p>
              <a:r>
                <a:rPr lang="en-US" dirty="0" smtClean="0">
                  <a:latin typeface="Times New Roman" pitchFamily="18" charset="0"/>
                  <a:cs typeface="Times New Roman" pitchFamily="18" charset="0"/>
                </a:rPr>
                <a:t>Fig.5: v-</a:t>
              </a:r>
              <a:r>
                <a:rPr lang="en-US" dirty="0" err="1" smtClean="0">
                  <a:latin typeface="Times New Roman" pitchFamily="18" charset="0"/>
                  <a:cs typeface="Times New Roman" pitchFamily="18" charset="0"/>
                </a:rPr>
                <a:t>i</a:t>
              </a:r>
              <a:r>
                <a:rPr lang="en-US" dirty="0" smtClean="0">
                  <a:latin typeface="Times New Roman" pitchFamily="18" charset="0"/>
                  <a:cs typeface="Times New Roman" pitchFamily="18" charset="0"/>
                </a:rPr>
                <a:t> characteristic</a:t>
              </a:r>
              <a:endParaRPr lang="en-US" dirty="0">
                <a:latin typeface="Times New Roman" pitchFamily="18" charset="0"/>
                <a:cs typeface="Times New Roman" pitchFamily="18" charset="0"/>
              </a:endParaRPr>
            </a:p>
          </p:txBody>
        </p:sp>
      </p:grpSp>
      <p:grpSp>
        <p:nvGrpSpPr>
          <p:cNvPr id="55299" name="Group 3"/>
          <p:cNvGrpSpPr>
            <a:grpSpLocks/>
          </p:cNvGrpSpPr>
          <p:nvPr/>
        </p:nvGrpSpPr>
        <p:grpSpPr bwMode="auto">
          <a:xfrm>
            <a:off x="1890119" y="4928464"/>
            <a:ext cx="2097764" cy="331583"/>
            <a:chOff x="189" y="2700"/>
            <a:chExt cx="10389" cy="1440"/>
          </a:xfrm>
        </p:grpSpPr>
        <p:cxnSp>
          <p:nvCxnSpPr>
            <p:cNvPr id="55300" name="AutoShape 4"/>
            <p:cNvCxnSpPr>
              <a:cxnSpLocks noChangeShapeType="1"/>
            </p:cNvCxnSpPr>
            <p:nvPr/>
          </p:nvCxnSpPr>
          <p:spPr bwMode="auto">
            <a:xfrm flipV="1">
              <a:off x="3240" y="2700"/>
              <a:ext cx="360" cy="720"/>
            </a:xfrm>
            <a:prstGeom prst="straightConnector1">
              <a:avLst/>
            </a:prstGeom>
            <a:noFill/>
            <a:ln w="15875">
              <a:solidFill>
                <a:srgbClr val="000000"/>
              </a:solidFill>
              <a:round/>
              <a:headEnd/>
              <a:tailEnd/>
            </a:ln>
          </p:spPr>
        </p:cxnSp>
        <p:cxnSp>
          <p:nvCxnSpPr>
            <p:cNvPr id="55301" name="AutoShape 5"/>
            <p:cNvCxnSpPr>
              <a:cxnSpLocks noChangeShapeType="1"/>
            </p:cNvCxnSpPr>
            <p:nvPr/>
          </p:nvCxnSpPr>
          <p:spPr bwMode="auto">
            <a:xfrm>
              <a:off x="3600" y="2700"/>
              <a:ext cx="720" cy="1440"/>
            </a:xfrm>
            <a:prstGeom prst="straightConnector1">
              <a:avLst/>
            </a:prstGeom>
            <a:noFill/>
            <a:ln w="15875">
              <a:solidFill>
                <a:srgbClr val="000000"/>
              </a:solidFill>
              <a:round/>
              <a:headEnd/>
              <a:tailEnd/>
            </a:ln>
          </p:spPr>
        </p:cxnSp>
        <p:cxnSp>
          <p:nvCxnSpPr>
            <p:cNvPr id="55302" name="AutoShape 6"/>
            <p:cNvCxnSpPr>
              <a:cxnSpLocks noChangeShapeType="1"/>
            </p:cNvCxnSpPr>
            <p:nvPr/>
          </p:nvCxnSpPr>
          <p:spPr bwMode="auto">
            <a:xfrm flipV="1">
              <a:off x="4320" y="2700"/>
              <a:ext cx="720" cy="1440"/>
            </a:xfrm>
            <a:prstGeom prst="straightConnector1">
              <a:avLst/>
            </a:prstGeom>
            <a:noFill/>
            <a:ln w="15875">
              <a:solidFill>
                <a:srgbClr val="000000"/>
              </a:solidFill>
              <a:round/>
              <a:headEnd/>
              <a:tailEnd/>
            </a:ln>
          </p:spPr>
        </p:cxnSp>
        <p:cxnSp>
          <p:nvCxnSpPr>
            <p:cNvPr id="55303" name="AutoShape 7"/>
            <p:cNvCxnSpPr>
              <a:cxnSpLocks noChangeShapeType="1"/>
            </p:cNvCxnSpPr>
            <p:nvPr/>
          </p:nvCxnSpPr>
          <p:spPr bwMode="auto">
            <a:xfrm flipH="1" flipV="1">
              <a:off x="5040" y="2700"/>
              <a:ext cx="720" cy="1440"/>
            </a:xfrm>
            <a:prstGeom prst="straightConnector1">
              <a:avLst/>
            </a:prstGeom>
            <a:noFill/>
            <a:ln w="15875">
              <a:solidFill>
                <a:srgbClr val="000000"/>
              </a:solidFill>
              <a:round/>
              <a:headEnd/>
              <a:tailEnd/>
            </a:ln>
          </p:spPr>
        </p:cxnSp>
        <p:cxnSp>
          <p:nvCxnSpPr>
            <p:cNvPr id="55304" name="AutoShape 8"/>
            <p:cNvCxnSpPr>
              <a:cxnSpLocks noChangeShapeType="1"/>
            </p:cNvCxnSpPr>
            <p:nvPr/>
          </p:nvCxnSpPr>
          <p:spPr bwMode="auto">
            <a:xfrm flipH="1">
              <a:off x="5760" y="2700"/>
              <a:ext cx="720" cy="1440"/>
            </a:xfrm>
            <a:prstGeom prst="straightConnector1">
              <a:avLst/>
            </a:prstGeom>
            <a:noFill/>
            <a:ln w="15875">
              <a:solidFill>
                <a:srgbClr val="000000"/>
              </a:solidFill>
              <a:round/>
              <a:headEnd/>
              <a:tailEnd/>
            </a:ln>
          </p:spPr>
        </p:cxnSp>
        <p:cxnSp>
          <p:nvCxnSpPr>
            <p:cNvPr id="55305" name="AutoShape 9"/>
            <p:cNvCxnSpPr>
              <a:cxnSpLocks noChangeShapeType="1"/>
            </p:cNvCxnSpPr>
            <p:nvPr/>
          </p:nvCxnSpPr>
          <p:spPr bwMode="auto">
            <a:xfrm flipH="1" flipV="1">
              <a:off x="6480" y="2700"/>
              <a:ext cx="720" cy="1440"/>
            </a:xfrm>
            <a:prstGeom prst="straightConnector1">
              <a:avLst/>
            </a:prstGeom>
            <a:noFill/>
            <a:ln w="15875">
              <a:solidFill>
                <a:srgbClr val="000000"/>
              </a:solidFill>
              <a:round/>
              <a:headEnd/>
              <a:tailEnd/>
            </a:ln>
          </p:spPr>
        </p:cxnSp>
        <p:cxnSp>
          <p:nvCxnSpPr>
            <p:cNvPr id="55306" name="AutoShape 10"/>
            <p:cNvCxnSpPr>
              <a:cxnSpLocks noChangeShapeType="1"/>
            </p:cNvCxnSpPr>
            <p:nvPr/>
          </p:nvCxnSpPr>
          <p:spPr bwMode="auto">
            <a:xfrm>
              <a:off x="2520" y="3420"/>
              <a:ext cx="720" cy="0"/>
            </a:xfrm>
            <a:prstGeom prst="straightConnector1">
              <a:avLst/>
            </a:prstGeom>
            <a:noFill/>
            <a:ln w="15875">
              <a:solidFill>
                <a:srgbClr val="000000"/>
              </a:solidFill>
              <a:round/>
              <a:headEnd/>
              <a:tailEnd/>
            </a:ln>
          </p:spPr>
        </p:cxnSp>
        <p:cxnSp>
          <p:nvCxnSpPr>
            <p:cNvPr id="55307" name="AutoShape 11"/>
            <p:cNvCxnSpPr>
              <a:cxnSpLocks noChangeShapeType="1"/>
            </p:cNvCxnSpPr>
            <p:nvPr/>
          </p:nvCxnSpPr>
          <p:spPr bwMode="auto">
            <a:xfrm flipV="1">
              <a:off x="3240" y="2700"/>
              <a:ext cx="360" cy="720"/>
            </a:xfrm>
            <a:prstGeom prst="straightConnector1">
              <a:avLst/>
            </a:prstGeom>
            <a:noFill/>
            <a:ln w="15875">
              <a:solidFill>
                <a:srgbClr val="000000"/>
              </a:solidFill>
              <a:round/>
              <a:headEnd/>
              <a:tailEnd/>
            </a:ln>
          </p:spPr>
        </p:cxnSp>
        <p:cxnSp>
          <p:nvCxnSpPr>
            <p:cNvPr id="55308" name="AutoShape 12"/>
            <p:cNvCxnSpPr>
              <a:cxnSpLocks noChangeShapeType="1"/>
            </p:cNvCxnSpPr>
            <p:nvPr/>
          </p:nvCxnSpPr>
          <p:spPr bwMode="auto">
            <a:xfrm>
              <a:off x="3600" y="2700"/>
              <a:ext cx="720" cy="1440"/>
            </a:xfrm>
            <a:prstGeom prst="straightConnector1">
              <a:avLst/>
            </a:prstGeom>
            <a:noFill/>
            <a:ln w="15875">
              <a:solidFill>
                <a:srgbClr val="000000"/>
              </a:solidFill>
              <a:round/>
              <a:headEnd/>
              <a:tailEnd/>
            </a:ln>
          </p:spPr>
        </p:cxnSp>
        <p:cxnSp>
          <p:nvCxnSpPr>
            <p:cNvPr id="55309" name="AutoShape 13"/>
            <p:cNvCxnSpPr>
              <a:cxnSpLocks noChangeShapeType="1"/>
            </p:cNvCxnSpPr>
            <p:nvPr/>
          </p:nvCxnSpPr>
          <p:spPr bwMode="auto">
            <a:xfrm>
              <a:off x="189" y="3420"/>
              <a:ext cx="3018" cy="0"/>
            </a:xfrm>
            <a:prstGeom prst="straightConnector1">
              <a:avLst/>
            </a:prstGeom>
            <a:noFill/>
            <a:ln w="15875">
              <a:solidFill>
                <a:srgbClr val="000000"/>
              </a:solidFill>
              <a:round/>
              <a:headEnd type="oval"/>
              <a:tailEnd/>
            </a:ln>
          </p:spPr>
        </p:cxnSp>
        <p:cxnSp>
          <p:nvCxnSpPr>
            <p:cNvPr id="55310" name="AutoShape 14"/>
            <p:cNvCxnSpPr>
              <a:cxnSpLocks noChangeShapeType="1"/>
            </p:cNvCxnSpPr>
            <p:nvPr/>
          </p:nvCxnSpPr>
          <p:spPr bwMode="auto">
            <a:xfrm flipV="1">
              <a:off x="7200" y="3420"/>
              <a:ext cx="360" cy="720"/>
            </a:xfrm>
            <a:prstGeom prst="straightConnector1">
              <a:avLst/>
            </a:prstGeom>
            <a:noFill/>
            <a:ln w="15875">
              <a:solidFill>
                <a:srgbClr val="000000"/>
              </a:solidFill>
              <a:round/>
              <a:headEnd/>
              <a:tailEnd/>
            </a:ln>
          </p:spPr>
        </p:cxnSp>
        <p:cxnSp>
          <p:nvCxnSpPr>
            <p:cNvPr id="55311" name="AutoShape 15"/>
            <p:cNvCxnSpPr>
              <a:cxnSpLocks noChangeShapeType="1"/>
            </p:cNvCxnSpPr>
            <p:nvPr/>
          </p:nvCxnSpPr>
          <p:spPr bwMode="auto">
            <a:xfrm>
              <a:off x="7560" y="3420"/>
              <a:ext cx="3018" cy="0"/>
            </a:xfrm>
            <a:prstGeom prst="straightConnector1">
              <a:avLst/>
            </a:prstGeom>
            <a:noFill/>
            <a:ln w="15875">
              <a:solidFill>
                <a:srgbClr val="000000"/>
              </a:solidFill>
              <a:round/>
              <a:headEnd/>
              <a:tailEnd type="oval"/>
            </a:ln>
          </p:spPr>
        </p:cxnSp>
      </p:grpSp>
      <p:sp>
        <p:nvSpPr>
          <p:cNvPr id="31" name="TextBox 30"/>
          <p:cNvSpPr txBox="1"/>
          <p:nvPr/>
        </p:nvSpPr>
        <p:spPr>
          <a:xfrm>
            <a:off x="2715327" y="5223850"/>
            <a:ext cx="712020" cy="400110"/>
          </a:xfrm>
          <a:prstGeom prst="rect">
            <a:avLst/>
          </a:prstGeom>
          <a:noFill/>
        </p:spPr>
        <p:txBody>
          <a:bodyPr wrap="square" rtlCol="0">
            <a:spAutoFit/>
          </a:bodyPr>
          <a:lstStyle/>
          <a:p>
            <a:r>
              <a:rPr lang="en-US" sz="2000" dirty="0" smtClean="0">
                <a:latin typeface="Times New Roman" pitchFamily="18" charset="0"/>
                <a:cs typeface="Times New Roman" pitchFamily="18" charset="0"/>
              </a:rPr>
              <a:t>R</a:t>
            </a: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763605" y="3051008"/>
            <a:ext cx="5406528" cy="851025"/>
          </a:xfrm>
          <a:prstGeom prst="rect">
            <a:avLst/>
          </a:prstGeom>
          <a:solidFill>
            <a:schemeClr val="accent6">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85635" y="71414"/>
            <a:ext cx="11617555" cy="714380"/>
          </a:xfrm>
        </p:spPr>
        <p:txBody>
          <a:bodyPr>
            <a:normAutofit/>
          </a:bodyPr>
          <a:lstStyle/>
          <a:p>
            <a:r>
              <a:rPr lang="en-IN" sz="2800" dirty="0" smtClean="0">
                <a:solidFill>
                  <a:srgbClr val="00B050"/>
                </a:solidFill>
                <a:latin typeface="Times New Roman" pitchFamily="18" charset="0"/>
                <a:cs typeface="Times New Roman" pitchFamily="18" charset="0"/>
              </a:rPr>
              <a:t>BASIC TERMS AND DEFINITIONS</a:t>
            </a:r>
            <a:endParaRPr lang="en-US" sz="2800" dirty="0">
              <a:solidFill>
                <a:srgbClr val="FF0000"/>
              </a:solidFill>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smtClean="0"/>
              <a:t>syed hasan saeed</a:t>
            </a:r>
            <a:endParaRPr lang="en-US"/>
          </a:p>
        </p:txBody>
      </p:sp>
      <p:sp>
        <p:nvSpPr>
          <p:cNvPr id="6" name="Slide Number Placeholder 5"/>
          <p:cNvSpPr>
            <a:spLocks noGrp="1"/>
          </p:cNvSpPr>
          <p:nvPr>
            <p:ph type="sldNum" sz="quarter" idx="12"/>
          </p:nvPr>
        </p:nvSpPr>
        <p:spPr/>
        <p:txBody>
          <a:bodyPr/>
          <a:lstStyle/>
          <a:p>
            <a:fld id="{435E54C7-FAA8-46C1-A880-53547F97989D}" type="slidenum">
              <a:rPr lang="en-US" smtClean="0"/>
              <a:pPr/>
              <a:t>16</a:t>
            </a:fld>
            <a:endParaRPr lang="en-US"/>
          </a:p>
        </p:txBody>
      </p:sp>
      <p:sp>
        <p:nvSpPr>
          <p:cNvPr id="7" name="Content Placeholder 6"/>
          <p:cNvSpPr>
            <a:spLocks noGrp="1"/>
          </p:cNvSpPr>
          <p:nvPr>
            <p:ph idx="1"/>
          </p:nvPr>
        </p:nvSpPr>
        <p:spPr>
          <a:xfrm>
            <a:off x="190409" y="714356"/>
            <a:ext cx="11808007" cy="5643602"/>
          </a:xfrm>
        </p:spPr>
        <p:txBody>
          <a:bodyPr>
            <a:normAutofit/>
          </a:bodyPr>
          <a:lstStyle/>
          <a:p>
            <a:pPr>
              <a:lnSpc>
                <a:spcPct val="150000"/>
              </a:lnSpc>
              <a:buNone/>
            </a:pPr>
            <a:r>
              <a:rPr lang="en-US" sz="2200" dirty="0" smtClean="0">
                <a:latin typeface="Times New Roman" pitchFamily="18" charset="0"/>
                <a:cs typeface="Times New Roman" pitchFamily="18" charset="0"/>
              </a:rPr>
              <a:t>  </a:t>
            </a:r>
            <a:r>
              <a:rPr lang="en-US" sz="2200" u="sng" dirty="0" smtClean="0">
                <a:solidFill>
                  <a:schemeClr val="accent6">
                    <a:lumMod val="50000"/>
                  </a:schemeClr>
                </a:solidFill>
                <a:latin typeface="Times New Roman" pitchFamily="18" charset="0"/>
                <a:cs typeface="Times New Roman" pitchFamily="18" charset="0"/>
              </a:rPr>
              <a:t>Inductance:</a:t>
            </a:r>
            <a:r>
              <a:rPr lang="en-US" sz="2200" dirty="0" smtClean="0">
                <a:solidFill>
                  <a:schemeClr val="accent6">
                    <a:lumMod val="50000"/>
                  </a:schemeClr>
                </a:solidFill>
                <a:latin typeface="Times New Roman" pitchFamily="18" charset="0"/>
                <a:cs typeface="Times New Roman" pitchFamily="18" charset="0"/>
              </a:rPr>
              <a:t>   </a:t>
            </a:r>
            <a:r>
              <a:rPr lang="en-US" sz="2200" dirty="0" smtClean="0">
                <a:latin typeface="Times New Roman" pitchFamily="18" charset="0"/>
                <a:cs typeface="Times New Roman" pitchFamily="18" charset="0"/>
              </a:rPr>
              <a:t>Inductance is the property of material due to which it opposes any change in current passing through it. Its unit is Henery (H) and symbol is ‘L’.</a:t>
            </a:r>
            <a:r>
              <a:rPr lang="en-US" sz="2200" u="sng" dirty="0" smtClean="0">
                <a:solidFill>
                  <a:schemeClr val="accent6">
                    <a:lumMod val="50000"/>
                  </a:schemeClr>
                </a:solidFill>
                <a:latin typeface="Times New Roman" pitchFamily="18" charset="0"/>
                <a:cs typeface="Times New Roman" pitchFamily="18" charset="0"/>
              </a:rPr>
              <a:t>  </a:t>
            </a:r>
          </a:p>
          <a:p>
            <a:pPr>
              <a:lnSpc>
                <a:spcPct val="150000"/>
              </a:lnSpc>
              <a:buNone/>
            </a:pPr>
            <a:r>
              <a:rPr lang="en-US" sz="2200" dirty="0" smtClean="0">
                <a:latin typeface="Times New Roman" pitchFamily="18" charset="0"/>
                <a:cs typeface="Times New Roman" pitchFamily="18" charset="0"/>
              </a:rPr>
              <a:t>Voltage across inductor and current through inductor is given by</a:t>
            </a:r>
          </a:p>
          <a:p>
            <a:pPr>
              <a:lnSpc>
                <a:spcPct val="150000"/>
              </a:lnSpc>
              <a:buNone/>
            </a:pPr>
            <a:endParaRPr lang="en-US" sz="2200" dirty="0" smtClean="0">
              <a:solidFill>
                <a:schemeClr val="accent6">
                  <a:lumMod val="50000"/>
                </a:schemeClr>
              </a:solidFill>
              <a:latin typeface="Times New Roman" pitchFamily="18" charset="0"/>
              <a:cs typeface="Times New Roman" pitchFamily="18" charset="0"/>
            </a:endParaRPr>
          </a:p>
          <a:p>
            <a:pPr>
              <a:lnSpc>
                <a:spcPct val="150000"/>
              </a:lnSpc>
              <a:buNone/>
            </a:pPr>
            <a:endParaRPr lang="en-US" sz="2200" dirty="0" smtClean="0">
              <a:solidFill>
                <a:schemeClr val="accent6">
                  <a:lumMod val="50000"/>
                </a:schemeClr>
              </a:solidFill>
              <a:latin typeface="Times New Roman" pitchFamily="18" charset="0"/>
              <a:cs typeface="Times New Roman" pitchFamily="18" charset="0"/>
            </a:endParaRPr>
          </a:p>
          <a:p>
            <a:pPr>
              <a:lnSpc>
                <a:spcPct val="150000"/>
              </a:lnSpc>
              <a:buNone/>
            </a:pPr>
            <a:endParaRPr lang="en-US" sz="2200" dirty="0">
              <a:solidFill>
                <a:schemeClr val="accent6">
                  <a:lumMod val="50000"/>
                </a:schemeClr>
              </a:solidFill>
              <a:latin typeface="Times New Roman" pitchFamily="18" charset="0"/>
              <a:cs typeface="Times New Roman" pitchFamily="18" charset="0"/>
            </a:endParaRPr>
          </a:p>
        </p:txBody>
      </p:sp>
      <p:graphicFrame>
        <p:nvGraphicFramePr>
          <p:cNvPr id="8" name="Object 7"/>
          <p:cNvGraphicFramePr>
            <a:graphicFrameLocks noChangeAspect="1"/>
          </p:cNvGraphicFramePr>
          <p:nvPr/>
        </p:nvGraphicFramePr>
        <p:xfrm>
          <a:off x="6018233" y="3321050"/>
          <a:ext cx="152360" cy="215900"/>
        </p:xfrm>
        <a:graphic>
          <a:graphicData uri="http://schemas.openxmlformats.org/presentationml/2006/ole">
            <p:oleObj spid="_x0000_s54274" name="Equation" r:id="rId3" imgW="114120" imgH="215640" progId="Equation.3">
              <p:embed/>
            </p:oleObj>
          </a:graphicData>
        </a:graphic>
      </p:graphicFrame>
      <p:graphicFrame>
        <p:nvGraphicFramePr>
          <p:cNvPr id="10" name="Object 9"/>
          <p:cNvGraphicFramePr>
            <a:graphicFrameLocks noChangeAspect="1"/>
          </p:cNvGraphicFramePr>
          <p:nvPr/>
        </p:nvGraphicFramePr>
        <p:xfrm>
          <a:off x="2865221" y="3096785"/>
          <a:ext cx="5135813" cy="787400"/>
        </p:xfrm>
        <a:graphic>
          <a:graphicData uri="http://schemas.openxmlformats.org/presentationml/2006/ole">
            <p:oleObj spid="_x0000_s54275" name="Equation" r:id="rId4" imgW="1930320" imgH="393480" progId="Equation.3">
              <p:embed/>
            </p:oleObj>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763605" y="3051008"/>
            <a:ext cx="5406528" cy="851025"/>
          </a:xfrm>
          <a:prstGeom prst="rect">
            <a:avLst/>
          </a:prstGeom>
          <a:solidFill>
            <a:schemeClr val="accent6">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85635" y="71414"/>
            <a:ext cx="11617555" cy="714380"/>
          </a:xfrm>
        </p:spPr>
        <p:txBody>
          <a:bodyPr>
            <a:normAutofit/>
          </a:bodyPr>
          <a:lstStyle/>
          <a:p>
            <a:r>
              <a:rPr lang="en-IN" sz="2800" dirty="0" smtClean="0">
                <a:solidFill>
                  <a:srgbClr val="00B050"/>
                </a:solidFill>
                <a:latin typeface="Times New Roman" pitchFamily="18" charset="0"/>
                <a:cs typeface="Times New Roman" pitchFamily="18" charset="0"/>
              </a:rPr>
              <a:t>BASIC TERMS AND DEFINITIONS</a:t>
            </a:r>
            <a:endParaRPr lang="en-US" sz="2800" dirty="0">
              <a:solidFill>
                <a:srgbClr val="FF0000"/>
              </a:solidFill>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smtClean="0"/>
              <a:t>syed hasan saeed</a:t>
            </a:r>
            <a:endParaRPr lang="en-US"/>
          </a:p>
        </p:txBody>
      </p:sp>
      <p:sp>
        <p:nvSpPr>
          <p:cNvPr id="6" name="Slide Number Placeholder 5"/>
          <p:cNvSpPr>
            <a:spLocks noGrp="1"/>
          </p:cNvSpPr>
          <p:nvPr>
            <p:ph type="sldNum" sz="quarter" idx="12"/>
          </p:nvPr>
        </p:nvSpPr>
        <p:spPr/>
        <p:txBody>
          <a:bodyPr/>
          <a:lstStyle/>
          <a:p>
            <a:fld id="{435E54C7-FAA8-46C1-A880-53547F97989D}" type="slidenum">
              <a:rPr lang="en-US" smtClean="0"/>
              <a:pPr/>
              <a:t>17</a:t>
            </a:fld>
            <a:endParaRPr lang="en-US"/>
          </a:p>
        </p:txBody>
      </p:sp>
      <p:sp>
        <p:nvSpPr>
          <p:cNvPr id="7" name="Content Placeholder 6"/>
          <p:cNvSpPr>
            <a:spLocks noGrp="1"/>
          </p:cNvSpPr>
          <p:nvPr>
            <p:ph idx="1"/>
          </p:nvPr>
        </p:nvSpPr>
        <p:spPr>
          <a:xfrm>
            <a:off x="190409" y="714356"/>
            <a:ext cx="11808007" cy="5643602"/>
          </a:xfrm>
        </p:spPr>
        <p:txBody>
          <a:bodyPr>
            <a:normAutofit/>
          </a:bodyPr>
          <a:lstStyle/>
          <a:p>
            <a:pPr>
              <a:lnSpc>
                <a:spcPct val="150000"/>
              </a:lnSpc>
              <a:buNone/>
            </a:pPr>
            <a:r>
              <a:rPr lang="en-US" sz="2200" dirty="0" smtClean="0">
                <a:latin typeface="Times New Roman" pitchFamily="18" charset="0"/>
                <a:cs typeface="Times New Roman" pitchFamily="18" charset="0"/>
              </a:rPr>
              <a:t>  </a:t>
            </a:r>
            <a:r>
              <a:rPr lang="en-US" sz="2200" u="sng" dirty="0" smtClean="0">
                <a:solidFill>
                  <a:schemeClr val="accent6">
                    <a:lumMod val="50000"/>
                  </a:schemeClr>
                </a:solidFill>
                <a:latin typeface="Times New Roman" pitchFamily="18" charset="0"/>
                <a:cs typeface="Times New Roman" pitchFamily="18" charset="0"/>
              </a:rPr>
              <a:t>Capacitance:</a:t>
            </a:r>
            <a:r>
              <a:rPr lang="en-US" sz="2200" dirty="0" smtClean="0">
                <a:solidFill>
                  <a:schemeClr val="accent6">
                    <a:lumMod val="50000"/>
                  </a:schemeClr>
                </a:solidFill>
                <a:latin typeface="Times New Roman" pitchFamily="18" charset="0"/>
                <a:cs typeface="Times New Roman" pitchFamily="18" charset="0"/>
              </a:rPr>
              <a:t>   </a:t>
            </a:r>
            <a:r>
              <a:rPr lang="en-US" sz="2200" dirty="0" smtClean="0">
                <a:latin typeface="Times New Roman" pitchFamily="18" charset="0"/>
                <a:cs typeface="Times New Roman" pitchFamily="18" charset="0"/>
              </a:rPr>
              <a:t>Capacitance is the property of element due to which it opposes any change in voltage across it. Its unit is Farad (F) and symbol is ‘C’.</a:t>
            </a:r>
            <a:r>
              <a:rPr lang="en-US" sz="2200" u="sng" dirty="0" smtClean="0">
                <a:solidFill>
                  <a:schemeClr val="accent6">
                    <a:lumMod val="50000"/>
                  </a:schemeClr>
                </a:solidFill>
                <a:latin typeface="Times New Roman" pitchFamily="18" charset="0"/>
                <a:cs typeface="Times New Roman" pitchFamily="18" charset="0"/>
              </a:rPr>
              <a:t>  </a:t>
            </a:r>
          </a:p>
          <a:p>
            <a:pPr>
              <a:lnSpc>
                <a:spcPct val="150000"/>
              </a:lnSpc>
              <a:buNone/>
            </a:pPr>
            <a:r>
              <a:rPr lang="en-US" sz="2200" dirty="0" smtClean="0">
                <a:latin typeface="Times New Roman" pitchFamily="18" charset="0"/>
                <a:cs typeface="Times New Roman" pitchFamily="18" charset="0"/>
              </a:rPr>
              <a:t>Voltage across capacitor and current through capacitor is given by</a:t>
            </a:r>
          </a:p>
          <a:p>
            <a:pPr>
              <a:lnSpc>
                <a:spcPct val="150000"/>
              </a:lnSpc>
              <a:buNone/>
            </a:pPr>
            <a:endParaRPr lang="en-US" sz="2200" dirty="0" smtClean="0">
              <a:solidFill>
                <a:schemeClr val="accent6">
                  <a:lumMod val="50000"/>
                </a:schemeClr>
              </a:solidFill>
              <a:latin typeface="Times New Roman" pitchFamily="18" charset="0"/>
              <a:cs typeface="Times New Roman" pitchFamily="18" charset="0"/>
            </a:endParaRPr>
          </a:p>
          <a:p>
            <a:pPr>
              <a:lnSpc>
                <a:spcPct val="150000"/>
              </a:lnSpc>
              <a:buNone/>
            </a:pPr>
            <a:endParaRPr lang="en-US" sz="2200" dirty="0" smtClean="0">
              <a:solidFill>
                <a:schemeClr val="accent6">
                  <a:lumMod val="50000"/>
                </a:schemeClr>
              </a:solidFill>
              <a:latin typeface="Times New Roman" pitchFamily="18" charset="0"/>
              <a:cs typeface="Times New Roman" pitchFamily="18" charset="0"/>
            </a:endParaRPr>
          </a:p>
          <a:p>
            <a:pPr>
              <a:lnSpc>
                <a:spcPct val="150000"/>
              </a:lnSpc>
              <a:buNone/>
            </a:pPr>
            <a:endParaRPr lang="en-US" sz="2200" dirty="0">
              <a:solidFill>
                <a:schemeClr val="accent6">
                  <a:lumMod val="50000"/>
                </a:schemeClr>
              </a:solidFill>
              <a:latin typeface="Times New Roman" pitchFamily="18" charset="0"/>
              <a:cs typeface="Times New Roman" pitchFamily="18" charset="0"/>
            </a:endParaRPr>
          </a:p>
        </p:txBody>
      </p:sp>
      <p:graphicFrame>
        <p:nvGraphicFramePr>
          <p:cNvPr id="8" name="Object 7"/>
          <p:cNvGraphicFramePr>
            <a:graphicFrameLocks noChangeAspect="1"/>
          </p:cNvGraphicFramePr>
          <p:nvPr/>
        </p:nvGraphicFramePr>
        <p:xfrm>
          <a:off x="6018233" y="3321050"/>
          <a:ext cx="152360" cy="215900"/>
        </p:xfrm>
        <a:graphic>
          <a:graphicData uri="http://schemas.openxmlformats.org/presentationml/2006/ole">
            <p:oleObj spid="_x0000_s66562" name="Equation" r:id="rId3" imgW="114120" imgH="215640" progId="Equation.3">
              <p:embed/>
            </p:oleObj>
          </a:graphicData>
        </a:graphic>
      </p:graphicFrame>
      <p:graphicFrame>
        <p:nvGraphicFramePr>
          <p:cNvPr id="10" name="Object 9"/>
          <p:cNvGraphicFramePr>
            <a:graphicFrameLocks noChangeAspect="1"/>
          </p:cNvGraphicFramePr>
          <p:nvPr/>
        </p:nvGraphicFramePr>
        <p:xfrm>
          <a:off x="3034510" y="2993854"/>
          <a:ext cx="4797234" cy="939800"/>
        </p:xfrm>
        <a:graphic>
          <a:graphicData uri="http://schemas.openxmlformats.org/presentationml/2006/ole">
            <p:oleObj spid="_x0000_s66563" name="Equation" r:id="rId4" imgW="1803240" imgH="469800" progId="Equation.3">
              <p:embed/>
            </p:oleObj>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635" y="71414"/>
            <a:ext cx="11617555" cy="714380"/>
          </a:xfrm>
        </p:spPr>
        <p:txBody>
          <a:bodyPr>
            <a:normAutofit/>
          </a:bodyPr>
          <a:lstStyle/>
          <a:p>
            <a:r>
              <a:rPr lang="en-IN" sz="2800" dirty="0" smtClean="0">
                <a:solidFill>
                  <a:srgbClr val="00B050"/>
                </a:solidFill>
                <a:latin typeface="Times New Roman" pitchFamily="18" charset="0"/>
                <a:cs typeface="Times New Roman" pitchFamily="18" charset="0"/>
              </a:rPr>
              <a:t>BASIC TERMS AND DEFINITIONS</a:t>
            </a:r>
            <a:endParaRPr lang="en-US" sz="2800" dirty="0">
              <a:solidFill>
                <a:srgbClr val="FF0000"/>
              </a:solidFill>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smtClean="0"/>
              <a:t>syed hasan saeed</a:t>
            </a:r>
            <a:endParaRPr lang="en-US"/>
          </a:p>
        </p:txBody>
      </p:sp>
      <p:sp>
        <p:nvSpPr>
          <p:cNvPr id="7" name="Content Placeholder 6"/>
          <p:cNvSpPr>
            <a:spLocks noGrp="1"/>
          </p:cNvSpPr>
          <p:nvPr>
            <p:ph idx="1"/>
          </p:nvPr>
        </p:nvSpPr>
        <p:spPr>
          <a:xfrm>
            <a:off x="190409" y="714356"/>
            <a:ext cx="11808007" cy="5643602"/>
          </a:xfrm>
        </p:spPr>
        <p:txBody>
          <a:bodyPr>
            <a:normAutofit/>
          </a:bodyPr>
          <a:lstStyle/>
          <a:p>
            <a:pPr>
              <a:lnSpc>
                <a:spcPct val="150000"/>
              </a:lnSpc>
              <a:buNone/>
            </a:pPr>
            <a:r>
              <a:rPr lang="en-US" sz="2200" dirty="0" smtClean="0">
                <a:latin typeface="Times New Roman" pitchFamily="18" charset="0"/>
                <a:cs typeface="Times New Roman" pitchFamily="18" charset="0"/>
              </a:rPr>
              <a:t>  </a:t>
            </a:r>
            <a:endParaRPr lang="en-US" sz="2200" dirty="0" smtClean="0">
              <a:solidFill>
                <a:schemeClr val="accent6">
                  <a:lumMod val="50000"/>
                </a:schemeClr>
              </a:solidFill>
              <a:latin typeface="Times New Roman" pitchFamily="18" charset="0"/>
              <a:cs typeface="Times New Roman" pitchFamily="18" charset="0"/>
            </a:endParaRPr>
          </a:p>
          <a:p>
            <a:pPr>
              <a:lnSpc>
                <a:spcPct val="150000"/>
              </a:lnSpc>
              <a:buNone/>
            </a:pPr>
            <a:endParaRPr lang="en-US" sz="2200" dirty="0" smtClean="0">
              <a:solidFill>
                <a:schemeClr val="accent6">
                  <a:lumMod val="50000"/>
                </a:schemeClr>
              </a:solidFill>
              <a:latin typeface="Times New Roman" pitchFamily="18" charset="0"/>
              <a:cs typeface="Times New Roman" pitchFamily="18" charset="0"/>
            </a:endParaRPr>
          </a:p>
          <a:p>
            <a:pPr>
              <a:lnSpc>
                <a:spcPct val="150000"/>
              </a:lnSpc>
              <a:buNone/>
            </a:pPr>
            <a:endParaRPr lang="en-US" sz="2200" dirty="0">
              <a:solidFill>
                <a:schemeClr val="accent6">
                  <a:lumMod val="50000"/>
                </a:schemeClr>
              </a:solidFill>
              <a:latin typeface="Times New Roman" pitchFamily="18" charset="0"/>
              <a:cs typeface="Times New Roman" pitchFamily="18" charset="0"/>
            </a:endParaRPr>
          </a:p>
        </p:txBody>
      </p:sp>
      <p:graphicFrame>
        <p:nvGraphicFramePr>
          <p:cNvPr id="8" name="Object 7"/>
          <p:cNvGraphicFramePr>
            <a:graphicFrameLocks noChangeAspect="1"/>
          </p:cNvGraphicFramePr>
          <p:nvPr/>
        </p:nvGraphicFramePr>
        <p:xfrm>
          <a:off x="6018233" y="3321050"/>
          <a:ext cx="152360" cy="215900"/>
        </p:xfrm>
        <a:graphic>
          <a:graphicData uri="http://schemas.openxmlformats.org/presentationml/2006/ole">
            <p:oleObj spid="_x0000_s67586" name="Equation" r:id="rId3" imgW="114120" imgH="215640" progId="Equation.3">
              <p:embed/>
            </p:oleObj>
          </a:graphicData>
        </a:graphic>
      </p:graphicFrame>
      <p:graphicFrame>
        <p:nvGraphicFramePr>
          <p:cNvPr id="12" name="Table 11"/>
          <p:cNvGraphicFramePr>
            <a:graphicFrameLocks noGrp="1"/>
          </p:cNvGraphicFramePr>
          <p:nvPr/>
        </p:nvGraphicFramePr>
        <p:xfrm>
          <a:off x="675816" y="1086416"/>
          <a:ext cx="10933740" cy="5064509"/>
        </p:xfrm>
        <a:graphic>
          <a:graphicData uri="http://schemas.openxmlformats.org/drawingml/2006/table">
            <a:tbl>
              <a:tblPr firstRow="1" bandRow="1">
                <a:tableStyleId>{5940675A-B579-460E-94D1-54222C63F5DA}</a:tableStyleId>
              </a:tblPr>
              <a:tblGrid>
                <a:gridCol w="2733435"/>
                <a:gridCol w="2733435"/>
                <a:gridCol w="2733435"/>
                <a:gridCol w="2733435"/>
              </a:tblGrid>
              <a:tr h="624689">
                <a:tc>
                  <a:txBody>
                    <a:bodyPr/>
                    <a:lstStyle/>
                    <a:p>
                      <a:pPr algn="ctr"/>
                      <a:endParaRPr lang="en-US" sz="2200" dirty="0">
                        <a:latin typeface="Times New Roman" pitchFamily="18" charset="0"/>
                        <a:cs typeface="Times New Roman" pitchFamily="18" charset="0"/>
                      </a:endParaRPr>
                    </a:p>
                  </a:txBody>
                  <a:tcPr marL="121888" marR="121888" anchor="ctr">
                    <a:solidFill>
                      <a:schemeClr val="accent6">
                        <a:lumMod val="20000"/>
                        <a:lumOff val="80000"/>
                      </a:schemeClr>
                    </a:solidFill>
                  </a:tcPr>
                </a:tc>
                <a:tc>
                  <a:txBody>
                    <a:bodyPr/>
                    <a:lstStyle/>
                    <a:p>
                      <a:pPr algn="ctr"/>
                      <a:r>
                        <a:rPr lang="en-US" sz="2200" dirty="0" smtClean="0">
                          <a:latin typeface="Times New Roman" pitchFamily="18" charset="0"/>
                          <a:cs typeface="Times New Roman" pitchFamily="18" charset="0"/>
                        </a:rPr>
                        <a:t>Resistance</a:t>
                      </a:r>
                      <a:endParaRPr lang="en-US" sz="2200" dirty="0">
                        <a:latin typeface="Times New Roman" pitchFamily="18" charset="0"/>
                        <a:cs typeface="Times New Roman" pitchFamily="18" charset="0"/>
                      </a:endParaRPr>
                    </a:p>
                  </a:txBody>
                  <a:tcPr marL="121888" marR="121888" anchor="ctr">
                    <a:solidFill>
                      <a:schemeClr val="accent6">
                        <a:lumMod val="20000"/>
                        <a:lumOff val="80000"/>
                      </a:schemeClr>
                    </a:solidFill>
                  </a:tcPr>
                </a:tc>
                <a:tc>
                  <a:txBody>
                    <a:bodyPr/>
                    <a:lstStyle/>
                    <a:p>
                      <a:pPr algn="ctr"/>
                      <a:r>
                        <a:rPr lang="en-US" sz="2200" dirty="0" smtClean="0">
                          <a:latin typeface="Times New Roman" pitchFamily="18" charset="0"/>
                          <a:cs typeface="Times New Roman" pitchFamily="18" charset="0"/>
                        </a:rPr>
                        <a:t>Inductance</a:t>
                      </a:r>
                      <a:endParaRPr lang="en-US" sz="2200" dirty="0">
                        <a:latin typeface="Times New Roman" pitchFamily="18" charset="0"/>
                        <a:cs typeface="Times New Roman" pitchFamily="18" charset="0"/>
                      </a:endParaRPr>
                    </a:p>
                  </a:txBody>
                  <a:tcPr marL="121888" marR="121888" anchor="ctr">
                    <a:solidFill>
                      <a:schemeClr val="accent6">
                        <a:lumMod val="20000"/>
                        <a:lumOff val="80000"/>
                      </a:schemeClr>
                    </a:solidFill>
                  </a:tcPr>
                </a:tc>
                <a:tc>
                  <a:txBody>
                    <a:bodyPr/>
                    <a:lstStyle/>
                    <a:p>
                      <a:pPr algn="ctr"/>
                      <a:r>
                        <a:rPr lang="en-US" sz="2200" dirty="0" smtClean="0">
                          <a:latin typeface="Times New Roman" pitchFamily="18" charset="0"/>
                          <a:cs typeface="Times New Roman" pitchFamily="18" charset="0"/>
                        </a:rPr>
                        <a:t>Capacitance</a:t>
                      </a:r>
                      <a:endParaRPr lang="en-US" sz="2200" dirty="0">
                        <a:latin typeface="Times New Roman" pitchFamily="18" charset="0"/>
                        <a:cs typeface="Times New Roman" pitchFamily="18" charset="0"/>
                      </a:endParaRPr>
                    </a:p>
                  </a:txBody>
                  <a:tcPr marL="121888" marR="121888" anchor="ctr">
                    <a:solidFill>
                      <a:schemeClr val="accent6">
                        <a:lumMod val="20000"/>
                        <a:lumOff val="80000"/>
                      </a:schemeClr>
                    </a:solidFill>
                  </a:tcPr>
                </a:tc>
              </a:tr>
              <a:tr h="1109955">
                <a:tc>
                  <a:txBody>
                    <a:bodyPr/>
                    <a:lstStyle/>
                    <a:p>
                      <a:pPr algn="ctr"/>
                      <a:r>
                        <a:rPr lang="en-US" sz="2200" dirty="0" smtClean="0">
                          <a:latin typeface="Times New Roman" pitchFamily="18" charset="0"/>
                          <a:cs typeface="Times New Roman" pitchFamily="18" charset="0"/>
                        </a:rPr>
                        <a:t>Symbol </a:t>
                      </a:r>
                      <a:endParaRPr lang="en-US" sz="2200" dirty="0">
                        <a:latin typeface="Times New Roman" pitchFamily="18" charset="0"/>
                        <a:cs typeface="Times New Roman" pitchFamily="18" charset="0"/>
                      </a:endParaRPr>
                    </a:p>
                  </a:txBody>
                  <a:tcPr marL="121888" marR="121888" anchor="ctr">
                    <a:solidFill>
                      <a:schemeClr val="accent6">
                        <a:lumMod val="20000"/>
                        <a:lumOff val="80000"/>
                      </a:schemeClr>
                    </a:solidFill>
                  </a:tcPr>
                </a:tc>
                <a:tc>
                  <a:txBody>
                    <a:bodyPr/>
                    <a:lstStyle/>
                    <a:p>
                      <a:pPr algn="ctr"/>
                      <a:endParaRPr lang="en-US" sz="2200" dirty="0">
                        <a:latin typeface="Times New Roman" pitchFamily="18" charset="0"/>
                        <a:cs typeface="Times New Roman" pitchFamily="18" charset="0"/>
                      </a:endParaRPr>
                    </a:p>
                  </a:txBody>
                  <a:tcPr marL="121888" marR="121888" anchor="ctr">
                    <a:solidFill>
                      <a:schemeClr val="accent6">
                        <a:lumMod val="20000"/>
                        <a:lumOff val="80000"/>
                      </a:schemeClr>
                    </a:solidFill>
                  </a:tcPr>
                </a:tc>
                <a:tc>
                  <a:txBody>
                    <a:bodyPr/>
                    <a:lstStyle/>
                    <a:p>
                      <a:pPr algn="ctr"/>
                      <a:endParaRPr lang="en-US" sz="2200" dirty="0">
                        <a:latin typeface="Times New Roman" pitchFamily="18" charset="0"/>
                        <a:cs typeface="Times New Roman" pitchFamily="18" charset="0"/>
                      </a:endParaRPr>
                    </a:p>
                  </a:txBody>
                  <a:tcPr marL="121888" marR="121888" anchor="ctr">
                    <a:solidFill>
                      <a:schemeClr val="accent6">
                        <a:lumMod val="20000"/>
                        <a:lumOff val="80000"/>
                      </a:schemeClr>
                    </a:solidFill>
                  </a:tcPr>
                </a:tc>
                <a:tc>
                  <a:txBody>
                    <a:bodyPr/>
                    <a:lstStyle/>
                    <a:p>
                      <a:pPr algn="ctr"/>
                      <a:endParaRPr lang="en-US" sz="2200" dirty="0">
                        <a:latin typeface="Times New Roman" pitchFamily="18" charset="0"/>
                        <a:cs typeface="Times New Roman" pitchFamily="18" charset="0"/>
                      </a:endParaRPr>
                    </a:p>
                  </a:txBody>
                  <a:tcPr marL="121888" marR="121888" anchor="ctr">
                    <a:solidFill>
                      <a:schemeClr val="accent6">
                        <a:lumMod val="20000"/>
                        <a:lumOff val="80000"/>
                      </a:schemeClr>
                    </a:solidFill>
                  </a:tcPr>
                </a:tc>
              </a:tr>
              <a:tr h="1109955">
                <a:tc>
                  <a:txBody>
                    <a:bodyPr/>
                    <a:lstStyle/>
                    <a:p>
                      <a:pPr marL="0" algn="ctr" defTabSz="914400" rtl="0" eaLnBrk="1" latinLnBrk="0" hangingPunct="1"/>
                      <a:r>
                        <a:rPr lang="en-US" sz="2200" kern="1200" dirty="0" smtClean="0">
                          <a:solidFill>
                            <a:schemeClr val="tx1"/>
                          </a:solidFill>
                          <a:latin typeface="Times New Roman" pitchFamily="18" charset="0"/>
                          <a:ea typeface="+mn-ea"/>
                          <a:cs typeface="Times New Roman" pitchFamily="18" charset="0"/>
                        </a:rPr>
                        <a:t>Unit</a:t>
                      </a:r>
                    </a:p>
                  </a:txBody>
                  <a:tcPr marL="121888" marR="121888" anchor="ctr">
                    <a:solidFill>
                      <a:schemeClr val="accent6">
                        <a:lumMod val="20000"/>
                        <a:lumOff val="80000"/>
                      </a:schemeClr>
                    </a:solidFill>
                  </a:tcPr>
                </a:tc>
                <a:tc>
                  <a:txBody>
                    <a:bodyPr/>
                    <a:lstStyle/>
                    <a:p>
                      <a:pPr algn="ctr"/>
                      <a:r>
                        <a:rPr lang="en-US" sz="2200" dirty="0" smtClean="0">
                          <a:latin typeface="Times New Roman" pitchFamily="18" charset="0"/>
                          <a:cs typeface="Times New Roman" pitchFamily="18" charset="0"/>
                        </a:rPr>
                        <a:t>Ohm (</a:t>
                      </a:r>
                      <a:r>
                        <a:rPr lang="el-GR" sz="2200" dirty="0" smtClean="0">
                          <a:latin typeface="Times New Roman" pitchFamily="18" charset="0"/>
                          <a:cs typeface="Times New Roman" pitchFamily="18" charset="0"/>
                        </a:rPr>
                        <a:t>Ω</a:t>
                      </a:r>
                      <a:r>
                        <a:rPr lang="en-US" sz="2200" dirty="0" smtClean="0">
                          <a:latin typeface="Times New Roman" pitchFamily="18" charset="0"/>
                          <a:cs typeface="Times New Roman" pitchFamily="18" charset="0"/>
                        </a:rPr>
                        <a:t>)</a:t>
                      </a:r>
                      <a:endParaRPr lang="en-US" sz="2200" dirty="0">
                        <a:latin typeface="Times New Roman" pitchFamily="18" charset="0"/>
                        <a:cs typeface="Times New Roman" pitchFamily="18" charset="0"/>
                      </a:endParaRPr>
                    </a:p>
                  </a:txBody>
                  <a:tcPr marL="121888" marR="121888" anchor="ctr">
                    <a:solidFill>
                      <a:schemeClr val="accent6">
                        <a:lumMod val="20000"/>
                        <a:lumOff val="80000"/>
                      </a:schemeClr>
                    </a:solidFill>
                  </a:tcPr>
                </a:tc>
                <a:tc>
                  <a:txBody>
                    <a:bodyPr/>
                    <a:lstStyle/>
                    <a:p>
                      <a:pPr algn="ctr"/>
                      <a:r>
                        <a:rPr lang="en-US" sz="2200" dirty="0" smtClean="0">
                          <a:latin typeface="Times New Roman" pitchFamily="18" charset="0"/>
                          <a:cs typeface="Times New Roman" pitchFamily="18" charset="0"/>
                        </a:rPr>
                        <a:t>Henery (H)</a:t>
                      </a:r>
                      <a:endParaRPr lang="en-US" sz="2200" dirty="0">
                        <a:latin typeface="Times New Roman" pitchFamily="18" charset="0"/>
                        <a:cs typeface="Times New Roman" pitchFamily="18" charset="0"/>
                      </a:endParaRPr>
                    </a:p>
                  </a:txBody>
                  <a:tcPr marL="121888" marR="121888" anchor="ctr">
                    <a:solidFill>
                      <a:schemeClr val="accent6">
                        <a:lumMod val="20000"/>
                        <a:lumOff val="80000"/>
                      </a:schemeClr>
                    </a:solidFill>
                  </a:tcPr>
                </a:tc>
                <a:tc>
                  <a:txBody>
                    <a:bodyPr/>
                    <a:lstStyle/>
                    <a:p>
                      <a:pPr algn="ctr"/>
                      <a:r>
                        <a:rPr lang="en-US" sz="2200" dirty="0" smtClean="0">
                          <a:latin typeface="Times New Roman" pitchFamily="18" charset="0"/>
                          <a:cs typeface="Times New Roman" pitchFamily="18" charset="0"/>
                        </a:rPr>
                        <a:t>Farad (F)</a:t>
                      </a:r>
                      <a:endParaRPr lang="en-US" sz="2200" dirty="0">
                        <a:latin typeface="Times New Roman" pitchFamily="18" charset="0"/>
                        <a:cs typeface="Times New Roman" pitchFamily="18" charset="0"/>
                      </a:endParaRPr>
                    </a:p>
                  </a:txBody>
                  <a:tcPr marL="121888" marR="121888" anchor="ctr">
                    <a:solidFill>
                      <a:schemeClr val="accent6">
                        <a:lumMod val="20000"/>
                        <a:lumOff val="80000"/>
                      </a:schemeClr>
                    </a:solidFill>
                  </a:tcPr>
                </a:tc>
              </a:tr>
              <a:tr h="1109955">
                <a:tc>
                  <a:txBody>
                    <a:bodyPr/>
                    <a:lstStyle/>
                    <a:p>
                      <a:pPr algn="ctr"/>
                      <a:r>
                        <a:rPr lang="en-US" sz="2200" dirty="0" smtClean="0">
                          <a:latin typeface="Times New Roman" pitchFamily="18" charset="0"/>
                          <a:cs typeface="Times New Roman" pitchFamily="18" charset="0"/>
                        </a:rPr>
                        <a:t>Voltage across</a:t>
                      </a:r>
                      <a:endParaRPr lang="en-US" sz="2200" dirty="0">
                        <a:latin typeface="Times New Roman" pitchFamily="18" charset="0"/>
                        <a:cs typeface="Times New Roman" pitchFamily="18" charset="0"/>
                      </a:endParaRPr>
                    </a:p>
                  </a:txBody>
                  <a:tcPr marL="121888" marR="121888" anchor="ctr">
                    <a:solidFill>
                      <a:schemeClr val="accent6">
                        <a:lumMod val="20000"/>
                        <a:lumOff val="80000"/>
                      </a:schemeClr>
                    </a:solidFill>
                  </a:tcPr>
                </a:tc>
                <a:tc>
                  <a:txBody>
                    <a:bodyPr/>
                    <a:lstStyle/>
                    <a:p>
                      <a:pPr algn="ctr"/>
                      <a:endParaRPr lang="en-US" sz="2200" dirty="0">
                        <a:latin typeface="Times New Roman" pitchFamily="18" charset="0"/>
                        <a:cs typeface="Times New Roman" pitchFamily="18" charset="0"/>
                      </a:endParaRPr>
                    </a:p>
                  </a:txBody>
                  <a:tcPr marL="121888" marR="121888" anchor="ctr">
                    <a:solidFill>
                      <a:schemeClr val="accent6">
                        <a:lumMod val="20000"/>
                        <a:lumOff val="80000"/>
                      </a:schemeClr>
                    </a:solidFill>
                  </a:tcPr>
                </a:tc>
                <a:tc>
                  <a:txBody>
                    <a:bodyPr/>
                    <a:lstStyle/>
                    <a:p>
                      <a:pPr algn="ctr"/>
                      <a:endParaRPr lang="en-US" sz="2200" dirty="0">
                        <a:latin typeface="Times New Roman" pitchFamily="18" charset="0"/>
                        <a:cs typeface="Times New Roman" pitchFamily="18" charset="0"/>
                      </a:endParaRPr>
                    </a:p>
                  </a:txBody>
                  <a:tcPr marL="121888" marR="121888" anchor="ctr">
                    <a:solidFill>
                      <a:schemeClr val="accent6">
                        <a:lumMod val="20000"/>
                        <a:lumOff val="80000"/>
                      </a:schemeClr>
                    </a:solidFill>
                  </a:tcPr>
                </a:tc>
                <a:tc>
                  <a:txBody>
                    <a:bodyPr/>
                    <a:lstStyle/>
                    <a:p>
                      <a:pPr algn="ctr"/>
                      <a:endParaRPr lang="en-US" sz="2200" dirty="0">
                        <a:latin typeface="Times New Roman" pitchFamily="18" charset="0"/>
                        <a:cs typeface="Times New Roman" pitchFamily="18" charset="0"/>
                      </a:endParaRPr>
                    </a:p>
                  </a:txBody>
                  <a:tcPr marL="121888" marR="121888" anchor="ctr">
                    <a:solidFill>
                      <a:schemeClr val="accent6">
                        <a:lumMod val="20000"/>
                        <a:lumOff val="80000"/>
                      </a:schemeClr>
                    </a:solidFill>
                  </a:tcPr>
                </a:tc>
              </a:tr>
              <a:tr h="1109955">
                <a:tc>
                  <a:txBody>
                    <a:bodyPr/>
                    <a:lstStyle/>
                    <a:p>
                      <a:pPr algn="ctr"/>
                      <a:r>
                        <a:rPr lang="en-US" sz="2200" dirty="0" smtClean="0">
                          <a:latin typeface="Times New Roman" pitchFamily="18" charset="0"/>
                          <a:cs typeface="Times New Roman" pitchFamily="18" charset="0"/>
                        </a:rPr>
                        <a:t>Current through</a:t>
                      </a:r>
                      <a:endParaRPr lang="en-US" sz="2200" dirty="0">
                        <a:latin typeface="Times New Roman" pitchFamily="18" charset="0"/>
                        <a:cs typeface="Times New Roman" pitchFamily="18" charset="0"/>
                      </a:endParaRPr>
                    </a:p>
                  </a:txBody>
                  <a:tcPr marL="121888" marR="121888" anchor="ctr">
                    <a:solidFill>
                      <a:schemeClr val="accent6">
                        <a:lumMod val="20000"/>
                        <a:lumOff val="80000"/>
                      </a:schemeClr>
                    </a:solidFill>
                  </a:tcPr>
                </a:tc>
                <a:tc>
                  <a:txBody>
                    <a:bodyPr/>
                    <a:lstStyle/>
                    <a:p>
                      <a:pPr algn="ctr"/>
                      <a:endParaRPr lang="en-US" sz="2200" dirty="0">
                        <a:latin typeface="Times New Roman" pitchFamily="18" charset="0"/>
                        <a:cs typeface="Times New Roman" pitchFamily="18" charset="0"/>
                      </a:endParaRPr>
                    </a:p>
                  </a:txBody>
                  <a:tcPr marL="121888" marR="121888" anchor="ctr">
                    <a:solidFill>
                      <a:schemeClr val="accent6">
                        <a:lumMod val="20000"/>
                        <a:lumOff val="80000"/>
                      </a:schemeClr>
                    </a:solidFill>
                  </a:tcPr>
                </a:tc>
                <a:tc>
                  <a:txBody>
                    <a:bodyPr/>
                    <a:lstStyle/>
                    <a:p>
                      <a:pPr algn="ctr"/>
                      <a:endParaRPr lang="en-US" sz="2200" dirty="0">
                        <a:latin typeface="Times New Roman" pitchFamily="18" charset="0"/>
                        <a:cs typeface="Times New Roman" pitchFamily="18" charset="0"/>
                      </a:endParaRPr>
                    </a:p>
                  </a:txBody>
                  <a:tcPr marL="121888" marR="121888" anchor="ctr">
                    <a:solidFill>
                      <a:schemeClr val="accent6">
                        <a:lumMod val="20000"/>
                        <a:lumOff val="80000"/>
                      </a:schemeClr>
                    </a:solidFill>
                  </a:tcPr>
                </a:tc>
                <a:tc>
                  <a:txBody>
                    <a:bodyPr/>
                    <a:lstStyle/>
                    <a:p>
                      <a:pPr algn="ctr"/>
                      <a:endParaRPr lang="en-US" sz="2200" dirty="0">
                        <a:latin typeface="Times New Roman" pitchFamily="18" charset="0"/>
                        <a:cs typeface="Times New Roman" pitchFamily="18" charset="0"/>
                      </a:endParaRPr>
                    </a:p>
                  </a:txBody>
                  <a:tcPr marL="121888" marR="121888" anchor="ctr">
                    <a:solidFill>
                      <a:schemeClr val="accent6">
                        <a:lumMod val="20000"/>
                        <a:lumOff val="80000"/>
                      </a:schemeClr>
                    </a:solidFill>
                  </a:tcPr>
                </a:tc>
              </a:tr>
            </a:tbl>
          </a:graphicData>
        </a:graphic>
      </p:graphicFrame>
      <p:grpSp>
        <p:nvGrpSpPr>
          <p:cNvPr id="67601" name="Group 17"/>
          <p:cNvGrpSpPr>
            <a:grpSpLocks noGrp="1"/>
          </p:cNvGrpSpPr>
          <p:nvPr>
            <p:ph type="sldNum" sz="quarter" idx="12"/>
          </p:nvPr>
        </p:nvGrpSpPr>
        <p:grpSpPr bwMode="auto">
          <a:xfrm>
            <a:off x="3885944" y="2172832"/>
            <a:ext cx="1812088" cy="298765"/>
            <a:chOff x="536" y="2700"/>
            <a:chExt cx="9610" cy="1440"/>
          </a:xfrm>
        </p:grpSpPr>
        <p:cxnSp>
          <p:nvCxnSpPr>
            <p:cNvPr id="67602" name="AutoShape 18"/>
            <p:cNvCxnSpPr>
              <a:cxnSpLocks noChangeShapeType="1"/>
            </p:cNvCxnSpPr>
            <p:nvPr/>
          </p:nvCxnSpPr>
          <p:spPr bwMode="auto">
            <a:xfrm flipV="1">
              <a:off x="3240" y="2700"/>
              <a:ext cx="360" cy="720"/>
            </a:xfrm>
            <a:prstGeom prst="straightConnector1">
              <a:avLst/>
            </a:prstGeom>
            <a:noFill/>
            <a:ln w="15875">
              <a:solidFill>
                <a:schemeClr val="tx1"/>
              </a:solidFill>
              <a:round/>
              <a:headEnd/>
              <a:tailEnd/>
            </a:ln>
          </p:spPr>
        </p:cxnSp>
        <p:cxnSp>
          <p:nvCxnSpPr>
            <p:cNvPr id="67603" name="AutoShape 19"/>
            <p:cNvCxnSpPr>
              <a:cxnSpLocks noChangeShapeType="1"/>
            </p:cNvCxnSpPr>
            <p:nvPr/>
          </p:nvCxnSpPr>
          <p:spPr bwMode="auto">
            <a:xfrm>
              <a:off x="3600" y="2700"/>
              <a:ext cx="720" cy="1440"/>
            </a:xfrm>
            <a:prstGeom prst="straightConnector1">
              <a:avLst/>
            </a:prstGeom>
            <a:noFill/>
            <a:ln w="15875">
              <a:solidFill>
                <a:schemeClr val="tx1"/>
              </a:solidFill>
              <a:round/>
              <a:headEnd/>
              <a:tailEnd/>
            </a:ln>
          </p:spPr>
        </p:cxnSp>
        <p:cxnSp>
          <p:nvCxnSpPr>
            <p:cNvPr id="67604" name="AutoShape 20"/>
            <p:cNvCxnSpPr>
              <a:cxnSpLocks noChangeShapeType="1"/>
            </p:cNvCxnSpPr>
            <p:nvPr/>
          </p:nvCxnSpPr>
          <p:spPr bwMode="auto">
            <a:xfrm flipV="1">
              <a:off x="4320" y="2700"/>
              <a:ext cx="720" cy="1440"/>
            </a:xfrm>
            <a:prstGeom prst="straightConnector1">
              <a:avLst/>
            </a:prstGeom>
            <a:noFill/>
            <a:ln w="15875">
              <a:solidFill>
                <a:schemeClr val="tx1"/>
              </a:solidFill>
              <a:round/>
              <a:headEnd/>
              <a:tailEnd/>
            </a:ln>
          </p:spPr>
        </p:cxnSp>
        <p:cxnSp>
          <p:nvCxnSpPr>
            <p:cNvPr id="67605" name="AutoShape 21"/>
            <p:cNvCxnSpPr>
              <a:cxnSpLocks noChangeShapeType="1"/>
            </p:cNvCxnSpPr>
            <p:nvPr/>
          </p:nvCxnSpPr>
          <p:spPr bwMode="auto">
            <a:xfrm flipH="1" flipV="1">
              <a:off x="5040" y="2700"/>
              <a:ext cx="720" cy="1440"/>
            </a:xfrm>
            <a:prstGeom prst="straightConnector1">
              <a:avLst/>
            </a:prstGeom>
            <a:noFill/>
            <a:ln w="15875">
              <a:solidFill>
                <a:schemeClr val="tx1"/>
              </a:solidFill>
              <a:round/>
              <a:headEnd/>
              <a:tailEnd/>
            </a:ln>
          </p:spPr>
        </p:cxnSp>
        <p:cxnSp>
          <p:nvCxnSpPr>
            <p:cNvPr id="67606" name="AutoShape 22"/>
            <p:cNvCxnSpPr>
              <a:cxnSpLocks noChangeShapeType="1"/>
            </p:cNvCxnSpPr>
            <p:nvPr/>
          </p:nvCxnSpPr>
          <p:spPr bwMode="auto">
            <a:xfrm flipH="1">
              <a:off x="5760" y="2700"/>
              <a:ext cx="720" cy="1440"/>
            </a:xfrm>
            <a:prstGeom prst="straightConnector1">
              <a:avLst/>
            </a:prstGeom>
            <a:noFill/>
            <a:ln w="15875">
              <a:solidFill>
                <a:schemeClr val="tx1"/>
              </a:solidFill>
              <a:round/>
              <a:headEnd/>
              <a:tailEnd/>
            </a:ln>
          </p:spPr>
        </p:cxnSp>
        <p:cxnSp>
          <p:nvCxnSpPr>
            <p:cNvPr id="67607" name="AutoShape 23"/>
            <p:cNvCxnSpPr>
              <a:cxnSpLocks noChangeShapeType="1"/>
            </p:cNvCxnSpPr>
            <p:nvPr/>
          </p:nvCxnSpPr>
          <p:spPr bwMode="auto">
            <a:xfrm flipH="1" flipV="1">
              <a:off x="6480" y="2700"/>
              <a:ext cx="720" cy="1440"/>
            </a:xfrm>
            <a:prstGeom prst="straightConnector1">
              <a:avLst/>
            </a:prstGeom>
            <a:noFill/>
            <a:ln w="15875">
              <a:solidFill>
                <a:schemeClr val="tx1"/>
              </a:solidFill>
              <a:round/>
              <a:headEnd/>
              <a:tailEnd/>
            </a:ln>
          </p:spPr>
        </p:cxnSp>
        <p:cxnSp>
          <p:nvCxnSpPr>
            <p:cNvPr id="67608" name="AutoShape 24"/>
            <p:cNvCxnSpPr>
              <a:cxnSpLocks noChangeShapeType="1"/>
            </p:cNvCxnSpPr>
            <p:nvPr/>
          </p:nvCxnSpPr>
          <p:spPr bwMode="auto">
            <a:xfrm>
              <a:off x="2520" y="3420"/>
              <a:ext cx="720" cy="0"/>
            </a:xfrm>
            <a:prstGeom prst="straightConnector1">
              <a:avLst/>
            </a:prstGeom>
            <a:noFill/>
            <a:ln w="15875">
              <a:solidFill>
                <a:schemeClr val="tx1"/>
              </a:solidFill>
              <a:round/>
              <a:headEnd/>
              <a:tailEnd/>
            </a:ln>
          </p:spPr>
        </p:cxnSp>
        <p:cxnSp>
          <p:nvCxnSpPr>
            <p:cNvPr id="67609" name="AutoShape 25"/>
            <p:cNvCxnSpPr>
              <a:cxnSpLocks noChangeShapeType="1"/>
            </p:cNvCxnSpPr>
            <p:nvPr/>
          </p:nvCxnSpPr>
          <p:spPr bwMode="auto">
            <a:xfrm flipV="1">
              <a:off x="3240" y="2700"/>
              <a:ext cx="360" cy="720"/>
            </a:xfrm>
            <a:prstGeom prst="straightConnector1">
              <a:avLst/>
            </a:prstGeom>
            <a:noFill/>
            <a:ln w="15875">
              <a:solidFill>
                <a:schemeClr val="tx1"/>
              </a:solidFill>
              <a:round/>
              <a:headEnd/>
              <a:tailEnd/>
            </a:ln>
          </p:spPr>
        </p:cxnSp>
        <p:cxnSp>
          <p:nvCxnSpPr>
            <p:cNvPr id="67610" name="AutoShape 26"/>
            <p:cNvCxnSpPr>
              <a:cxnSpLocks noChangeShapeType="1"/>
            </p:cNvCxnSpPr>
            <p:nvPr/>
          </p:nvCxnSpPr>
          <p:spPr bwMode="auto">
            <a:xfrm>
              <a:off x="3600" y="2700"/>
              <a:ext cx="720" cy="1440"/>
            </a:xfrm>
            <a:prstGeom prst="straightConnector1">
              <a:avLst/>
            </a:prstGeom>
            <a:noFill/>
            <a:ln w="15875">
              <a:solidFill>
                <a:schemeClr val="tx1"/>
              </a:solidFill>
              <a:round/>
              <a:headEnd/>
              <a:tailEnd/>
            </a:ln>
          </p:spPr>
        </p:cxnSp>
        <p:cxnSp>
          <p:nvCxnSpPr>
            <p:cNvPr id="67611" name="AutoShape 27"/>
            <p:cNvCxnSpPr>
              <a:cxnSpLocks noChangeShapeType="1"/>
            </p:cNvCxnSpPr>
            <p:nvPr/>
          </p:nvCxnSpPr>
          <p:spPr bwMode="auto">
            <a:xfrm>
              <a:off x="536" y="3420"/>
              <a:ext cx="2586" cy="0"/>
            </a:xfrm>
            <a:prstGeom prst="straightConnector1">
              <a:avLst/>
            </a:prstGeom>
            <a:noFill/>
            <a:ln w="15875">
              <a:solidFill>
                <a:schemeClr val="tx1"/>
              </a:solidFill>
              <a:round/>
              <a:headEnd/>
              <a:tailEnd/>
            </a:ln>
          </p:spPr>
        </p:cxnSp>
        <p:cxnSp>
          <p:nvCxnSpPr>
            <p:cNvPr id="67612" name="AutoShape 28"/>
            <p:cNvCxnSpPr>
              <a:cxnSpLocks noChangeShapeType="1"/>
            </p:cNvCxnSpPr>
            <p:nvPr/>
          </p:nvCxnSpPr>
          <p:spPr bwMode="auto">
            <a:xfrm flipV="1">
              <a:off x="7200" y="3420"/>
              <a:ext cx="360" cy="720"/>
            </a:xfrm>
            <a:prstGeom prst="straightConnector1">
              <a:avLst/>
            </a:prstGeom>
            <a:noFill/>
            <a:ln w="15875">
              <a:solidFill>
                <a:schemeClr val="tx1"/>
              </a:solidFill>
              <a:round/>
              <a:headEnd/>
              <a:tailEnd/>
            </a:ln>
          </p:spPr>
        </p:cxnSp>
        <p:cxnSp>
          <p:nvCxnSpPr>
            <p:cNvPr id="67613" name="AutoShape 29"/>
            <p:cNvCxnSpPr>
              <a:cxnSpLocks noChangeShapeType="1"/>
            </p:cNvCxnSpPr>
            <p:nvPr/>
          </p:nvCxnSpPr>
          <p:spPr bwMode="auto">
            <a:xfrm>
              <a:off x="7560" y="3420"/>
              <a:ext cx="2586" cy="0"/>
            </a:xfrm>
            <a:prstGeom prst="straightConnector1">
              <a:avLst/>
            </a:prstGeom>
            <a:noFill/>
            <a:ln w="15875">
              <a:solidFill>
                <a:schemeClr val="tx1"/>
              </a:solidFill>
              <a:round/>
              <a:headEnd/>
              <a:tailEnd/>
            </a:ln>
          </p:spPr>
        </p:cxnSp>
      </p:grpSp>
      <p:grpSp>
        <p:nvGrpSpPr>
          <p:cNvPr id="67614" name="Group 30"/>
          <p:cNvGrpSpPr>
            <a:grpSpLocks/>
          </p:cNvGrpSpPr>
          <p:nvPr/>
        </p:nvGrpSpPr>
        <p:grpSpPr bwMode="auto">
          <a:xfrm>
            <a:off x="6492607" y="2167173"/>
            <a:ext cx="1996680" cy="358744"/>
            <a:chOff x="317" y="10440"/>
            <a:chExt cx="12441" cy="2347"/>
          </a:xfrm>
        </p:grpSpPr>
        <p:grpSp>
          <p:nvGrpSpPr>
            <p:cNvPr id="67615" name="Group 31"/>
            <p:cNvGrpSpPr>
              <a:grpSpLocks/>
            </p:cNvGrpSpPr>
            <p:nvPr/>
          </p:nvGrpSpPr>
          <p:grpSpPr bwMode="auto">
            <a:xfrm rot="16200000">
              <a:off x="3685" y="10164"/>
              <a:ext cx="1260" cy="1811"/>
              <a:chOff x="5220" y="9900"/>
              <a:chExt cx="900" cy="2160"/>
            </a:xfrm>
          </p:grpSpPr>
          <p:sp>
            <p:nvSpPr>
              <p:cNvPr id="67616" name="Arc 32"/>
              <p:cNvSpPr>
                <a:spLocks/>
              </p:cNvSpPr>
              <p:nvPr/>
            </p:nvSpPr>
            <p:spPr bwMode="auto">
              <a:xfrm>
                <a:off x="5220" y="990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58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7617" name="Arc 33"/>
              <p:cNvSpPr>
                <a:spLocks/>
              </p:cNvSpPr>
              <p:nvPr/>
            </p:nvSpPr>
            <p:spPr bwMode="auto">
              <a:xfrm flipV="1">
                <a:off x="5220" y="1098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58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67618" name="Group 34"/>
            <p:cNvGrpSpPr>
              <a:grpSpLocks/>
            </p:cNvGrpSpPr>
            <p:nvPr/>
          </p:nvGrpSpPr>
          <p:grpSpPr bwMode="auto">
            <a:xfrm rot="16200000">
              <a:off x="5040" y="9720"/>
              <a:ext cx="1260" cy="2700"/>
              <a:chOff x="5220" y="9900"/>
              <a:chExt cx="900" cy="2160"/>
            </a:xfrm>
          </p:grpSpPr>
          <p:sp>
            <p:nvSpPr>
              <p:cNvPr id="67619" name="Arc 35"/>
              <p:cNvSpPr>
                <a:spLocks/>
              </p:cNvSpPr>
              <p:nvPr/>
            </p:nvSpPr>
            <p:spPr bwMode="auto">
              <a:xfrm>
                <a:off x="5220" y="990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58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7620" name="Arc 36"/>
              <p:cNvSpPr>
                <a:spLocks/>
              </p:cNvSpPr>
              <p:nvPr/>
            </p:nvSpPr>
            <p:spPr bwMode="auto">
              <a:xfrm flipV="1">
                <a:off x="5220" y="1098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58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67621" name="Group 37"/>
            <p:cNvGrpSpPr>
              <a:grpSpLocks/>
            </p:cNvGrpSpPr>
            <p:nvPr/>
          </p:nvGrpSpPr>
          <p:grpSpPr bwMode="auto">
            <a:xfrm rot="16200000">
              <a:off x="6840" y="9720"/>
              <a:ext cx="1260" cy="2700"/>
              <a:chOff x="5220" y="9900"/>
              <a:chExt cx="900" cy="2160"/>
            </a:xfrm>
          </p:grpSpPr>
          <p:sp>
            <p:nvSpPr>
              <p:cNvPr id="67622" name="Arc 38"/>
              <p:cNvSpPr>
                <a:spLocks/>
              </p:cNvSpPr>
              <p:nvPr/>
            </p:nvSpPr>
            <p:spPr bwMode="auto">
              <a:xfrm>
                <a:off x="5220" y="990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58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7623" name="Arc 39"/>
              <p:cNvSpPr>
                <a:spLocks/>
              </p:cNvSpPr>
              <p:nvPr/>
            </p:nvSpPr>
            <p:spPr bwMode="auto">
              <a:xfrm flipV="1">
                <a:off x="5220" y="1098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58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67624" name="Group 40"/>
            <p:cNvGrpSpPr>
              <a:grpSpLocks/>
            </p:cNvGrpSpPr>
            <p:nvPr/>
          </p:nvGrpSpPr>
          <p:grpSpPr bwMode="auto">
            <a:xfrm rot="16200000">
              <a:off x="8191" y="10169"/>
              <a:ext cx="1257" cy="1800"/>
              <a:chOff x="5220" y="9900"/>
              <a:chExt cx="900" cy="2160"/>
            </a:xfrm>
          </p:grpSpPr>
          <p:sp>
            <p:nvSpPr>
              <p:cNvPr id="67625" name="Arc 41"/>
              <p:cNvSpPr>
                <a:spLocks/>
              </p:cNvSpPr>
              <p:nvPr/>
            </p:nvSpPr>
            <p:spPr bwMode="auto">
              <a:xfrm>
                <a:off x="5220" y="990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58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7626" name="Arc 42"/>
              <p:cNvSpPr>
                <a:spLocks/>
              </p:cNvSpPr>
              <p:nvPr/>
            </p:nvSpPr>
            <p:spPr bwMode="auto">
              <a:xfrm flipV="1">
                <a:off x="5220" y="1098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58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grpSp>
        <p:cxnSp>
          <p:nvCxnSpPr>
            <p:cNvPr id="67627" name="AutoShape 43"/>
            <p:cNvCxnSpPr>
              <a:cxnSpLocks noChangeShapeType="1"/>
            </p:cNvCxnSpPr>
            <p:nvPr/>
          </p:nvCxnSpPr>
          <p:spPr bwMode="auto">
            <a:xfrm flipH="1">
              <a:off x="317" y="11704"/>
              <a:ext cx="3038" cy="0"/>
            </a:xfrm>
            <a:prstGeom prst="straightConnector1">
              <a:avLst/>
            </a:prstGeom>
            <a:noFill/>
            <a:ln w="15875">
              <a:solidFill>
                <a:srgbClr val="000000"/>
              </a:solidFill>
              <a:round/>
              <a:headEnd/>
              <a:tailEnd/>
            </a:ln>
          </p:spPr>
        </p:cxnSp>
        <p:cxnSp>
          <p:nvCxnSpPr>
            <p:cNvPr id="67628" name="AutoShape 44"/>
            <p:cNvCxnSpPr>
              <a:cxnSpLocks noChangeShapeType="1"/>
            </p:cNvCxnSpPr>
            <p:nvPr/>
          </p:nvCxnSpPr>
          <p:spPr bwMode="auto">
            <a:xfrm flipH="1">
              <a:off x="9720" y="11699"/>
              <a:ext cx="3038" cy="0"/>
            </a:xfrm>
            <a:prstGeom prst="straightConnector1">
              <a:avLst/>
            </a:prstGeom>
            <a:noFill/>
            <a:ln w="15875">
              <a:solidFill>
                <a:srgbClr val="000000"/>
              </a:solidFill>
              <a:round/>
              <a:headEnd/>
              <a:tailEnd/>
            </a:ln>
          </p:spPr>
        </p:cxnSp>
        <p:grpSp>
          <p:nvGrpSpPr>
            <p:cNvPr id="67629" name="Group 45"/>
            <p:cNvGrpSpPr>
              <a:grpSpLocks/>
            </p:cNvGrpSpPr>
            <p:nvPr/>
          </p:nvGrpSpPr>
          <p:grpSpPr bwMode="auto">
            <a:xfrm rot="5400000">
              <a:off x="4231" y="11786"/>
              <a:ext cx="1079" cy="901"/>
              <a:chOff x="5220" y="9900"/>
              <a:chExt cx="900" cy="2160"/>
            </a:xfrm>
          </p:grpSpPr>
          <p:sp>
            <p:nvSpPr>
              <p:cNvPr id="67630" name="Arc 46"/>
              <p:cNvSpPr>
                <a:spLocks/>
              </p:cNvSpPr>
              <p:nvPr/>
            </p:nvSpPr>
            <p:spPr bwMode="auto">
              <a:xfrm>
                <a:off x="5220" y="990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58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7631" name="Arc 47"/>
              <p:cNvSpPr>
                <a:spLocks/>
              </p:cNvSpPr>
              <p:nvPr/>
            </p:nvSpPr>
            <p:spPr bwMode="auto">
              <a:xfrm flipV="1">
                <a:off x="5220" y="1098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58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67632" name="Group 48"/>
            <p:cNvGrpSpPr>
              <a:grpSpLocks/>
            </p:cNvGrpSpPr>
            <p:nvPr/>
          </p:nvGrpSpPr>
          <p:grpSpPr bwMode="auto">
            <a:xfrm rot="5400000">
              <a:off x="6031" y="11789"/>
              <a:ext cx="1079" cy="901"/>
              <a:chOff x="5220" y="9900"/>
              <a:chExt cx="900" cy="2160"/>
            </a:xfrm>
          </p:grpSpPr>
          <p:sp>
            <p:nvSpPr>
              <p:cNvPr id="67633" name="Arc 49"/>
              <p:cNvSpPr>
                <a:spLocks/>
              </p:cNvSpPr>
              <p:nvPr/>
            </p:nvSpPr>
            <p:spPr bwMode="auto">
              <a:xfrm>
                <a:off x="5220" y="990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58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7634" name="Arc 50"/>
              <p:cNvSpPr>
                <a:spLocks/>
              </p:cNvSpPr>
              <p:nvPr/>
            </p:nvSpPr>
            <p:spPr bwMode="auto">
              <a:xfrm flipV="1">
                <a:off x="5220" y="1098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58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67635" name="Group 51"/>
            <p:cNvGrpSpPr>
              <a:grpSpLocks/>
            </p:cNvGrpSpPr>
            <p:nvPr/>
          </p:nvGrpSpPr>
          <p:grpSpPr bwMode="auto">
            <a:xfrm rot="5400000">
              <a:off x="7831" y="11797"/>
              <a:ext cx="1079" cy="901"/>
              <a:chOff x="5220" y="9900"/>
              <a:chExt cx="900" cy="2160"/>
            </a:xfrm>
          </p:grpSpPr>
          <p:sp>
            <p:nvSpPr>
              <p:cNvPr id="67636" name="Arc 52"/>
              <p:cNvSpPr>
                <a:spLocks/>
              </p:cNvSpPr>
              <p:nvPr/>
            </p:nvSpPr>
            <p:spPr bwMode="auto">
              <a:xfrm>
                <a:off x="5220" y="990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58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7637" name="Arc 53"/>
              <p:cNvSpPr>
                <a:spLocks/>
              </p:cNvSpPr>
              <p:nvPr/>
            </p:nvSpPr>
            <p:spPr bwMode="auto">
              <a:xfrm flipV="1">
                <a:off x="5220" y="1098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58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grpSp>
        <p:nvGrpSpPr>
          <p:cNvPr id="67638" name="Group 54"/>
          <p:cNvGrpSpPr>
            <a:grpSpLocks/>
          </p:cNvGrpSpPr>
          <p:nvPr/>
        </p:nvGrpSpPr>
        <p:grpSpPr bwMode="auto">
          <a:xfrm>
            <a:off x="9606242" y="2145668"/>
            <a:ext cx="1182679" cy="371195"/>
            <a:chOff x="3971" y="5580"/>
            <a:chExt cx="1969" cy="1080"/>
          </a:xfrm>
        </p:grpSpPr>
        <p:cxnSp>
          <p:nvCxnSpPr>
            <p:cNvPr id="67639" name="AutoShape 55"/>
            <p:cNvCxnSpPr>
              <a:cxnSpLocks noChangeShapeType="1"/>
            </p:cNvCxnSpPr>
            <p:nvPr/>
          </p:nvCxnSpPr>
          <p:spPr bwMode="auto">
            <a:xfrm>
              <a:off x="4860" y="5580"/>
              <a:ext cx="0" cy="1077"/>
            </a:xfrm>
            <a:prstGeom prst="straightConnector1">
              <a:avLst/>
            </a:prstGeom>
            <a:noFill/>
            <a:ln w="15875">
              <a:solidFill>
                <a:srgbClr val="000000"/>
              </a:solidFill>
              <a:round/>
              <a:headEnd/>
              <a:tailEnd/>
            </a:ln>
          </p:spPr>
        </p:cxnSp>
        <p:grpSp>
          <p:nvGrpSpPr>
            <p:cNvPr id="67640" name="Group 56"/>
            <p:cNvGrpSpPr>
              <a:grpSpLocks/>
            </p:cNvGrpSpPr>
            <p:nvPr/>
          </p:nvGrpSpPr>
          <p:grpSpPr bwMode="auto">
            <a:xfrm rot="10800000">
              <a:off x="5040" y="5580"/>
              <a:ext cx="180" cy="1080"/>
              <a:chOff x="5040" y="5580"/>
              <a:chExt cx="180" cy="1080"/>
            </a:xfrm>
          </p:grpSpPr>
          <p:sp>
            <p:nvSpPr>
              <p:cNvPr id="67641" name="Arc 57"/>
              <p:cNvSpPr>
                <a:spLocks/>
              </p:cNvSpPr>
              <p:nvPr/>
            </p:nvSpPr>
            <p:spPr bwMode="auto">
              <a:xfrm>
                <a:off x="5040" y="5580"/>
                <a:ext cx="180" cy="5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58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7642" name="Arc 58"/>
              <p:cNvSpPr>
                <a:spLocks/>
              </p:cNvSpPr>
              <p:nvPr/>
            </p:nvSpPr>
            <p:spPr bwMode="auto">
              <a:xfrm flipV="1">
                <a:off x="5040" y="6120"/>
                <a:ext cx="180" cy="54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58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grpSp>
        <p:cxnSp>
          <p:nvCxnSpPr>
            <p:cNvPr id="67643" name="AutoShape 59"/>
            <p:cNvCxnSpPr>
              <a:cxnSpLocks noChangeShapeType="1"/>
            </p:cNvCxnSpPr>
            <p:nvPr/>
          </p:nvCxnSpPr>
          <p:spPr bwMode="auto">
            <a:xfrm>
              <a:off x="5040" y="6120"/>
              <a:ext cx="900" cy="0"/>
            </a:xfrm>
            <a:prstGeom prst="straightConnector1">
              <a:avLst/>
            </a:prstGeom>
            <a:noFill/>
            <a:ln w="15875">
              <a:solidFill>
                <a:srgbClr val="000000"/>
              </a:solidFill>
              <a:round/>
              <a:headEnd/>
              <a:tailEnd/>
            </a:ln>
          </p:spPr>
        </p:cxnSp>
        <p:cxnSp>
          <p:nvCxnSpPr>
            <p:cNvPr id="67644" name="AutoShape 60"/>
            <p:cNvCxnSpPr>
              <a:cxnSpLocks noChangeShapeType="1"/>
            </p:cNvCxnSpPr>
            <p:nvPr/>
          </p:nvCxnSpPr>
          <p:spPr bwMode="auto">
            <a:xfrm>
              <a:off x="3971" y="6120"/>
              <a:ext cx="900" cy="0"/>
            </a:xfrm>
            <a:prstGeom prst="straightConnector1">
              <a:avLst/>
            </a:prstGeom>
            <a:noFill/>
            <a:ln w="15875">
              <a:solidFill>
                <a:srgbClr val="000000"/>
              </a:solidFill>
              <a:round/>
              <a:headEnd/>
              <a:tailEnd/>
            </a:ln>
          </p:spPr>
        </p:cxnSp>
      </p:grpSp>
      <p:graphicFrame>
        <p:nvGraphicFramePr>
          <p:cNvPr id="68" name="Object 67"/>
          <p:cNvGraphicFramePr>
            <a:graphicFrameLocks noChangeAspect="1"/>
          </p:cNvGraphicFramePr>
          <p:nvPr/>
        </p:nvGraphicFramePr>
        <p:xfrm>
          <a:off x="6714435" y="4114801"/>
          <a:ext cx="1692892" cy="804863"/>
        </p:xfrm>
        <a:graphic>
          <a:graphicData uri="http://schemas.openxmlformats.org/presentationml/2006/ole">
            <p:oleObj spid="_x0000_s67645" name="Equation" r:id="rId4" imgW="622080" imgH="393480" progId="Equation.3">
              <p:embed/>
            </p:oleObj>
          </a:graphicData>
        </a:graphic>
      </p:graphicFrame>
      <p:graphicFrame>
        <p:nvGraphicFramePr>
          <p:cNvPr id="67646" name="Object 62"/>
          <p:cNvGraphicFramePr>
            <a:graphicFrameLocks noChangeAspect="1"/>
          </p:cNvGraphicFramePr>
          <p:nvPr/>
        </p:nvGraphicFramePr>
        <p:xfrm>
          <a:off x="9162781" y="4113214"/>
          <a:ext cx="2240967" cy="801687"/>
        </p:xfrm>
        <a:graphic>
          <a:graphicData uri="http://schemas.openxmlformats.org/presentationml/2006/ole">
            <p:oleObj spid="_x0000_s67646" name="Equation" r:id="rId5" imgW="825480" imgH="393480" progId="Equation.3">
              <p:embed/>
            </p:oleObj>
          </a:graphicData>
        </a:graphic>
      </p:graphicFrame>
      <p:graphicFrame>
        <p:nvGraphicFramePr>
          <p:cNvPr id="67647" name="Object 63"/>
          <p:cNvGraphicFramePr>
            <a:graphicFrameLocks noChangeAspect="1"/>
          </p:cNvGraphicFramePr>
          <p:nvPr/>
        </p:nvGraphicFramePr>
        <p:xfrm>
          <a:off x="4077755" y="4257675"/>
          <a:ext cx="1479164" cy="439738"/>
        </p:xfrm>
        <a:graphic>
          <a:graphicData uri="http://schemas.openxmlformats.org/presentationml/2006/ole">
            <p:oleObj spid="_x0000_s67647" name="Equation" r:id="rId6" imgW="545760" imgH="215640" progId="Equation.3">
              <p:embed/>
            </p:oleObj>
          </a:graphicData>
        </a:graphic>
      </p:graphicFrame>
      <p:graphicFrame>
        <p:nvGraphicFramePr>
          <p:cNvPr id="67648" name="Object 64"/>
          <p:cNvGraphicFramePr>
            <a:graphicFrameLocks noChangeAspect="1"/>
          </p:cNvGraphicFramePr>
          <p:nvPr/>
        </p:nvGraphicFramePr>
        <p:xfrm>
          <a:off x="6361044" y="5189539"/>
          <a:ext cx="2230386" cy="796925"/>
        </p:xfrm>
        <a:graphic>
          <a:graphicData uri="http://schemas.openxmlformats.org/presentationml/2006/ole">
            <p:oleObj spid="_x0000_s67648" name="Equation" r:id="rId7" imgW="825480" imgH="393480" progId="Equation.3">
              <p:embed/>
            </p:oleObj>
          </a:graphicData>
        </a:graphic>
      </p:graphicFrame>
      <p:graphicFrame>
        <p:nvGraphicFramePr>
          <p:cNvPr id="67649" name="Object 65"/>
          <p:cNvGraphicFramePr>
            <a:graphicFrameLocks noChangeAspect="1"/>
          </p:cNvGraphicFramePr>
          <p:nvPr/>
        </p:nvGraphicFramePr>
        <p:xfrm>
          <a:off x="9368044" y="5191126"/>
          <a:ext cx="1692892" cy="804863"/>
        </p:xfrm>
        <a:graphic>
          <a:graphicData uri="http://schemas.openxmlformats.org/presentationml/2006/ole">
            <p:oleObj spid="_x0000_s67649" name="Equation" r:id="rId8" imgW="622080" imgH="393480" progId="Equation.3">
              <p:embed/>
            </p:oleObj>
          </a:graphicData>
        </a:graphic>
      </p:graphicFrame>
      <p:graphicFrame>
        <p:nvGraphicFramePr>
          <p:cNvPr id="67650" name="Object 66"/>
          <p:cNvGraphicFramePr>
            <a:graphicFrameLocks noChangeAspect="1"/>
          </p:cNvGraphicFramePr>
          <p:nvPr/>
        </p:nvGraphicFramePr>
        <p:xfrm>
          <a:off x="4278786" y="5199064"/>
          <a:ext cx="1242160" cy="801687"/>
        </p:xfrm>
        <a:graphic>
          <a:graphicData uri="http://schemas.openxmlformats.org/presentationml/2006/ole">
            <p:oleObj spid="_x0000_s67650" name="Equation" r:id="rId9" imgW="457200" imgH="393480" progId="Equation.3">
              <p:embed/>
            </p:oleObj>
          </a:graphicData>
        </a:graphic>
      </p:graphicFrame>
      <p:sp>
        <p:nvSpPr>
          <p:cNvPr id="74" name="TextBox 73"/>
          <p:cNvSpPr txBox="1"/>
          <p:nvPr/>
        </p:nvSpPr>
        <p:spPr>
          <a:xfrm>
            <a:off x="4585873" y="1765426"/>
            <a:ext cx="603407" cy="430887"/>
          </a:xfrm>
          <a:prstGeom prst="rect">
            <a:avLst/>
          </a:prstGeom>
          <a:noFill/>
        </p:spPr>
        <p:txBody>
          <a:bodyPr wrap="square" rtlCol="0">
            <a:spAutoFit/>
          </a:bodyPr>
          <a:lstStyle/>
          <a:p>
            <a:r>
              <a:rPr lang="en-US" sz="2200" dirty="0" smtClean="0">
                <a:latin typeface="Times New Roman" pitchFamily="18" charset="0"/>
                <a:cs typeface="Times New Roman" pitchFamily="18" charset="0"/>
              </a:rPr>
              <a:t>R</a:t>
            </a:r>
            <a:endParaRPr lang="en-US" sz="2200" dirty="0">
              <a:latin typeface="Times New Roman" pitchFamily="18" charset="0"/>
              <a:cs typeface="Times New Roman" pitchFamily="18" charset="0"/>
            </a:endParaRPr>
          </a:p>
        </p:txBody>
      </p:sp>
      <p:sp>
        <p:nvSpPr>
          <p:cNvPr id="75" name="TextBox 74"/>
          <p:cNvSpPr txBox="1"/>
          <p:nvPr/>
        </p:nvSpPr>
        <p:spPr>
          <a:xfrm>
            <a:off x="7190580" y="1745811"/>
            <a:ext cx="603407" cy="430887"/>
          </a:xfrm>
          <a:prstGeom prst="rect">
            <a:avLst/>
          </a:prstGeom>
          <a:noFill/>
        </p:spPr>
        <p:txBody>
          <a:bodyPr wrap="square" rtlCol="0">
            <a:spAutoFit/>
          </a:bodyPr>
          <a:lstStyle/>
          <a:p>
            <a:r>
              <a:rPr lang="en-US" sz="2200" dirty="0" smtClean="0">
                <a:latin typeface="Times New Roman" pitchFamily="18" charset="0"/>
                <a:cs typeface="Times New Roman" pitchFamily="18" charset="0"/>
              </a:rPr>
              <a:t>L</a:t>
            </a:r>
            <a:endParaRPr lang="en-US" sz="2200" dirty="0">
              <a:latin typeface="Times New Roman" pitchFamily="18" charset="0"/>
              <a:cs typeface="Times New Roman" pitchFamily="18" charset="0"/>
            </a:endParaRPr>
          </a:p>
        </p:txBody>
      </p:sp>
      <p:sp>
        <p:nvSpPr>
          <p:cNvPr id="76" name="TextBox 75"/>
          <p:cNvSpPr txBox="1"/>
          <p:nvPr/>
        </p:nvSpPr>
        <p:spPr>
          <a:xfrm>
            <a:off x="9978321" y="1763918"/>
            <a:ext cx="603407" cy="430887"/>
          </a:xfrm>
          <a:prstGeom prst="rect">
            <a:avLst/>
          </a:prstGeom>
          <a:noFill/>
        </p:spPr>
        <p:txBody>
          <a:bodyPr wrap="square" rtlCol="0">
            <a:spAutoFit/>
          </a:bodyPr>
          <a:lstStyle/>
          <a:p>
            <a:r>
              <a:rPr lang="en-US" sz="2200" dirty="0" smtClean="0">
                <a:latin typeface="Times New Roman" pitchFamily="18" charset="0"/>
                <a:cs typeface="Times New Roman" pitchFamily="18" charset="0"/>
              </a:rPr>
              <a:t>C</a:t>
            </a:r>
            <a:endParaRPr lang="en-US" sz="2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635" y="357166"/>
            <a:ext cx="11617555" cy="5929354"/>
          </a:xfrm>
        </p:spPr>
        <p:txBody>
          <a:bodyPr>
            <a:normAutofit/>
          </a:bodyPr>
          <a:lstStyle/>
          <a:p>
            <a:pPr>
              <a:buNone/>
            </a:pPr>
            <a:r>
              <a:rPr lang="en-IN" dirty="0" smtClean="0">
                <a:latin typeface="Times New Roman" pitchFamily="18" charset="0"/>
                <a:cs typeface="Times New Roman" pitchFamily="18" charset="0"/>
              </a:rPr>
              <a:t>       </a:t>
            </a:r>
          </a:p>
          <a:p>
            <a:pPr>
              <a:buNone/>
            </a:pPr>
            <a:endParaRPr lang="en-IN" dirty="0" smtClean="0">
              <a:latin typeface="Times New Roman" pitchFamily="18" charset="0"/>
              <a:cs typeface="Times New Roman" pitchFamily="18" charset="0"/>
            </a:endParaRPr>
          </a:p>
          <a:p>
            <a:pPr algn="ctr">
              <a:buNone/>
            </a:pPr>
            <a:r>
              <a:rPr lang="en-IN" sz="3600" dirty="0">
                <a:solidFill>
                  <a:srgbClr val="FF0000"/>
                </a:solidFill>
                <a:latin typeface="Times New Roman" pitchFamily="18" charset="0"/>
                <a:cs typeface="Times New Roman" pitchFamily="18" charset="0"/>
              </a:rPr>
              <a:t> </a:t>
            </a:r>
            <a:r>
              <a:rPr lang="en-IN" sz="3600" dirty="0" smtClean="0">
                <a:solidFill>
                  <a:srgbClr val="FF0000"/>
                </a:solidFill>
                <a:latin typeface="Times New Roman" pitchFamily="18" charset="0"/>
                <a:cs typeface="Times New Roman" pitchFamily="18" charset="0"/>
              </a:rPr>
              <a:t>     </a:t>
            </a:r>
          </a:p>
          <a:p>
            <a:pPr algn="ctr">
              <a:buNone/>
            </a:pPr>
            <a:r>
              <a:rPr lang="en-IN" sz="3600" dirty="0" smtClean="0">
                <a:solidFill>
                  <a:srgbClr val="FF0000"/>
                </a:solidFill>
                <a:latin typeface="Times New Roman" pitchFamily="18" charset="0"/>
                <a:cs typeface="Times New Roman" pitchFamily="18" charset="0"/>
              </a:rPr>
              <a:t>THANK YOU</a:t>
            </a:r>
          </a:p>
          <a:p>
            <a:pPr algn="ctr">
              <a:buNone/>
            </a:pPr>
            <a:endParaRPr lang="en-IN" dirty="0">
              <a:latin typeface="Times New Roman" pitchFamily="18" charset="0"/>
              <a:cs typeface="Times New Roman" pitchFamily="18" charset="0"/>
            </a:endParaRPr>
          </a:p>
          <a:p>
            <a:pPr algn="ctr">
              <a:buNone/>
            </a:pPr>
            <a:endParaRPr lang="en-IN" dirty="0" smtClean="0">
              <a:latin typeface="Times New Roman" pitchFamily="18" charset="0"/>
              <a:cs typeface="Times New Roman" pitchFamily="18" charset="0"/>
            </a:endParaRPr>
          </a:p>
          <a:p>
            <a:pPr>
              <a:buNone/>
            </a:pPr>
            <a:r>
              <a:rPr lang="en-US" sz="2200" dirty="0" smtClean="0">
                <a:latin typeface="Times New Roman" pitchFamily="18" charset="0"/>
                <a:cs typeface="Times New Roman" pitchFamily="18" charset="0"/>
                <a:hlinkClick r:id="rId2"/>
              </a:rPr>
              <a:t>shasansaeed@yolasite.com</a:t>
            </a:r>
            <a:endParaRPr lang="en-US" sz="2200" dirty="0" smtClean="0">
              <a:latin typeface="Times New Roman" pitchFamily="18" charset="0"/>
              <a:cs typeface="Times New Roman" pitchFamily="18" charset="0"/>
            </a:endParaRPr>
          </a:p>
          <a:p>
            <a:pPr>
              <a:buNone/>
            </a:pPr>
            <a:r>
              <a:rPr lang="en-IN" sz="2200" dirty="0" smtClean="0">
                <a:latin typeface="Times New Roman" pitchFamily="18" charset="0"/>
                <a:cs typeface="Times New Roman" pitchFamily="18" charset="0"/>
                <a:hlinkClick r:id="rId3"/>
              </a:rPr>
              <a:t>hasansaeed872726549.wordpress.com</a:t>
            </a:r>
          </a:p>
          <a:p>
            <a:pPr>
              <a:buNone/>
            </a:pPr>
            <a:r>
              <a:rPr lang="en-IN" sz="2200" dirty="0" smtClean="0">
                <a:latin typeface="Times New Roman" pitchFamily="18" charset="0"/>
                <a:cs typeface="Times New Roman" pitchFamily="18" charset="0"/>
                <a:hlinkClick r:id="rId3"/>
              </a:rPr>
              <a:t>saeed.moodlecloud.com</a:t>
            </a:r>
          </a:p>
          <a:p>
            <a:pPr>
              <a:buNone/>
            </a:pPr>
            <a:r>
              <a:rPr lang="en-IN" sz="2200" dirty="0" smtClean="0">
                <a:latin typeface="Times New Roman" pitchFamily="18" charset="0"/>
                <a:cs typeface="Times New Roman" pitchFamily="18" charset="0"/>
                <a:hlinkClick r:id="rId3"/>
              </a:rPr>
              <a:t>syedhasansaeed.gnomio.com</a:t>
            </a:r>
          </a:p>
          <a:p>
            <a:pPr algn="ctr">
              <a:buNone/>
            </a:pPr>
            <a:endParaRPr lang="en-IN" dirty="0" smtClean="0">
              <a:latin typeface="Times New Roman" pitchFamily="18" charset="0"/>
              <a:cs typeface="Times New Roman" pitchFamily="18" charset="0"/>
            </a:endParaRPr>
          </a:p>
          <a:p>
            <a:pPr algn="ctr">
              <a:buNone/>
            </a:pPr>
            <a:endParaRPr lang="en-IN" dirty="0">
              <a:latin typeface="Times New Roman" pitchFamily="18" charset="0"/>
              <a:cs typeface="Times New Roman" pitchFamily="18" charset="0"/>
            </a:endParaRPr>
          </a:p>
          <a:p>
            <a:pPr algn="ctr">
              <a:buNone/>
            </a:pPr>
            <a:endParaRPr lang="en-US" dirty="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smtClean="0"/>
              <a:t>syed hasan saeed</a:t>
            </a:r>
            <a:endParaRPr lang="en-US"/>
          </a:p>
        </p:txBody>
      </p:sp>
      <p:sp>
        <p:nvSpPr>
          <p:cNvPr id="6" name="Slide Number Placeholder 5"/>
          <p:cNvSpPr>
            <a:spLocks noGrp="1"/>
          </p:cNvSpPr>
          <p:nvPr>
            <p:ph type="sldNum" sz="quarter" idx="12"/>
          </p:nvPr>
        </p:nvSpPr>
        <p:spPr/>
        <p:txBody>
          <a:bodyPr/>
          <a:lstStyle/>
          <a:p>
            <a:fld id="{435E54C7-FAA8-46C1-A880-53547F97989D}"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635" y="357166"/>
            <a:ext cx="11617555" cy="5929354"/>
          </a:xfrm>
        </p:spPr>
        <p:txBody>
          <a:bodyPr>
            <a:normAutofit/>
          </a:bodyPr>
          <a:lstStyle/>
          <a:p>
            <a:pPr>
              <a:buNone/>
            </a:pPr>
            <a:r>
              <a:rPr lang="en-IN" dirty="0" smtClean="0">
                <a:latin typeface="Times New Roman" pitchFamily="18" charset="0"/>
                <a:cs typeface="Times New Roman" pitchFamily="18" charset="0"/>
              </a:rPr>
              <a:t>       </a:t>
            </a:r>
          </a:p>
          <a:p>
            <a:pPr>
              <a:buNone/>
            </a:pPr>
            <a:endParaRPr lang="en-IN" dirty="0" smtClean="0">
              <a:latin typeface="Times New Roman" pitchFamily="18" charset="0"/>
              <a:cs typeface="Times New Roman" pitchFamily="18" charset="0"/>
            </a:endParaRPr>
          </a:p>
          <a:p>
            <a:pPr algn="ctr">
              <a:buNone/>
            </a:pPr>
            <a:r>
              <a:rPr lang="en-IN" sz="3600" dirty="0">
                <a:solidFill>
                  <a:srgbClr val="FF0000"/>
                </a:solidFill>
                <a:latin typeface="Times New Roman" pitchFamily="18" charset="0"/>
                <a:cs typeface="Times New Roman" pitchFamily="18" charset="0"/>
              </a:rPr>
              <a:t> </a:t>
            </a:r>
            <a:r>
              <a:rPr lang="en-IN" sz="3600" dirty="0" smtClean="0">
                <a:solidFill>
                  <a:srgbClr val="FF0000"/>
                </a:solidFill>
                <a:latin typeface="Times New Roman" pitchFamily="18" charset="0"/>
                <a:cs typeface="Times New Roman" pitchFamily="18" charset="0"/>
              </a:rPr>
              <a:t>     </a:t>
            </a:r>
          </a:p>
          <a:p>
            <a:pPr algn="ctr">
              <a:buNone/>
            </a:pPr>
            <a:endParaRPr lang="en-IN" sz="3600" dirty="0" smtClean="0">
              <a:solidFill>
                <a:srgbClr val="FF0000"/>
              </a:solidFill>
              <a:latin typeface="Times New Roman" pitchFamily="18" charset="0"/>
              <a:cs typeface="Times New Roman" pitchFamily="18" charset="0"/>
            </a:endParaRPr>
          </a:p>
          <a:p>
            <a:pPr algn="ctr">
              <a:buNone/>
            </a:pPr>
            <a:endParaRPr lang="en-IN" dirty="0">
              <a:latin typeface="Times New Roman" pitchFamily="18" charset="0"/>
              <a:cs typeface="Times New Roman" pitchFamily="18" charset="0"/>
            </a:endParaRPr>
          </a:p>
          <a:p>
            <a:pPr algn="ctr">
              <a:buNone/>
            </a:pPr>
            <a:endParaRPr lang="en-IN" dirty="0" smtClean="0">
              <a:latin typeface="Times New Roman" pitchFamily="18" charset="0"/>
              <a:cs typeface="Times New Roman" pitchFamily="18" charset="0"/>
            </a:endParaRPr>
          </a:p>
          <a:p>
            <a:pPr>
              <a:buNone/>
            </a:pPr>
            <a:r>
              <a:rPr lang="en-US" sz="2200" dirty="0" smtClean="0">
                <a:latin typeface="Times New Roman" pitchFamily="18" charset="0"/>
                <a:cs typeface="Times New Roman" pitchFamily="18" charset="0"/>
                <a:hlinkClick r:id="rId2"/>
              </a:rPr>
              <a:t>shasansaeed@yolasite.com</a:t>
            </a:r>
            <a:endParaRPr lang="en-US" sz="2200" dirty="0" smtClean="0">
              <a:latin typeface="Times New Roman" pitchFamily="18" charset="0"/>
              <a:cs typeface="Times New Roman" pitchFamily="18" charset="0"/>
            </a:endParaRPr>
          </a:p>
          <a:p>
            <a:pPr>
              <a:buNone/>
            </a:pPr>
            <a:r>
              <a:rPr lang="en-IN" sz="2200" dirty="0" smtClean="0">
                <a:latin typeface="Times New Roman" pitchFamily="18" charset="0"/>
                <a:cs typeface="Times New Roman" pitchFamily="18" charset="0"/>
                <a:hlinkClick r:id="rId3"/>
              </a:rPr>
              <a:t>hasansaeed872726549.wordpress.com</a:t>
            </a:r>
          </a:p>
          <a:p>
            <a:pPr>
              <a:buNone/>
            </a:pPr>
            <a:r>
              <a:rPr lang="en-IN" sz="2200" dirty="0" smtClean="0">
                <a:latin typeface="Times New Roman" pitchFamily="18" charset="0"/>
                <a:cs typeface="Times New Roman" pitchFamily="18" charset="0"/>
                <a:hlinkClick r:id="rId3"/>
              </a:rPr>
              <a:t>saeed.moodlecloud.com</a:t>
            </a:r>
          </a:p>
          <a:p>
            <a:pPr>
              <a:buNone/>
            </a:pPr>
            <a:r>
              <a:rPr lang="en-IN" sz="2200" dirty="0" smtClean="0">
                <a:latin typeface="Times New Roman" pitchFamily="18" charset="0"/>
                <a:cs typeface="Times New Roman" pitchFamily="18" charset="0"/>
                <a:hlinkClick r:id="rId3"/>
              </a:rPr>
              <a:t>syedhasansaeed.gnomio.com</a:t>
            </a:r>
          </a:p>
          <a:p>
            <a:pPr algn="ctr">
              <a:buNone/>
            </a:pPr>
            <a:endParaRPr lang="en-IN" dirty="0" smtClean="0">
              <a:latin typeface="Times New Roman" pitchFamily="18" charset="0"/>
              <a:cs typeface="Times New Roman" pitchFamily="18" charset="0"/>
            </a:endParaRPr>
          </a:p>
          <a:p>
            <a:pPr algn="ctr">
              <a:buNone/>
            </a:pPr>
            <a:endParaRPr lang="en-IN" dirty="0">
              <a:latin typeface="Times New Roman" pitchFamily="18" charset="0"/>
              <a:cs typeface="Times New Roman" pitchFamily="18" charset="0"/>
            </a:endParaRPr>
          </a:p>
          <a:p>
            <a:pPr algn="ctr">
              <a:buNone/>
            </a:pPr>
            <a:endParaRPr lang="en-US" dirty="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smtClean="0"/>
              <a:t>syed hasan saeed</a:t>
            </a:r>
            <a:endParaRPr lang="en-US"/>
          </a:p>
        </p:txBody>
      </p:sp>
      <p:sp>
        <p:nvSpPr>
          <p:cNvPr id="6" name="Slide Number Placeholder 5"/>
          <p:cNvSpPr>
            <a:spLocks noGrp="1"/>
          </p:cNvSpPr>
          <p:nvPr>
            <p:ph type="sldNum" sz="quarter" idx="12"/>
          </p:nvPr>
        </p:nvSpPr>
        <p:spPr/>
        <p:txBody>
          <a:bodyPr/>
          <a:lstStyle/>
          <a:p>
            <a:fld id="{435E54C7-FAA8-46C1-A880-53547F97989D}" type="slidenum">
              <a:rPr lang="en-US" smtClean="0"/>
              <a:pPr/>
              <a:t>20</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3149</TotalTime>
  <Words>1361</Words>
  <Application>Microsoft Office PowerPoint</Application>
  <PresentationFormat>Custom</PresentationFormat>
  <Paragraphs>262</Paragraphs>
  <Slides>20</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2" baseType="lpstr">
      <vt:lpstr>Office Theme</vt:lpstr>
      <vt:lpstr>Equation</vt:lpstr>
      <vt:lpstr>     CIRCUIT THEORY    BASIC TERMS AND DEFINITION</vt:lpstr>
      <vt:lpstr>Slide 2</vt:lpstr>
      <vt:lpstr>Slide 3</vt:lpstr>
      <vt:lpstr>BASIC TERMS AND DEFINITIONS</vt:lpstr>
      <vt:lpstr>BASIC TERMS AND DEFINITIONS</vt:lpstr>
      <vt:lpstr>BASIC TERMS AND DEFINITIONS</vt:lpstr>
      <vt:lpstr>BASIC TERMS AND DEFINITIONS</vt:lpstr>
      <vt:lpstr>BASIC TERMS AND DEFINITIONS</vt:lpstr>
      <vt:lpstr>BASIC TERMS AND DEFINITIONS</vt:lpstr>
      <vt:lpstr>BASIC TERMS AND DEFINITIONS</vt:lpstr>
      <vt:lpstr>BASIC TERMS AND DEFINITIONS</vt:lpstr>
      <vt:lpstr>BASIC TERMS AND DEFINITIONS</vt:lpstr>
      <vt:lpstr>BASIC TERMS AND DEFINITIONS</vt:lpstr>
      <vt:lpstr>BASIC TERMS AND DEFINITIONS</vt:lpstr>
      <vt:lpstr>BASIC TERMS AND DEFINITIONS</vt:lpstr>
      <vt:lpstr>BASIC TERMS AND DEFINITIONS</vt:lpstr>
      <vt:lpstr>BASIC TERMS AND DEFINITIONS</vt:lpstr>
      <vt:lpstr>BASIC TERMS AND DEFINITIONS</vt:lpstr>
      <vt:lpstr>Slide 19</vt:lpstr>
      <vt:lpstr>Slide 20</vt:lpstr>
    </vt:vector>
  </TitlesOfParts>
  <Company>HP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SHS</dc:creator>
  <cp:lastModifiedBy>syed hasan saeed</cp:lastModifiedBy>
  <cp:revision>403</cp:revision>
  <dcterms:created xsi:type="dcterms:W3CDTF">2019-07-24T02:14:50Z</dcterms:created>
  <dcterms:modified xsi:type="dcterms:W3CDTF">2022-09-14T07:23:12Z</dcterms:modified>
</cp:coreProperties>
</file>