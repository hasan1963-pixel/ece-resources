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1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0D78E-E2FE-4B92-BDC8-A7218E8E34B5}" type="datetimeFigureOut">
              <a:rPr lang="en-US" smtClean="0"/>
              <a:pPr/>
              <a:t>9/15/2024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A332D-E0DF-48B0-8A55-4E413864903D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CB741-80F1-4A27-AE8F-3221E7813505}" type="datetime1">
              <a:rPr lang="en-US" smtClean="0"/>
              <a:pPr/>
              <a:t>9/15/2024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261E-B6CD-435D-947C-053A63891AAC}" type="datetime1">
              <a:rPr lang="en-US" smtClean="0"/>
              <a:pPr/>
              <a:t>9/15/2024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52D59-7969-4DF6-B760-243874E1DFF3}" type="datetime1">
              <a:rPr lang="en-US" smtClean="0"/>
              <a:pPr/>
              <a:t>9/15/2024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9EFD-6B9C-48F2-A144-BD977C170BA4}" type="datetime1">
              <a:rPr lang="en-US" smtClean="0"/>
              <a:pPr/>
              <a:t>9/15/2024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D26D-8DC8-49F0-9A2F-8B3E705B9A16}" type="datetime1">
              <a:rPr lang="en-US" smtClean="0"/>
              <a:pPr/>
              <a:t>9/15/2024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90ED-5E45-498B-9A15-3044F3C738F7}" type="datetime1">
              <a:rPr lang="en-US" smtClean="0"/>
              <a:pPr/>
              <a:t>9/15/2024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FCAA0-9C90-4D07-949A-C0826016DD91}" type="datetime1">
              <a:rPr lang="en-US" smtClean="0"/>
              <a:pPr/>
              <a:t>9/15/2024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1C73-AC3A-4F06-9063-7B4F9FF1110D}" type="datetime1">
              <a:rPr lang="en-US" smtClean="0"/>
              <a:pPr/>
              <a:t>9/15/2024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EB3E-5671-4A76-B8F2-53BCAF19922A}" type="datetime1">
              <a:rPr lang="en-US" smtClean="0"/>
              <a:pPr/>
              <a:t>9/15/2024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48C2-DFFF-4DF0-804F-00D3985CA218}" type="datetime1">
              <a:rPr lang="en-US" smtClean="0"/>
              <a:pPr/>
              <a:t>9/15/2024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FD8E-4A11-407E-B0A7-5663B0BEE0BC}" type="datetime1">
              <a:rPr lang="en-US" smtClean="0"/>
              <a:pPr/>
              <a:t>9/15/2024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7E5C7-4BAB-4B7E-BCE5-C9A78494265E}" type="datetime1">
              <a:rPr lang="en-US" smtClean="0"/>
              <a:pPr/>
              <a:t>9/15/2024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3C18F-DCF1-4405-AD36-2AA952D6E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hasansaeed.yolasite.com/" TargetMode="External"/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4.bin"/><Relationship Id="rId3" Type="http://schemas.openxmlformats.org/officeDocument/2006/relationships/image" Target="../media/image8.wmf"/><Relationship Id="rId21" Type="http://schemas.openxmlformats.org/officeDocument/2006/relationships/image" Target="../media/image1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5.wmf"/><Relationship Id="rId2" Type="http://schemas.openxmlformats.org/officeDocument/2006/relationships/oleObject" Target="../embeddings/oleObject6.bin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6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4282" y="285728"/>
            <a:ext cx="8643998" cy="6000792"/>
          </a:xfrm>
        </p:spPr>
        <p:txBody>
          <a:bodyPr/>
          <a:lstStyle/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sz="4800" dirty="0">
              <a:solidFill>
                <a:srgbClr val="FF0000"/>
              </a:solidFill>
              <a:latin typeface="AR CARTER" pitchFamily="2" charset="0"/>
            </a:endParaRPr>
          </a:p>
          <a:p>
            <a:pPr algn="ctr">
              <a:buNone/>
            </a:pPr>
            <a:r>
              <a:rPr lang="en-IN" sz="4800" dirty="0">
                <a:solidFill>
                  <a:srgbClr val="FF0000"/>
                </a:solidFill>
                <a:latin typeface="AR CARTER" pitchFamily="2" charset="0"/>
              </a:rPr>
              <a:t>TIME DOMAIN ANALYSIS</a:t>
            </a:r>
          </a:p>
          <a:p>
            <a:pPr algn="ctr">
              <a:buNone/>
            </a:pPr>
            <a:endParaRPr lang="en-IN" sz="3000" dirty="0"/>
          </a:p>
          <a:p>
            <a:pPr algn="ctr">
              <a:buNone/>
            </a:pPr>
            <a:r>
              <a:rPr lang="en-IN" sz="3000" dirty="0"/>
              <a:t>Email: </a:t>
            </a:r>
            <a:r>
              <a:rPr lang="en-IN" sz="3000" dirty="0">
                <a:hlinkClick r:id="rId2"/>
              </a:rPr>
              <a:t>hasansaeedcontrol@gmail.com</a:t>
            </a:r>
            <a:endParaRPr lang="en-IN" sz="3000" dirty="0"/>
          </a:p>
          <a:p>
            <a:pPr algn="ctr">
              <a:buNone/>
            </a:pPr>
            <a:r>
              <a:rPr lang="en-IN" sz="3000" dirty="0">
                <a:hlinkClick r:id="rId3"/>
              </a:rPr>
              <a:t>URL: http://shasansaeed.yolasite.com/</a:t>
            </a:r>
            <a:endParaRPr lang="en-IN" sz="3000" dirty="0"/>
          </a:p>
          <a:p>
            <a:pPr algn="ctr">
              <a:buNone/>
            </a:pPr>
            <a:endParaRPr lang="en-IN" sz="3000" dirty="0"/>
          </a:p>
          <a:p>
            <a:pPr algn="ctr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285728"/>
            <a:ext cx="8715436" cy="592935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IN" u="sng" dirty="0">
                <a:solidFill>
                  <a:srgbClr val="FF0000"/>
                </a:solidFill>
              </a:rPr>
              <a:t>BOOKS</a:t>
            </a:r>
          </a:p>
          <a:p>
            <a:pPr algn="ctr">
              <a:buNone/>
            </a:pPr>
            <a:endParaRPr lang="en-IN" u="sng" dirty="0">
              <a:solidFill>
                <a:srgbClr val="FF0000"/>
              </a:solidFill>
            </a:endParaRPr>
          </a:p>
          <a:p>
            <a:pPr algn="ctr">
              <a:buNone/>
            </a:pPr>
            <a:endParaRPr lang="en-IN" u="sng" dirty="0">
              <a:solidFill>
                <a:srgbClr val="FF0000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IN" sz="2800" dirty="0"/>
              <a:t>AUTOMATIC CONTROL SYSTEM </a:t>
            </a:r>
            <a:r>
              <a:rPr lang="en-IN" sz="2800" i="1" dirty="0">
                <a:solidFill>
                  <a:srgbClr val="00B050"/>
                </a:solidFill>
              </a:rPr>
              <a:t>KUO &amp; GOLNARAGHI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800" dirty="0"/>
              <a:t>CONTROL SYSTEM  </a:t>
            </a:r>
            <a:r>
              <a:rPr lang="en-IN" sz="2800" i="1" dirty="0">
                <a:solidFill>
                  <a:srgbClr val="00B050"/>
                </a:solidFill>
              </a:rPr>
              <a:t>ANAND KUMAR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800" dirty="0"/>
              <a:t>AUTOMATIC CONTROL SYSTEM </a:t>
            </a:r>
            <a:r>
              <a:rPr lang="en-IN" sz="2800" dirty="0">
                <a:solidFill>
                  <a:srgbClr val="00B050"/>
                </a:solidFill>
              </a:rPr>
              <a:t>S.HASAN SAEED</a:t>
            </a:r>
            <a:endParaRPr lang="en-IN" sz="2800" i="1" dirty="0">
              <a:solidFill>
                <a:srgbClr val="00B050"/>
              </a:solidFill>
            </a:endParaRPr>
          </a:p>
          <a:p>
            <a:pPr marL="514350" indent="-514350" algn="just">
              <a:buNone/>
            </a:pPr>
            <a:endParaRPr lang="en-IN" sz="2800" i="1" dirty="0">
              <a:solidFill>
                <a:srgbClr val="00B050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endParaRPr lang="en-IN" sz="2800" i="1" dirty="0">
              <a:solidFill>
                <a:srgbClr val="00B050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endParaRPr lang="en-IN" sz="2800" i="1" dirty="0">
              <a:solidFill>
                <a:srgbClr val="00B050"/>
              </a:solidFill>
            </a:endParaRPr>
          </a:p>
          <a:p>
            <a:pPr marL="514350" indent="-514350" algn="just">
              <a:buNone/>
            </a:pPr>
            <a:endParaRPr lang="en-IN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214290"/>
            <a:ext cx="8858312" cy="614366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IN" sz="3000" u="sng" dirty="0">
                <a:solidFill>
                  <a:srgbClr val="FF0000"/>
                </a:solidFill>
              </a:rPr>
              <a:t>DEFINITIONS</a:t>
            </a:r>
          </a:p>
          <a:p>
            <a:pPr>
              <a:buNone/>
            </a:pPr>
            <a:r>
              <a:rPr lang="en-IN" sz="3000" dirty="0">
                <a:solidFill>
                  <a:srgbClr val="00B050"/>
                </a:solidFill>
              </a:rPr>
              <a:t>TIME RESPONSE: </a:t>
            </a:r>
            <a:r>
              <a:rPr lang="en-IN" sz="3000" dirty="0"/>
              <a:t>The time response of a system is the output (response) which is function of the time, when input (excitation) is applied.</a:t>
            </a:r>
          </a:p>
          <a:p>
            <a:pPr>
              <a:buNone/>
            </a:pPr>
            <a:r>
              <a:rPr lang="en-IN" sz="3000" dirty="0">
                <a:solidFill>
                  <a:srgbClr val="0070C0"/>
                </a:solidFill>
              </a:rPr>
              <a:t>Time response of a control system consists of two parts</a:t>
            </a:r>
          </a:p>
          <a:p>
            <a:pPr>
              <a:buNone/>
            </a:pPr>
            <a:endParaRPr lang="en-IN" sz="3000" dirty="0"/>
          </a:p>
          <a:p>
            <a:pPr>
              <a:buNone/>
            </a:pPr>
            <a:endParaRPr lang="en-IN" sz="3000" dirty="0"/>
          </a:p>
          <a:p>
            <a:pPr>
              <a:buNone/>
            </a:pPr>
            <a:r>
              <a:rPr lang="en-IN" sz="3000" dirty="0">
                <a:solidFill>
                  <a:schemeClr val="accent6">
                    <a:lumMod val="75000"/>
                  </a:schemeClr>
                </a:solidFill>
              </a:rPr>
              <a:t>1. Transient Response                2. Steady State Response</a:t>
            </a:r>
          </a:p>
          <a:p>
            <a:pPr>
              <a:buNone/>
            </a:pPr>
            <a:r>
              <a:rPr lang="en-IN" sz="3000" dirty="0"/>
              <a:t>Mathematically,</a:t>
            </a:r>
          </a:p>
          <a:p>
            <a:pPr>
              <a:buNone/>
            </a:pPr>
            <a:r>
              <a:rPr lang="en-IN" sz="3000" dirty="0"/>
              <a:t>Where,             = transient response</a:t>
            </a:r>
          </a:p>
          <a:p>
            <a:pPr>
              <a:buNone/>
            </a:pPr>
            <a:r>
              <a:rPr lang="en-IN" sz="3000" dirty="0"/>
              <a:t>                           = steady state response</a:t>
            </a:r>
          </a:p>
          <a:p>
            <a:pPr>
              <a:buNone/>
            </a:pPr>
            <a:endParaRPr lang="en-IN" sz="3000" dirty="0"/>
          </a:p>
          <a:p>
            <a:pPr>
              <a:buNone/>
            </a:pPr>
            <a:endParaRPr lang="en-IN" sz="3000" dirty="0"/>
          </a:p>
          <a:p>
            <a:pPr>
              <a:buNone/>
            </a:pPr>
            <a:endParaRPr lang="en-IN" sz="3000" dirty="0">
              <a:solidFill>
                <a:srgbClr val="00B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6" name="Right Arrow 5"/>
          <p:cNvSpPr/>
          <p:nvPr/>
        </p:nvSpPr>
        <p:spPr>
          <a:xfrm rot="3000000">
            <a:off x="5805795" y="3128588"/>
            <a:ext cx="1186970" cy="4000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scene3d>
            <a:camera prst="orthographicFront">
              <a:rot lat="6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3000000">
            <a:off x="2394842" y="2617964"/>
            <a:ext cx="402577" cy="140448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000364" y="4429132"/>
          <a:ext cx="3071834" cy="1228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457200" progId="">
                  <p:embed/>
                </p:oleObj>
              </mc:Choice>
              <mc:Fallback>
                <p:oleObj name="Equation" r:id="rId2" imgW="1143000" imgH="4572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64" y="4429132"/>
                        <a:ext cx="3071834" cy="12287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571604" y="5000636"/>
          <a:ext cx="837412" cy="60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160" imgH="228600" progId="">
                  <p:embed/>
                </p:oleObj>
              </mc:Choice>
              <mc:Fallback>
                <p:oleObj name="Equation" r:id="rId4" imgW="317160" imgH="2286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5000636"/>
                        <a:ext cx="837412" cy="60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571604" y="5500702"/>
          <a:ext cx="955681" cy="614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320" imgH="228600" progId="">
                  <p:embed/>
                </p:oleObj>
              </mc:Choice>
              <mc:Fallback>
                <p:oleObj name="Equation" r:id="rId6" imgW="355320" imgH="2286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5500702"/>
                        <a:ext cx="955681" cy="6143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214290"/>
            <a:ext cx="8786874" cy="607223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sz="3000" dirty="0">
                <a:solidFill>
                  <a:srgbClr val="00B050"/>
                </a:solidFill>
              </a:rPr>
              <a:t>TRANSIENT RESPONSE: </a:t>
            </a:r>
            <a:r>
              <a:rPr lang="en-IN" sz="3000" dirty="0"/>
              <a:t>The transient response is the part of response which goes to zero as time increases. Mathematically </a:t>
            </a:r>
          </a:p>
          <a:p>
            <a:pPr algn="just">
              <a:buNone/>
            </a:pPr>
            <a:endParaRPr lang="en-IN" sz="3000" dirty="0"/>
          </a:p>
          <a:p>
            <a:pPr algn="just">
              <a:buNone/>
            </a:pPr>
            <a:endParaRPr lang="en-IN" sz="3000" dirty="0"/>
          </a:p>
          <a:p>
            <a:pPr algn="just">
              <a:buNone/>
            </a:pPr>
            <a:r>
              <a:rPr lang="en-IN" sz="3000" dirty="0"/>
              <a:t>The transient response may be exponential or oscillatory in nature. </a:t>
            </a:r>
          </a:p>
          <a:p>
            <a:pPr algn="just">
              <a:buNone/>
            </a:pPr>
            <a:r>
              <a:rPr lang="en-IN" sz="3000" dirty="0">
                <a:solidFill>
                  <a:srgbClr val="00B050"/>
                </a:solidFill>
              </a:rPr>
              <a:t>STEADY STATE: </a:t>
            </a:r>
            <a:r>
              <a:rPr lang="en-IN" sz="3000" dirty="0"/>
              <a:t>The steady state response is the part of the total response after transient has died.</a:t>
            </a:r>
          </a:p>
          <a:p>
            <a:pPr algn="just">
              <a:buNone/>
            </a:pPr>
            <a:r>
              <a:rPr lang="en-IN" sz="3000" dirty="0">
                <a:solidFill>
                  <a:srgbClr val="00B050"/>
                </a:solidFill>
              </a:rPr>
              <a:t>STEADY STATE ERROR: </a:t>
            </a:r>
            <a:r>
              <a:rPr lang="en-IN" sz="3000" dirty="0"/>
              <a:t>If the steady state response of the output does not match with the input then the system has steady state error, denoted by </a:t>
            </a:r>
            <a:r>
              <a:rPr lang="en-IN" sz="3000" baseline="-25000" dirty="0"/>
              <a:t>         .</a:t>
            </a:r>
            <a:endParaRPr lang="en-IN" sz="3000" baseline="-25000" dirty="0">
              <a:solidFill>
                <a:srgbClr val="00B050"/>
              </a:solidFill>
            </a:endParaRPr>
          </a:p>
          <a:p>
            <a:pPr algn="just">
              <a:buNone/>
            </a:pPr>
            <a:endParaRPr lang="en-IN" sz="3000" dirty="0">
              <a:solidFill>
                <a:srgbClr val="00B050"/>
              </a:solidFill>
            </a:endParaRPr>
          </a:p>
          <a:p>
            <a:pPr>
              <a:buNone/>
            </a:pPr>
            <a:endParaRPr lang="en-IN" sz="3000" dirty="0">
              <a:solidFill>
                <a:srgbClr val="00B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4</a:t>
            </a:fld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286116" y="1928802"/>
          <a:ext cx="2295249" cy="711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440" imgH="279360" progId="">
                  <p:embed/>
                </p:oleObj>
              </mc:Choice>
              <mc:Fallback>
                <p:oleObj name="Equation" r:id="rId2" imgW="901440" imgH="27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16" y="1928802"/>
                        <a:ext cx="2295249" cy="7112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072330" y="5715016"/>
          <a:ext cx="476253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228600" progId="">
                  <p:embed/>
                </p:oleObj>
              </mc:Choice>
              <mc:Fallback>
                <p:oleObj name="Equation" r:id="rId4" imgW="190440" imgH="2286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30" y="5715016"/>
                        <a:ext cx="476253" cy="5715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214290"/>
            <a:ext cx="8715436" cy="6072230"/>
          </a:xfrm>
        </p:spPr>
        <p:txBody>
          <a:bodyPr/>
          <a:lstStyle/>
          <a:p>
            <a:pPr>
              <a:buNone/>
            </a:pPr>
            <a:r>
              <a:rPr lang="en-IN" u="sng" dirty="0">
                <a:solidFill>
                  <a:srgbClr val="FF0000"/>
                </a:solidFill>
              </a:rPr>
              <a:t>TEST SIGNALS FOR TIME RESPONSE:</a:t>
            </a:r>
          </a:p>
          <a:p>
            <a:pPr algn="just">
              <a:buNone/>
            </a:pPr>
            <a:r>
              <a:rPr lang="en-IN" sz="3000" dirty="0"/>
              <a:t>For analysis of time response of a control system, following input signals are used</a:t>
            </a:r>
            <a:r>
              <a:rPr lang="en-IN" u="sng" dirty="0">
                <a:solidFill>
                  <a:srgbClr val="FF0000"/>
                </a:solidFill>
              </a:rPr>
              <a:t> </a:t>
            </a:r>
          </a:p>
          <a:p>
            <a:pPr algn="just">
              <a:buNone/>
            </a:pPr>
            <a:r>
              <a:rPr lang="en-IN" sz="3000" dirty="0">
                <a:solidFill>
                  <a:srgbClr val="00B050"/>
                </a:solidFill>
              </a:rPr>
              <a:t> 1. STEP FUNCTION: </a:t>
            </a:r>
          </a:p>
          <a:p>
            <a:pPr algn="just">
              <a:buNone/>
            </a:pPr>
            <a:r>
              <a:rPr lang="en-IN" sz="3000" dirty="0"/>
              <a:t>Consider an independent voltage source in series with a switch ‘s’. When switch open the voltage at terminal 1-2 is zero.</a:t>
            </a:r>
          </a:p>
          <a:p>
            <a:pPr algn="just">
              <a:buNone/>
            </a:pPr>
            <a:endParaRPr lang="en-IN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18435" name="Picture 3" descr="C:\Users\syed hasan saeed\Desktop\fig\Drawing3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3786189"/>
            <a:ext cx="6513336" cy="24942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42852"/>
            <a:ext cx="8858312" cy="62151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3000" dirty="0"/>
              <a:t>Mathematically, </a:t>
            </a:r>
          </a:p>
          <a:p>
            <a:pPr>
              <a:buNone/>
            </a:pPr>
            <a:r>
              <a:rPr lang="en-IN" sz="3000" dirty="0"/>
              <a:t>                                     ;</a:t>
            </a:r>
          </a:p>
          <a:p>
            <a:pPr>
              <a:buNone/>
            </a:pPr>
            <a:r>
              <a:rPr lang="en-IN" sz="3000" dirty="0"/>
              <a:t>When the switch is closed at t=0</a:t>
            </a:r>
          </a:p>
          <a:p>
            <a:pPr>
              <a:buNone/>
            </a:pPr>
            <a:r>
              <a:rPr lang="en-IN" sz="3000" dirty="0"/>
              <a:t>                                     ;</a:t>
            </a:r>
          </a:p>
          <a:p>
            <a:pPr>
              <a:buNone/>
            </a:pPr>
            <a:r>
              <a:rPr lang="en-IN" sz="3000" dirty="0"/>
              <a:t>Combining above two equations</a:t>
            </a:r>
          </a:p>
          <a:p>
            <a:pPr>
              <a:buNone/>
            </a:pPr>
            <a:r>
              <a:rPr lang="en-IN" sz="3000" dirty="0"/>
              <a:t>                                      ;</a:t>
            </a:r>
          </a:p>
          <a:p>
            <a:pPr>
              <a:buNone/>
            </a:pPr>
            <a:r>
              <a:rPr lang="en-IN" sz="3000" dirty="0"/>
              <a:t>                                       ;                                   </a:t>
            </a:r>
          </a:p>
          <a:p>
            <a:pPr>
              <a:buNone/>
            </a:pPr>
            <a:r>
              <a:rPr lang="en-IN" sz="3000" dirty="0"/>
              <a:t>A unit step function is denoted by u(t) and defined as</a:t>
            </a:r>
          </a:p>
          <a:p>
            <a:pPr>
              <a:buNone/>
            </a:pPr>
            <a:r>
              <a:rPr lang="en-IN" sz="3000" dirty="0"/>
              <a:t>                                        ;       </a:t>
            </a:r>
          </a:p>
          <a:p>
            <a:pPr>
              <a:buNone/>
            </a:pPr>
            <a:r>
              <a:rPr lang="en-IN" sz="3000" dirty="0"/>
              <a:t>                                         ;                       </a:t>
            </a:r>
          </a:p>
          <a:p>
            <a:pPr>
              <a:buNone/>
            </a:pPr>
            <a:endParaRPr lang="en-IN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6</a:t>
            </a:fld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285852" y="714356"/>
          <a:ext cx="1357322" cy="55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203040" progId="">
                  <p:embed/>
                </p:oleObj>
              </mc:Choice>
              <mc:Fallback>
                <p:oleObj name="Equation" r:id="rId2" imgW="495000" imgH="203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714356"/>
                        <a:ext cx="1357322" cy="556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143372" y="642918"/>
          <a:ext cx="1996179" cy="517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177480" progId="">
                  <p:embed/>
                </p:oleObj>
              </mc:Choice>
              <mc:Fallback>
                <p:oleObj name="Equation" r:id="rId4" imgW="685800" imgH="1774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2" y="642918"/>
                        <a:ext cx="1996179" cy="5175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357290" y="1785926"/>
          <a:ext cx="1232998" cy="458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760" imgH="203040" progId="">
                  <p:embed/>
                </p:oleObj>
              </mc:Choice>
              <mc:Fallback>
                <p:oleObj name="Equation" r:id="rId6" imgW="545760" imgH="2030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290" y="1785926"/>
                        <a:ext cx="1232998" cy="4587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429124" y="1785926"/>
          <a:ext cx="1643074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83920" imgH="177480" progId="">
                  <p:embed/>
                </p:oleObj>
              </mc:Choice>
              <mc:Fallback>
                <p:oleObj name="Equation" r:id="rId8" imgW="583920" imgH="17748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4" y="1785926"/>
                        <a:ext cx="1643074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357290" y="2928934"/>
          <a:ext cx="1260480" cy="996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5760" imgH="431640" progId="">
                  <p:embed/>
                </p:oleObj>
              </mc:Choice>
              <mc:Fallback>
                <p:oleObj name="Equation" r:id="rId10" imgW="545760" imgH="43164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290" y="2928934"/>
                        <a:ext cx="1260480" cy="9966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/>
        </p:nvGraphicFramePr>
        <p:xfrm>
          <a:off x="4143372" y="2786058"/>
          <a:ext cx="1996179" cy="517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85800" imgH="177480" progId="">
                  <p:embed/>
                </p:oleObj>
              </mc:Choice>
              <mc:Fallback>
                <p:oleObj name="Equation" r:id="rId12" imgW="685800" imgH="17748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2" y="2786058"/>
                        <a:ext cx="1996179" cy="517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4572000" y="3429000"/>
          <a:ext cx="1737414" cy="528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83920" imgH="177480" progId="">
                  <p:embed/>
                </p:oleObj>
              </mc:Choice>
              <mc:Fallback>
                <p:oleObj name="Equation" r:id="rId14" imgW="583920" imgH="17748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429000"/>
                        <a:ext cx="1737414" cy="5287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1428728" y="4643446"/>
          <a:ext cx="1176626" cy="1000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07960" imgH="431640" progId="">
                  <p:embed/>
                </p:oleObj>
              </mc:Choice>
              <mc:Fallback>
                <p:oleObj name="Equation" r:id="rId16" imgW="507960" imgH="43164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28" y="4643446"/>
                        <a:ext cx="1176626" cy="10001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4572000" y="4500570"/>
          <a:ext cx="892976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17160" imgH="177480" progId="">
                  <p:embed/>
                </p:oleObj>
              </mc:Choice>
              <mc:Fallback>
                <p:oleObj name="Equation" r:id="rId18" imgW="317160" imgH="17748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00570"/>
                        <a:ext cx="892976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4572000" y="5117795"/>
          <a:ext cx="857256" cy="48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17160" imgH="177480" progId="">
                  <p:embed/>
                </p:oleObj>
              </mc:Choice>
              <mc:Fallback>
                <p:oleObj name="Equation" r:id="rId20" imgW="317160" imgH="17748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117795"/>
                        <a:ext cx="857256" cy="48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214290"/>
            <a:ext cx="8858312" cy="62151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3000" dirty="0"/>
              <a:t>Laplace transform:</a:t>
            </a:r>
          </a:p>
          <a:p>
            <a:pPr>
              <a:buNone/>
            </a:pPr>
            <a:endParaRPr lang="en-IN" sz="3000" dirty="0"/>
          </a:p>
          <a:p>
            <a:pPr>
              <a:buNone/>
            </a:pPr>
            <a:r>
              <a:rPr lang="en-IN" sz="3000" dirty="0"/>
              <a:t>              £f(t)=</a:t>
            </a:r>
          </a:p>
          <a:p>
            <a:pPr>
              <a:buNone/>
            </a:pPr>
            <a:endParaRPr lang="en-IN" sz="3000" dirty="0"/>
          </a:p>
          <a:p>
            <a:pPr>
              <a:buNone/>
            </a:pPr>
            <a:r>
              <a:rPr lang="en-IN" sz="3000" dirty="0">
                <a:solidFill>
                  <a:srgbClr val="00B050"/>
                </a:solidFill>
              </a:rPr>
              <a:t>2. RAMP FUNCTION:</a:t>
            </a:r>
          </a:p>
          <a:p>
            <a:pPr algn="just">
              <a:buNone/>
            </a:pPr>
            <a:r>
              <a:rPr lang="en-IN" sz="3000" dirty="0"/>
              <a:t>Ramp function starts from origin and increases or decreases linearly with time. Let r(t) be the ramp function then,</a:t>
            </a:r>
          </a:p>
          <a:p>
            <a:pPr algn="just">
              <a:buNone/>
            </a:pPr>
            <a:r>
              <a:rPr lang="en-IN" sz="3000" dirty="0"/>
              <a:t>             r(t)=0     ;     t&lt;0</a:t>
            </a:r>
          </a:p>
          <a:p>
            <a:pPr algn="just">
              <a:buNone/>
            </a:pPr>
            <a:r>
              <a:rPr lang="en-IN" sz="3000" dirty="0"/>
              <a:t>                   =Kt    ;     t&gt;0                                                   </a:t>
            </a:r>
          </a:p>
          <a:p>
            <a:pPr>
              <a:buNone/>
            </a:pPr>
            <a:r>
              <a:rPr lang="en-IN" sz="3000" dirty="0"/>
              <a:t>                                                                                   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7</a:t>
            </a:fld>
            <a:endParaRPr lang="en-IN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428860" y="857232"/>
          <a:ext cx="5455475" cy="1254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680" imgH="507960" progId="">
                  <p:embed/>
                </p:oleObj>
              </mc:Choice>
              <mc:Fallback>
                <p:oleObj name="Equation" r:id="rId2" imgW="2209680" imgH="50796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857232"/>
                        <a:ext cx="5455475" cy="12541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rot="5400000" flipH="1" flipV="1">
            <a:off x="4393405" y="4964917"/>
            <a:ext cx="178595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214942" y="5715016"/>
            <a:ext cx="221457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5286380" y="4500570"/>
            <a:ext cx="1428760" cy="12144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00892" y="4214818"/>
            <a:ext cx="571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K&gt;0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0958" y="5500702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1354" y="42148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4786314" y="400050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r(t)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214290"/>
            <a:ext cx="8858312" cy="61436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3000" dirty="0"/>
              <a:t>LAPLACE TRANSFORM:</a:t>
            </a:r>
          </a:p>
          <a:p>
            <a:pPr>
              <a:buNone/>
            </a:pPr>
            <a:r>
              <a:rPr lang="en-IN" sz="3000" dirty="0"/>
              <a:t>        </a:t>
            </a:r>
          </a:p>
          <a:p>
            <a:pPr>
              <a:buNone/>
            </a:pPr>
            <a:r>
              <a:rPr lang="en-IN" sz="3000" dirty="0"/>
              <a:t>                £r(t)</a:t>
            </a:r>
          </a:p>
          <a:p>
            <a:pPr>
              <a:buNone/>
            </a:pPr>
            <a:endParaRPr lang="en-IN" sz="3000" dirty="0"/>
          </a:p>
          <a:p>
            <a:pPr>
              <a:buNone/>
            </a:pPr>
            <a:r>
              <a:rPr lang="en-IN" sz="3000" dirty="0"/>
              <a:t>                                </a:t>
            </a:r>
          </a:p>
          <a:p>
            <a:pPr>
              <a:buNone/>
            </a:pPr>
            <a:r>
              <a:rPr lang="en-IN" sz="3000" dirty="0"/>
              <a:t>For unit ramp K=1</a:t>
            </a:r>
          </a:p>
          <a:p>
            <a:pPr>
              <a:buNone/>
            </a:pPr>
            <a:endParaRPr lang="en-IN" sz="3000" dirty="0">
              <a:solidFill>
                <a:srgbClr val="00B050"/>
              </a:solidFill>
            </a:endParaRPr>
          </a:p>
          <a:p>
            <a:pPr>
              <a:buNone/>
            </a:pPr>
            <a:endParaRPr lang="en-IN" sz="3000" dirty="0"/>
          </a:p>
          <a:p>
            <a:pPr>
              <a:buNone/>
            </a:pPr>
            <a:endParaRPr lang="en-IN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8</a:t>
            </a:fld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285984" y="1071546"/>
          <a:ext cx="4191858" cy="1098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482400" progId="">
                  <p:embed/>
                </p:oleObj>
              </mc:Choice>
              <mc:Fallback>
                <p:oleObj name="Equation" r:id="rId2" imgW="1841400" imgH="482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984" y="1071546"/>
                        <a:ext cx="4191858" cy="10985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643174" y="2214554"/>
          <a:ext cx="16589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760" imgH="393480" progId="">
                  <p:embed/>
                </p:oleObj>
              </mc:Choice>
              <mc:Fallback>
                <p:oleObj name="Equation" r:id="rId4" imgW="761760" imgH="3934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74" y="2214554"/>
                        <a:ext cx="1658937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rot="5400000">
            <a:off x="3000364" y="4929198"/>
            <a:ext cx="21431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714744" y="4143380"/>
            <a:ext cx="307183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071934" y="4143380"/>
            <a:ext cx="1643074" cy="1428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15140" y="3929066"/>
            <a:ext cx="785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1934" y="3643314"/>
            <a:ext cx="51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r(t)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6380" y="4572008"/>
            <a:ext cx="642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K&lt;0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6182" y="3786190"/>
            <a:ext cx="285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42852"/>
            <a:ext cx="8858312" cy="62151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sz="3000" dirty="0">
                <a:solidFill>
                  <a:srgbClr val="00B050"/>
                </a:solidFill>
              </a:rPr>
              <a:t>3. PARABOLIC FUNCTION: </a:t>
            </a:r>
          </a:p>
          <a:p>
            <a:pPr algn="just">
              <a:buNone/>
            </a:pPr>
            <a:r>
              <a:rPr lang="en-IN" sz="3000" dirty="0"/>
              <a:t>The value of r(t) is zero for t&lt;0 and is quadratic function of time for t&gt;0. The parabolic function represents a signal that is one order faster than the ramp function. </a:t>
            </a:r>
          </a:p>
          <a:p>
            <a:pPr algn="just">
              <a:buNone/>
            </a:pPr>
            <a:r>
              <a:rPr lang="en-IN" sz="3000" dirty="0"/>
              <a:t>The parabolic function is defined as </a:t>
            </a:r>
          </a:p>
          <a:p>
            <a:pPr algn="just">
              <a:buNone/>
            </a:pPr>
            <a:r>
              <a:rPr lang="en-IN" sz="3000" dirty="0"/>
              <a:t>                                       </a:t>
            </a:r>
          </a:p>
          <a:p>
            <a:pPr algn="just">
              <a:buNone/>
            </a:pPr>
            <a:r>
              <a:rPr lang="en-IN" sz="3000" dirty="0"/>
              <a:t>       </a:t>
            </a:r>
          </a:p>
          <a:p>
            <a:pPr algn="just">
              <a:buNone/>
            </a:pPr>
            <a:endParaRPr lang="en-IN" sz="3000" dirty="0"/>
          </a:p>
          <a:p>
            <a:pPr algn="just">
              <a:buNone/>
            </a:pPr>
            <a:r>
              <a:rPr lang="en-IN" sz="3000" dirty="0"/>
              <a:t>For unit parabolic function K=1</a:t>
            </a:r>
          </a:p>
          <a:p>
            <a:pPr algn="just">
              <a:buNone/>
            </a:pPr>
            <a:r>
              <a:rPr lang="en-IN" sz="3000" dirty="0"/>
              <a:t>                                               </a:t>
            </a:r>
          </a:p>
          <a:p>
            <a:pPr algn="just">
              <a:buNone/>
            </a:pPr>
            <a:r>
              <a:rPr lang="en-IN" sz="3000" dirty="0"/>
              <a:t>                                                    </a:t>
            </a:r>
          </a:p>
          <a:p>
            <a:pPr algn="just">
              <a:buNone/>
            </a:pPr>
            <a:endParaRPr lang="en-IN" sz="3000" dirty="0"/>
          </a:p>
          <a:p>
            <a:pPr algn="just">
              <a:buNone/>
            </a:pPr>
            <a:endParaRPr lang="en-IN" sz="3000" dirty="0"/>
          </a:p>
          <a:p>
            <a:pPr algn="just">
              <a:buNone/>
            </a:pPr>
            <a:endParaRPr lang="en-IN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9</a:t>
            </a:fld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714480" y="2857496"/>
          <a:ext cx="1590210" cy="1500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40" imgH="634680" progId="">
                  <p:embed/>
                </p:oleObj>
              </mc:Choice>
              <mc:Fallback>
                <p:oleObj name="Equation" r:id="rId2" imgW="672840" imgH="6346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480" y="2857496"/>
                        <a:ext cx="1590210" cy="15001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143372" y="2928934"/>
          <a:ext cx="928694" cy="1188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160" imgH="406080" progId="">
                  <p:embed/>
                </p:oleObj>
              </mc:Choice>
              <mc:Fallback>
                <p:oleObj name="Equation" r:id="rId4" imgW="317160" imgH="4060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2" y="2928934"/>
                        <a:ext cx="928694" cy="11887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785918" y="4929198"/>
          <a:ext cx="1273180" cy="1446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634680" progId="">
                  <p:embed/>
                </p:oleObj>
              </mc:Choice>
              <mc:Fallback>
                <p:oleObj name="Equation" r:id="rId6" imgW="558720" imgH="63468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18" y="4929198"/>
                        <a:ext cx="1273180" cy="14467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286248" y="5000636"/>
          <a:ext cx="906371" cy="1160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160" imgH="406080" progId="">
                  <p:embed/>
                </p:oleObj>
              </mc:Choice>
              <mc:Fallback>
                <p:oleObj name="Equation" r:id="rId8" imgW="317160" imgH="40608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48" y="5000636"/>
                        <a:ext cx="906371" cy="11601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42852"/>
            <a:ext cx="8858312" cy="61436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3000" dirty="0">
                <a:solidFill>
                  <a:srgbClr val="00B050"/>
                </a:solidFill>
              </a:rPr>
              <a:t>LAPLACE TRANSFORM:</a:t>
            </a:r>
          </a:p>
          <a:p>
            <a:pPr>
              <a:buNone/>
            </a:pPr>
            <a:endParaRPr lang="en-IN" sz="3000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IN" sz="3000" dirty="0"/>
              <a:t>              £r(t)</a:t>
            </a:r>
          </a:p>
          <a:p>
            <a:pPr>
              <a:buNone/>
            </a:pPr>
            <a:endParaRPr lang="en-IN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10</a:t>
            </a:fld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143108" y="928670"/>
          <a:ext cx="5053728" cy="215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320" imgH="888840" progId="">
                  <p:embed/>
                </p:oleObj>
              </mc:Choice>
              <mc:Fallback>
                <p:oleObj name="Equation" r:id="rId2" imgW="1930320" imgH="8888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08" y="928670"/>
                        <a:ext cx="5053728" cy="2159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555" name="Picture 3" descr="C:\Users\syed hasan saeed\Desktop\fig\Drawing3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7752" y="2934615"/>
            <a:ext cx="3214710" cy="32512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42852"/>
            <a:ext cx="8786874" cy="61436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3000" dirty="0">
                <a:solidFill>
                  <a:srgbClr val="00B050"/>
                </a:solidFill>
              </a:rPr>
              <a:t>IMPULSE RESPONSE: </a:t>
            </a:r>
            <a:r>
              <a:rPr lang="en-IN" sz="3000" dirty="0"/>
              <a:t>Consider the following fig.</a:t>
            </a:r>
          </a:p>
          <a:p>
            <a:pPr>
              <a:buNone/>
            </a:pPr>
            <a:endParaRPr lang="en-IN" sz="3000" dirty="0"/>
          </a:p>
          <a:p>
            <a:pPr>
              <a:buNone/>
            </a:pPr>
            <a:endParaRPr lang="en-IN" sz="3000" dirty="0"/>
          </a:p>
          <a:p>
            <a:pPr>
              <a:buNone/>
            </a:pPr>
            <a:endParaRPr lang="en-IN" sz="3000" dirty="0"/>
          </a:p>
          <a:p>
            <a:pPr>
              <a:buNone/>
            </a:pPr>
            <a:endParaRPr lang="en-IN" sz="3000" dirty="0"/>
          </a:p>
          <a:p>
            <a:pPr>
              <a:buNone/>
            </a:pPr>
            <a:endParaRPr lang="en-IN" sz="3000" dirty="0"/>
          </a:p>
          <a:p>
            <a:pPr>
              <a:buNone/>
            </a:pPr>
            <a:endParaRPr lang="en-IN" sz="3000" dirty="0"/>
          </a:p>
          <a:p>
            <a:pPr algn="just">
              <a:buNone/>
            </a:pPr>
            <a:r>
              <a:rPr lang="en-IN" sz="3000" dirty="0"/>
              <a:t>The first pulse has a width T and height 1/T, area of the pulse will be 1. If we halve the duration and double the amplitude we get second pulse. The area under the second pulse is also unity. </a:t>
            </a:r>
          </a:p>
          <a:p>
            <a:pPr algn="just">
              <a:buNone/>
            </a:pPr>
            <a:endParaRPr lang="en-IN" sz="3000" dirty="0"/>
          </a:p>
          <a:p>
            <a:pPr>
              <a:buNone/>
            </a:pPr>
            <a:endParaRPr lang="en-IN" sz="3000" dirty="0">
              <a:solidFill>
                <a:srgbClr val="00B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25603" name="Picture 3" descr="C:\Users\syed hasan saeed\Desktop\fig\Drawing1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857232"/>
            <a:ext cx="8318195" cy="32004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42852"/>
            <a:ext cx="8715436" cy="62151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sz="3000" dirty="0"/>
              <a:t>We can say that as the duration of the pulse approaches zero, the amplitude approaches infinity but area of the pulse is unity.</a:t>
            </a:r>
          </a:p>
          <a:p>
            <a:pPr algn="just">
              <a:buNone/>
            </a:pPr>
            <a:r>
              <a:rPr lang="en-IN" sz="3000" dirty="0"/>
              <a:t>The pulse for which the duration tends to zero and amplitude tends to infinity is called </a:t>
            </a:r>
            <a:r>
              <a:rPr lang="en-IN" sz="3000" dirty="0">
                <a:solidFill>
                  <a:srgbClr val="00B050"/>
                </a:solidFill>
              </a:rPr>
              <a:t>impulse</a:t>
            </a:r>
            <a:r>
              <a:rPr lang="en-IN" sz="3000" dirty="0"/>
              <a:t>. Impulse function also known as delta function. Mathematically</a:t>
            </a:r>
          </a:p>
          <a:p>
            <a:pPr algn="just">
              <a:buNone/>
            </a:pPr>
            <a:r>
              <a:rPr lang="en-IN" sz="3000" dirty="0">
                <a:latin typeface="Arial"/>
                <a:cs typeface="Arial"/>
              </a:rPr>
              <a:t>                             </a:t>
            </a:r>
            <a:r>
              <a:rPr lang="el-GR" sz="3000" dirty="0">
                <a:latin typeface="Arial"/>
                <a:cs typeface="Arial"/>
              </a:rPr>
              <a:t>δ</a:t>
            </a:r>
            <a:r>
              <a:rPr lang="en-IN" sz="3000" dirty="0">
                <a:latin typeface="Arial"/>
                <a:cs typeface="Arial"/>
              </a:rPr>
              <a:t>(t)= 0     ;     t ≠ 0</a:t>
            </a:r>
          </a:p>
          <a:p>
            <a:pPr algn="just">
              <a:buNone/>
            </a:pPr>
            <a:r>
              <a:rPr lang="en-IN" sz="3000" dirty="0">
                <a:latin typeface="Arial"/>
                <a:cs typeface="Arial"/>
              </a:rPr>
              <a:t>                                   =∞     ;     t = 0</a:t>
            </a:r>
          </a:p>
          <a:p>
            <a:pPr algn="just">
              <a:buNone/>
            </a:pPr>
            <a:r>
              <a:rPr lang="en-IN" sz="3000" dirty="0">
                <a:latin typeface="Arial"/>
                <a:cs typeface="Arial"/>
              </a:rPr>
              <a:t>Thus the impulse function has zero value everywhere except at t=0, where the amplitude is infinite.</a:t>
            </a:r>
            <a:endParaRPr lang="en-IN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214290"/>
            <a:ext cx="8786874" cy="60722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3000" dirty="0"/>
              <a:t>An impulse function is the derivative of a step function</a:t>
            </a:r>
          </a:p>
          <a:p>
            <a:pPr>
              <a:buNone/>
            </a:pPr>
            <a:r>
              <a:rPr lang="en-IN" sz="3000" dirty="0"/>
              <a:t>                  </a:t>
            </a:r>
            <a:r>
              <a:rPr lang="el-GR" sz="3000" dirty="0">
                <a:latin typeface="Arial"/>
                <a:cs typeface="Arial"/>
              </a:rPr>
              <a:t>δ</a:t>
            </a:r>
            <a:r>
              <a:rPr lang="en-IN" sz="3000" dirty="0">
                <a:latin typeface="Arial"/>
                <a:cs typeface="Arial"/>
              </a:rPr>
              <a:t>(t) = u(t)</a:t>
            </a:r>
          </a:p>
          <a:p>
            <a:pPr>
              <a:buNone/>
            </a:pPr>
            <a:endParaRPr lang="en-IN" sz="3000" dirty="0">
              <a:latin typeface="Arial"/>
              <a:cs typeface="Arial"/>
            </a:endParaRPr>
          </a:p>
          <a:p>
            <a:pPr>
              <a:buNone/>
            </a:pPr>
            <a:r>
              <a:rPr lang="en-IN" sz="3000" dirty="0">
                <a:latin typeface="Arial"/>
                <a:cs typeface="Arial"/>
              </a:rPr>
              <a:t>               £</a:t>
            </a:r>
            <a:r>
              <a:rPr lang="el-GR" sz="3000" dirty="0">
                <a:latin typeface="Arial"/>
                <a:cs typeface="Arial"/>
              </a:rPr>
              <a:t>δ</a:t>
            </a:r>
            <a:r>
              <a:rPr lang="en-IN" sz="3000" dirty="0">
                <a:latin typeface="Arial"/>
                <a:cs typeface="Arial"/>
              </a:rPr>
              <a:t>(t) = </a:t>
            </a:r>
            <a:r>
              <a:rPr lang="el-GR" sz="3000" dirty="0">
                <a:latin typeface="Arial"/>
                <a:cs typeface="Arial"/>
              </a:rPr>
              <a:t>£</a:t>
            </a:r>
            <a:endParaRPr lang="en-IN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13</a:t>
            </a:fld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286116" y="1785926"/>
          <a:ext cx="21955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393480" progId="">
                  <p:embed/>
                </p:oleObj>
              </mc:Choice>
              <mc:Fallback>
                <p:oleObj name="Equation" r:id="rId2" imgW="10792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16" y="1785926"/>
                        <a:ext cx="2195512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8595" y="2786058"/>
          <a:ext cx="8358246" cy="3357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6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6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5341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IN" sz="2400" b="0" baseline="0" dirty="0">
                          <a:solidFill>
                            <a:schemeClr val="tx1"/>
                          </a:solidFill>
                        </a:rPr>
                        <a:t>         r(t)</a:t>
                      </a:r>
                    </a:p>
                    <a:p>
                      <a:pPr algn="ctr"/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R(S)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06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UNIT STEP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U(t)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06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UNIT RAMP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r(t)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1/s</a:t>
                      </a:r>
                      <a:r>
                        <a:rPr lang="en-IN" sz="2400" baseline="30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06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UNIT PARABOLIC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1/s</a:t>
                      </a:r>
                      <a:r>
                        <a:rPr lang="en-IN" sz="2400" baseline="300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06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UNIT IMPULSE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dirty="0">
                          <a:latin typeface="Arial"/>
                          <a:cs typeface="Arial"/>
                        </a:rPr>
                        <a:t>δ</a:t>
                      </a:r>
                      <a:r>
                        <a:rPr lang="en-IN" sz="2400" dirty="0">
                          <a:latin typeface="Arial"/>
                          <a:cs typeface="Arial"/>
                        </a:rPr>
                        <a:t>(t)</a:t>
                      </a: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214290"/>
            <a:ext cx="8715436" cy="6072230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IN" sz="4800" dirty="0">
              <a:solidFill>
                <a:srgbClr val="FF0000"/>
              </a:solidFill>
              <a:latin typeface="AR CARTER" pitchFamily="2" charset="0"/>
            </a:endParaRPr>
          </a:p>
          <a:p>
            <a:pPr algn="ctr">
              <a:buNone/>
            </a:pPr>
            <a:endParaRPr lang="en-IN" sz="4800" dirty="0">
              <a:solidFill>
                <a:srgbClr val="FF0000"/>
              </a:solidFill>
              <a:latin typeface="AR CARTER" pitchFamily="2" charset="0"/>
            </a:endParaRPr>
          </a:p>
          <a:p>
            <a:pPr algn="ctr">
              <a:buNone/>
            </a:pPr>
            <a:r>
              <a:rPr lang="en-IN" sz="4800" dirty="0">
                <a:solidFill>
                  <a:srgbClr val="FF0000"/>
                </a:solidFill>
                <a:latin typeface="AR CARTER" pitchFamily="2" charset="0"/>
              </a:rPr>
              <a:t>THANK YOU </a:t>
            </a:r>
          </a:p>
          <a:p>
            <a:pPr algn="ctr">
              <a:buNone/>
            </a:pPr>
            <a:r>
              <a:rPr lang="en-IN" sz="4800" dirty="0">
                <a:solidFill>
                  <a:srgbClr val="FF0000"/>
                </a:solidFill>
                <a:latin typeface="AR CARTER" pitchFamily="2" charset="0"/>
              </a:rPr>
              <a:t>FOR</a:t>
            </a:r>
          </a:p>
          <a:p>
            <a:pPr algn="ctr">
              <a:buNone/>
            </a:pPr>
            <a:r>
              <a:rPr lang="en-IN" sz="4800" dirty="0">
                <a:solidFill>
                  <a:srgbClr val="FF0000"/>
                </a:solidFill>
                <a:latin typeface="AR CARTER" pitchFamily="2" charset="0"/>
              </a:rPr>
              <a:t>ATTENTION</a:t>
            </a:r>
          </a:p>
          <a:p>
            <a:pPr algn="ctr">
              <a:buNone/>
            </a:pPr>
            <a:endParaRPr lang="en-IN" sz="4800" dirty="0">
              <a:solidFill>
                <a:srgbClr val="FF0000"/>
              </a:solidFill>
              <a:latin typeface="AR CARTER" pitchFamily="2" charset="0"/>
            </a:endParaRPr>
          </a:p>
          <a:p>
            <a:pPr algn="ctr">
              <a:buNone/>
            </a:pPr>
            <a:endParaRPr lang="en-IN" sz="4800" dirty="0">
              <a:solidFill>
                <a:srgbClr val="FF0000"/>
              </a:solidFill>
              <a:latin typeface="AR CARTER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C18F-DCF1-4405-AD36-2AA952D6EA8C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EBA1DD-33FC-E447-FDBF-46E633CC9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1400175"/>
            <a:ext cx="474345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703</Words>
  <Application>Microsoft Office PowerPoint</Application>
  <PresentationFormat>On-screen Show (4:3)</PresentationFormat>
  <Paragraphs>146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 CARTER</vt:lpstr>
      <vt:lpstr>Arial</vt:lpstr>
      <vt:lpstr>Calibri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syed hasan saeed</dc:creator>
  <cp:lastModifiedBy>hasansaeedcontrol@gmail.com</cp:lastModifiedBy>
  <cp:revision>60</cp:revision>
  <dcterms:created xsi:type="dcterms:W3CDTF">2016-07-19T08:13:53Z</dcterms:created>
  <dcterms:modified xsi:type="dcterms:W3CDTF">2024-09-15T17:43:05Z</dcterms:modified>
</cp:coreProperties>
</file>