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80" r:id="rId4"/>
    <p:sldId id="316" r:id="rId5"/>
    <p:sldId id="315" r:id="rId6"/>
    <p:sldId id="314" r:id="rId7"/>
    <p:sldId id="313" r:id="rId8"/>
    <p:sldId id="312" r:id="rId9"/>
    <p:sldId id="311" r:id="rId10"/>
    <p:sldId id="309" r:id="rId11"/>
    <p:sldId id="308" r:id="rId12"/>
    <p:sldId id="307" r:id="rId13"/>
    <p:sldId id="305" r:id="rId14"/>
    <p:sldId id="306" r:id="rId15"/>
    <p:sldId id="331" r:id="rId16"/>
    <p:sldId id="330" r:id="rId17"/>
    <p:sldId id="260" r:id="rId18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80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954" y="90"/>
      </p:cViewPr>
      <p:guideLst>
        <p:guide orient="horz" pos="2160"/>
        <p:guide pos="3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B1FF-F32D-4BA9-8444-B2076D6565D6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69ED-E8C9-462C-B99A-12A0CE95B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138" y="2130427"/>
            <a:ext cx="10337562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4276" y="3886200"/>
            <a:ext cx="85132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4FAF-5EE7-4E62-8977-C2BDEA0C9800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02" y="4406902"/>
            <a:ext cx="103375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702" y="2906713"/>
            <a:ext cx="1033756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61579-A505-43A3-BF77-7B0637CA8DD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92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2268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FA65-A5E3-4488-861A-24253CE9BF3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535114"/>
            <a:ext cx="537359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092" y="2174875"/>
            <a:ext cx="5373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048" y="1535114"/>
            <a:ext cx="537570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048" y="2174875"/>
            <a:ext cx="5375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9FEE-2738-4AB4-98CC-08290BDBA2BB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905A-B11B-4A72-B2CE-087AEDA733D6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4456-9DBB-4D08-899D-BC1DAC50274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5" y="273050"/>
            <a:ext cx="400116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941" y="273053"/>
            <a:ext cx="679880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95" y="1435103"/>
            <a:ext cx="4001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9D0B-4DA1-425D-A37D-F89B237EAD49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805" y="4800601"/>
            <a:ext cx="7297103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3805" y="612775"/>
            <a:ext cx="729710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805" y="5367339"/>
            <a:ext cx="7297103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36CE-64FA-46EE-9395-90ED4C1DF39F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0824-BA15-49A9-9CC6-33B3E3DE0658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7332" y="274640"/>
            <a:ext cx="27364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92" y="274640"/>
            <a:ext cx="800654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A43B-922F-4162-B2E2-68DFCB817C41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092" y="274639"/>
            <a:ext cx="109456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2"/>
            <a:ext cx="109456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092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4F296-D24D-4DC1-9DEB-EAC44D5F442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5295" y="6356352"/>
            <a:ext cx="38512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984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hasansaeed.yolasite.com/" TargetMode="External"/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0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hasansaeedcontrol@gmail.com" TargetMode="External"/><Relationship Id="rId2" Type="http://schemas.openxmlformats.org/officeDocument/2006/relationships/hyperlink" Target="mailto:shasansaeed@yolasite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002" y="433906"/>
            <a:ext cx="11496818" cy="1577767"/>
          </a:xfrm>
        </p:spPr>
        <p:txBody>
          <a:bodyPr>
            <a:normAutofit fontScale="90000"/>
          </a:bodyPr>
          <a:lstStyle/>
          <a:p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CIRCUIT THEORY</a:t>
            </a: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TRANSFORM NETWORK</a:t>
            </a: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0A82E-398C-43BE-B58C-5BAD9E6CD89B}"/>
              </a:ext>
            </a:extLst>
          </p:cNvPr>
          <p:cNvSpPr txBox="1">
            <a:spLocks/>
          </p:cNvSpPr>
          <p:nvPr/>
        </p:nvSpPr>
        <p:spPr>
          <a:xfrm>
            <a:off x="285002" y="5559287"/>
            <a:ext cx="11782531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    Declaration : The content of the presentation has been created for academic use / non-commercial use with fair dealing.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757" y="188640"/>
            <a:ext cx="11684324" cy="6192688"/>
          </a:xfrm>
        </p:spPr>
        <p:txBody>
          <a:bodyPr>
            <a:normAutofit/>
          </a:bodyPr>
          <a:lstStyle/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SYED HASAN SAEED</a:t>
            </a: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Email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2"/>
              </a:rPr>
              <a:t>hasansaeedcontrol@gmail.com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URL 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http://shasansaeed.yolasite.com/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http://hasansaeed872726549.wordpress.com/</a:t>
            </a: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 BOOKS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Introductory Circuit Analysis, Robert L.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Boylested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Pearson Education, Prentice Hall.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Ashfaq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Husain,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Khanna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Book Publishing Co (P) Ltd.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A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Sudhakar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Shyammohan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Palli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Tata McGraw Hill, New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 Analysis, M.E. Van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Valkenburg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PHI Learning Private limited, New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Circuit Analysis Principle and Applications, Allan H. Robbins &amp;Wilhelm C. Miller, DELMAR CENGAGE Learning, Indian Reprint.</a:t>
            </a:r>
          </a:p>
          <a:p>
            <a:pPr algn="ctr">
              <a:buNone/>
            </a:pP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DD9A-2870-457E-9BC4-B781EC95764D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B804-655C-4897-A9A8-35B75A326C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TRANSFORM NETWORK: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transform network is the ‘s’ domain equivalent network of the time domain network.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RESISTOR IN ‘s’ DOMAIN: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time domain the volt-ampere relationship of a resistor is given by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(t) = 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(t) ---------------(1)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(t) = 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(t) ---------------(2) 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Laplace transform these equations gives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	V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 = R I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 ----------------(3)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	I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 = G V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 ----------------(4)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Equation (3) and (4) are voltage &amp; current relationship in ‘s’ domain.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Straight Connector 29"/>
          <p:cNvCxnSpPr/>
          <p:nvPr/>
        </p:nvCxnSpPr>
        <p:spPr>
          <a:xfrm>
            <a:off x="2503553" y="3474669"/>
            <a:ext cx="2067512" cy="0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506183" y="1987365"/>
            <a:ext cx="111776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2105905" y="1572315"/>
            <a:ext cx="3101215" cy="1905829"/>
            <a:chOff x="1583346" y="1572314"/>
            <a:chExt cx="2331680" cy="1905829"/>
          </a:xfrm>
        </p:grpSpPr>
        <p:grpSp>
          <p:nvGrpSpPr>
            <p:cNvPr id="38" name="Group 37"/>
            <p:cNvGrpSpPr/>
            <p:nvPr/>
          </p:nvGrpSpPr>
          <p:grpSpPr>
            <a:xfrm>
              <a:off x="1583346" y="1572314"/>
              <a:ext cx="2331680" cy="1905829"/>
              <a:chOff x="1576695" y="1476390"/>
              <a:chExt cx="1415890" cy="1192766"/>
            </a:xfrm>
          </p:grpSpPr>
          <p:grpSp>
            <p:nvGrpSpPr>
              <p:cNvPr id="84995" name="Group 3"/>
              <p:cNvGrpSpPr>
                <a:grpSpLocks/>
              </p:cNvGrpSpPr>
              <p:nvPr/>
            </p:nvGrpSpPr>
            <p:grpSpPr bwMode="auto">
              <a:xfrm rot="5400000">
                <a:off x="2234035" y="2128785"/>
                <a:ext cx="933508" cy="147234"/>
                <a:chOff x="5004" y="10008"/>
                <a:chExt cx="2090" cy="288"/>
              </a:xfrm>
            </p:grpSpPr>
            <p:sp>
              <p:nvSpPr>
                <p:cNvPr id="84996" name="Line 4"/>
                <p:cNvSpPr>
                  <a:spLocks noChangeShapeType="1"/>
                </p:cNvSpPr>
                <p:nvPr/>
              </p:nvSpPr>
              <p:spPr bwMode="auto">
                <a:xfrm flipH="1">
                  <a:off x="5694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997" name="Line 5"/>
                <p:cNvSpPr>
                  <a:spLocks noChangeShapeType="1"/>
                </p:cNvSpPr>
                <p:nvPr/>
              </p:nvSpPr>
              <p:spPr bwMode="auto">
                <a:xfrm flipH="1" flipV="1">
                  <a:off x="5838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998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5982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999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6126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0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6270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01" name="Line 9"/>
                <p:cNvSpPr>
                  <a:spLocks noChangeShapeType="1"/>
                </p:cNvSpPr>
                <p:nvPr/>
              </p:nvSpPr>
              <p:spPr bwMode="auto">
                <a:xfrm>
                  <a:off x="6414" y="10008"/>
                  <a:ext cx="6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02" name="Line 10"/>
                <p:cNvSpPr>
                  <a:spLocks noChangeShapeType="1"/>
                </p:cNvSpPr>
                <p:nvPr/>
              </p:nvSpPr>
              <p:spPr bwMode="auto">
                <a:xfrm>
                  <a:off x="5622" y="10152"/>
                  <a:ext cx="6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03" name="Line 11"/>
                <p:cNvSpPr>
                  <a:spLocks noChangeShapeType="1"/>
                </p:cNvSpPr>
                <p:nvPr/>
              </p:nvSpPr>
              <p:spPr bwMode="auto">
                <a:xfrm>
                  <a:off x="6480" y="10152"/>
                  <a:ext cx="6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04" name="Line 12"/>
                <p:cNvSpPr>
                  <a:spLocks noChangeShapeType="1"/>
                </p:cNvSpPr>
                <p:nvPr/>
              </p:nvSpPr>
              <p:spPr bwMode="auto">
                <a:xfrm>
                  <a:off x="5004" y="10152"/>
                  <a:ext cx="6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1" name="TextBox 30"/>
              <p:cNvSpPr txBox="1"/>
              <p:nvPr/>
            </p:nvSpPr>
            <p:spPr>
              <a:xfrm>
                <a:off x="2026581" y="1476390"/>
                <a:ext cx="425673" cy="23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(t)</a:t>
                </a:r>
                <a:endParaRPr 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727851" y="2106339"/>
                <a:ext cx="264734" cy="23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576695" y="2061779"/>
                <a:ext cx="648030" cy="23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US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(t) </a:t>
                </a:r>
                <a:endParaRPr lang="en-US" dirty="0"/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 rot="5400000" flipH="1" flipV="1">
                <a:off x="1588274" y="1934158"/>
                <a:ext cx="349857" cy="397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rot="5400000">
                <a:off x="1604177" y="2477538"/>
                <a:ext cx="314077" cy="1588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2714129" y="1989201"/>
              <a:ext cx="7203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/>
          <p:cNvCxnSpPr/>
          <p:nvPr/>
        </p:nvCxnSpPr>
        <p:spPr>
          <a:xfrm>
            <a:off x="7816454" y="3501234"/>
            <a:ext cx="2067512" cy="0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7407648" y="1598881"/>
            <a:ext cx="3208627" cy="1905809"/>
            <a:chOff x="1574956" y="1572315"/>
            <a:chExt cx="2412438" cy="1905809"/>
          </a:xfrm>
        </p:grpSpPr>
        <p:grpSp>
          <p:nvGrpSpPr>
            <p:cNvPr id="48" name="Group 37"/>
            <p:cNvGrpSpPr/>
            <p:nvPr/>
          </p:nvGrpSpPr>
          <p:grpSpPr>
            <a:xfrm>
              <a:off x="1574956" y="1572315"/>
              <a:ext cx="2412438" cy="1905809"/>
              <a:chOff x="1571600" y="1476390"/>
              <a:chExt cx="1464930" cy="1192753"/>
            </a:xfrm>
          </p:grpSpPr>
          <p:grpSp>
            <p:nvGrpSpPr>
              <p:cNvPr id="50" name="Group 3"/>
              <p:cNvGrpSpPr>
                <a:grpSpLocks/>
              </p:cNvGrpSpPr>
              <p:nvPr/>
            </p:nvGrpSpPr>
            <p:grpSpPr bwMode="auto">
              <a:xfrm rot="5400000">
                <a:off x="2234041" y="2128774"/>
                <a:ext cx="933504" cy="147234"/>
                <a:chOff x="5004" y="10008"/>
                <a:chExt cx="2090" cy="288"/>
              </a:xfrm>
            </p:grpSpPr>
            <p:sp>
              <p:nvSpPr>
                <p:cNvPr id="56" name="Line 4"/>
                <p:cNvSpPr>
                  <a:spLocks noChangeShapeType="1"/>
                </p:cNvSpPr>
                <p:nvPr/>
              </p:nvSpPr>
              <p:spPr bwMode="auto">
                <a:xfrm flipH="1">
                  <a:off x="5694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5"/>
                <p:cNvSpPr>
                  <a:spLocks noChangeShapeType="1"/>
                </p:cNvSpPr>
                <p:nvPr/>
              </p:nvSpPr>
              <p:spPr bwMode="auto">
                <a:xfrm flipH="1" flipV="1">
                  <a:off x="5838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5982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6126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6270" y="10008"/>
                  <a:ext cx="144" cy="2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Line 9"/>
                <p:cNvSpPr>
                  <a:spLocks noChangeShapeType="1"/>
                </p:cNvSpPr>
                <p:nvPr/>
              </p:nvSpPr>
              <p:spPr bwMode="auto">
                <a:xfrm>
                  <a:off x="6414" y="10008"/>
                  <a:ext cx="6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Line 10"/>
                <p:cNvSpPr>
                  <a:spLocks noChangeShapeType="1"/>
                </p:cNvSpPr>
                <p:nvPr/>
              </p:nvSpPr>
              <p:spPr bwMode="auto">
                <a:xfrm>
                  <a:off x="5622" y="10152"/>
                  <a:ext cx="6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11"/>
                <p:cNvSpPr>
                  <a:spLocks noChangeShapeType="1"/>
                </p:cNvSpPr>
                <p:nvPr/>
              </p:nvSpPr>
              <p:spPr bwMode="auto">
                <a:xfrm>
                  <a:off x="6480" y="10152"/>
                  <a:ext cx="6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Line 12"/>
                <p:cNvSpPr>
                  <a:spLocks noChangeShapeType="1"/>
                </p:cNvSpPr>
                <p:nvPr/>
              </p:nvSpPr>
              <p:spPr bwMode="auto">
                <a:xfrm>
                  <a:off x="5004" y="10152"/>
                  <a:ext cx="6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1" name="TextBox 50"/>
              <p:cNvSpPr txBox="1"/>
              <p:nvPr/>
            </p:nvSpPr>
            <p:spPr>
              <a:xfrm>
                <a:off x="2026581" y="1476390"/>
                <a:ext cx="425673" cy="23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baseline="-25000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(s)</a:t>
                </a:r>
                <a:endParaRPr lang="en-US" dirty="0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771796" y="2106339"/>
                <a:ext cx="264734" cy="23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571600" y="2061781"/>
                <a:ext cx="318142" cy="23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US" baseline="-25000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(s) </a:t>
                </a:r>
                <a:endParaRPr lang="en-US" dirty="0"/>
              </a:p>
            </p:txBody>
          </p:sp>
          <p:cxnSp>
            <p:nvCxnSpPr>
              <p:cNvPr id="54" name="Straight Arrow Connector 53"/>
              <p:cNvCxnSpPr/>
              <p:nvPr/>
            </p:nvCxnSpPr>
            <p:spPr>
              <a:xfrm rot="5400000" flipH="1" flipV="1">
                <a:off x="1588274" y="1934158"/>
                <a:ext cx="349857" cy="397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rot="5400000">
                <a:off x="1604177" y="2477538"/>
                <a:ext cx="314077" cy="1588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/>
            <p:nvPr/>
          </p:nvCxnSpPr>
          <p:spPr>
            <a:xfrm flipV="1">
              <a:off x="2714129" y="1989201"/>
              <a:ext cx="7203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Arrow Connector 64"/>
          <p:cNvCxnSpPr/>
          <p:nvPr/>
        </p:nvCxnSpPr>
        <p:spPr>
          <a:xfrm>
            <a:off x="7841400" y="2013930"/>
            <a:ext cx="111776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26923" y="3749879"/>
            <a:ext cx="4675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Time domain representation of resistor 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3814" y="3734499"/>
            <a:ext cx="4675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 - domain representation of resistor 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52891" y="1812022"/>
            <a:ext cx="44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5621" y="4974672"/>
            <a:ext cx="136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Fig. 1a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4729" y="4950904"/>
            <a:ext cx="136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Fig. 1b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06193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INDUCTOR IN ‘s’ DOMAIN: </a:t>
            </a:r>
          </a:p>
          <a:p>
            <a:pPr>
              <a:lnSpc>
                <a:spcPct val="150000"/>
              </a:lnSpc>
              <a:buNone/>
            </a:pPr>
            <a:endParaRPr lang="en-IN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IN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IN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IN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Consider an inductor ‘L’ with an initial current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en-IN" sz="2200" baseline="-25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). In time domain, volt-ampere relationship of inductor is given by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971" name="Group 3"/>
          <p:cNvGrpSpPr>
            <a:grpSpLocks/>
          </p:cNvGrpSpPr>
          <p:nvPr/>
        </p:nvGrpSpPr>
        <p:grpSpPr bwMode="auto">
          <a:xfrm rot="5400000">
            <a:off x="3559952" y="2309138"/>
            <a:ext cx="1301517" cy="235129"/>
            <a:chOff x="-2723" y="10440"/>
            <a:chExt cx="18578" cy="2347"/>
          </a:xfrm>
        </p:grpSpPr>
        <p:grpSp>
          <p:nvGrpSpPr>
            <p:cNvPr id="83972" name="Group 4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83973" name="Arc 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74" name="Arc 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3975" name="Group 7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83976" name="Arc 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77" name="Arc 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3978" name="Group 10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83979" name="Arc 1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80" name="Arc 1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3981" name="Group 13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83982" name="Arc 1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83" name="Arc 1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83984" name="AutoShape 16"/>
            <p:cNvCxnSpPr>
              <a:cxnSpLocks noChangeShapeType="1"/>
            </p:cNvCxnSpPr>
            <p:nvPr/>
          </p:nvCxnSpPr>
          <p:spPr bwMode="auto">
            <a:xfrm flipH="1">
              <a:off x="-2723" y="11705"/>
              <a:ext cx="61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3985" name="AutoShape 17"/>
            <p:cNvCxnSpPr>
              <a:cxnSpLocks noChangeShapeType="1"/>
            </p:cNvCxnSpPr>
            <p:nvPr/>
          </p:nvCxnSpPr>
          <p:spPr bwMode="auto">
            <a:xfrm flipH="1">
              <a:off x="9720" y="11699"/>
              <a:ext cx="61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83986" name="Group 18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83987" name="Arc 19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88" name="Arc 20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3989" name="Group 21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83990" name="Arc 22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91" name="Arc 23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3992" name="Group 24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83993" name="Arc 2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94" name="Arc 2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6" name="Group 35"/>
          <p:cNvGrpSpPr/>
          <p:nvPr/>
        </p:nvGrpSpPr>
        <p:grpSpPr>
          <a:xfrm>
            <a:off x="1104607" y="1778466"/>
            <a:ext cx="3101827" cy="522"/>
            <a:chOff x="830510" y="1778466"/>
            <a:chExt cx="2332140" cy="522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830510" y="1778466"/>
              <a:ext cx="9311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753299" y="1778988"/>
              <a:ext cx="14093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/>
          <p:cNvCxnSpPr/>
          <p:nvPr/>
        </p:nvCxnSpPr>
        <p:spPr>
          <a:xfrm rot="10800000">
            <a:off x="1092571" y="3072984"/>
            <a:ext cx="31142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66612" y="2245527"/>
            <a:ext cx="4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835" y="2248525"/>
            <a:ext cx="88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7983" y="1302115"/>
            <a:ext cx="100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(0-)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37257" y="1777335"/>
            <a:ext cx="100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6675" y="1551217"/>
            <a:ext cx="5537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rot="5400000" flipH="1" flipV="1">
            <a:off x="865443" y="2073726"/>
            <a:ext cx="44087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5400000">
            <a:off x="914428" y="2857500"/>
            <a:ext cx="3429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084887" y="3241223"/>
            <a:ext cx="114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Fig.2a</a:t>
            </a:r>
          </a:p>
        </p:txBody>
      </p:sp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2951163" y="4759325"/>
          <a:ext cx="4324350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2920" imgH="888840" progId="Equation.3">
                  <p:embed/>
                </p:oleObj>
              </mc:Choice>
              <mc:Fallback>
                <p:oleObj name="Equation" r:id="rId4" imgW="1942920" imgH="8888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4759325"/>
                        <a:ext cx="4324350" cy="1487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619911" y="819688"/>
          <a:ext cx="7983020" cy="5526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2222280" progId="Equation.3">
                  <p:embed/>
                </p:oleObj>
              </mc:Choice>
              <mc:Fallback>
                <p:oleObj name="Equation" r:id="rId4" imgW="2412720" imgH="2222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911" y="819688"/>
                        <a:ext cx="7983020" cy="55265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The initial current through the inductor is considered as an impulse voltage in equation (3) &amp; step current in equation (4)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initial current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assumed to be zero then equation (3) becomes 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                                V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 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Operational impedance of the inductor is given by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equation (3) &amp; (4) we can draw the transform network of inductor as shown in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(Fig. 2b)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076700" y="3671888"/>
          <a:ext cx="4111803" cy="9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507960" progId="Equation.3">
                  <p:embed/>
                </p:oleObj>
              </mc:Choice>
              <mc:Fallback>
                <p:oleObj name="Equation" r:id="rId4" imgW="1625400" imgH="5079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3671888"/>
                        <a:ext cx="4111803" cy="965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65728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equation (4), the first term                 represents the transform of a constant current </a:t>
            </a:r>
          </a:p>
          <a:p>
            <a:pPr>
              <a:lnSpc>
                <a:spcPct val="16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source due to initial current in the inductor. Second term            is the current  in the inductor with no initial current .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899" name="Group 3"/>
          <p:cNvGrpSpPr>
            <a:grpSpLocks/>
          </p:cNvGrpSpPr>
          <p:nvPr/>
        </p:nvGrpSpPr>
        <p:grpSpPr bwMode="auto">
          <a:xfrm rot="5400000">
            <a:off x="5411449" y="1790535"/>
            <a:ext cx="1368879" cy="364855"/>
            <a:chOff x="-179" y="10440"/>
            <a:chExt cx="13508" cy="2347"/>
          </a:xfrm>
        </p:grpSpPr>
        <p:grpSp>
          <p:nvGrpSpPr>
            <p:cNvPr id="80900" name="Group 4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80901" name="Arc 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02" name="Arc 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903" name="Group 7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80904" name="Arc 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05" name="Arc 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906" name="Group 10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80907" name="Arc 1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08" name="Arc 1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909" name="Group 13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80910" name="Arc 1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11" name="Arc 1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80912" name="AutoShape 16"/>
            <p:cNvCxnSpPr>
              <a:cxnSpLocks noChangeShapeType="1"/>
            </p:cNvCxnSpPr>
            <p:nvPr/>
          </p:nvCxnSpPr>
          <p:spPr bwMode="auto">
            <a:xfrm flipH="1">
              <a:off x="-179" y="11704"/>
              <a:ext cx="360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80913" name="AutoShape 17"/>
            <p:cNvCxnSpPr>
              <a:cxnSpLocks noChangeShapeType="1"/>
            </p:cNvCxnSpPr>
            <p:nvPr/>
          </p:nvCxnSpPr>
          <p:spPr bwMode="auto">
            <a:xfrm flipH="1">
              <a:off x="9720" y="11699"/>
              <a:ext cx="360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80914" name="Group 18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80915" name="Arc 19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16" name="Arc 20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917" name="Group 21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80918" name="Arc 22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19" name="Arc 23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920" name="Group 24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80921" name="Arc 2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22" name="Arc 2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2" name="Oval 31"/>
          <p:cNvSpPr/>
          <p:nvPr/>
        </p:nvSpPr>
        <p:spPr>
          <a:xfrm>
            <a:off x="5927226" y="2657789"/>
            <a:ext cx="307387" cy="286378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837248" y="3187577"/>
            <a:ext cx="487345" cy="2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>
            <a:off x="4036126" y="3426487"/>
            <a:ext cx="205147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10800000">
            <a:off x="4031672" y="1287863"/>
            <a:ext cx="205147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3809484" y="2169426"/>
          <a:ext cx="882667" cy="3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80" imgH="215640" progId="Equation.3">
                  <p:embed/>
                </p:oleObj>
              </mc:Choice>
              <mc:Fallback>
                <p:oleObj name="Equation" r:id="rId4" imgW="380880" imgH="21564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484" y="2169426"/>
                        <a:ext cx="882667" cy="3760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4879937" y="2626219"/>
          <a:ext cx="1088707" cy="339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560" imgH="215640" progId="Equation.3">
                  <p:embed/>
                </p:oleObj>
              </mc:Choice>
              <mc:Fallback>
                <p:oleObj name="Equation" r:id="rId6" imgW="520560" imgH="21564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37" y="2626219"/>
                        <a:ext cx="1088707" cy="339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034143" y="2828613"/>
            <a:ext cx="18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5430926" y="1778395"/>
          <a:ext cx="471056" cy="30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77480" progId="Equation.3">
                  <p:embed/>
                </p:oleObj>
              </mc:Choice>
              <mc:Fallback>
                <p:oleObj name="Equation" r:id="rId8" imgW="203040" imgH="1774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926" y="1778395"/>
                        <a:ext cx="471056" cy="3098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3695028" y="1096948"/>
            <a:ext cx="18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rot="5400000" flipH="1" flipV="1">
            <a:off x="3616558" y="1750926"/>
            <a:ext cx="879231" cy="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>
            <a:off x="3612390" y="2954215"/>
            <a:ext cx="874207" cy="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669862" y="3610616"/>
            <a:ext cx="150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Fig.2b</a:t>
            </a:r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3664341" y="4391864"/>
          <a:ext cx="1010399" cy="711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393480" progId="Equation.3">
                  <p:embed/>
                </p:oleObj>
              </mc:Choice>
              <mc:Fallback>
                <p:oleObj name="Equation" r:id="rId10" imgW="419040" imgH="3934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341" y="4391864"/>
                        <a:ext cx="1010399" cy="711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710362" y="5100638"/>
          <a:ext cx="659467" cy="67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8600" imgH="393480" progId="Equation.3">
                  <p:embed/>
                </p:oleObj>
              </mc:Choice>
              <mc:Fallback>
                <p:oleObj name="Equation" r:id="rId12" imgW="228600" imgH="39348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2" y="5100638"/>
                        <a:ext cx="659467" cy="67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663668" y="5857824"/>
            <a:ext cx="1718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Fig.(2c)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5539" name="Group 3"/>
          <p:cNvGrpSpPr>
            <a:grpSpLocks/>
          </p:cNvGrpSpPr>
          <p:nvPr/>
        </p:nvGrpSpPr>
        <p:grpSpPr bwMode="auto">
          <a:xfrm rot="5400000">
            <a:off x="3866994" y="2588715"/>
            <a:ext cx="3204030" cy="442247"/>
            <a:chOff x="-5236" y="10440"/>
            <a:chExt cx="25243" cy="2347"/>
          </a:xfrm>
        </p:grpSpPr>
        <p:grpSp>
          <p:nvGrpSpPr>
            <p:cNvPr id="65540" name="Group 4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65541" name="Arc 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42" name="Arc 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5543" name="Group 7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65544" name="Arc 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45" name="Arc 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5546" name="Group 10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65547" name="Arc 1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48" name="Arc 1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5549" name="Group 13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65550" name="Arc 1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51" name="Arc 1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65552" name="AutoShape 16"/>
            <p:cNvCxnSpPr>
              <a:cxnSpLocks noChangeShapeType="1"/>
            </p:cNvCxnSpPr>
            <p:nvPr/>
          </p:nvCxnSpPr>
          <p:spPr bwMode="auto">
            <a:xfrm flipH="1">
              <a:off x="-5236" y="11624"/>
              <a:ext cx="8645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5553" name="AutoShape 17"/>
            <p:cNvCxnSpPr>
              <a:cxnSpLocks noChangeShapeType="1"/>
            </p:cNvCxnSpPr>
            <p:nvPr/>
          </p:nvCxnSpPr>
          <p:spPr bwMode="auto">
            <a:xfrm flipH="1">
              <a:off x="9705" y="11663"/>
              <a:ext cx="10302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65554" name="Group 18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65555" name="Arc 19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56" name="Arc 20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5557" name="Group 21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65558" name="Arc 22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59" name="Arc 23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5560" name="Group 24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65561" name="Arc 2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62" name="Arc 2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34" name="Straight Connector 33"/>
          <p:cNvCxnSpPr/>
          <p:nvPr/>
        </p:nvCxnSpPr>
        <p:spPr>
          <a:xfrm rot="16200000" flipH="1">
            <a:off x="6645970" y="3765664"/>
            <a:ext cx="12801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V="1">
            <a:off x="2560801" y="4405744"/>
            <a:ext cx="47431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16200000" flipV="1">
            <a:off x="6725603" y="1770429"/>
            <a:ext cx="1143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>
            <a:off x="6882687" y="2329586"/>
            <a:ext cx="818160" cy="781397"/>
            <a:chOff x="5187144" y="3009207"/>
            <a:chExt cx="615142" cy="781397"/>
          </a:xfrm>
        </p:grpSpPr>
        <p:sp>
          <p:nvSpPr>
            <p:cNvPr id="32" name="Oval 31"/>
            <p:cNvSpPr/>
            <p:nvPr/>
          </p:nvSpPr>
          <p:spPr>
            <a:xfrm>
              <a:off x="5187144" y="3009207"/>
              <a:ext cx="615142" cy="78139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 rot="16200000" flipH="1">
              <a:off x="5268594" y="3404291"/>
              <a:ext cx="4572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Straight Arrow Connector 42"/>
          <p:cNvCxnSpPr/>
          <p:nvPr/>
        </p:nvCxnSpPr>
        <p:spPr>
          <a:xfrm>
            <a:off x="2617105" y="1219250"/>
            <a:ext cx="1724211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324187" y="1198630"/>
            <a:ext cx="2971183" cy="23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7802562" y="2433637"/>
          <a:ext cx="933239" cy="658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393480" progId="Equation.3">
                  <p:embed/>
                </p:oleObj>
              </mc:Choice>
              <mc:Fallback>
                <p:oleObj name="Equation" r:id="rId2" imgW="419040" imgH="3934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562" y="2433637"/>
                        <a:ext cx="933239" cy="6588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/>
        </p:nvGraphicFramePr>
        <p:xfrm>
          <a:off x="5748338" y="2439988"/>
          <a:ext cx="529172" cy="685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393480" progId="Equation.3">
                  <p:embed/>
                </p:oleObj>
              </mc:Choice>
              <mc:Fallback>
                <p:oleObj name="Equation" r:id="rId4" imgW="228600" imgH="393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8338" y="2439988"/>
                        <a:ext cx="529172" cy="6856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2275754" y="2582563"/>
          <a:ext cx="928088" cy="370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215640" progId="Equation.3">
                  <p:embed/>
                </p:oleObj>
              </mc:Choice>
              <mc:Fallback>
                <p:oleObj name="Equation" r:id="rId6" imgW="406080" imgH="21564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754" y="2582563"/>
                        <a:ext cx="928088" cy="370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3995738" y="1331611"/>
          <a:ext cx="737032" cy="34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215640" progId="Equation.3">
                  <p:embed/>
                </p:oleObj>
              </mc:Choice>
              <mc:Fallback>
                <p:oleObj name="Equation" r:id="rId8" imgW="342720" imgH="21564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331611"/>
                        <a:ext cx="737032" cy="3489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185847" y="1013255"/>
            <a:ext cx="4273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rot="16200000" flipV="1">
            <a:off x="1991830" y="1924167"/>
            <a:ext cx="124265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16200000" flipH="1">
            <a:off x="1945888" y="3731739"/>
            <a:ext cx="1334529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55254" y="4559641"/>
            <a:ext cx="126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2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CAPACITOR IN s – DOMAIN: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capacitor ‘C’ with initial voltage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(0_). In time domain the volt – ampere relationship is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3176531" y="1359968"/>
            <a:ext cx="4399090" cy="2068264"/>
            <a:chOff x="2388307" y="1359968"/>
            <a:chExt cx="3307500" cy="2068264"/>
          </a:xfrm>
        </p:grpSpPr>
        <p:grpSp>
          <p:nvGrpSpPr>
            <p:cNvPr id="64515" name="Group 3"/>
            <p:cNvGrpSpPr>
              <a:grpSpLocks/>
            </p:cNvGrpSpPr>
            <p:nvPr/>
          </p:nvGrpSpPr>
          <p:grpSpPr bwMode="auto">
            <a:xfrm rot="5400000">
              <a:off x="4557752" y="2330182"/>
              <a:ext cx="1884887" cy="310036"/>
              <a:chOff x="2806" y="5580"/>
              <a:chExt cx="4144" cy="1080"/>
            </a:xfrm>
          </p:grpSpPr>
          <p:cxnSp>
            <p:nvCxnSpPr>
              <p:cNvPr id="64516" name="AutoShape 4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64517" name="Group 5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64518" name="Arc 6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519" name="Arc 7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64520" name="AutoShape 8"/>
              <p:cNvCxnSpPr>
                <a:cxnSpLocks noChangeShapeType="1"/>
              </p:cNvCxnSpPr>
              <p:nvPr/>
            </p:nvCxnSpPr>
            <p:spPr bwMode="auto">
              <a:xfrm>
                <a:off x="5040" y="6104"/>
                <a:ext cx="19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4521" name="AutoShape 9"/>
              <p:cNvCxnSpPr>
                <a:cxnSpLocks noChangeShapeType="1"/>
              </p:cNvCxnSpPr>
              <p:nvPr/>
            </p:nvCxnSpPr>
            <p:spPr bwMode="auto">
              <a:xfrm>
                <a:off x="2806" y="6104"/>
                <a:ext cx="207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16" name="Straight Arrow Connector 15"/>
            <p:cNvCxnSpPr/>
            <p:nvPr/>
          </p:nvCxnSpPr>
          <p:spPr>
            <a:xfrm>
              <a:off x="2686929" y="1551075"/>
              <a:ext cx="135049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009292" y="1551075"/>
              <a:ext cx="14911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700779" y="3426644"/>
              <a:ext cx="2809188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723601" y="1616700"/>
              <a:ext cx="556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baseline="-25000" dirty="0" err="1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(t)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88218" y="1731092"/>
              <a:ext cx="8563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baseline="-25000" dirty="0" err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(0_)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88307" y="1729933"/>
              <a:ext cx="8563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baseline="-25000" dirty="0" err="1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(t)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58482" y="2128948"/>
              <a:ext cx="237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406992" y="1359968"/>
              <a:ext cx="237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2352312" y="1905582"/>
              <a:ext cx="684055" cy="158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2334861" y="3053817"/>
              <a:ext cx="718956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8066159" y="2259102"/>
            <a:ext cx="119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Fig.3a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2199794" y="4320176"/>
          <a:ext cx="6078051" cy="1700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520" imgH="888840" progId="Equation.3">
                  <p:embed/>
                </p:oleObj>
              </mc:Choice>
              <mc:Fallback>
                <p:oleObj name="Equation" r:id="rId4" imgW="2387520" imgH="8888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9794" y="4320176"/>
                        <a:ext cx="6078051" cy="1700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717800" y="777875"/>
          <a:ext cx="6765247" cy="526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040" imgH="2679480" progId="Equation.3">
                  <p:embed/>
                </p:oleObj>
              </mc:Choice>
              <mc:Fallback>
                <p:oleObj name="Equation" r:id="rId4" imgW="2489040" imgH="2679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777875"/>
                        <a:ext cx="6765247" cy="52633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055688" y="939799"/>
          <a:ext cx="10217388" cy="536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4960" imgH="2489040" progId="Equation.3">
                  <p:embed/>
                </p:oleObj>
              </mc:Choice>
              <mc:Fallback>
                <p:oleObj name="Equation" r:id="rId4" imgW="3504960" imgH="248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939799"/>
                        <a:ext cx="10217388" cy="53685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TRANSFORM NETWORK OF A CAPACITOR: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Equation(4) shows that a capacitor, with initial voltage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(0_ ) in time domain is equivalent to a capacitive operational impedance 1/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series with voltage source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(0_ ) /s in s-domain.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176531" y="269264"/>
            <a:ext cx="4399090" cy="3158969"/>
            <a:chOff x="2388307" y="269263"/>
            <a:chExt cx="3307500" cy="3158969"/>
          </a:xfrm>
        </p:grpSpPr>
        <p:grpSp>
          <p:nvGrpSpPr>
            <p:cNvPr id="10" name="Group 3"/>
            <p:cNvGrpSpPr>
              <a:grpSpLocks/>
            </p:cNvGrpSpPr>
            <p:nvPr/>
          </p:nvGrpSpPr>
          <p:grpSpPr bwMode="auto">
            <a:xfrm rot="5400000">
              <a:off x="5498124" y="116317"/>
              <a:ext cx="4144" cy="310036"/>
              <a:chOff x="2806" y="5580"/>
              <a:chExt cx="4144" cy="1080"/>
            </a:xfrm>
          </p:grpSpPr>
          <p:cxnSp>
            <p:nvCxnSpPr>
              <p:cNvPr id="21" name="AutoShape 4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22" name="Group 5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25" name="Arc 6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Arc 7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23" name="AutoShape 8"/>
              <p:cNvCxnSpPr>
                <a:cxnSpLocks noChangeShapeType="1"/>
              </p:cNvCxnSpPr>
              <p:nvPr/>
            </p:nvCxnSpPr>
            <p:spPr bwMode="auto">
              <a:xfrm>
                <a:off x="5040" y="6104"/>
                <a:ext cx="191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4" name="AutoShape 9"/>
              <p:cNvCxnSpPr>
                <a:cxnSpLocks noChangeShapeType="1"/>
              </p:cNvCxnSpPr>
              <p:nvPr/>
            </p:nvCxnSpPr>
            <p:spPr bwMode="auto">
              <a:xfrm>
                <a:off x="2806" y="6104"/>
                <a:ext cx="207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11" name="Straight Arrow Connector 10"/>
            <p:cNvCxnSpPr/>
            <p:nvPr/>
          </p:nvCxnSpPr>
          <p:spPr>
            <a:xfrm>
              <a:off x="2686929" y="1547446"/>
              <a:ext cx="135049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009292" y="1557174"/>
              <a:ext cx="14911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700779" y="3426644"/>
              <a:ext cx="2809188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723601" y="1616700"/>
              <a:ext cx="556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baseline="-25000" dirty="0" err="1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(t)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88218" y="1731092"/>
              <a:ext cx="8563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baseline="-25000" dirty="0" err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(0_)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8307" y="1729933"/>
              <a:ext cx="8563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baseline="-25000" dirty="0" err="1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(t)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58482" y="2128948"/>
              <a:ext cx="237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06992" y="1359968"/>
              <a:ext cx="237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5400000" flipH="1" flipV="1">
              <a:off x="2352312" y="1905582"/>
              <a:ext cx="684055" cy="158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>
              <a:off x="2334861" y="3053817"/>
              <a:ext cx="718956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67" name="Group 3"/>
          <p:cNvGrpSpPr>
            <a:grpSpLocks/>
          </p:cNvGrpSpPr>
          <p:nvPr/>
        </p:nvGrpSpPr>
        <p:grpSpPr bwMode="auto">
          <a:xfrm rot="5400000">
            <a:off x="6385507" y="2270959"/>
            <a:ext cx="1871423" cy="442656"/>
            <a:chOff x="2776" y="5580"/>
            <a:chExt cx="4265" cy="1080"/>
          </a:xfrm>
        </p:grpSpPr>
        <p:cxnSp>
          <p:nvCxnSpPr>
            <p:cNvPr id="62468" name="AutoShape 4"/>
            <p:cNvCxnSpPr>
              <a:cxnSpLocks noChangeShapeType="1"/>
            </p:cNvCxnSpPr>
            <p:nvPr/>
          </p:nvCxnSpPr>
          <p:spPr bwMode="auto">
            <a:xfrm>
              <a:off x="4860" y="5580"/>
              <a:ext cx="0" cy="10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62469" name="Group 5"/>
            <p:cNvGrpSpPr>
              <a:grpSpLocks/>
            </p:cNvGrpSpPr>
            <p:nvPr/>
          </p:nvGrpSpPr>
          <p:grpSpPr bwMode="auto">
            <a:xfrm rot="10800000">
              <a:off x="5040" y="5580"/>
              <a:ext cx="180" cy="1080"/>
              <a:chOff x="5040" y="5580"/>
              <a:chExt cx="180" cy="1080"/>
            </a:xfrm>
          </p:grpSpPr>
          <p:sp>
            <p:nvSpPr>
              <p:cNvPr id="62470" name="Arc 6"/>
              <p:cNvSpPr>
                <a:spLocks/>
              </p:cNvSpPr>
              <p:nvPr/>
            </p:nvSpPr>
            <p:spPr bwMode="auto">
              <a:xfrm>
                <a:off x="5040" y="5580"/>
                <a:ext cx="180" cy="54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471" name="Arc 7"/>
              <p:cNvSpPr>
                <a:spLocks/>
              </p:cNvSpPr>
              <p:nvPr/>
            </p:nvSpPr>
            <p:spPr bwMode="auto">
              <a:xfrm flipV="1">
                <a:off x="5040" y="6120"/>
                <a:ext cx="180" cy="54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62472" name="AutoShape 8"/>
            <p:cNvCxnSpPr>
              <a:cxnSpLocks noChangeShapeType="1"/>
            </p:cNvCxnSpPr>
            <p:nvPr/>
          </p:nvCxnSpPr>
          <p:spPr bwMode="auto">
            <a:xfrm>
              <a:off x="5040" y="6120"/>
              <a:ext cx="200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2473" name="AutoShape 9"/>
            <p:cNvCxnSpPr>
              <a:cxnSpLocks noChangeShapeType="1"/>
            </p:cNvCxnSpPr>
            <p:nvPr/>
          </p:nvCxnSpPr>
          <p:spPr bwMode="auto">
            <a:xfrm>
              <a:off x="2776" y="6120"/>
              <a:ext cx="208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33" name="TextBox 32"/>
          <p:cNvSpPr txBox="1"/>
          <p:nvPr/>
        </p:nvSpPr>
        <p:spPr>
          <a:xfrm>
            <a:off x="7940143" y="3153096"/>
            <a:ext cx="114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Fig.3b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equation(3) shows that a capacitor with an initial voltage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(0_ ) in time domain, can also be represented in s-domain by a transform admittance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parallel with a transform current source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(0_ 0 due to initial voltage across capacitor.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112909" y="3432659"/>
            <a:ext cx="3734653" cy="1636"/>
            <a:chOff x="817296" y="3422931"/>
            <a:chExt cx="2807936" cy="1636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817296" y="3424567"/>
              <a:ext cx="95486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747880" y="3422931"/>
              <a:ext cx="18773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 rot="16200000" flipH="1">
            <a:off x="4374365" y="3898359"/>
            <a:ext cx="9289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391259" y="4362600"/>
            <a:ext cx="909817" cy="78177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rot="16200000" flipH="1">
            <a:off x="4386006" y="5597698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0800000" flipV="1">
            <a:off x="1103764" y="6055017"/>
            <a:ext cx="3740531" cy="0"/>
          </a:xfrm>
          <a:prstGeom prst="line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 flipH="1" flipV="1">
            <a:off x="4611812" y="4731758"/>
            <a:ext cx="457200" cy="2112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379" name="Group 3"/>
          <p:cNvGrpSpPr>
            <a:grpSpLocks/>
          </p:cNvGrpSpPr>
          <p:nvPr/>
        </p:nvGrpSpPr>
        <p:grpSpPr bwMode="auto">
          <a:xfrm rot="5400000">
            <a:off x="2262601" y="4563039"/>
            <a:ext cx="2617044" cy="364855"/>
            <a:chOff x="2351" y="5580"/>
            <a:chExt cx="5123" cy="1080"/>
          </a:xfrm>
        </p:grpSpPr>
        <p:cxnSp>
          <p:nvCxnSpPr>
            <p:cNvPr id="101380" name="AutoShape 4"/>
            <p:cNvCxnSpPr>
              <a:cxnSpLocks noChangeShapeType="1"/>
            </p:cNvCxnSpPr>
            <p:nvPr/>
          </p:nvCxnSpPr>
          <p:spPr bwMode="auto">
            <a:xfrm>
              <a:off x="4860" y="5580"/>
              <a:ext cx="0" cy="10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01381" name="Group 5"/>
            <p:cNvGrpSpPr>
              <a:grpSpLocks/>
            </p:cNvGrpSpPr>
            <p:nvPr/>
          </p:nvGrpSpPr>
          <p:grpSpPr bwMode="auto">
            <a:xfrm rot="10800000">
              <a:off x="5040" y="5580"/>
              <a:ext cx="180" cy="1080"/>
              <a:chOff x="5040" y="5580"/>
              <a:chExt cx="180" cy="1080"/>
            </a:xfrm>
          </p:grpSpPr>
          <p:sp>
            <p:nvSpPr>
              <p:cNvPr id="101382" name="Arc 6"/>
              <p:cNvSpPr>
                <a:spLocks/>
              </p:cNvSpPr>
              <p:nvPr/>
            </p:nvSpPr>
            <p:spPr bwMode="auto">
              <a:xfrm>
                <a:off x="5040" y="5580"/>
                <a:ext cx="180" cy="54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383" name="Arc 7"/>
              <p:cNvSpPr>
                <a:spLocks/>
              </p:cNvSpPr>
              <p:nvPr/>
            </p:nvSpPr>
            <p:spPr bwMode="auto">
              <a:xfrm flipV="1">
                <a:off x="5040" y="6120"/>
                <a:ext cx="180" cy="54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01384" name="AutoShape 8"/>
            <p:cNvCxnSpPr>
              <a:cxnSpLocks noChangeShapeType="1"/>
            </p:cNvCxnSpPr>
            <p:nvPr/>
          </p:nvCxnSpPr>
          <p:spPr bwMode="auto">
            <a:xfrm>
              <a:off x="5040" y="6120"/>
              <a:ext cx="243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1385" name="AutoShape 9"/>
            <p:cNvCxnSpPr>
              <a:cxnSpLocks noChangeShapeType="1"/>
            </p:cNvCxnSpPr>
            <p:nvPr/>
          </p:nvCxnSpPr>
          <p:spPr bwMode="auto">
            <a:xfrm>
              <a:off x="2351" y="6120"/>
              <a:ext cx="250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28" name="TextBox 27"/>
          <p:cNvSpPr txBox="1"/>
          <p:nvPr/>
        </p:nvSpPr>
        <p:spPr>
          <a:xfrm>
            <a:off x="1983537" y="3450769"/>
            <a:ext cx="85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23293" y="4615540"/>
            <a:ext cx="57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6003" y="4441370"/>
            <a:ext cx="984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0125" y="4571998"/>
            <a:ext cx="12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Cv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7000" y="5900057"/>
            <a:ext cx="105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Fig.3c</a:t>
            </a: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6482363" y="3565133"/>
          <a:ext cx="4978310" cy="2075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79480" imgH="1485720" progId="Equation.3">
                  <p:embed/>
                </p:oleObj>
              </mc:Choice>
              <mc:Fallback>
                <p:oleObj name="Equation" r:id="rId4" imgW="2679480" imgH="14857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2363" y="3565133"/>
                        <a:ext cx="4978310" cy="2075379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EXAMPLE 1: Consider the RC parallel circuit with R=0.5 ohm and C=4F by D.C. current source 10A. Draw the transform network, assume the initial voltage across the capacitor is 2V.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44"/>
          <p:cNvGrpSpPr/>
          <p:nvPr/>
        </p:nvGrpSpPr>
        <p:grpSpPr>
          <a:xfrm>
            <a:off x="628361" y="2331720"/>
            <a:ext cx="5097109" cy="2103120"/>
            <a:chOff x="1082431" y="3156857"/>
            <a:chExt cx="3964654" cy="1926409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251857" y="3418114"/>
              <a:ext cx="827314" cy="108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2045818" y="3184072"/>
              <a:ext cx="272143" cy="217714"/>
            </a:xfrm>
            <a:prstGeom prst="line">
              <a:avLst/>
            </a:prstGeom>
            <a:ln w="127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280144" y="3418114"/>
              <a:ext cx="2560320" cy="10886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355" name="Group 3"/>
            <p:cNvGrpSpPr>
              <a:grpSpLocks/>
            </p:cNvGrpSpPr>
            <p:nvPr/>
          </p:nvGrpSpPr>
          <p:grpSpPr bwMode="auto">
            <a:xfrm rot="5400000">
              <a:off x="3286419" y="4164594"/>
              <a:ext cx="1639912" cy="168729"/>
              <a:chOff x="-3921" y="2700"/>
              <a:chExt cx="18661" cy="1440"/>
            </a:xfrm>
          </p:grpSpPr>
          <p:cxnSp>
            <p:nvCxnSpPr>
              <p:cNvPr id="100356" name="AutoShape 4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57" name="AutoShape 5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58" name="AutoShape 6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59" name="AutoShape 7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0" name="AutoShape 8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1" name="AutoShape 9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2" name="AutoShape 10"/>
              <p:cNvCxnSpPr>
                <a:cxnSpLocks noChangeShapeType="1"/>
              </p:cNvCxnSpPr>
              <p:nvPr/>
            </p:nvCxnSpPr>
            <p:spPr bwMode="auto">
              <a:xfrm>
                <a:off x="2520" y="3420"/>
                <a:ext cx="7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3" name="AutoShape 11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4" name="AutoShape 12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5" name="AutoShape 13"/>
              <p:cNvCxnSpPr>
                <a:cxnSpLocks noChangeShapeType="1"/>
              </p:cNvCxnSpPr>
              <p:nvPr/>
            </p:nvCxnSpPr>
            <p:spPr bwMode="auto">
              <a:xfrm>
                <a:off x="-3921" y="3420"/>
                <a:ext cx="718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6" name="AutoShape 14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67" name="AutoShape 15"/>
              <p:cNvCxnSpPr>
                <a:cxnSpLocks noChangeShapeType="1"/>
              </p:cNvCxnSpPr>
              <p:nvPr/>
            </p:nvCxnSpPr>
            <p:spPr bwMode="auto">
              <a:xfrm>
                <a:off x="7560" y="3420"/>
                <a:ext cx="718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28" name="Straight Connector 27"/>
            <p:cNvCxnSpPr/>
            <p:nvPr/>
          </p:nvCxnSpPr>
          <p:spPr>
            <a:xfrm rot="10800000">
              <a:off x="1250034" y="5056529"/>
              <a:ext cx="3593592" cy="26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368" name="Group 16"/>
            <p:cNvGrpSpPr>
              <a:grpSpLocks/>
            </p:cNvGrpSpPr>
            <p:nvPr/>
          </p:nvGrpSpPr>
          <p:grpSpPr bwMode="auto">
            <a:xfrm rot="5400000">
              <a:off x="4022635" y="4139961"/>
              <a:ext cx="1648005" cy="228600"/>
              <a:chOff x="1977" y="5580"/>
              <a:chExt cx="5678" cy="1080"/>
            </a:xfrm>
          </p:grpSpPr>
          <p:cxnSp>
            <p:nvCxnSpPr>
              <p:cNvPr id="100369" name="AutoShape 17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00370" name="Group 18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100371" name="Arc 19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372" name="Arc 20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00373" name="AutoShape 21"/>
              <p:cNvCxnSpPr>
                <a:cxnSpLocks noChangeShapeType="1"/>
              </p:cNvCxnSpPr>
              <p:nvPr/>
            </p:nvCxnSpPr>
            <p:spPr bwMode="auto">
              <a:xfrm>
                <a:off x="5040" y="6120"/>
                <a:ext cx="2615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74" name="AutoShape 22"/>
              <p:cNvCxnSpPr>
                <a:cxnSpLocks noChangeShapeType="1"/>
              </p:cNvCxnSpPr>
              <p:nvPr/>
            </p:nvCxnSpPr>
            <p:spPr bwMode="auto">
              <a:xfrm>
                <a:off x="1977" y="6120"/>
                <a:ext cx="2867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36" name="TextBox 35"/>
            <p:cNvSpPr txBox="1"/>
            <p:nvPr/>
          </p:nvSpPr>
          <p:spPr>
            <a:xfrm>
              <a:off x="3119140" y="4091109"/>
              <a:ext cx="830962" cy="33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0.5 ohm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74898" y="4130513"/>
              <a:ext cx="672187" cy="33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4F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1082431" y="4024923"/>
              <a:ext cx="347784" cy="4337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>
              <a:endCxn id="38" idx="0"/>
            </p:cNvCxnSpPr>
            <p:nvPr/>
          </p:nvCxnSpPr>
          <p:spPr>
            <a:xfrm rot="5400000">
              <a:off x="954454" y="3721100"/>
              <a:ext cx="605692" cy="19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8" idx="4"/>
            </p:cNvCxnSpPr>
            <p:nvPr/>
          </p:nvCxnSpPr>
          <p:spPr>
            <a:xfrm rot="16200000" flipH="1">
              <a:off x="961293" y="4753707"/>
              <a:ext cx="59006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rot="16200000" flipV="1">
              <a:off x="1135939" y="4225361"/>
              <a:ext cx="251271" cy="1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1054026" y="3337560"/>
            <a:ext cx="77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10A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6445253" y="2098571"/>
            <a:ext cx="5091628" cy="2326640"/>
            <a:chOff x="1080768" y="2858428"/>
            <a:chExt cx="5055154" cy="2224838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1251857" y="3418114"/>
              <a:ext cx="827314" cy="108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 flipH="1" flipV="1">
              <a:off x="2045818" y="3184072"/>
              <a:ext cx="272143" cy="217714"/>
            </a:xfrm>
            <a:prstGeom prst="line">
              <a:avLst/>
            </a:prstGeom>
            <a:ln w="127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2280144" y="3418114"/>
              <a:ext cx="2560320" cy="10886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3"/>
            <p:cNvGrpSpPr>
              <a:grpSpLocks/>
            </p:cNvGrpSpPr>
            <p:nvPr/>
          </p:nvGrpSpPr>
          <p:grpSpPr bwMode="auto">
            <a:xfrm rot="5400000">
              <a:off x="3285905" y="4165116"/>
              <a:ext cx="1640943" cy="168730"/>
              <a:chOff x="-3921" y="2700"/>
              <a:chExt cx="18673" cy="1440"/>
            </a:xfrm>
          </p:grpSpPr>
          <p:cxnSp>
            <p:nvCxnSpPr>
              <p:cNvPr id="97" name="AutoShape 4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98" name="AutoShape 5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99" name="AutoShape 6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" name="AutoShape 7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1" name="AutoShape 8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2" name="AutoShape 9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" name="AutoShape 10"/>
              <p:cNvCxnSpPr>
                <a:cxnSpLocks noChangeShapeType="1"/>
              </p:cNvCxnSpPr>
              <p:nvPr/>
            </p:nvCxnSpPr>
            <p:spPr bwMode="auto">
              <a:xfrm>
                <a:off x="2520" y="3420"/>
                <a:ext cx="7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4" name="AutoShape 11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5" name="AutoShape 12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6" name="AutoShape 13"/>
              <p:cNvCxnSpPr>
                <a:cxnSpLocks noChangeShapeType="1"/>
              </p:cNvCxnSpPr>
              <p:nvPr/>
            </p:nvCxnSpPr>
            <p:spPr bwMode="auto">
              <a:xfrm>
                <a:off x="-3921" y="3423"/>
                <a:ext cx="718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7" name="AutoShape 14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8" name="AutoShape 15"/>
              <p:cNvCxnSpPr>
                <a:cxnSpLocks noChangeShapeType="1"/>
              </p:cNvCxnSpPr>
              <p:nvPr/>
            </p:nvCxnSpPr>
            <p:spPr bwMode="auto">
              <a:xfrm>
                <a:off x="7572" y="3423"/>
                <a:ext cx="718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83" name="Straight Connector 82"/>
            <p:cNvCxnSpPr/>
            <p:nvPr/>
          </p:nvCxnSpPr>
          <p:spPr>
            <a:xfrm rot="10800000">
              <a:off x="1250034" y="5056529"/>
              <a:ext cx="3593592" cy="26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16"/>
            <p:cNvGrpSpPr>
              <a:grpSpLocks/>
            </p:cNvGrpSpPr>
            <p:nvPr/>
          </p:nvGrpSpPr>
          <p:grpSpPr bwMode="auto">
            <a:xfrm rot="5400000">
              <a:off x="6133083" y="2861267"/>
              <a:ext cx="5678" cy="0"/>
              <a:chOff x="1977" y="6120"/>
              <a:chExt cx="5678" cy="0"/>
            </a:xfrm>
          </p:grpSpPr>
          <p:cxnSp>
            <p:nvCxnSpPr>
              <p:cNvPr id="93" name="AutoShape 21"/>
              <p:cNvCxnSpPr>
                <a:cxnSpLocks noChangeShapeType="1"/>
              </p:cNvCxnSpPr>
              <p:nvPr/>
            </p:nvCxnSpPr>
            <p:spPr bwMode="auto">
              <a:xfrm>
                <a:off x="5040" y="6120"/>
                <a:ext cx="2615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94" name="AutoShape 22"/>
              <p:cNvCxnSpPr>
                <a:cxnSpLocks noChangeShapeType="1"/>
              </p:cNvCxnSpPr>
              <p:nvPr/>
            </p:nvCxnSpPr>
            <p:spPr bwMode="auto">
              <a:xfrm>
                <a:off x="1977" y="6120"/>
                <a:ext cx="2867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85" name="TextBox 84"/>
            <p:cNvSpPr txBox="1"/>
            <p:nvPr/>
          </p:nvSpPr>
          <p:spPr>
            <a:xfrm>
              <a:off x="3683689" y="4080215"/>
              <a:ext cx="393901" cy="323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565555" y="4209859"/>
              <a:ext cx="595763" cy="325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4s</a:t>
              </a:r>
            </a:p>
          </p:txBody>
        </p:sp>
        <p:sp>
          <p:nvSpPr>
            <p:cNvPr id="87" name="Oval 86"/>
            <p:cNvSpPr/>
            <p:nvPr/>
          </p:nvSpPr>
          <p:spPr>
            <a:xfrm>
              <a:off x="1080768" y="4129969"/>
              <a:ext cx="358978" cy="33675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/>
            <p:cNvCxnSpPr>
              <a:endCxn id="87" idx="0"/>
            </p:cNvCxnSpPr>
            <p:nvPr/>
          </p:nvCxnSpPr>
          <p:spPr>
            <a:xfrm rot="16200000" flipH="1">
              <a:off x="903896" y="3773607"/>
              <a:ext cx="710741" cy="19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87" idx="4"/>
            </p:cNvCxnSpPr>
            <p:nvPr/>
          </p:nvCxnSpPr>
          <p:spPr>
            <a:xfrm rot="5400000">
              <a:off x="967287" y="4755766"/>
              <a:ext cx="582009" cy="39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rot="16200000" flipV="1">
              <a:off x="1152274" y="4288985"/>
              <a:ext cx="218598" cy="1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108"/>
          <p:cNvSpPr txBox="1"/>
          <p:nvPr/>
        </p:nvSpPr>
        <p:spPr>
          <a:xfrm>
            <a:off x="6764328" y="3459903"/>
            <a:ext cx="840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10 / s</a:t>
            </a:r>
          </a:p>
        </p:txBody>
      </p:sp>
      <p:cxnSp>
        <p:nvCxnSpPr>
          <p:cNvPr id="133" name="Straight Connector 132"/>
          <p:cNvCxnSpPr/>
          <p:nvPr/>
        </p:nvCxnSpPr>
        <p:spPr>
          <a:xfrm rot="16200000" flipH="1">
            <a:off x="9954146" y="4154689"/>
            <a:ext cx="5394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rot="5400000" flipH="1" flipV="1">
            <a:off x="10394839" y="3491722"/>
            <a:ext cx="254524" cy="211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/>
          <p:cNvGrpSpPr/>
          <p:nvPr/>
        </p:nvGrpSpPr>
        <p:grpSpPr>
          <a:xfrm>
            <a:off x="9810322" y="2687994"/>
            <a:ext cx="1152083" cy="1199209"/>
            <a:chOff x="7985569" y="2886403"/>
            <a:chExt cx="866205" cy="1199209"/>
          </a:xfrm>
        </p:grpSpPr>
        <p:grpSp>
          <p:nvGrpSpPr>
            <p:cNvPr id="100375" name="Group 23"/>
            <p:cNvGrpSpPr>
              <a:grpSpLocks/>
            </p:cNvGrpSpPr>
            <p:nvPr/>
          </p:nvGrpSpPr>
          <p:grpSpPr bwMode="auto">
            <a:xfrm rot="5400000">
              <a:off x="7701936" y="3570039"/>
              <a:ext cx="795865" cy="228600"/>
              <a:chOff x="3621" y="5580"/>
              <a:chExt cx="2742" cy="1080"/>
            </a:xfrm>
          </p:grpSpPr>
          <p:cxnSp>
            <p:nvCxnSpPr>
              <p:cNvPr id="100376" name="AutoShape 24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00377" name="Group 25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100378" name="Arc 26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379" name="Arc 27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00380" name="AutoShape 28"/>
              <p:cNvCxnSpPr>
                <a:cxnSpLocks noChangeShapeType="1"/>
              </p:cNvCxnSpPr>
              <p:nvPr/>
            </p:nvCxnSpPr>
            <p:spPr bwMode="auto">
              <a:xfrm>
                <a:off x="5040" y="6120"/>
                <a:ext cx="132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0381" name="AutoShape 29"/>
              <p:cNvCxnSpPr>
                <a:cxnSpLocks noChangeShapeType="1"/>
              </p:cNvCxnSpPr>
              <p:nvPr/>
            </p:nvCxnSpPr>
            <p:spPr bwMode="auto">
              <a:xfrm>
                <a:off x="3621" y="6116"/>
                <a:ext cx="1229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20" name="Oval 119"/>
            <p:cNvSpPr/>
            <p:nvPr/>
          </p:nvSpPr>
          <p:spPr>
            <a:xfrm>
              <a:off x="8390857" y="3502236"/>
              <a:ext cx="283063" cy="3614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" name="Straight Connector 122"/>
            <p:cNvCxnSpPr/>
            <p:nvPr/>
          </p:nvCxnSpPr>
          <p:spPr>
            <a:xfrm>
              <a:off x="8094133" y="3285065"/>
              <a:ext cx="44026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rot="5400000">
              <a:off x="8423197" y="3393174"/>
              <a:ext cx="2181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rot="5400000">
              <a:off x="8422466" y="3976551"/>
              <a:ext cx="2181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rot="10800000">
              <a:off x="8097625" y="4081806"/>
              <a:ext cx="438346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rot="16200000" flipH="1">
              <a:off x="8103705" y="3082999"/>
              <a:ext cx="39319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/>
            <p:cNvSpPr txBox="1"/>
            <p:nvPr/>
          </p:nvSpPr>
          <p:spPr>
            <a:xfrm>
              <a:off x="8630245" y="3520369"/>
              <a:ext cx="2215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8</a:t>
              </a: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8142276" y="3321274"/>
            <a:ext cx="810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V(s)</a:t>
            </a:r>
          </a:p>
        </p:txBody>
      </p:sp>
      <p:cxnSp>
        <p:nvCxnSpPr>
          <p:cNvPr id="139" name="Straight Arrow Connector 138"/>
          <p:cNvCxnSpPr/>
          <p:nvPr/>
        </p:nvCxnSpPr>
        <p:spPr>
          <a:xfrm rot="16200000" flipV="1">
            <a:off x="8234817" y="3037494"/>
            <a:ext cx="630621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 rot="5400000">
            <a:off x="8220799" y="4027765"/>
            <a:ext cx="68170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7059458" y="4603532"/>
            <a:ext cx="335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fig.4b Transformed Network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670506" y="4629807"/>
            <a:ext cx="2865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Fig.4a Given Network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03" y="357166"/>
            <a:ext cx="11591833" cy="5929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shasansaeed@yolasite.com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hasansaeed872726549.wordpress.com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saeed.moodlecloud.com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syedhasansaeed.gnomio.com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4264</TotalTime>
  <Words>903</Words>
  <Application>Microsoft Office PowerPoint</Application>
  <PresentationFormat>Custom</PresentationFormat>
  <Paragraphs>211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Equation</vt:lpstr>
      <vt:lpstr>         CIRCUIT THEORY    TRANSFORM NETWORK</vt:lpstr>
      <vt:lpstr>PowerPoint Presentation</vt:lpstr>
      <vt:lpstr>PowerPoint Presentation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hasansaeedcontrol@gmail.com</cp:lastModifiedBy>
  <cp:revision>558</cp:revision>
  <dcterms:created xsi:type="dcterms:W3CDTF">2019-07-24T02:14:50Z</dcterms:created>
  <dcterms:modified xsi:type="dcterms:W3CDTF">2026-06-29T10:25:57Z</dcterms:modified>
</cp:coreProperties>
</file>