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2" r:id="rId3"/>
    <p:sldId id="280" r:id="rId4"/>
    <p:sldId id="257" r:id="rId5"/>
    <p:sldId id="336" r:id="rId6"/>
    <p:sldId id="344" r:id="rId7"/>
    <p:sldId id="343" r:id="rId8"/>
    <p:sldId id="342" r:id="rId9"/>
    <p:sldId id="345" r:id="rId10"/>
    <p:sldId id="346" r:id="rId11"/>
    <p:sldId id="347" r:id="rId12"/>
    <p:sldId id="348" r:id="rId13"/>
    <p:sldId id="349" r:id="rId14"/>
    <p:sldId id="350" r:id="rId15"/>
    <p:sldId id="260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0EFA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80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948" y="9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B1FF-F32D-4BA9-8444-B2076D6565D6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69ED-E8C9-462C-B99A-12A0CE95B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8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4FAF-5EE7-4E62-8977-C2BDEA0C9800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4" y="4406903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4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61579-A505-43A3-BF77-7B0637CA8DD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3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3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FA65-A5E3-4488-861A-24253CE9BF3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5"/>
            <a:ext cx="538551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5"/>
            <a:ext cx="5387630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9FEE-2738-4AB4-98CC-08290BDBA2BB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905A-B11B-4A72-B2CE-087AEDA733D6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4456-9DBB-4D08-899D-BC1DAC50274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1"/>
            <a:ext cx="4010040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3" y="273054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3"/>
            <a:ext cx="401004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9D0B-4DA1-425D-A37D-F89B237EAD49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2"/>
            <a:ext cx="731329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40"/>
            <a:ext cx="7313295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36CE-64FA-46EE-9395-90ED4C1DF39F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0824-BA15-49A9-9CC6-33B3E3DE0658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1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1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A43B-922F-4162-B2E2-68DFCB817C41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4F296-D24D-4DC1-9DEB-EAC44D5F442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3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hasansaeed.yolasite.com/" TargetMode="External"/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wmf"/><Relationship Id="rId7" Type="http://schemas.openxmlformats.org/officeDocument/2006/relationships/oleObject" Target="../embeddings/oleObject7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hasansaeedcontrol@gmail.com" TargetMode="External"/><Relationship Id="rId2" Type="http://schemas.openxmlformats.org/officeDocument/2006/relationships/hyperlink" Target="mailto:shasansaeed@yolasite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6" y="433907"/>
            <a:ext cx="11522329" cy="1577767"/>
          </a:xfrm>
        </p:spPr>
        <p:txBody>
          <a:bodyPr>
            <a:normAutofit fontScale="90000"/>
          </a:bodyPr>
          <a:lstStyle/>
          <a:p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CIRCUIT THEORY</a:t>
            </a: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br>
              <a:rPr lang="en-IN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E456-6AD0-E483-FFF5-738ABF87801F}"/>
              </a:ext>
            </a:extLst>
          </p:cNvPr>
          <p:cNvSpPr txBox="1">
            <a:spLocks/>
          </p:cNvSpPr>
          <p:nvPr/>
        </p:nvSpPr>
        <p:spPr>
          <a:xfrm>
            <a:off x="203147" y="5791200"/>
            <a:ext cx="11782531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    Declaration : The content of the presentation has been created for academic use / non-commercial use with fair dealing.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288" y="188640"/>
            <a:ext cx="11710251" cy="6192688"/>
          </a:xfrm>
        </p:spPr>
        <p:txBody>
          <a:bodyPr>
            <a:normAutofit/>
          </a:bodyPr>
          <a:lstStyle/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SYED HASAN SAEED</a:t>
            </a: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Email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2"/>
              </a:rPr>
              <a:t>hasansaeedcontrol@gmail.com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URL 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http://shasansaeed.yolasite.com/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http://hasansaeed872726549.wordpress.com/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http://syedhasansaeed.gnomio.com/</a:t>
            </a: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 BOOKS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Introductory Circuit Analysis, Robert L.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Boylested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Pearson Education, Prentice Hall.</a:t>
            </a: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Ashfaq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Husain,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Khanna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Book Publishing Co (P) Ltd. Delhi.</a:t>
            </a: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A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Sudhakar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Shyammohan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Palli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Tata McGraw Hill, New Delhi.</a:t>
            </a: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 Analysis, M.E. Van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Valkenburg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PHI Learning Private limited, New Delhi.</a:t>
            </a: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Circuit Analysis Principle and Applications, Allan H. Robbins &amp;Wilhelm C. Miller, DELMAR CENGAGE Learning, Indian Reprint.</a:t>
            </a:r>
          </a:p>
          <a:p>
            <a:pPr algn="ctr">
              <a:buNone/>
            </a:pP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DD9A-2870-457E-9BC4-B781EC95764D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B804-655C-4897-A9A8-35B75A326C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initial value theorem is useful in determining the initial value of function f(t) and final value theorem is used to determine the final value of function f(t).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INITIAL VALUE THEOREM: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/>
                <a:cs typeface="Times New Roman"/>
              </a:rPr>
              <a:t>The initial value theorem states that if f(t) and its derivative f’(t) are Laplace transformable, then the initial value f(0) of the solution f(t) is given by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771649" y="4621213"/>
          <a:ext cx="7346453" cy="813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7960" imgH="380880" progId="Equation.3">
                  <p:embed/>
                </p:oleObj>
              </mc:Choice>
              <mc:Fallback>
                <p:oleObj name="Equation" r:id="rId6" imgW="257796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49" y="4621213"/>
                        <a:ext cx="7346453" cy="813816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FINAL VALUE THEOREM: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/>
                <a:cs typeface="Times New Roman"/>
              </a:rPr>
              <a:t>The final value theorem states that if f(t) and its derivative f’(t) are Laplace transformable, then the final value f(∞) of the solution f(t) is given by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7030A0"/>
                </a:solidFill>
                <a:latin typeface="Times New Roman"/>
                <a:cs typeface="Times New Roman"/>
              </a:rPr>
              <a:t>EXAMPLE 1: </a:t>
            </a:r>
            <a:r>
              <a:rPr lang="en-IN" sz="2400" dirty="0">
                <a:latin typeface="Times New Roman"/>
                <a:cs typeface="Times New Roman"/>
              </a:rPr>
              <a:t>The response transform of series RL circuit is given by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/>
                <a:cs typeface="Times New Roman"/>
              </a:rPr>
              <a:t>Find the initial value of the time response using initial value theorem.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1946417" y="2549061"/>
          <a:ext cx="6146132" cy="65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79480" imgH="380880" progId="Equation.3">
                  <p:embed/>
                </p:oleObj>
              </mc:Choice>
              <mc:Fallback>
                <p:oleObj name="Equation" r:id="rId5" imgW="267948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417" y="2549061"/>
                        <a:ext cx="6146132" cy="656476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619500" y="3949522"/>
          <a:ext cx="4075844" cy="966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26920" imgH="545760" progId="Equation.3">
                  <p:embed/>
                </p:oleObj>
              </mc:Choice>
              <mc:Fallback>
                <p:oleObj name="Equation" r:id="rId7" imgW="1726920" imgH="5457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949522"/>
                        <a:ext cx="4075844" cy="9667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SOLUTION: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By initial value theorem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 2: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the initial value using initial value theorem. 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250022" y="1861299"/>
          <a:ext cx="6188822" cy="1868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24080" imgH="1091880" progId="Equation.3">
                  <p:embed/>
                </p:oleObj>
              </mc:Choice>
              <mc:Fallback>
                <p:oleObj name="Equation" r:id="rId6" imgW="3124080" imgH="1091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022" y="1861299"/>
                        <a:ext cx="6188822" cy="18682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/>
          <p:cNvCxnSpPr/>
          <p:nvPr/>
        </p:nvCxnSpPr>
        <p:spPr>
          <a:xfrm rot="5400000">
            <a:off x="6893614" y="2191371"/>
            <a:ext cx="381000" cy="264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4772198" y="2475497"/>
            <a:ext cx="289560" cy="182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209726" y="4540780"/>
          <a:ext cx="4485326" cy="94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2920" imgH="545760" progId="Equation.3">
                  <p:embed/>
                </p:oleObj>
              </mc:Choice>
              <mc:Fallback>
                <p:oleObj name="Equation" r:id="rId8" imgW="1942920" imgH="5457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726" y="4540780"/>
                        <a:ext cx="4485326" cy="945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SOLUTION:</a:t>
            </a: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839788" y="1662113"/>
          <a:ext cx="9734550" cy="331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93880" imgH="1701720" progId="Equation.3">
                  <p:embed/>
                </p:oleObj>
              </mc:Choice>
              <mc:Fallback>
                <p:oleObj name="Equation" r:id="rId5" imgW="3593880" imgH="17017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1662113"/>
                        <a:ext cx="9734550" cy="331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 3: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the current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= 5u(t) – 3e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-2t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the final value by using final value theorem. 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Take Laplace transform of the given function 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457450" y="3292475"/>
          <a:ext cx="4514412" cy="2892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81000" imgH="1854000" progId="Equation.3">
                  <p:embed/>
                </p:oleObj>
              </mc:Choice>
              <mc:Fallback>
                <p:oleObj name="Equation" r:id="rId5" imgW="2781000" imgH="1854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292475"/>
                        <a:ext cx="4514412" cy="28925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879D-D939-0E63-7944-0FF2273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4F9B-1F45-F6EA-FEE2-3C297C7D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29CE-ECE7-9FBF-0314-0D6C3C8D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EBA93-7D87-FC23-6C4C-E8113791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305F-4A04-AC8C-C716-840E56FA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4D5857-9760-3478-5A66-6F3BD57C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 4: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Find the final value and initial value of f(t) = 3 + 2e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-t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by using final value and initial value theorem. 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Take Laplace transform of the given function 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B65D781-630C-880B-0604-B91589840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FDC07C1-7914-F648-432C-20CD4D2D67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6177D216-B2C1-856F-B59D-73BC9D529466}"/>
                  </a:ext>
                </a:extLst>
              </p:cNvPr>
              <p:cNvSpPr txBox="1"/>
              <p:nvPr/>
            </p:nvSpPr>
            <p:spPr bwMode="auto">
              <a:xfrm>
                <a:off x="2283997" y="2601570"/>
                <a:ext cx="7620829" cy="375478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−  </m:t>
                    </m:r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:b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Apply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final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sty m:val="p"/>
                        </m:rPr>
                        <a:rPr lang="en-IN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em</m:t>
                      </m:r>
                    </m:oMath>
                  </m:oMathPara>
                </a14:m>
                <a:endParaRPr lang="en-IN" sz="22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IN" sz="22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IN" sz="22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f>
                        <m:f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6177D216-B2C1-856F-B59D-73BC9D529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3997" y="2601570"/>
                <a:ext cx="7620829" cy="3754783"/>
              </a:xfrm>
              <a:prstGeom prst="rect">
                <a:avLst/>
              </a:prstGeom>
              <a:blipFill>
                <a:blip r:embed="rId5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21BC068-0EF6-5E51-EEEB-993D46EEC05D}"/>
              </a:ext>
            </a:extLst>
          </p:cNvPr>
          <p:cNvSpPr txBox="1"/>
          <p:nvPr/>
        </p:nvSpPr>
        <p:spPr>
          <a:xfrm>
            <a:off x="447261" y="6013174"/>
            <a:ext cx="5118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Reference: Network Analysis &amp; Synthesis by Uday Bakshi &amp; Ajay Bakshi, Technical Publications Pune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418880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B787E-70AE-83CF-C728-5A4AB5A7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6174-52BF-629B-3719-D424E882D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AA159-902A-AD28-3DD8-563E6C1B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C113-974B-C429-03D6-FD032A85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FD103-1594-FC66-EC51-8A11A89E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C134A6-12AC-7317-E0B0-EA9934683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Given function is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AD5DFEC-8F0E-48B5-9B99-78E2A10259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B65D781-630C-880B-0604-B91589840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028D856-F691-FCAB-AAEE-9ED56ACCD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FDC07C1-7914-F648-432C-20CD4D2D67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05B4D289-6C77-7C3B-474E-19B712DE9BA5}"/>
                  </a:ext>
                </a:extLst>
              </p:cNvPr>
              <p:cNvSpPr txBox="1"/>
              <p:nvPr/>
            </p:nvSpPr>
            <p:spPr bwMode="auto">
              <a:xfrm>
                <a:off x="1531959" y="1693682"/>
                <a:ext cx="9570051" cy="375478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:b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Apply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initial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sty m:val="p"/>
                        </m:rPr>
                        <a:rPr lang="en-IN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em</m:t>
                      </m:r>
                    </m:oMath>
                  </m:oMathPara>
                </a14:m>
                <a:endParaRPr lang="en-IN" sz="22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IN" sz="22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IN" sz="22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I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ꝏ</m:t>
                          </m:r>
                        </m:lim>
                      </m:limLow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IN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I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en-I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limLow>
                      <m:limLow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ꝏ</m:t>
                        </m:r>
                      </m:lim>
                    </m:limLow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  </m:t>
                    </m:r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nor/>
                      </m:rPr>
                      <a:rPr lang="en-I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20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ꝏ</m:t>
                        </m:r>
                      </m:lim>
                    </m:limLow>
                    <m:f>
                      <m:fPr>
                        <m:ctrlP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200" dirty="0"/>
                  <a:t> 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nor/>
                          </m:rPr>
                          <a:rPr lang="en-I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nor/>
                          </m:rPr>
                          <a:rPr lang="en-I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I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ꝏ</m:t>
                        </m:r>
                      </m:lim>
                    </m:limLow>
                    <m:f>
                      <m:fPr>
                        <m:ctrlPr>
                          <a:rPr lang="en-I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5+</m:t>
                        </m:r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den>
                        </m:f>
                      </m:num>
                      <m:den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 + </m:t>
                        </m:r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sz="2400" dirty="0"/>
                  <a:t> = 5</a:t>
                </a:r>
              </a:p>
              <a:p>
                <a:r>
                  <a:rPr lang="en-IN" sz="2400" dirty="0"/>
                  <a:t> </a:t>
                </a:r>
                <a:endParaRPr lang="en-IN" sz="2200" dirty="0"/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05B4D289-6C77-7C3B-474E-19B712DE9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1959" y="1693682"/>
                <a:ext cx="9570051" cy="3754783"/>
              </a:xfrm>
              <a:prstGeom prst="rect">
                <a:avLst/>
              </a:prstGeom>
              <a:blipFill>
                <a:blip r:embed="rId5"/>
                <a:stretch>
                  <a:fillRect l="-3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2C1D2F-718D-6950-81AE-8C31080BD67B}"/>
              </a:ext>
            </a:extLst>
          </p:cNvPr>
          <p:cNvSpPr txBox="1"/>
          <p:nvPr/>
        </p:nvSpPr>
        <p:spPr>
          <a:xfrm>
            <a:off x="447261" y="6013174"/>
            <a:ext cx="5118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Reference: Network Analysis &amp; Synthesis by Uday Bakshi &amp; Ajay Bakshi, Technical Publications Pune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951910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B66A-D36E-62CA-0D23-ECB728EC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E81D-7EC0-22B9-D365-EE58EDB2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6CBE9-7359-9FB8-33B3-6F357449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671D5-D53E-BCE9-84A3-CF416AF05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442A5-3DFE-2CE0-D954-30EBF92A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369604D-FD57-3EE1-23FF-BDEB28CAE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410" y="714358"/>
                <a:ext cx="11808007" cy="564360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400" b="1" dirty="0">
                    <a:solidFill>
                      <a:srgbClr val="300EFA"/>
                    </a:solidFill>
                    <a:latin typeface="Times New Roman"/>
                    <a:cs typeface="Times New Roman"/>
                  </a:rPr>
                  <a:t>EXAMPLE 5: </a:t>
                </a:r>
                <a:r>
                  <a:rPr lang="en-US" sz="2200" dirty="0">
                    <a:latin typeface="Times New Roman"/>
                    <a:cs typeface="Times New Roman"/>
                  </a:rPr>
                  <a:t>Without finding the inverse Laplace transform of F(s), determine the initial and final value for</a:t>
                </a:r>
              </a:p>
              <a:p>
                <a:pPr marL="514350" indent="-514350">
                  <a:lnSpc>
                    <a:spcPct val="150000"/>
                  </a:lnSpc>
                  <a:buAutoNum type="romanLcParenBoth"/>
                </a:pPr>
                <a:r>
                  <a:rPr lang="en-US" sz="2200" dirty="0">
                    <a:latin typeface="Times New Roman"/>
                    <a:cs typeface="Times New Roman"/>
                  </a:rPr>
                  <a:t>F(s)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e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+ 50)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/>
                    <a:cs typeface="Times New Roman"/>
                  </a:rPr>
                  <a:t>       </a:t>
                </a:r>
                <a:r>
                  <a:rPr lang="en-US" sz="2200" dirty="0">
                    <a:latin typeface="Times New Roman"/>
                    <a:cs typeface="Times New Roman"/>
                  </a:rPr>
                  <a:t>(ii) F(s)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8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+ 6</m:t>
                        </m:r>
                      </m:num>
                      <m:den>
                        <m:sSup>
                          <m:sSupPr>
                            <m:ctrlPr>
                              <a:rPr lang="en-IN" sz="28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+ 7</m:t>
                        </m:r>
                      </m:den>
                    </m:f>
                  </m:oMath>
                </a14:m>
                <a:endParaRPr lang="en-IN" sz="2200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b="1" dirty="0">
                    <a:solidFill>
                      <a:srgbClr val="300EFA"/>
                    </a:solidFill>
                    <a:latin typeface="Times New Roman"/>
                    <a:cs typeface="Times New Roman"/>
                  </a:rPr>
                  <a:t>SOLUTION: </a:t>
                </a:r>
                <a:r>
                  <a:rPr lang="en-IN" sz="220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By initial value theorem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f(0)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→∞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sF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) = </m:t>
                        </m:r>
                        <m:func>
                          <m:func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 b="0" i="0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e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+ 50)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Times New Roman"/>
                    <a:cs typeface="Times New Roman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e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 + 50)</m:t>
                        </m:r>
                      </m:e>
                    </m:func>
                  </m:oMath>
                </a14:m>
                <a:r>
                  <a:rPr lang="en-IN" sz="2200" dirty="0">
                    <a:latin typeface="Times New Roman"/>
                    <a:cs typeface="Times New Roman"/>
                  </a:rPr>
                  <a:t> = 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By final value theorem: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f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(∞)</m:t>
                    </m:r>
                  </m:oMath>
                </a14:m>
                <a:r>
                  <a:rPr lang="en-IN" sz="22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2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2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F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) = </m:t>
                        </m:r>
                        <m:func>
                          <m:func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2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200" b="0" i="0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e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 + 50)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e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 + 50)</m:t>
                        </m:r>
                      </m:e>
                    </m:func>
                  </m:oMath>
                </a14:m>
                <a:endParaRPr lang="en-IN" sz="2200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                                 ⸫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f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(∞) 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200</m:t>
                    </m:r>
                  </m:oMath>
                </a14:m>
                <a:endParaRPr lang="en-IN" sz="22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369604D-FD57-3EE1-23FF-BDEB28CAE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410" y="714358"/>
                <a:ext cx="11808007" cy="5643603"/>
              </a:xfrm>
              <a:blipFill>
                <a:blip r:embed="rId2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F5183A8-B6B2-FD22-9A0A-52E12704F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AD5DFEC-8F0E-48B5-9B99-78E2A10259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2D36C80-7EC1-3EA2-8FC2-5199C9DA49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028D856-F691-FCAB-AAEE-9ED56ACCD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A1F291B-6EF7-57F5-B29E-69FC70603381}"/>
              </a:ext>
            </a:extLst>
          </p:cNvPr>
          <p:cNvSpPr txBox="1"/>
          <p:nvPr/>
        </p:nvSpPr>
        <p:spPr>
          <a:xfrm>
            <a:off x="447261" y="6251710"/>
            <a:ext cx="5118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Reference: Network Analysis &amp; Synthesis by Uday Bakshi &amp; Ajay Bakshi, Technical Publications Pune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51526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7DE7-C6F4-031F-3AA0-EAE2F7F4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BD01-0FB7-10CB-FA14-2BDD99FC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8B9D-CBD9-62C4-F78D-B2BFBDF6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F0D3A-354C-D1D3-FA2F-9595CC01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937F1-B3AA-00FF-20E7-E9556087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6F9C134-2D8F-436E-4D84-8DF7354DD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410" y="714358"/>
                <a:ext cx="11808007" cy="564360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/>
                    <a:cs typeface="Times New Roman"/>
                  </a:rPr>
                  <a:t>(ii) F(s)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8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+ 6</m:t>
                        </m:r>
                      </m:num>
                      <m:den>
                        <m:sSup>
                          <m:sSupPr>
                            <m:ctrlPr>
                              <a:rPr lang="en-IN" sz="28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+ 7</m:t>
                        </m:r>
                      </m:den>
                    </m:f>
                  </m:oMath>
                </a14:m>
                <a:endParaRPr lang="en-IN" sz="2200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b="1" dirty="0">
                    <a:solidFill>
                      <a:srgbClr val="300EFA"/>
                    </a:solidFill>
                    <a:latin typeface="Times New Roman"/>
                    <a:cs typeface="Times New Roman"/>
                  </a:rPr>
                  <a:t>SOLUTION: </a:t>
                </a:r>
                <a:r>
                  <a:rPr lang="en-IN" sz="220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By initial value theorem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/>
                    <a:cs typeface="Times New Roman"/>
                  </a:rPr>
                  <a:t>f(0)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→∞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sF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) = </m:t>
                        </m:r>
                        <m:func>
                          <m:func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 b="0" i="0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+ 6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+ 7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+ 6</m:t>
                            </m:r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+ 7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400" dirty="0">
                    <a:latin typeface="Times New Roman"/>
                    <a:cs typeface="Times New Roman"/>
                  </a:rPr>
                  <a:t> =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ꝏ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By final value theorem: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f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(∞)</m:t>
                    </m:r>
                  </m:oMath>
                </a14:m>
                <a:r>
                  <a:rPr lang="en-IN" sz="22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F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) = </m:t>
                        </m:r>
                        <m:func>
                          <m:func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 b="0" i="0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800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+ 6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+ 7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/>
                    <a:cs typeface="Times New Roman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latin typeface="Cambria Math" panose="02040503050406030204" pitchFamily="18" charset="0"/>
                                <a:cs typeface="Times New Roman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+ 6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+ 7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sz="2000" dirty="0">
                    <a:latin typeface="Times New Roman"/>
                    <a:cs typeface="Times New Roman"/>
                  </a:rPr>
                  <a:t> 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                                 ⸫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f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/>
                      </a:rPr>
                      <m:t>(∞) = 0</m:t>
                    </m:r>
                  </m:oMath>
                </a14:m>
                <a:endParaRPr lang="en-IN" sz="2200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However, before accepting this result, check the poles of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𝑠𝐹</m:t>
                    </m:r>
                    <m:d>
                      <m:d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s2 + 7 = 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± j√7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6F9C134-2D8F-436E-4D84-8DF7354DD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410" y="714358"/>
                <a:ext cx="11808007" cy="5643603"/>
              </a:xfrm>
              <a:blipFill>
                <a:blip r:embed="rId2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3150807-9C47-7F1F-99CE-B4C8447C2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F5183A8-B6B2-FD22-9A0A-52E12704F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26617FB-DA42-5C35-925E-5DA13B5F6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2D36C80-7EC1-3EA2-8FC2-5199C9DA4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733A5-30E2-7FE0-5CFD-E169E9A0B6E6}"/>
              </a:ext>
            </a:extLst>
          </p:cNvPr>
          <p:cNvSpPr txBox="1"/>
          <p:nvPr/>
        </p:nvSpPr>
        <p:spPr>
          <a:xfrm>
            <a:off x="447261" y="6271588"/>
            <a:ext cx="5118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Reference: Network Analysis &amp; Synthesis by Uday Bakshi &amp; Ajay Bakshi, Technical Publications Pune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689649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8902C-EDCE-FA7B-6A11-7AEC17B8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7F43-31A2-22E1-8454-5698AB36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8C2F-4E4E-4DE8-BD74-17267FA5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CD640-CB02-A366-EBCA-0A91D838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FAF9B-6323-0C66-6AD9-7F1209C2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6876A1-9095-7ED4-EEE5-31B7138CC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10" y="714358"/>
            <a:ext cx="11808007" cy="56436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poles lie on the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imaginary axis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 Final Value Theorem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applied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signal does not settle to a finite steady-state value.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Value Theorem is not applicable since </a:t>
            </a:r>
            <a:r>
              <a:rPr lang="en-US" sz="2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r>
              <a:rPr lang="en-US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 has poles at s = ± j√7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f(∞) does not exist.</a:t>
            </a:r>
            <a:endParaRPr lang="en-IN" sz="2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3FF5B57-2F3E-ADD5-77F8-17DF55FBCC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3150807-9C47-7F1F-99CE-B4C8447C2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A13BBF0-CB3E-1F4A-6994-3C21D8A62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26617FB-DA42-5C35-925E-5DA13B5F6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7D75E8-F455-BEF9-C046-52044801132E}"/>
              </a:ext>
            </a:extLst>
          </p:cNvPr>
          <p:cNvSpPr txBox="1"/>
          <p:nvPr/>
        </p:nvSpPr>
        <p:spPr>
          <a:xfrm>
            <a:off x="447261" y="6122503"/>
            <a:ext cx="5118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Reference: Network Analysis &amp; Synthesis by Uday Bakshi &amp; Ajay Bakshi, Technical Publications Pune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584721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2DEA-45F4-79A1-616D-DDE13C51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3FC2-92CE-1D05-3252-27035350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35" y="71415"/>
            <a:ext cx="11617555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INITIAL VALUE AND FINAL VALUE THEOREM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FFB3C-C4A2-9AA0-923F-C668B51D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795C0-5E00-A98A-8371-B3CB54F1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2B68-1E92-F54C-4E97-28D77C67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F45A339-1106-EBA2-597C-B136F44DC8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410" y="714358"/>
                <a:ext cx="11808007" cy="564360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PRACTICE: DO YOURSELF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finding inverse Laplace transform of F(s), find the initial and final value.</a:t>
                </a:r>
                <a:r>
                  <a:rPr lang="en-US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5 </m:t>
                        </m:r>
                        <m:sSup>
                          <m:sSupPr>
                            <m:ctrlPr>
                              <a:rPr lang="en-IN" sz="2600" b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- 1600</m:t>
                        </m:r>
                      </m:num>
                      <m:den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 (</m:t>
                        </m:r>
                        <m:sSup>
                          <m:sSupPr>
                            <m:ctrlPr>
                              <a:rPr lang="en-IN" sz="2600" b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+ 18</m:t>
                        </m:r>
                        <m:sSup>
                          <m:sSupPr>
                            <m:ctrlPr>
                              <a:rPr lang="en-IN" sz="2600" b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+ 90</m:t>
                        </m:r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+ 800)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Answer: initial value = 5 and final value = - 2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F45A339-1106-EBA2-597C-B136F44DC8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410" y="714358"/>
                <a:ext cx="11808007" cy="5643603"/>
              </a:xfrm>
              <a:blipFill>
                <a:blip r:embed="rId2"/>
                <a:stretch>
                  <a:fillRect l="-6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7E9DCF1-2DF2-274A-725C-9B18DE729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3FF5B57-2F3E-ADD5-77F8-17DF55FBCC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0AC5888-9FEC-3A29-282E-763AE2624D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8234" y="3321051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A13BBF0-CB3E-1F4A-6994-3C21D8A62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34" y="3321051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010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635" y="357167"/>
            <a:ext cx="11617555" cy="5929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shasansaeed@yolasite.com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hasansaeed872726549.wordpress.com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saeed.moodlecloud.com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syedhasansaeed.gnomio.com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4308</TotalTime>
  <Words>993</Words>
  <Application>Microsoft Office PowerPoint</Application>
  <PresentationFormat>Custom</PresentationFormat>
  <Paragraphs>159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         CIRCUIT THEORY    INITIAL VALUE AND FINAL VALUE THEOREM </vt:lpstr>
      <vt:lpstr>PowerPoint Presentation</vt:lpstr>
      <vt:lpstr>PowerPoint Presentation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INITIAL VALUE AND FINAL VALUE THEOREM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hasansaeedcontrol@gmail.com</cp:lastModifiedBy>
  <cp:revision>568</cp:revision>
  <dcterms:created xsi:type="dcterms:W3CDTF">2019-07-24T02:14:50Z</dcterms:created>
  <dcterms:modified xsi:type="dcterms:W3CDTF">2026-06-29T10:23:37Z</dcterms:modified>
</cp:coreProperties>
</file>