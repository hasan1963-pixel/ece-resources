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56" r:id="rId2"/>
    <p:sldId id="282" r:id="rId3"/>
    <p:sldId id="280" r:id="rId4"/>
    <p:sldId id="257" r:id="rId5"/>
    <p:sldId id="326" r:id="rId6"/>
    <p:sldId id="332" r:id="rId7"/>
    <p:sldId id="325" r:id="rId8"/>
    <p:sldId id="324" r:id="rId9"/>
    <p:sldId id="323" r:id="rId10"/>
    <p:sldId id="322" r:id="rId11"/>
    <p:sldId id="321" r:id="rId12"/>
    <p:sldId id="320" r:id="rId13"/>
    <p:sldId id="319" r:id="rId14"/>
    <p:sldId id="318" r:id="rId15"/>
    <p:sldId id="333" r:id="rId16"/>
    <p:sldId id="317" r:id="rId17"/>
    <p:sldId id="316" r:id="rId18"/>
    <p:sldId id="315" r:id="rId19"/>
    <p:sldId id="314" r:id="rId20"/>
    <p:sldId id="338" r:id="rId21"/>
    <p:sldId id="337" r:id="rId22"/>
    <p:sldId id="339" r:id="rId23"/>
    <p:sldId id="336" r:id="rId24"/>
    <p:sldId id="335" r:id="rId25"/>
    <p:sldId id="334" r:id="rId26"/>
    <p:sldId id="260" r:id="rId27"/>
  </p:sldIdLst>
  <p:sldSz cx="12161838"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3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8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780" autoAdjust="0"/>
    <p:restoredTop sz="94660" autoAdjust="0"/>
  </p:normalViewPr>
  <p:slideViewPr>
    <p:cSldViewPr snapToGrid="0">
      <p:cViewPr varScale="1">
        <p:scale>
          <a:sx n="96" d="100"/>
          <a:sy n="96" d="100"/>
        </p:scale>
        <p:origin x="954" y="90"/>
      </p:cViewPr>
      <p:guideLst>
        <p:guide orient="horz" pos="2160"/>
        <p:guide pos="3831"/>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9A4B1FF-F32D-4BA9-8444-B2076D6565D6}" type="datetimeFigureOut">
              <a:rPr lang="en-US" smtClean="0"/>
              <a:pPr/>
              <a:t>6/29/2026</a:t>
            </a:fld>
            <a:endParaRPr lang="en-US"/>
          </a:p>
        </p:txBody>
      </p:sp>
      <p:sp>
        <p:nvSpPr>
          <p:cNvPr id="4" name="Slide Image Placeholder 3"/>
          <p:cNvSpPr>
            <a:spLocks noGrp="1" noRot="1" noChangeAspect="1"/>
          </p:cNvSpPr>
          <p:nvPr>
            <p:ph type="sldImg" idx="2"/>
          </p:nvPr>
        </p:nvSpPr>
        <p:spPr>
          <a:xfrm>
            <a:off x="388938" y="685800"/>
            <a:ext cx="6080125"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61069ED-E8C9-462C-B99A-12A0CE95B337}"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2138" y="2130427"/>
            <a:ext cx="10337562" cy="1470025"/>
          </a:xfrm>
        </p:spPr>
        <p:txBody>
          <a:bodyPr/>
          <a:lstStyle/>
          <a:p>
            <a:r>
              <a:rPr lang="en-US"/>
              <a:t>Click to edit Master title style</a:t>
            </a:r>
          </a:p>
        </p:txBody>
      </p:sp>
      <p:sp>
        <p:nvSpPr>
          <p:cNvPr id="3" name="Subtitle 2"/>
          <p:cNvSpPr>
            <a:spLocks noGrp="1"/>
          </p:cNvSpPr>
          <p:nvPr>
            <p:ph type="subTitle" idx="1"/>
          </p:nvPr>
        </p:nvSpPr>
        <p:spPr>
          <a:xfrm>
            <a:off x="1824276" y="3886200"/>
            <a:ext cx="8513287"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A7744FAF-5EE7-4E62-8977-C2BDEA0C9800}" type="datetime2">
              <a:rPr lang="en-US" smtClean="0"/>
              <a:pPr/>
              <a:t>Monday, June 29, 2026</a:t>
            </a:fld>
            <a:endParaRPr lang="en-US"/>
          </a:p>
        </p:txBody>
      </p:sp>
      <p:sp>
        <p:nvSpPr>
          <p:cNvPr id="5" name="Footer Placeholder 4"/>
          <p:cNvSpPr>
            <a:spLocks noGrp="1"/>
          </p:cNvSpPr>
          <p:nvPr>
            <p:ph type="ftr" sz="quarter" idx="11"/>
          </p:nvPr>
        </p:nvSpPr>
        <p:spPr/>
        <p:txBody>
          <a:bodyPr/>
          <a:lstStyle/>
          <a:p>
            <a:r>
              <a:rPr lang="en-US"/>
              <a:t>syed hasan saeed</a:t>
            </a:r>
          </a:p>
        </p:txBody>
      </p:sp>
      <p:sp>
        <p:nvSpPr>
          <p:cNvPr id="6" name="Slide Number Placeholder 5"/>
          <p:cNvSpPr>
            <a:spLocks noGrp="1"/>
          </p:cNvSpPr>
          <p:nvPr>
            <p:ph type="sldNum" sz="quarter" idx="12"/>
          </p:nvPr>
        </p:nvSpPr>
        <p:spPr/>
        <p:txBody>
          <a:bodyPr/>
          <a:lstStyle/>
          <a:p>
            <a:fld id="{435E54C7-FAA8-46C1-A880-53547F97989D}"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186F227-248D-4963-99BB-700C4C3FB295}" type="datetime2">
              <a:rPr lang="en-US" smtClean="0"/>
              <a:pPr/>
              <a:t>Monday, June 29, 2026</a:t>
            </a:fld>
            <a:endParaRPr lang="en-US"/>
          </a:p>
        </p:txBody>
      </p:sp>
      <p:sp>
        <p:nvSpPr>
          <p:cNvPr id="5" name="Footer Placeholder 4"/>
          <p:cNvSpPr>
            <a:spLocks noGrp="1"/>
          </p:cNvSpPr>
          <p:nvPr>
            <p:ph type="ftr" sz="quarter" idx="11"/>
          </p:nvPr>
        </p:nvSpPr>
        <p:spPr/>
        <p:txBody>
          <a:bodyPr/>
          <a:lstStyle/>
          <a:p>
            <a:r>
              <a:rPr lang="en-US"/>
              <a:t>syed hasan saeed</a:t>
            </a:r>
          </a:p>
        </p:txBody>
      </p:sp>
      <p:sp>
        <p:nvSpPr>
          <p:cNvPr id="6" name="Slide Number Placeholder 5"/>
          <p:cNvSpPr>
            <a:spLocks noGrp="1"/>
          </p:cNvSpPr>
          <p:nvPr>
            <p:ph type="sldNum" sz="quarter" idx="12"/>
          </p:nvPr>
        </p:nvSpPr>
        <p:spPr/>
        <p:txBody>
          <a:bodyPr/>
          <a:lstStyle/>
          <a:p>
            <a:fld id="{435E54C7-FAA8-46C1-A880-53547F97989D}"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0702" y="4406902"/>
            <a:ext cx="10337562"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0702" y="2906713"/>
            <a:ext cx="10337562"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AC61579-A505-43A3-BF77-7B0637CA8DDC}" type="datetime2">
              <a:rPr lang="en-US" smtClean="0"/>
              <a:pPr/>
              <a:t>Monday, June 29, 2026</a:t>
            </a:fld>
            <a:endParaRPr lang="en-US"/>
          </a:p>
        </p:txBody>
      </p:sp>
      <p:sp>
        <p:nvSpPr>
          <p:cNvPr id="5" name="Footer Placeholder 4"/>
          <p:cNvSpPr>
            <a:spLocks noGrp="1"/>
          </p:cNvSpPr>
          <p:nvPr>
            <p:ph type="ftr" sz="quarter" idx="11"/>
          </p:nvPr>
        </p:nvSpPr>
        <p:spPr/>
        <p:txBody>
          <a:bodyPr/>
          <a:lstStyle/>
          <a:p>
            <a:r>
              <a:rPr lang="en-US"/>
              <a:t>syed hasan saeed</a:t>
            </a:r>
          </a:p>
        </p:txBody>
      </p:sp>
      <p:sp>
        <p:nvSpPr>
          <p:cNvPr id="6" name="Slide Number Placeholder 5"/>
          <p:cNvSpPr>
            <a:spLocks noGrp="1"/>
          </p:cNvSpPr>
          <p:nvPr>
            <p:ph type="sldNum" sz="quarter" idx="12"/>
          </p:nvPr>
        </p:nvSpPr>
        <p:spPr/>
        <p:txBody>
          <a:bodyPr/>
          <a:lstStyle/>
          <a:p>
            <a:fld id="{435E54C7-FAA8-46C1-A880-53547F97989D}"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8092" y="1600202"/>
            <a:ext cx="5371478"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82268" y="1600202"/>
            <a:ext cx="5371478"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5E9FA65-A5E3-4488-861A-24253CE9BF3C}" type="datetime2">
              <a:rPr lang="en-US" smtClean="0"/>
              <a:pPr/>
              <a:t>Monday, June 29, 2026</a:t>
            </a:fld>
            <a:endParaRPr lang="en-US"/>
          </a:p>
        </p:txBody>
      </p:sp>
      <p:sp>
        <p:nvSpPr>
          <p:cNvPr id="6" name="Footer Placeholder 5"/>
          <p:cNvSpPr>
            <a:spLocks noGrp="1"/>
          </p:cNvSpPr>
          <p:nvPr>
            <p:ph type="ftr" sz="quarter" idx="11"/>
          </p:nvPr>
        </p:nvSpPr>
        <p:spPr/>
        <p:txBody>
          <a:bodyPr/>
          <a:lstStyle/>
          <a:p>
            <a:r>
              <a:rPr lang="en-US"/>
              <a:t>syed hasan saeed</a:t>
            </a:r>
          </a:p>
        </p:txBody>
      </p:sp>
      <p:sp>
        <p:nvSpPr>
          <p:cNvPr id="7" name="Slide Number Placeholder 6"/>
          <p:cNvSpPr>
            <a:spLocks noGrp="1"/>
          </p:cNvSpPr>
          <p:nvPr>
            <p:ph type="sldNum" sz="quarter" idx="12"/>
          </p:nvPr>
        </p:nvSpPr>
        <p:spPr/>
        <p:txBody>
          <a:bodyPr/>
          <a:lstStyle/>
          <a:p>
            <a:fld id="{435E54C7-FAA8-46C1-A880-53547F97989D}"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8092" y="1535114"/>
            <a:ext cx="5373591"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8092" y="2174875"/>
            <a:ext cx="5373591"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8048" y="1535114"/>
            <a:ext cx="5375701"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8048" y="2174875"/>
            <a:ext cx="5375701"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58A9FEE-2738-4AB4-98CC-08290BDBA2BB}" type="datetime2">
              <a:rPr lang="en-US" smtClean="0"/>
              <a:pPr/>
              <a:t>Monday, June 29, 2026</a:t>
            </a:fld>
            <a:endParaRPr lang="en-US"/>
          </a:p>
        </p:txBody>
      </p:sp>
      <p:sp>
        <p:nvSpPr>
          <p:cNvPr id="8" name="Footer Placeholder 7"/>
          <p:cNvSpPr>
            <a:spLocks noGrp="1"/>
          </p:cNvSpPr>
          <p:nvPr>
            <p:ph type="ftr" sz="quarter" idx="11"/>
          </p:nvPr>
        </p:nvSpPr>
        <p:spPr/>
        <p:txBody>
          <a:bodyPr/>
          <a:lstStyle/>
          <a:p>
            <a:r>
              <a:rPr lang="en-US"/>
              <a:t>syed hasan saeed</a:t>
            </a:r>
          </a:p>
        </p:txBody>
      </p:sp>
      <p:sp>
        <p:nvSpPr>
          <p:cNvPr id="9" name="Slide Number Placeholder 8"/>
          <p:cNvSpPr>
            <a:spLocks noGrp="1"/>
          </p:cNvSpPr>
          <p:nvPr>
            <p:ph type="sldNum" sz="quarter" idx="12"/>
          </p:nvPr>
        </p:nvSpPr>
        <p:spPr/>
        <p:txBody>
          <a:bodyPr/>
          <a:lstStyle/>
          <a:p>
            <a:fld id="{435E54C7-FAA8-46C1-A880-53547F97989D}"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790905A-B11B-4A72-B2CE-087AEDA733D6}" type="datetime2">
              <a:rPr lang="en-US" smtClean="0"/>
              <a:pPr/>
              <a:t>Monday, June 29, 2026</a:t>
            </a:fld>
            <a:endParaRPr lang="en-US"/>
          </a:p>
        </p:txBody>
      </p:sp>
      <p:sp>
        <p:nvSpPr>
          <p:cNvPr id="4" name="Footer Placeholder 3"/>
          <p:cNvSpPr>
            <a:spLocks noGrp="1"/>
          </p:cNvSpPr>
          <p:nvPr>
            <p:ph type="ftr" sz="quarter" idx="11"/>
          </p:nvPr>
        </p:nvSpPr>
        <p:spPr/>
        <p:txBody>
          <a:bodyPr/>
          <a:lstStyle/>
          <a:p>
            <a:r>
              <a:rPr lang="en-US"/>
              <a:t>syed hasan saeed</a:t>
            </a:r>
          </a:p>
        </p:txBody>
      </p:sp>
      <p:sp>
        <p:nvSpPr>
          <p:cNvPr id="5" name="Slide Number Placeholder 4"/>
          <p:cNvSpPr>
            <a:spLocks noGrp="1"/>
          </p:cNvSpPr>
          <p:nvPr>
            <p:ph type="sldNum" sz="quarter" idx="12"/>
          </p:nvPr>
        </p:nvSpPr>
        <p:spPr/>
        <p:txBody>
          <a:bodyPr/>
          <a:lstStyle/>
          <a:p>
            <a:fld id="{435E54C7-FAA8-46C1-A880-53547F97989D}"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8B04456-9DBB-4D08-899D-BC1DAC502745}" type="datetime2">
              <a:rPr lang="en-US" smtClean="0"/>
              <a:pPr/>
              <a:t>Monday, June 29, 2026</a:t>
            </a:fld>
            <a:endParaRPr lang="en-US"/>
          </a:p>
        </p:txBody>
      </p:sp>
      <p:sp>
        <p:nvSpPr>
          <p:cNvPr id="3" name="Footer Placeholder 2"/>
          <p:cNvSpPr>
            <a:spLocks noGrp="1"/>
          </p:cNvSpPr>
          <p:nvPr>
            <p:ph type="ftr" sz="quarter" idx="11"/>
          </p:nvPr>
        </p:nvSpPr>
        <p:spPr/>
        <p:txBody>
          <a:bodyPr/>
          <a:lstStyle/>
          <a:p>
            <a:r>
              <a:rPr lang="en-US"/>
              <a:t>syed hasan saeed</a:t>
            </a:r>
          </a:p>
        </p:txBody>
      </p:sp>
      <p:sp>
        <p:nvSpPr>
          <p:cNvPr id="4" name="Slide Number Placeholder 3"/>
          <p:cNvSpPr>
            <a:spLocks noGrp="1"/>
          </p:cNvSpPr>
          <p:nvPr>
            <p:ph type="sldNum" sz="quarter" idx="12"/>
          </p:nvPr>
        </p:nvSpPr>
        <p:spPr/>
        <p:txBody>
          <a:bodyPr/>
          <a:lstStyle/>
          <a:p>
            <a:fld id="{435E54C7-FAA8-46C1-A880-53547F97989D}"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8095" y="273050"/>
            <a:ext cx="4001161" cy="1162051"/>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54941" y="273053"/>
            <a:ext cx="6798805"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8095" y="1435103"/>
            <a:ext cx="4001161"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7779D0B-4DA1-425D-A37D-F89B237EAD49}" type="datetime2">
              <a:rPr lang="en-US" smtClean="0"/>
              <a:pPr/>
              <a:t>Monday, June 29, 2026</a:t>
            </a:fld>
            <a:endParaRPr lang="en-US"/>
          </a:p>
        </p:txBody>
      </p:sp>
      <p:sp>
        <p:nvSpPr>
          <p:cNvPr id="6" name="Footer Placeholder 5"/>
          <p:cNvSpPr>
            <a:spLocks noGrp="1"/>
          </p:cNvSpPr>
          <p:nvPr>
            <p:ph type="ftr" sz="quarter" idx="11"/>
          </p:nvPr>
        </p:nvSpPr>
        <p:spPr/>
        <p:txBody>
          <a:bodyPr/>
          <a:lstStyle/>
          <a:p>
            <a:r>
              <a:rPr lang="en-US"/>
              <a:t>syed hasan saeed</a:t>
            </a:r>
          </a:p>
        </p:txBody>
      </p:sp>
      <p:sp>
        <p:nvSpPr>
          <p:cNvPr id="7" name="Slide Number Placeholder 6"/>
          <p:cNvSpPr>
            <a:spLocks noGrp="1"/>
          </p:cNvSpPr>
          <p:nvPr>
            <p:ph type="sldNum" sz="quarter" idx="12"/>
          </p:nvPr>
        </p:nvSpPr>
        <p:spPr/>
        <p:txBody>
          <a:bodyPr/>
          <a:lstStyle/>
          <a:p>
            <a:fld id="{435E54C7-FAA8-46C1-A880-53547F97989D}"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3805" y="4800601"/>
            <a:ext cx="7297103" cy="566739"/>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3805" y="612775"/>
            <a:ext cx="7297103"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3805" y="5367339"/>
            <a:ext cx="7297103"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DF636CE-64FA-46EE-9395-90ED4C1DF39F}" type="datetime2">
              <a:rPr lang="en-US" smtClean="0"/>
              <a:pPr/>
              <a:t>Monday, June 29, 2026</a:t>
            </a:fld>
            <a:endParaRPr lang="en-US"/>
          </a:p>
        </p:txBody>
      </p:sp>
      <p:sp>
        <p:nvSpPr>
          <p:cNvPr id="6" name="Footer Placeholder 5"/>
          <p:cNvSpPr>
            <a:spLocks noGrp="1"/>
          </p:cNvSpPr>
          <p:nvPr>
            <p:ph type="ftr" sz="quarter" idx="11"/>
          </p:nvPr>
        </p:nvSpPr>
        <p:spPr/>
        <p:txBody>
          <a:bodyPr/>
          <a:lstStyle/>
          <a:p>
            <a:r>
              <a:rPr lang="en-US"/>
              <a:t>syed hasan saeed</a:t>
            </a:r>
          </a:p>
        </p:txBody>
      </p:sp>
      <p:sp>
        <p:nvSpPr>
          <p:cNvPr id="7" name="Slide Number Placeholder 6"/>
          <p:cNvSpPr>
            <a:spLocks noGrp="1"/>
          </p:cNvSpPr>
          <p:nvPr>
            <p:ph type="sldNum" sz="quarter" idx="12"/>
          </p:nvPr>
        </p:nvSpPr>
        <p:spPr/>
        <p:txBody>
          <a:bodyPr/>
          <a:lstStyle/>
          <a:p>
            <a:fld id="{435E54C7-FAA8-46C1-A880-53547F97989D}"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8430824-BA15-49A9-9CC6-33B3E3DE0658}" type="datetime2">
              <a:rPr lang="en-US" smtClean="0"/>
              <a:pPr/>
              <a:t>Monday, June 29, 2026</a:t>
            </a:fld>
            <a:endParaRPr lang="en-US"/>
          </a:p>
        </p:txBody>
      </p:sp>
      <p:sp>
        <p:nvSpPr>
          <p:cNvPr id="5" name="Footer Placeholder 4"/>
          <p:cNvSpPr>
            <a:spLocks noGrp="1"/>
          </p:cNvSpPr>
          <p:nvPr>
            <p:ph type="ftr" sz="quarter" idx="11"/>
          </p:nvPr>
        </p:nvSpPr>
        <p:spPr/>
        <p:txBody>
          <a:bodyPr/>
          <a:lstStyle/>
          <a:p>
            <a:r>
              <a:rPr lang="en-US"/>
              <a:t>syed hasan saeed</a:t>
            </a:r>
          </a:p>
        </p:txBody>
      </p:sp>
      <p:sp>
        <p:nvSpPr>
          <p:cNvPr id="6" name="Slide Number Placeholder 5"/>
          <p:cNvSpPr>
            <a:spLocks noGrp="1"/>
          </p:cNvSpPr>
          <p:nvPr>
            <p:ph type="sldNum" sz="quarter" idx="12"/>
          </p:nvPr>
        </p:nvSpPr>
        <p:spPr/>
        <p:txBody>
          <a:bodyPr/>
          <a:lstStyle/>
          <a:p>
            <a:fld id="{435E54C7-FAA8-46C1-A880-53547F97989D}"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17332" y="274640"/>
            <a:ext cx="2736414"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8092" y="274640"/>
            <a:ext cx="8006543"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872A43B-922F-4162-B2E2-68DFCB817C41}" type="datetime2">
              <a:rPr lang="en-US" smtClean="0"/>
              <a:pPr/>
              <a:t>Monday, June 29, 2026</a:t>
            </a:fld>
            <a:endParaRPr lang="en-US"/>
          </a:p>
        </p:txBody>
      </p:sp>
      <p:sp>
        <p:nvSpPr>
          <p:cNvPr id="5" name="Footer Placeholder 4"/>
          <p:cNvSpPr>
            <a:spLocks noGrp="1"/>
          </p:cNvSpPr>
          <p:nvPr>
            <p:ph type="ftr" sz="quarter" idx="11"/>
          </p:nvPr>
        </p:nvSpPr>
        <p:spPr/>
        <p:txBody>
          <a:bodyPr/>
          <a:lstStyle/>
          <a:p>
            <a:r>
              <a:rPr lang="en-US"/>
              <a:t>syed hasan saeed</a:t>
            </a:r>
          </a:p>
        </p:txBody>
      </p:sp>
      <p:sp>
        <p:nvSpPr>
          <p:cNvPr id="6" name="Slide Number Placeholder 5"/>
          <p:cNvSpPr>
            <a:spLocks noGrp="1"/>
          </p:cNvSpPr>
          <p:nvPr>
            <p:ph type="sldNum" sz="quarter" idx="12"/>
          </p:nvPr>
        </p:nvSpPr>
        <p:spPr/>
        <p:txBody>
          <a:bodyPr/>
          <a:lstStyle/>
          <a:p>
            <a:fld id="{435E54C7-FAA8-46C1-A880-53547F97989D}"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8092" y="274639"/>
            <a:ext cx="10945654"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8092" y="1600202"/>
            <a:ext cx="10945654"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8092" y="6356352"/>
            <a:ext cx="2837762"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554F296-D24D-4DC1-9DEB-EAC44D5F442C}" type="datetime2">
              <a:rPr lang="en-US" smtClean="0"/>
              <a:pPr/>
              <a:t>Monday, June 29, 2026</a:t>
            </a:fld>
            <a:endParaRPr lang="en-US"/>
          </a:p>
        </p:txBody>
      </p:sp>
      <p:sp>
        <p:nvSpPr>
          <p:cNvPr id="5" name="Footer Placeholder 4"/>
          <p:cNvSpPr>
            <a:spLocks noGrp="1"/>
          </p:cNvSpPr>
          <p:nvPr>
            <p:ph type="ftr" sz="quarter" idx="3"/>
          </p:nvPr>
        </p:nvSpPr>
        <p:spPr>
          <a:xfrm>
            <a:off x="4155295" y="6356352"/>
            <a:ext cx="3851249"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syed hasan saeed</a:t>
            </a:r>
          </a:p>
        </p:txBody>
      </p:sp>
      <p:sp>
        <p:nvSpPr>
          <p:cNvPr id="6" name="Slide Number Placeholder 5"/>
          <p:cNvSpPr>
            <a:spLocks noGrp="1"/>
          </p:cNvSpPr>
          <p:nvPr>
            <p:ph type="sldNum" sz="quarter" idx="4"/>
          </p:nvPr>
        </p:nvSpPr>
        <p:spPr>
          <a:xfrm>
            <a:off x="8715984" y="6356352"/>
            <a:ext cx="2837762"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35E54C7-FAA8-46C1-A880-53547F97989D}"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hasansaeed.yolasite.com/" TargetMode="Externa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wmf"/><Relationship Id="rId7" Type="http://schemas.openxmlformats.org/officeDocument/2006/relationships/image" Target="../media/image3.wmf"/><Relationship Id="rId2" Type="http://schemas.openxmlformats.org/officeDocument/2006/relationships/oleObject" Target="../embeddings/oleObject1.bin"/><Relationship Id="rId1" Type="http://schemas.openxmlformats.org/officeDocument/2006/relationships/slideLayout" Target="../slideLayouts/slideLayout2.xml"/><Relationship Id="rId6" Type="http://schemas.openxmlformats.org/officeDocument/2006/relationships/oleObject" Target="../embeddings/oleObject3.bin"/><Relationship Id="rId5" Type="http://schemas.openxmlformats.org/officeDocument/2006/relationships/image" Target="../media/image2.wmf"/><Relationship Id="rId4" Type="http://schemas.openxmlformats.org/officeDocument/2006/relationships/oleObject" Target="../embeddings/oleObject2.bin"/></Relationships>
</file>

<file path=ppt/slides/_rels/slide5.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wmf"/><Relationship Id="rId7" Type="http://schemas.openxmlformats.org/officeDocument/2006/relationships/image" Target="../media/image4.wmf"/><Relationship Id="rId2" Type="http://schemas.openxmlformats.org/officeDocument/2006/relationships/oleObject" Target="../embeddings/oleObject4.bin"/><Relationship Id="rId1" Type="http://schemas.openxmlformats.org/officeDocument/2006/relationships/slideLayout" Target="../slideLayouts/slideLayout2.xml"/><Relationship Id="rId6" Type="http://schemas.openxmlformats.org/officeDocument/2006/relationships/oleObject" Target="../embeddings/oleObject6.bin"/><Relationship Id="rId5" Type="http://schemas.openxmlformats.org/officeDocument/2006/relationships/image" Target="../media/image2.wmf"/><Relationship Id="rId4" Type="http://schemas.openxmlformats.org/officeDocument/2006/relationships/oleObject" Target="../embeddings/oleObject5.bin"/></Relationships>
</file>

<file path=ppt/slides/_rels/slide6.xml.rels><?xml version="1.0" encoding="UTF-8" standalone="yes"?>
<Relationships xmlns="http://schemas.openxmlformats.org/package/2006/relationships"><Relationship Id="rId3" Type="http://schemas.openxmlformats.org/officeDocument/2006/relationships/image" Target="../media/image1.wmf"/><Relationship Id="rId7" Type="http://schemas.openxmlformats.org/officeDocument/2006/relationships/image" Target="../media/image5.wmf"/><Relationship Id="rId2" Type="http://schemas.openxmlformats.org/officeDocument/2006/relationships/oleObject" Target="../embeddings/oleObject4.bin"/><Relationship Id="rId1" Type="http://schemas.openxmlformats.org/officeDocument/2006/relationships/slideLayout" Target="../slideLayouts/slideLayout2.xml"/><Relationship Id="rId6" Type="http://schemas.openxmlformats.org/officeDocument/2006/relationships/oleObject" Target="../embeddings/oleObject7.bin"/><Relationship Id="rId5" Type="http://schemas.openxmlformats.org/officeDocument/2006/relationships/image" Target="../media/image2.wmf"/><Relationship Id="rId4" Type="http://schemas.openxmlformats.org/officeDocument/2006/relationships/oleObject" Target="../embeddings/oleObject5.bin"/></Relationships>
</file>

<file path=ppt/slides/_rels/slide7.xml.rels><?xml version="1.0" encoding="UTF-8" standalone="yes"?>
<Relationships xmlns="http://schemas.openxmlformats.org/package/2006/relationships"><Relationship Id="rId3" Type="http://schemas.openxmlformats.org/officeDocument/2006/relationships/image" Target="../media/image2.wmf"/><Relationship Id="rId7" Type="http://schemas.openxmlformats.org/officeDocument/2006/relationships/image" Target="../media/image7.wmf"/><Relationship Id="rId2" Type="http://schemas.openxmlformats.org/officeDocument/2006/relationships/oleObject" Target="../embeddings/oleObject8.bin"/><Relationship Id="rId1" Type="http://schemas.openxmlformats.org/officeDocument/2006/relationships/slideLayout" Target="../slideLayouts/slideLayout2.xml"/><Relationship Id="rId6" Type="http://schemas.openxmlformats.org/officeDocument/2006/relationships/oleObject" Target="../embeddings/oleObject10.bin"/><Relationship Id="rId5" Type="http://schemas.openxmlformats.org/officeDocument/2006/relationships/image" Target="../media/image6.wmf"/><Relationship Id="rId4" Type="http://schemas.openxmlformats.org/officeDocument/2006/relationships/oleObject" Target="../embeddings/oleObject9.bin"/></Relationships>
</file>

<file path=ppt/slides/_rels/slide8.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oleObject" Target="../embeddings/oleObject11.bin"/><Relationship Id="rId1" Type="http://schemas.openxmlformats.org/officeDocument/2006/relationships/slideLayout" Target="../slideLayouts/slideLayout2.xml"/><Relationship Id="rId5" Type="http://schemas.openxmlformats.org/officeDocument/2006/relationships/image" Target="../media/image8.wmf"/><Relationship Id="rId4" Type="http://schemas.openxmlformats.org/officeDocument/2006/relationships/oleObject" Target="../embeddings/oleObject12.bin"/></Relationships>
</file>

<file path=ppt/slides/_rels/slide9.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oleObject" Target="../embeddings/oleObject13.bin"/><Relationship Id="rId1" Type="http://schemas.openxmlformats.org/officeDocument/2006/relationships/slideLayout" Target="../slideLayouts/slideLayout2.xml"/><Relationship Id="rId5" Type="http://schemas.openxmlformats.org/officeDocument/2006/relationships/image" Target="../media/image9.wmf"/><Relationship Id="rId4" Type="http://schemas.openxmlformats.org/officeDocument/2006/relationships/oleObject" Target="../embeddings/oleObject14.bin"/></Relationships>
</file>

<file path=ppt/slides/_rels/slide10.xml.rels><?xml version="1.0" encoding="UTF-8" standalone="yes"?>
<Relationships xmlns="http://schemas.openxmlformats.org/package/2006/relationships"><Relationship Id="rId3" Type="http://schemas.openxmlformats.org/officeDocument/2006/relationships/image" Target="../media/image2.wmf"/><Relationship Id="rId7" Type="http://schemas.openxmlformats.org/officeDocument/2006/relationships/image" Target="../media/image11.wmf"/><Relationship Id="rId2" Type="http://schemas.openxmlformats.org/officeDocument/2006/relationships/oleObject" Target="../embeddings/oleObject15.bin"/><Relationship Id="rId1" Type="http://schemas.openxmlformats.org/officeDocument/2006/relationships/slideLayout" Target="../slideLayouts/slideLayout2.xml"/><Relationship Id="rId6" Type="http://schemas.openxmlformats.org/officeDocument/2006/relationships/oleObject" Target="../embeddings/oleObject17.bin"/><Relationship Id="rId5" Type="http://schemas.openxmlformats.org/officeDocument/2006/relationships/image" Target="../media/image10.wmf"/><Relationship Id="rId4" Type="http://schemas.openxmlformats.org/officeDocument/2006/relationships/oleObject" Target="../embeddings/oleObject16.bin"/></Relationships>
</file>

<file path=ppt/slides/_rels/slide11.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oleObject" Target="../embeddings/oleObject18.bin"/><Relationship Id="rId1" Type="http://schemas.openxmlformats.org/officeDocument/2006/relationships/slideLayout" Target="../slideLayouts/slideLayout2.xml"/><Relationship Id="rId6" Type="http://schemas.openxmlformats.org/officeDocument/2006/relationships/image" Target="../media/image12.wmf"/><Relationship Id="rId5" Type="http://schemas.openxmlformats.org/officeDocument/2006/relationships/oleObject" Target="../embeddings/oleObject20.bin"/><Relationship Id="rId4" Type="http://schemas.openxmlformats.org/officeDocument/2006/relationships/oleObject" Target="../embeddings/oleObject19.bin"/></Relationships>
</file>

<file path=ppt/slides/_rels/slide12.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oleObject" Target="../embeddings/oleObject21.bin"/><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oleObject" Target="../embeddings/oleObject22.bin"/><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2.wmf"/></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2.wmf"/></Relationships>
</file>

<file path=ppt/slides/_rels/slide16.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oleObject" Target="../embeddings/oleObject24.bin"/><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2.wmf"/></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mailto:hasansaeedcontrol@gmail.com" TargetMode="External"/><Relationship Id="rId2" Type="http://schemas.openxmlformats.org/officeDocument/2006/relationships/hyperlink" Target="mailto:shasansaeed@yolasite.co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85002" y="433906"/>
            <a:ext cx="11496818" cy="1577767"/>
          </a:xfrm>
        </p:spPr>
        <p:txBody>
          <a:bodyPr>
            <a:normAutofit fontScale="90000"/>
          </a:bodyPr>
          <a:lstStyle/>
          <a:p>
            <a:br>
              <a:rPr lang="en-IN" sz="3200" dirty="0">
                <a:solidFill>
                  <a:srgbClr val="FF0000"/>
                </a:solidFill>
                <a:latin typeface="Times New Roman" pitchFamily="18" charset="0"/>
                <a:cs typeface="Times New Roman" pitchFamily="18" charset="0"/>
              </a:rPr>
            </a:br>
            <a:br>
              <a:rPr lang="en-IN" sz="3200" dirty="0">
                <a:solidFill>
                  <a:srgbClr val="FF0000"/>
                </a:solidFill>
                <a:latin typeface="Times New Roman" pitchFamily="18" charset="0"/>
                <a:cs typeface="Times New Roman" pitchFamily="18" charset="0"/>
              </a:rPr>
            </a:br>
            <a:br>
              <a:rPr lang="en-IN" sz="3200" dirty="0">
                <a:solidFill>
                  <a:srgbClr val="FF0000"/>
                </a:solidFill>
                <a:latin typeface="Times New Roman" pitchFamily="18" charset="0"/>
                <a:cs typeface="Times New Roman" pitchFamily="18" charset="0"/>
              </a:rPr>
            </a:br>
            <a:br>
              <a:rPr lang="en-IN" sz="3200" dirty="0">
                <a:solidFill>
                  <a:srgbClr val="FF0000"/>
                </a:solidFill>
                <a:latin typeface="Times New Roman" pitchFamily="18" charset="0"/>
                <a:cs typeface="Times New Roman" pitchFamily="18" charset="0"/>
              </a:rPr>
            </a:br>
            <a:br>
              <a:rPr lang="en-IN" sz="3200" dirty="0">
                <a:solidFill>
                  <a:srgbClr val="FF0000"/>
                </a:solidFill>
                <a:latin typeface="Times New Roman" pitchFamily="18" charset="0"/>
                <a:cs typeface="Times New Roman" pitchFamily="18" charset="0"/>
              </a:rPr>
            </a:br>
            <a:br>
              <a:rPr lang="en-IN" sz="3200" dirty="0">
                <a:solidFill>
                  <a:srgbClr val="FF0000"/>
                </a:solidFill>
                <a:latin typeface="Times New Roman" pitchFamily="18" charset="0"/>
                <a:cs typeface="Times New Roman" pitchFamily="18" charset="0"/>
              </a:rPr>
            </a:br>
            <a:br>
              <a:rPr lang="en-IN" sz="3200" dirty="0">
                <a:solidFill>
                  <a:srgbClr val="FF0000"/>
                </a:solidFill>
                <a:latin typeface="Times New Roman" pitchFamily="18" charset="0"/>
                <a:cs typeface="Times New Roman" pitchFamily="18" charset="0"/>
              </a:rPr>
            </a:br>
            <a:br>
              <a:rPr lang="en-IN" sz="3200" dirty="0">
                <a:solidFill>
                  <a:srgbClr val="FF0000"/>
                </a:solidFill>
                <a:latin typeface="Times New Roman" pitchFamily="18" charset="0"/>
                <a:cs typeface="Times New Roman" pitchFamily="18" charset="0"/>
              </a:rPr>
            </a:br>
            <a:br>
              <a:rPr lang="en-IN" sz="3200" dirty="0">
                <a:solidFill>
                  <a:srgbClr val="FF0000"/>
                </a:solidFill>
                <a:latin typeface="Times New Roman" pitchFamily="18" charset="0"/>
                <a:cs typeface="Times New Roman" pitchFamily="18" charset="0"/>
              </a:rPr>
            </a:br>
            <a:r>
              <a:rPr lang="en-IN" sz="4000" dirty="0">
                <a:solidFill>
                  <a:srgbClr val="FF0000"/>
                </a:solidFill>
                <a:latin typeface="Times New Roman" pitchFamily="18" charset="0"/>
                <a:cs typeface="Times New Roman" pitchFamily="18" charset="0"/>
              </a:rPr>
              <a:t>CIRCUIT THEORY</a:t>
            </a:r>
            <a:br>
              <a:rPr lang="en-IN" sz="3200" dirty="0">
                <a:latin typeface="Times New Roman" pitchFamily="18" charset="0"/>
                <a:cs typeface="Times New Roman" pitchFamily="18" charset="0"/>
              </a:rPr>
            </a:br>
            <a:br>
              <a:rPr lang="en-IN" sz="3200" dirty="0">
                <a:latin typeface="Times New Roman" pitchFamily="18" charset="0"/>
                <a:cs typeface="Times New Roman" pitchFamily="18" charset="0"/>
              </a:rPr>
            </a:br>
            <a:br>
              <a:rPr lang="en-IN" sz="3200" dirty="0">
                <a:latin typeface="Times New Roman" pitchFamily="18" charset="0"/>
                <a:cs typeface="Times New Roman" pitchFamily="18" charset="0"/>
              </a:rPr>
            </a:br>
            <a:br>
              <a:rPr lang="en-IN" sz="3200" dirty="0">
                <a:latin typeface="Times New Roman" pitchFamily="18" charset="0"/>
                <a:cs typeface="Times New Roman" pitchFamily="18" charset="0"/>
              </a:rPr>
            </a:br>
            <a:r>
              <a:rPr lang="en-IN" sz="3600" dirty="0">
                <a:solidFill>
                  <a:srgbClr val="00B050"/>
                </a:solidFill>
                <a:latin typeface="Times New Roman" pitchFamily="18" charset="0"/>
                <a:cs typeface="Times New Roman" pitchFamily="18" charset="0"/>
              </a:rPr>
              <a:t>LAPLACE TRANSFORM</a:t>
            </a:r>
            <a:endParaRPr lang="en-US" sz="3600" dirty="0">
              <a:solidFill>
                <a:srgbClr val="00B050"/>
              </a:solidFill>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91CC8ED2-47B9-48F1-9DB9-2948CB58A633}" type="datetime2">
              <a:rPr lang="en-US" smtClean="0"/>
              <a:pPr/>
              <a:t>Monday, June 29, 2026</a:t>
            </a:fld>
            <a:endParaRPr lang="en-US"/>
          </a:p>
        </p:txBody>
      </p:sp>
      <p:sp>
        <p:nvSpPr>
          <p:cNvPr id="5" name="Slide Number Placeholder 4"/>
          <p:cNvSpPr>
            <a:spLocks noGrp="1"/>
          </p:cNvSpPr>
          <p:nvPr>
            <p:ph type="sldNum" sz="quarter" idx="12"/>
          </p:nvPr>
        </p:nvSpPr>
        <p:spPr/>
        <p:txBody>
          <a:bodyPr/>
          <a:lstStyle/>
          <a:p>
            <a:fld id="{435E54C7-FAA8-46C1-A880-53547F97989D}" type="slidenum">
              <a:rPr lang="en-US" smtClean="0"/>
              <a:pPr/>
              <a:t>1</a:t>
            </a:fld>
            <a:endParaRPr lang="en-US"/>
          </a:p>
        </p:txBody>
      </p:sp>
      <p:sp>
        <p:nvSpPr>
          <p:cNvPr id="6" name="Footer Placeholder 5"/>
          <p:cNvSpPr>
            <a:spLocks noGrp="1"/>
          </p:cNvSpPr>
          <p:nvPr>
            <p:ph type="ftr" sz="quarter" idx="11"/>
          </p:nvPr>
        </p:nvSpPr>
        <p:spPr/>
        <p:txBody>
          <a:bodyPr/>
          <a:lstStyle/>
          <a:p>
            <a:r>
              <a:rPr lang="en-US"/>
              <a:t>syed hasan saeed</a:t>
            </a:r>
          </a:p>
        </p:txBody>
      </p:sp>
      <p:sp>
        <p:nvSpPr>
          <p:cNvPr id="3" name="Content Placeholder 2">
            <a:extLst>
              <a:ext uri="{FF2B5EF4-FFF2-40B4-BE49-F238E27FC236}">
                <a16:creationId xmlns:a16="http://schemas.microsoft.com/office/drawing/2014/main" id="{A605498B-A9B0-5949-1230-F5B04DB8E99D}"/>
              </a:ext>
            </a:extLst>
          </p:cNvPr>
          <p:cNvSpPr txBox="1">
            <a:spLocks/>
          </p:cNvSpPr>
          <p:nvPr/>
        </p:nvSpPr>
        <p:spPr>
          <a:xfrm>
            <a:off x="142145" y="5449957"/>
            <a:ext cx="11782531" cy="609600"/>
          </a:xfrm>
          <a:prstGeom prst="rect">
            <a:avLst/>
          </a:prstGeom>
        </p:spPr>
        <p:txBody>
          <a:bodyPr vert="horz" lIns="91440" tIns="45720" rIns="91440" bIns="45720" rtlCol="0">
            <a:normAutofit fontScale="92500" lnSpcReduction="100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marR="0" lvl="0" indent="-342900" algn="ctr"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400" b="0" i="0" u="none" strike="noStrike" kern="1200" cap="none" spc="0" normalizeH="0" baseline="0" noProof="0" dirty="0">
              <a:ln>
                <a:noFill/>
              </a:ln>
              <a:solidFill>
                <a:srgbClr val="00B050"/>
              </a:solidFill>
              <a:effectLst/>
              <a:uLnTx/>
              <a:uFillTx/>
              <a:latin typeface="Times New Roman" pitchFamily="18"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300" b="0" i="0" u="none" strike="noStrike" kern="1200" cap="none" spc="0" normalizeH="0" baseline="0" noProof="0" dirty="0">
                <a:ln>
                  <a:noFill/>
                </a:ln>
                <a:solidFill>
                  <a:srgbClr val="002060"/>
                </a:solidFill>
                <a:effectLst/>
                <a:uLnTx/>
                <a:uFillTx/>
                <a:latin typeface="Times New Roman" pitchFamily="18" charset="0"/>
                <a:ea typeface="+mn-ea"/>
                <a:cs typeface="Times New Roman" pitchFamily="18" charset="0"/>
              </a:rPr>
              <a:t>           Declaration : The content of the presentation has been created for academic use / non-commercial use with fair dealing.</a:t>
            </a:r>
          </a:p>
          <a:p>
            <a:pPr marL="342900" marR="0" lvl="0" indent="-342900" algn="l" defTabSz="914400" rtl="0" eaLnBrk="1" fontAlgn="auto" latinLnBrk="0" hangingPunct="1">
              <a:lnSpc>
                <a:spcPct val="100000"/>
              </a:lnSpc>
              <a:spcBef>
                <a:spcPct val="20000"/>
              </a:spcBef>
              <a:spcAft>
                <a:spcPts val="0"/>
              </a:spcAft>
              <a:buClrTx/>
              <a:buSzTx/>
              <a:buFont typeface="Wingdings" pitchFamily="2" charset="2"/>
              <a:buChar char="v"/>
              <a:tabLst/>
              <a:defRPr/>
            </a:pPr>
            <a:endParaRPr kumimoji="0" lang="en-US" sz="22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38757" y="188640"/>
            <a:ext cx="11684324" cy="6192688"/>
          </a:xfrm>
        </p:spPr>
        <p:txBody>
          <a:bodyPr>
            <a:normAutofit/>
          </a:bodyPr>
          <a:lstStyle/>
          <a:p>
            <a:endParaRPr lang="en-IN" dirty="0">
              <a:solidFill>
                <a:schemeClr val="tx1"/>
              </a:solidFill>
              <a:latin typeface="Times New Roman" pitchFamily="18" charset="0"/>
              <a:cs typeface="Times New Roman" pitchFamily="18" charset="0"/>
            </a:endParaRPr>
          </a:p>
          <a:p>
            <a:endParaRPr lang="en-US" dirty="0">
              <a:solidFill>
                <a:schemeClr val="tx1"/>
              </a:solidFill>
              <a:latin typeface="Times New Roman" pitchFamily="18" charset="0"/>
              <a:cs typeface="Times New Roman" pitchFamily="18" charset="0"/>
            </a:endParaRPr>
          </a:p>
          <a:p>
            <a:r>
              <a:rPr lang="en-US" dirty="0">
                <a:solidFill>
                  <a:srgbClr val="FF0000"/>
                </a:solidFill>
                <a:latin typeface="Times New Roman" pitchFamily="18" charset="0"/>
                <a:ea typeface="+mj-ea"/>
                <a:cs typeface="Times New Roman" pitchFamily="18" charset="0"/>
              </a:rPr>
              <a:t>SYED HASAN SAEED</a:t>
            </a:r>
          </a:p>
          <a:p>
            <a:endParaRPr lang="en-US" dirty="0">
              <a:solidFill>
                <a:srgbClr val="FF0000"/>
              </a:solidFill>
              <a:latin typeface="Times New Roman" pitchFamily="18" charset="0"/>
              <a:ea typeface="+mj-ea"/>
              <a:cs typeface="Times New Roman" pitchFamily="18" charset="0"/>
            </a:endParaRPr>
          </a:p>
          <a:p>
            <a:endParaRPr lang="en-US" dirty="0">
              <a:solidFill>
                <a:srgbClr val="FF0000"/>
              </a:solidFill>
              <a:latin typeface="Times New Roman" pitchFamily="18" charset="0"/>
              <a:ea typeface="+mj-ea"/>
              <a:cs typeface="Times New Roman" pitchFamily="18" charset="0"/>
            </a:endParaRPr>
          </a:p>
          <a:p>
            <a:endParaRPr lang="en-US" dirty="0">
              <a:solidFill>
                <a:srgbClr val="FF0000"/>
              </a:solidFill>
              <a:latin typeface="Times New Roman" pitchFamily="18" charset="0"/>
              <a:ea typeface="+mj-ea"/>
              <a:cs typeface="Times New Roman" pitchFamily="18" charset="0"/>
            </a:endParaRPr>
          </a:p>
          <a:p>
            <a:pPr algn="l"/>
            <a:endParaRPr lang="en-US" sz="2200" dirty="0">
              <a:solidFill>
                <a:srgbClr val="FF0000"/>
              </a:solidFill>
              <a:latin typeface="Times New Roman" pitchFamily="18" charset="0"/>
              <a:ea typeface="+mj-ea"/>
              <a:cs typeface="Times New Roman" pitchFamily="18" charset="0"/>
            </a:endParaRPr>
          </a:p>
          <a:p>
            <a:pPr algn="l"/>
            <a:r>
              <a:rPr lang="en-US" sz="2200" dirty="0">
                <a:solidFill>
                  <a:srgbClr val="FF0000"/>
                </a:solidFill>
                <a:latin typeface="Times New Roman" pitchFamily="18" charset="0"/>
                <a:ea typeface="+mj-ea"/>
                <a:cs typeface="Times New Roman" pitchFamily="18" charset="0"/>
              </a:rPr>
              <a:t>URL </a:t>
            </a:r>
          </a:p>
          <a:p>
            <a:pPr algn="l"/>
            <a:r>
              <a:rPr lang="en-US" sz="2200" dirty="0">
                <a:solidFill>
                  <a:srgbClr val="0000FF"/>
                </a:solidFill>
                <a:latin typeface="Times New Roman" pitchFamily="18" charset="0"/>
                <a:ea typeface="+mj-ea"/>
                <a:cs typeface="Times New Roman" pitchFamily="18" charset="0"/>
                <a:hlinkClick r:id="rId2">
                  <a:extLst>
                    <a:ext uri="{A12FA001-AC4F-418D-AE19-62706E023703}">
                      <ahyp:hlinkClr xmlns:ahyp="http://schemas.microsoft.com/office/drawing/2018/hyperlinkcolor" val="tx"/>
                    </a:ext>
                  </a:extLst>
                </a:hlinkClick>
              </a:rPr>
              <a:t>http://shasansaeed.yolasite.com/</a:t>
            </a:r>
          </a:p>
          <a:p>
            <a:pPr algn="l"/>
            <a:r>
              <a:rPr lang="en-US" sz="2200" dirty="0">
                <a:solidFill>
                  <a:srgbClr val="0000FF"/>
                </a:solidFill>
                <a:latin typeface="Times New Roman" pitchFamily="18" charset="0"/>
                <a:ea typeface="+mj-ea"/>
                <a:cs typeface="Times New Roman" pitchFamily="18" charset="0"/>
                <a:hlinkClick r:id="rId2">
                  <a:extLst>
                    <a:ext uri="{A12FA001-AC4F-418D-AE19-62706E023703}">
                      <ahyp:hlinkClr xmlns:ahyp="http://schemas.microsoft.com/office/drawing/2018/hyperlinkcolor" val="tx"/>
                    </a:ext>
                  </a:extLst>
                </a:hlinkClick>
              </a:rPr>
              <a:t>http://hasansaeed872726549.wordpress.com/</a:t>
            </a:r>
          </a:p>
          <a:p>
            <a:pPr algn="l"/>
            <a:r>
              <a:rPr lang="en-US" sz="2200" u="sng" dirty="0">
                <a:solidFill>
                  <a:schemeClr val="tx1"/>
                </a:solidFill>
                <a:latin typeface="Times New Roman" pitchFamily="18" charset="0"/>
                <a:ea typeface="+mj-ea"/>
                <a:cs typeface="Times New Roman" pitchFamily="18" charset="0"/>
                <a:hlinkClick r:id="rId2">
                  <a:extLst>
                    <a:ext uri="{A12FA001-AC4F-418D-AE19-62706E023703}">
                      <ahyp:hlinkClr xmlns:ahyp="http://schemas.microsoft.com/office/drawing/2018/hyperlinkcolor" val="tx"/>
                    </a:ext>
                  </a:extLst>
                </a:hlinkClick>
              </a:rPr>
              <a:t>YouTube channel:</a:t>
            </a:r>
          </a:p>
          <a:p>
            <a:pPr algn="l"/>
            <a:r>
              <a:rPr lang="en-US" sz="2200" dirty="0">
                <a:solidFill>
                  <a:srgbClr val="0000FF"/>
                </a:solidFill>
                <a:latin typeface="Times New Roman" pitchFamily="18" charset="0"/>
                <a:ea typeface="+mj-ea"/>
                <a:cs typeface="Times New Roman" pitchFamily="18" charset="0"/>
                <a:hlinkClick r:id="rId2">
                  <a:extLst>
                    <a:ext uri="{A12FA001-AC4F-418D-AE19-62706E023703}">
                      <ahyp:hlinkClr xmlns:ahyp="http://schemas.microsoft.com/office/drawing/2018/hyperlinkcolor" val="tx"/>
                    </a:ext>
                  </a:extLst>
                </a:hlinkClick>
              </a:rPr>
              <a:t>https://www.youtube.com/@s.h.tutorials</a:t>
            </a:r>
          </a:p>
          <a:p>
            <a:endParaRPr lang="en-US" sz="2800" dirty="0">
              <a:solidFill>
                <a:srgbClr val="FF0000"/>
              </a:solidFill>
              <a:latin typeface="Times New Roman" pitchFamily="18" charset="0"/>
              <a:ea typeface="+mj-ea"/>
              <a:cs typeface="Times New Roman" pitchFamily="18" charset="0"/>
            </a:endParaRPr>
          </a:p>
          <a:p>
            <a:endParaRPr lang="en-US" sz="2800" dirty="0">
              <a:solidFill>
                <a:srgbClr val="FF0000"/>
              </a:solidFill>
              <a:latin typeface="Times New Roman" pitchFamily="18" charset="0"/>
              <a:ea typeface="+mj-ea"/>
              <a:cs typeface="Times New Roman" pitchFamily="18" charset="0"/>
            </a:endParaRPr>
          </a:p>
          <a:p>
            <a:endParaRPr lang="en-US" dirty="0"/>
          </a:p>
          <a:p>
            <a:endParaRPr lang="en-US" dirty="0"/>
          </a:p>
          <a:p>
            <a:endParaRPr lang="en-IN" dirty="0">
              <a:solidFill>
                <a:schemeClr val="tx1"/>
              </a:solidFill>
              <a:latin typeface="Times New Roman" pitchFamily="18" charset="0"/>
              <a:cs typeface="Times New Roman" pitchFamily="18" charset="0"/>
            </a:endParaRPr>
          </a:p>
          <a:p>
            <a:endParaRPr lang="en-IN" dirty="0">
              <a:solidFill>
                <a:schemeClr val="tx1"/>
              </a:solidFill>
              <a:latin typeface="Times New Roman" pitchFamily="18" charset="0"/>
              <a:cs typeface="Times New Roman" pitchFamily="18" charset="0"/>
            </a:endParaRPr>
          </a:p>
          <a:p>
            <a:endParaRPr lang="en-IN" dirty="0">
              <a:solidFill>
                <a:schemeClr val="tx1"/>
              </a:solidFill>
              <a:latin typeface="Times New Roman" pitchFamily="18" charset="0"/>
              <a:cs typeface="Times New Roman" pitchFamily="18" charset="0"/>
            </a:endParaRPr>
          </a:p>
          <a:p>
            <a:endParaRPr lang="en-US" dirty="0"/>
          </a:p>
        </p:txBody>
      </p:sp>
      <p:sp>
        <p:nvSpPr>
          <p:cNvPr id="4" name="Date Placeholder 3"/>
          <p:cNvSpPr>
            <a:spLocks noGrp="1"/>
          </p:cNvSpPr>
          <p:nvPr>
            <p:ph type="dt" sz="half" idx="10"/>
          </p:nvPr>
        </p:nvSpPr>
        <p:spPr/>
        <p:txBody>
          <a:bodyPr/>
          <a:lstStyle/>
          <a:p>
            <a:fld id="{91CC8ED2-47B9-48F1-9DB9-2948CB58A633}" type="datetime2">
              <a:rPr lang="en-US" smtClean="0"/>
              <a:pPr/>
              <a:t>Monday, June 29, 2026</a:t>
            </a:fld>
            <a:endParaRPr lang="en-US"/>
          </a:p>
        </p:txBody>
      </p:sp>
      <p:sp>
        <p:nvSpPr>
          <p:cNvPr id="5" name="Slide Number Placeholder 4"/>
          <p:cNvSpPr>
            <a:spLocks noGrp="1"/>
          </p:cNvSpPr>
          <p:nvPr>
            <p:ph type="sldNum" sz="quarter" idx="12"/>
          </p:nvPr>
        </p:nvSpPr>
        <p:spPr/>
        <p:txBody>
          <a:bodyPr/>
          <a:lstStyle/>
          <a:p>
            <a:fld id="{435E54C7-FAA8-46C1-A880-53547F97989D}" type="slidenum">
              <a:rPr lang="en-US" smtClean="0"/>
              <a:pPr/>
              <a:t>2</a:t>
            </a:fld>
            <a:endParaRPr lang="en-US"/>
          </a:p>
        </p:txBody>
      </p:sp>
      <p:sp>
        <p:nvSpPr>
          <p:cNvPr id="6" name="Footer Placeholder 5"/>
          <p:cNvSpPr>
            <a:spLocks noGrp="1"/>
          </p:cNvSpPr>
          <p:nvPr>
            <p:ph type="ftr" sz="quarter" idx="11"/>
          </p:nvPr>
        </p:nvSpPr>
        <p:spPr/>
        <p:txBody>
          <a:bodyPr/>
          <a:lstStyle/>
          <a:p>
            <a:r>
              <a:rPr lang="en-US"/>
              <a:t>syed hasan saeed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9988" y="714357"/>
            <a:ext cx="11781863" cy="5643603"/>
          </a:xfrm>
        </p:spPr>
        <p:txBody>
          <a:bodyPr>
            <a:normAutofit/>
          </a:bodyPr>
          <a:lstStyle/>
          <a:p>
            <a:pPr>
              <a:buNone/>
            </a:pPr>
            <a:endParaRPr lang="en-IN" sz="2200" dirty="0">
              <a:latin typeface="Times New Roman" pitchFamily="18" charset="0"/>
              <a:cs typeface="Times New Roman" pitchFamily="18" charset="0"/>
            </a:endParaRPr>
          </a:p>
          <a:p>
            <a:pPr algn="ctr">
              <a:buNone/>
            </a:pPr>
            <a:r>
              <a:rPr lang="en-IN" sz="2200" dirty="0">
                <a:latin typeface="Times New Roman" pitchFamily="18" charset="0"/>
                <a:cs typeface="Times New Roman" pitchFamily="18" charset="0"/>
              </a:rPr>
              <a:t> </a:t>
            </a:r>
            <a:r>
              <a:rPr lang="en-IN" sz="2200" dirty="0">
                <a:solidFill>
                  <a:srgbClr val="C00000"/>
                </a:solidFill>
                <a:latin typeface="Times New Roman" pitchFamily="18" charset="0"/>
                <a:cs typeface="Times New Roman" pitchFamily="18" charset="0"/>
              </a:rPr>
              <a:t>REFERENCE BOOKS</a:t>
            </a:r>
          </a:p>
          <a:p>
            <a:r>
              <a:rPr lang="en-IN" sz="2200" dirty="0">
                <a:latin typeface="Times New Roman" pitchFamily="18" charset="0"/>
                <a:cs typeface="Times New Roman" pitchFamily="18" charset="0"/>
              </a:rPr>
              <a:t>Introductory Circuit Analysis, Robert L. </a:t>
            </a:r>
            <a:r>
              <a:rPr lang="en-IN" sz="2200" dirty="0" err="1">
                <a:latin typeface="Times New Roman" pitchFamily="18" charset="0"/>
                <a:cs typeface="Times New Roman" pitchFamily="18" charset="0"/>
              </a:rPr>
              <a:t>Boylested</a:t>
            </a:r>
            <a:r>
              <a:rPr lang="en-IN" sz="2200" dirty="0">
                <a:latin typeface="Times New Roman" pitchFamily="18" charset="0"/>
                <a:cs typeface="Times New Roman" pitchFamily="18" charset="0"/>
              </a:rPr>
              <a:t>, Pearson Education, Prentice Hall.</a:t>
            </a:r>
          </a:p>
          <a:p>
            <a:r>
              <a:rPr lang="en-IN" sz="2200" dirty="0">
                <a:latin typeface="Times New Roman" pitchFamily="18" charset="0"/>
                <a:cs typeface="Times New Roman" pitchFamily="18" charset="0"/>
              </a:rPr>
              <a:t>Networks And Systems, </a:t>
            </a:r>
            <a:r>
              <a:rPr lang="en-IN" sz="2200" dirty="0" err="1">
                <a:latin typeface="Times New Roman" pitchFamily="18" charset="0"/>
                <a:cs typeface="Times New Roman" pitchFamily="18" charset="0"/>
              </a:rPr>
              <a:t>Ashfaq</a:t>
            </a:r>
            <a:r>
              <a:rPr lang="en-IN" sz="2200" dirty="0">
                <a:latin typeface="Times New Roman" pitchFamily="18" charset="0"/>
                <a:cs typeface="Times New Roman" pitchFamily="18" charset="0"/>
              </a:rPr>
              <a:t> Husain, </a:t>
            </a:r>
            <a:r>
              <a:rPr lang="en-IN" sz="2200" dirty="0" err="1">
                <a:latin typeface="Times New Roman" pitchFamily="18" charset="0"/>
                <a:cs typeface="Times New Roman" pitchFamily="18" charset="0"/>
              </a:rPr>
              <a:t>Khanna</a:t>
            </a:r>
            <a:r>
              <a:rPr lang="en-IN" sz="2200" dirty="0">
                <a:latin typeface="Times New Roman" pitchFamily="18" charset="0"/>
                <a:cs typeface="Times New Roman" pitchFamily="18" charset="0"/>
              </a:rPr>
              <a:t> Book Publishing Co (P) Ltd. Delhi.</a:t>
            </a:r>
          </a:p>
          <a:p>
            <a:r>
              <a:rPr lang="en-IN" sz="2200" dirty="0">
                <a:latin typeface="Times New Roman" pitchFamily="18" charset="0"/>
                <a:cs typeface="Times New Roman" pitchFamily="18" charset="0"/>
              </a:rPr>
              <a:t>Networks And Systems, A </a:t>
            </a:r>
            <a:r>
              <a:rPr lang="en-IN" sz="2200" dirty="0" err="1">
                <a:latin typeface="Times New Roman" pitchFamily="18" charset="0"/>
                <a:cs typeface="Times New Roman" pitchFamily="18" charset="0"/>
              </a:rPr>
              <a:t>Sudhakar</a:t>
            </a:r>
            <a:r>
              <a:rPr lang="en-IN" sz="2200" dirty="0">
                <a:latin typeface="Times New Roman" pitchFamily="18" charset="0"/>
                <a:cs typeface="Times New Roman" pitchFamily="18" charset="0"/>
              </a:rPr>
              <a:t>, </a:t>
            </a:r>
            <a:r>
              <a:rPr lang="en-IN" sz="2200" dirty="0" err="1">
                <a:latin typeface="Times New Roman" pitchFamily="18" charset="0"/>
                <a:cs typeface="Times New Roman" pitchFamily="18" charset="0"/>
              </a:rPr>
              <a:t>Shyammohan</a:t>
            </a:r>
            <a:r>
              <a:rPr lang="en-IN" sz="2200" dirty="0">
                <a:latin typeface="Times New Roman" pitchFamily="18" charset="0"/>
                <a:cs typeface="Times New Roman" pitchFamily="18" charset="0"/>
              </a:rPr>
              <a:t> S </a:t>
            </a:r>
            <a:r>
              <a:rPr lang="en-IN" sz="2200" dirty="0" err="1">
                <a:latin typeface="Times New Roman" pitchFamily="18" charset="0"/>
                <a:cs typeface="Times New Roman" pitchFamily="18" charset="0"/>
              </a:rPr>
              <a:t>Palli</a:t>
            </a:r>
            <a:r>
              <a:rPr lang="en-IN" sz="2200" dirty="0">
                <a:latin typeface="Times New Roman" pitchFamily="18" charset="0"/>
                <a:cs typeface="Times New Roman" pitchFamily="18" charset="0"/>
              </a:rPr>
              <a:t>, Tata McGraw Hill, New Delhi.</a:t>
            </a:r>
          </a:p>
          <a:p>
            <a:r>
              <a:rPr lang="en-IN" sz="2200" dirty="0">
                <a:latin typeface="Times New Roman" pitchFamily="18" charset="0"/>
                <a:cs typeface="Times New Roman" pitchFamily="18" charset="0"/>
              </a:rPr>
              <a:t>Network Analysis, M.E. Van </a:t>
            </a:r>
            <a:r>
              <a:rPr lang="en-IN" sz="2200" dirty="0" err="1">
                <a:latin typeface="Times New Roman" pitchFamily="18" charset="0"/>
                <a:cs typeface="Times New Roman" pitchFamily="18" charset="0"/>
              </a:rPr>
              <a:t>Valkenburg</a:t>
            </a:r>
            <a:r>
              <a:rPr lang="en-IN" sz="2200" dirty="0">
                <a:latin typeface="Times New Roman" pitchFamily="18" charset="0"/>
                <a:cs typeface="Times New Roman" pitchFamily="18" charset="0"/>
              </a:rPr>
              <a:t>, PHI Learning Private limited, New Delhi.</a:t>
            </a:r>
          </a:p>
          <a:p>
            <a:r>
              <a:rPr lang="en-IN" sz="2200" dirty="0">
                <a:latin typeface="Times New Roman" pitchFamily="18" charset="0"/>
                <a:cs typeface="Times New Roman" pitchFamily="18" charset="0"/>
              </a:rPr>
              <a:t>Circuit Analysis Principle and Applications, Allan H. Robbins &amp;Wilhelm C. Miller, DELMAR CENGAGE Learning, Indian Reprint.</a:t>
            </a:r>
          </a:p>
          <a:p>
            <a:pPr algn="ctr">
              <a:buNone/>
            </a:pPr>
            <a:endParaRPr lang="en-US" sz="2200" dirty="0">
              <a:solidFill>
                <a:srgbClr val="C00000"/>
              </a:solidFill>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C6B1DD9A-2870-457E-9BC4-B781EC95764D}" type="datetime2">
              <a:rPr lang="en-US" smtClean="0"/>
              <a:pPr/>
              <a:t>Monday, June 29, 2026</a:t>
            </a:fld>
            <a:endParaRPr lang="en-US"/>
          </a:p>
        </p:txBody>
      </p:sp>
      <p:sp>
        <p:nvSpPr>
          <p:cNvPr id="5" name="Footer Placeholder 4"/>
          <p:cNvSpPr>
            <a:spLocks noGrp="1"/>
          </p:cNvSpPr>
          <p:nvPr>
            <p:ph type="ftr" sz="quarter" idx="11"/>
          </p:nvPr>
        </p:nvSpPr>
        <p:spPr/>
        <p:txBody>
          <a:bodyPr/>
          <a:lstStyle/>
          <a:p>
            <a:r>
              <a:rPr lang="en-US"/>
              <a:t>syed hasan saeed</a:t>
            </a:r>
          </a:p>
        </p:txBody>
      </p:sp>
      <p:sp>
        <p:nvSpPr>
          <p:cNvPr id="6" name="Slide Number Placeholder 5"/>
          <p:cNvSpPr>
            <a:spLocks noGrp="1"/>
          </p:cNvSpPr>
          <p:nvPr>
            <p:ph type="sldNum" sz="quarter" idx="12"/>
          </p:nvPr>
        </p:nvSpPr>
        <p:spPr/>
        <p:txBody>
          <a:bodyPr/>
          <a:lstStyle/>
          <a:p>
            <a:fld id="{B68DB804-655C-4897-A9A8-35B75A326C3D}" type="slidenum">
              <a:rPr lang="en-US" smtClean="0"/>
              <a:pPr/>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003" y="71415"/>
            <a:ext cx="11591833" cy="714380"/>
          </a:xfrm>
        </p:spPr>
        <p:txBody>
          <a:bodyPr>
            <a:normAutofit/>
          </a:bodyPr>
          <a:lstStyle/>
          <a:p>
            <a:r>
              <a:rPr lang="en-IN" sz="2800" dirty="0">
                <a:solidFill>
                  <a:srgbClr val="00B050"/>
                </a:solidFill>
                <a:latin typeface="Times New Roman" pitchFamily="18" charset="0"/>
                <a:cs typeface="Times New Roman" pitchFamily="18" charset="0"/>
              </a:rPr>
              <a:t>LAPLACE TRANSFORM</a:t>
            </a:r>
            <a:endParaRPr lang="en-US" sz="2800" dirty="0">
              <a:solidFill>
                <a:srgbClr val="FF0000"/>
              </a:solidFill>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2186F227-248D-4963-99BB-700C4C3FB295}" type="datetime2">
              <a:rPr lang="en-US" smtClean="0"/>
              <a:pPr/>
              <a:t>Monday, June 29, 2026</a:t>
            </a:fld>
            <a:endParaRPr lang="en-US"/>
          </a:p>
        </p:txBody>
      </p:sp>
      <p:sp>
        <p:nvSpPr>
          <p:cNvPr id="5" name="Footer Placeholder 4"/>
          <p:cNvSpPr>
            <a:spLocks noGrp="1"/>
          </p:cNvSpPr>
          <p:nvPr>
            <p:ph type="ftr" sz="quarter" idx="11"/>
          </p:nvPr>
        </p:nvSpPr>
        <p:spPr/>
        <p:txBody>
          <a:bodyPr/>
          <a:lstStyle/>
          <a:p>
            <a:r>
              <a:rPr lang="en-US"/>
              <a:t>syed hasan saeed</a:t>
            </a:r>
          </a:p>
        </p:txBody>
      </p:sp>
      <p:sp>
        <p:nvSpPr>
          <p:cNvPr id="6" name="Slide Number Placeholder 5"/>
          <p:cNvSpPr>
            <a:spLocks noGrp="1"/>
          </p:cNvSpPr>
          <p:nvPr>
            <p:ph type="sldNum" sz="quarter" idx="12"/>
          </p:nvPr>
        </p:nvSpPr>
        <p:spPr/>
        <p:txBody>
          <a:bodyPr/>
          <a:lstStyle/>
          <a:p>
            <a:fld id="{435E54C7-FAA8-46C1-A880-53547F97989D}" type="slidenum">
              <a:rPr lang="en-US" smtClean="0"/>
              <a:pPr/>
              <a:t>4</a:t>
            </a:fld>
            <a:endParaRPr lang="en-US"/>
          </a:p>
        </p:txBody>
      </p:sp>
      <p:sp>
        <p:nvSpPr>
          <p:cNvPr id="7" name="Content Placeholder 6"/>
          <p:cNvSpPr>
            <a:spLocks noGrp="1"/>
          </p:cNvSpPr>
          <p:nvPr>
            <p:ph idx="1"/>
          </p:nvPr>
        </p:nvSpPr>
        <p:spPr>
          <a:xfrm>
            <a:off x="189988" y="714357"/>
            <a:ext cx="11781863" cy="5643603"/>
          </a:xfrm>
        </p:spPr>
        <p:txBody>
          <a:bodyPr>
            <a:normAutofit/>
          </a:bodyPr>
          <a:lstStyle/>
          <a:p>
            <a:pPr>
              <a:lnSpc>
                <a:spcPct val="150000"/>
              </a:lnSpc>
              <a:buNone/>
            </a:pPr>
            <a:r>
              <a:rPr lang="en-US" sz="2400" dirty="0">
                <a:solidFill>
                  <a:srgbClr val="FF0000"/>
                </a:solidFill>
                <a:latin typeface="Times New Roman" pitchFamily="18" charset="0"/>
                <a:cs typeface="Times New Roman" pitchFamily="18" charset="0"/>
              </a:rPr>
              <a:t>  DEFINITION: </a:t>
            </a:r>
            <a:r>
              <a:rPr lang="en-US" sz="2400" dirty="0">
                <a:latin typeface="Times New Roman" pitchFamily="18" charset="0"/>
                <a:cs typeface="Times New Roman" pitchFamily="18" charset="0"/>
              </a:rPr>
              <a:t>let f(t) be defined in the interval  0 ≤ t ≤ ∞ , one sided Laplace transform  of f (t) is obtained by multiplying f (t) by e</a:t>
            </a:r>
            <a:r>
              <a:rPr lang="en-US" sz="2400" baseline="30000" dirty="0">
                <a:latin typeface="Times New Roman" pitchFamily="18" charset="0"/>
                <a:cs typeface="Times New Roman" pitchFamily="18" charset="0"/>
              </a:rPr>
              <a:t>-</a:t>
            </a:r>
            <a:r>
              <a:rPr lang="en-US" sz="2400" baseline="30000" dirty="0" err="1">
                <a:latin typeface="Times New Roman" pitchFamily="18" charset="0"/>
                <a:cs typeface="Times New Roman" pitchFamily="18" charset="0"/>
              </a:rPr>
              <a:t>st</a:t>
            </a:r>
            <a:r>
              <a:rPr lang="en-US" sz="2400" dirty="0">
                <a:latin typeface="Times New Roman" pitchFamily="18" charset="0"/>
                <a:cs typeface="Times New Roman" pitchFamily="18" charset="0"/>
              </a:rPr>
              <a:t>  and integrating the product between the limit 0 to ∞ .           </a:t>
            </a:r>
            <a:r>
              <a:rPr lang="en-US" sz="2400" dirty="0">
                <a:solidFill>
                  <a:srgbClr val="7030A0"/>
                </a:solidFill>
                <a:latin typeface="Times New Roman" pitchFamily="18" charset="0"/>
                <a:cs typeface="Times New Roman" pitchFamily="18" charset="0"/>
              </a:rPr>
              <a:t>     </a:t>
            </a:r>
            <a:r>
              <a:rPr lang="en-US" sz="2400" dirty="0">
                <a:latin typeface="Times New Roman" pitchFamily="18" charset="0"/>
                <a:cs typeface="Times New Roman" pitchFamily="18" charset="0"/>
              </a:rPr>
              <a:t>                </a:t>
            </a:r>
          </a:p>
          <a:p>
            <a:pPr>
              <a:lnSpc>
                <a:spcPct val="150000"/>
              </a:lnSpc>
              <a:buNone/>
            </a:pPr>
            <a:r>
              <a:rPr lang="en-US" sz="2400" dirty="0">
                <a:latin typeface="Times New Roman" pitchFamily="18" charset="0"/>
                <a:cs typeface="Times New Roman" pitchFamily="18" charset="0"/>
              </a:rPr>
              <a:t>                                  </a:t>
            </a:r>
          </a:p>
          <a:p>
            <a:pPr>
              <a:lnSpc>
                <a:spcPct val="150000"/>
              </a:lnSpc>
              <a:buFont typeface="Wingdings" pitchFamily="2" charset="2"/>
              <a:buChar char="§"/>
            </a:pPr>
            <a:r>
              <a:rPr lang="en-US" sz="2400" dirty="0">
                <a:latin typeface="Times New Roman" pitchFamily="18" charset="0"/>
                <a:cs typeface="Times New Roman" pitchFamily="18" charset="0"/>
              </a:rPr>
              <a:t>f (t) is a continuous function for t ≥ 0. Laplace transform is a function of independent variable ‘s’ corresponding to complex variable in the exponent of e</a:t>
            </a:r>
            <a:r>
              <a:rPr lang="en-US" sz="2400" baseline="30000" dirty="0">
                <a:latin typeface="Times New Roman" pitchFamily="18" charset="0"/>
                <a:cs typeface="Times New Roman" pitchFamily="18" charset="0"/>
              </a:rPr>
              <a:t>-</a:t>
            </a:r>
            <a:r>
              <a:rPr lang="en-US" sz="2400" baseline="30000" dirty="0" err="1">
                <a:latin typeface="Times New Roman" pitchFamily="18" charset="0"/>
                <a:cs typeface="Times New Roman" pitchFamily="18" charset="0"/>
              </a:rPr>
              <a:t>st</a:t>
            </a:r>
            <a:r>
              <a:rPr lang="en-US" sz="2400" baseline="30000" dirty="0">
                <a:latin typeface="Times New Roman" pitchFamily="18" charset="0"/>
                <a:cs typeface="Times New Roman" pitchFamily="18" charset="0"/>
              </a:rPr>
              <a:t> </a:t>
            </a:r>
            <a:r>
              <a:rPr lang="en-US" sz="2400" dirty="0">
                <a:latin typeface="Times New Roman" pitchFamily="18" charset="0"/>
                <a:cs typeface="Times New Roman" pitchFamily="18" charset="0"/>
              </a:rPr>
              <a:t> </a:t>
            </a:r>
          </a:p>
          <a:p>
            <a:pPr>
              <a:lnSpc>
                <a:spcPct val="150000"/>
              </a:lnSpc>
              <a:buFont typeface="Wingdings" pitchFamily="2" charset="2"/>
              <a:buChar char="§"/>
            </a:pPr>
            <a:r>
              <a:rPr lang="en-US" sz="2400" dirty="0">
                <a:latin typeface="Times New Roman" pitchFamily="18" charset="0"/>
                <a:cs typeface="Times New Roman" pitchFamily="18" charset="0"/>
              </a:rPr>
              <a:t>The complex variable ‘s’ is , in general, of the form form , </a:t>
            </a:r>
          </a:p>
          <a:p>
            <a:pPr>
              <a:lnSpc>
                <a:spcPct val="150000"/>
              </a:lnSpc>
              <a:buNone/>
            </a:pPr>
            <a:r>
              <a:rPr lang="en-US" sz="2400" dirty="0">
                <a:latin typeface="Times New Roman" pitchFamily="18" charset="0"/>
                <a:cs typeface="Times New Roman" pitchFamily="18" charset="0"/>
              </a:rPr>
              <a:t>      s = </a:t>
            </a:r>
            <a:r>
              <a:rPr lang="el-GR" sz="2400" dirty="0">
                <a:latin typeface="Times New Roman" pitchFamily="18" charset="0"/>
                <a:cs typeface="Times New Roman" pitchFamily="18" charset="0"/>
              </a:rPr>
              <a:t>σ</a:t>
            </a:r>
            <a:r>
              <a:rPr lang="en-IN" sz="2400" dirty="0">
                <a:latin typeface="Times New Roman" pitchFamily="18" charset="0"/>
                <a:cs typeface="Times New Roman" pitchFamily="18" charset="0"/>
              </a:rPr>
              <a:t> + j</a:t>
            </a:r>
            <a:r>
              <a:rPr lang="en-IN" sz="2400" dirty="0">
                <a:latin typeface="Times New Roman"/>
                <a:cs typeface="Times New Roman"/>
              </a:rPr>
              <a:t>Ꞷ, Where </a:t>
            </a:r>
            <a:r>
              <a:rPr lang="el-GR" sz="2400" dirty="0">
                <a:latin typeface="Times New Roman"/>
                <a:cs typeface="Times New Roman"/>
              </a:rPr>
              <a:t>σ</a:t>
            </a:r>
            <a:r>
              <a:rPr lang="en-IN" sz="2400" dirty="0">
                <a:latin typeface="Times New Roman"/>
                <a:cs typeface="Times New Roman"/>
              </a:rPr>
              <a:t> is the real part and Ꞷ is the imaginary axis.  </a:t>
            </a:r>
            <a:r>
              <a:rPr lang="en-US" sz="2400" dirty="0">
                <a:latin typeface="Times New Roman" pitchFamily="18" charset="0"/>
                <a:cs typeface="Times New Roman" pitchFamily="18" charset="0"/>
              </a:rPr>
              <a:t>  </a:t>
            </a:r>
          </a:p>
          <a:p>
            <a:pPr>
              <a:lnSpc>
                <a:spcPct val="150000"/>
              </a:lnSpc>
              <a:buNone/>
            </a:pPr>
            <a:endParaRPr lang="en-IN" sz="2400" dirty="0">
              <a:latin typeface="Times New Roman"/>
              <a:cs typeface="Times New Roman"/>
            </a:endParaRPr>
          </a:p>
        </p:txBody>
      </p:sp>
      <p:graphicFrame>
        <p:nvGraphicFramePr>
          <p:cNvPr id="8" name="Object 7"/>
          <p:cNvGraphicFramePr>
            <a:graphicFrameLocks noChangeAspect="1"/>
          </p:cNvGraphicFramePr>
          <p:nvPr/>
        </p:nvGraphicFramePr>
        <p:xfrm>
          <a:off x="6004908" y="3321051"/>
          <a:ext cx="152023" cy="215900"/>
        </p:xfrm>
        <a:graphic>
          <a:graphicData uri="http://schemas.openxmlformats.org/presentationml/2006/ole">
            <mc:AlternateContent xmlns:mc="http://schemas.openxmlformats.org/markup-compatibility/2006">
              <mc:Choice xmlns:v="urn:schemas-microsoft-com:vml" Requires="v">
                <p:oleObj name="Equation" r:id="rId2" imgW="114120" imgH="215640" progId="Equation.3">
                  <p:embed/>
                </p:oleObj>
              </mc:Choice>
              <mc:Fallback>
                <p:oleObj name="Equation" r:id="rId2" imgW="114120" imgH="215640" progId="Equation.3">
                  <p:embed/>
                  <p:pic>
                    <p:nvPicPr>
                      <p:cNvPr id="0"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04908" y="3321051"/>
                        <a:ext cx="152023"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Object 8"/>
          <p:cNvGraphicFramePr>
            <a:graphicFrameLocks noChangeAspect="1"/>
          </p:cNvGraphicFramePr>
          <p:nvPr/>
        </p:nvGraphicFramePr>
        <p:xfrm>
          <a:off x="6004908" y="3321051"/>
          <a:ext cx="152023" cy="215900"/>
        </p:xfrm>
        <a:graphic>
          <a:graphicData uri="http://schemas.openxmlformats.org/presentationml/2006/ole">
            <mc:AlternateContent xmlns:mc="http://schemas.openxmlformats.org/markup-compatibility/2006">
              <mc:Choice xmlns:v="urn:schemas-microsoft-com:vml" Requires="v">
                <p:oleObj name="Equation" r:id="rId4" imgW="114120" imgH="215640" progId="Equation.3">
                  <p:embed/>
                </p:oleObj>
              </mc:Choice>
              <mc:Fallback>
                <p:oleObj name="Equation" r:id="rId4" imgW="114120" imgH="215640" progId="Equation.3">
                  <p:embed/>
                  <p:pic>
                    <p:nvPicPr>
                      <p:cNvPr id="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04908" y="3321051"/>
                        <a:ext cx="152023"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3" name="Group 12"/>
          <p:cNvGrpSpPr/>
          <p:nvPr/>
        </p:nvGrpSpPr>
        <p:grpSpPr>
          <a:xfrm>
            <a:off x="3452115" y="1932759"/>
            <a:ext cx="3874986" cy="1128939"/>
            <a:chOff x="3452115" y="1932759"/>
            <a:chExt cx="3874986" cy="1128939"/>
          </a:xfrm>
        </p:grpSpPr>
        <p:graphicFrame>
          <p:nvGraphicFramePr>
            <p:cNvPr id="10" name="Object 9"/>
            <p:cNvGraphicFramePr>
              <a:graphicFrameLocks noChangeAspect="1"/>
            </p:cNvGraphicFramePr>
            <p:nvPr/>
          </p:nvGraphicFramePr>
          <p:xfrm>
            <a:off x="3948667" y="1932759"/>
            <a:ext cx="3378434" cy="1128939"/>
          </p:xfrm>
          <a:graphic>
            <a:graphicData uri="http://schemas.openxmlformats.org/presentationml/2006/ole">
              <mc:AlternateContent xmlns:mc="http://schemas.openxmlformats.org/markup-compatibility/2006">
                <mc:Choice xmlns:v="urn:schemas-microsoft-com:vml" Requires="v">
                  <p:oleObj name="Equation" r:id="rId6" imgW="1143000" imgH="507960" progId="Equation.3">
                    <p:embed/>
                  </p:oleObj>
                </mc:Choice>
                <mc:Fallback>
                  <p:oleObj name="Equation" r:id="rId6" imgW="1143000" imgH="507960" progId="Equation.3">
                    <p:embed/>
                    <p:pic>
                      <p:nvPicPr>
                        <p:cNvPr id="0"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48667" y="1932759"/>
                          <a:ext cx="3378434" cy="112893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TextBox 11"/>
            <p:cNvSpPr txBox="1"/>
            <p:nvPr/>
          </p:nvSpPr>
          <p:spPr>
            <a:xfrm>
              <a:off x="3452115" y="2239766"/>
              <a:ext cx="626724" cy="523220"/>
            </a:xfrm>
            <a:prstGeom prst="rect">
              <a:avLst/>
            </a:prstGeom>
            <a:noFill/>
          </p:spPr>
          <p:txBody>
            <a:bodyPr wrap="square" rtlCol="0">
              <a:spAutoFit/>
            </a:bodyPr>
            <a:lstStyle/>
            <a:p>
              <a:r>
                <a:rPr lang="en-US" sz="2800" dirty="0">
                  <a:latin typeface="Times New Roman" pitchFamily="18" charset="0"/>
                  <a:cs typeface="Times New Roman" pitchFamily="18" charset="0"/>
                </a:rPr>
                <a:t>ℒ</a:t>
              </a:r>
              <a:endParaRPr lang="en-US" sz="2800" dirty="0"/>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003" y="71415"/>
            <a:ext cx="11591833" cy="714380"/>
          </a:xfrm>
        </p:spPr>
        <p:txBody>
          <a:bodyPr>
            <a:normAutofit/>
          </a:bodyPr>
          <a:lstStyle/>
          <a:p>
            <a:r>
              <a:rPr lang="en-IN" sz="2800" dirty="0">
                <a:solidFill>
                  <a:srgbClr val="00B050"/>
                </a:solidFill>
                <a:latin typeface="Times New Roman" pitchFamily="18" charset="0"/>
                <a:cs typeface="Times New Roman" pitchFamily="18" charset="0"/>
              </a:rPr>
              <a:t>LAPLACE TRANSFORM</a:t>
            </a:r>
            <a:endParaRPr lang="en-US" sz="2800" dirty="0">
              <a:solidFill>
                <a:srgbClr val="FF0000"/>
              </a:solidFill>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2186F227-248D-4963-99BB-700C4C3FB295}" type="datetime2">
              <a:rPr lang="en-US" smtClean="0"/>
              <a:pPr/>
              <a:t>Monday, June 29, 2026</a:t>
            </a:fld>
            <a:endParaRPr lang="en-US"/>
          </a:p>
        </p:txBody>
      </p:sp>
      <p:sp>
        <p:nvSpPr>
          <p:cNvPr id="5" name="Footer Placeholder 4"/>
          <p:cNvSpPr>
            <a:spLocks noGrp="1"/>
          </p:cNvSpPr>
          <p:nvPr>
            <p:ph type="ftr" sz="quarter" idx="11"/>
          </p:nvPr>
        </p:nvSpPr>
        <p:spPr/>
        <p:txBody>
          <a:bodyPr/>
          <a:lstStyle/>
          <a:p>
            <a:r>
              <a:rPr lang="en-US"/>
              <a:t>syed hasan saeed</a:t>
            </a:r>
          </a:p>
        </p:txBody>
      </p:sp>
      <p:sp>
        <p:nvSpPr>
          <p:cNvPr id="6" name="Slide Number Placeholder 5"/>
          <p:cNvSpPr>
            <a:spLocks noGrp="1"/>
          </p:cNvSpPr>
          <p:nvPr>
            <p:ph type="sldNum" sz="quarter" idx="12"/>
          </p:nvPr>
        </p:nvSpPr>
        <p:spPr/>
        <p:txBody>
          <a:bodyPr/>
          <a:lstStyle/>
          <a:p>
            <a:fld id="{435E54C7-FAA8-46C1-A880-53547F97989D}" type="slidenum">
              <a:rPr lang="en-US" smtClean="0"/>
              <a:pPr/>
              <a:t>5</a:t>
            </a:fld>
            <a:endParaRPr lang="en-US"/>
          </a:p>
        </p:txBody>
      </p:sp>
      <p:sp>
        <p:nvSpPr>
          <p:cNvPr id="7" name="Content Placeholder 6"/>
          <p:cNvSpPr>
            <a:spLocks noGrp="1"/>
          </p:cNvSpPr>
          <p:nvPr>
            <p:ph idx="1"/>
          </p:nvPr>
        </p:nvSpPr>
        <p:spPr>
          <a:xfrm>
            <a:off x="189988" y="714357"/>
            <a:ext cx="11781863" cy="5643603"/>
          </a:xfrm>
        </p:spPr>
        <p:txBody>
          <a:bodyPr>
            <a:normAutofit/>
          </a:bodyPr>
          <a:lstStyle/>
          <a:p>
            <a:pPr>
              <a:buNone/>
            </a:pPr>
            <a:r>
              <a:rPr lang="en-US" sz="2200" dirty="0">
                <a:latin typeface="Times New Roman" pitchFamily="18" charset="0"/>
                <a:cs typeface="Times New Roman" pitchFamily="18" charset="0"/>
              </a:rPr>
              <a:t>  Laplace transform changes the domain f (t) to the frequency function F (s).</a:t>
            </a:r>
          </a:p>
          <a:p>
            <a:pPr>
              <a:buNone/>
            </a:pPr>
            <a:r>
              <a:rPr lang="en-IN" sz="2200" dirty="0">
                <a:latin typeface="Times New Roman" pitchFamily="18" charset="0"/>
                <a:cs typeface="Times New Roman" pitchFamily="18" charset="0"/>
              </a:rPr>
              <a:t>Similarly, inverse Laplace transformation converts frequency domain function F (s) to the domain function f (t) .</a:t>
            </a:r>
          </a:p>
          <a:p>
            <a:pPr>
              <a:lnSpc>
                <a:spcPct val="150000"/>
              </a:lnSpc>
              <a:buNone/>
            </a:pPr>
            <a:r>
              <a:rPr lang="en-IN" sz="2200" dirty="0">
                <a:latin typeface="Times New Roman" pitchFamily="18" charset="0"/>
                <a:cs typeface="Times New Roman" pitchFamily="18" charset="0"/>
              </a:rPr>
              <a:t>   </a:t>
            </a:r>
          </a:p>
          <a:p>
            <a:pPr>
              <a:lnSpc>
                <a:spcPct val="150000"/>
              </a:lnSpc>
              <a:buNone/>
            </a:pPr>
            <a:endParaRPr lang="en-US" sz="2000" dirty="0">
              <a:solidFill>
                <a:srgbClr val="7030A0"/>
              </a:solidFill>
              <a:latin typeface="Times New Roman" pitchFamily="18" charset="0"/>
              <a:cs typeface="Times New Roman" pitchFamily="18" charset="0"/>
            </a:endParaRPr>
          </a:p>
          <a:p>
            <a:pPr>
              <a:lnSpc>
                <a:spcPct val="150000"/>
              </a:lnSpc>
              <a:buNone/>
            </a:pPr>
            <a:r>
              <a:rPr lang="en-US" sz="2400" dirty="0">
                <a:latin typeface="Times New Roman" pitchFamily="18" charset="0"/>
                <a:cs typeface="Times New Roman" pitchFamily="18" charset="0"/>
              </a:rPr>
              <a:t>  </a:t>
            </a:r>
          </a:p>
        </p:txBody>
      </p:sp>
      <p:graphicFrame>
        <p:nvGraphicFramePr>
          <p:cNvPr id="8" name="Object 7"/>
          <p:cNvGraphicFramePr>
            <a:graphicFrameLocks noChangeAspect="1"/>
          </p:cNvGraphicFramePr>
          <p:nvPr/>
        </p:nvGraphicFramePr>
        <p:xfrm>
          <a:off x="6004908" y="3321051"/>
          <a:ext cx="152023" cy="215900"/>
        </p:xfrm>
        <a:graphic>
          <a:graphicData uri="http://schemas.openxmlformats.org/presentationml/2006/ole">
            <mc:AlternateContent xmlns:mc="http://schemas.openxmlformats.org/markup-compatibility/2006">
              <mc:Choice xmlns:v="urn:schemas-microsoft-com:vml" Requires="v">
                <p:oleObj name="Equation" r:id="rId2" imgW="114120" imgH="215640" progId="Equation.3">
                  <p:embed/>
                </p:oleObj>
              </mc:Choice>
              <mc:Fallback>
                <p:oleObj name="Equation" r:id="rId2" imgW="114120" imgH="215640" progId="Equation.3">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04908" y="3321051"/>
                        <a:ext cx="152023"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 name="Object 9"/>
          <p:cNvGraphicFramePr>
            <a:graphicFrameLocks noChangeAspect="1"/>
          </p:cNvGraphicFramePr>
          <p:nvPr/>
        </p:nvGraphicFramePr>
        <p:xfrm>
          <a:off x="6004908" y="3321051"/>
          <a:ext cx="152023" cy="215900"/>
        </p:xfrm>
        <a:graphic>
          <a:graphicData uri="http://schemas.openxmlformats.org/presentationml/2006/ole">
            <mc:AlternateContent xmlns:mc="http://schemas.openxmlformats.org/markup-compatibility/2006">
              <mc:Choice xmlns:v="urn:schemas-microsoft-com:vml" Requires="v">
                <p:oleObj name="Equation" r:id="rId4" imgW="114120" imgH="215640" progId="Equation.3">
                  <p:embed/>
                </p:oleObj>
              </mc:Choice>
              <mc:Fallback>
                <p:oleObj name="Equation" r:id="rId4" imgW="114120" imgH="215640" progId="Equation.3">
                  <p:embed/>
                  <p:pic>
                    <p:nvPicPr>
                      <p:cNvPr id="0"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04908" y="3321051"/>
                        <a:ext cx="152023"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4" name="Group 13"/>
          <p:cNvGrpSpPr/>
          <p:nvPr/>
        </p:nvGrpSpPr>
        <p:grpSpPr>
          <a:xfrm>
            <a:off x="3111448" y="1599082"/>
            <a:ext cx="5482559" cy="1133388"/>
            <a:chOff x="801385" y="1781954"/>
            <a:chExt cx="5482559" cy="1133388"/>
          </a:xfrm>
        </p:grpSpPr>
        <p:graphicFrame>
          <p:nvGraphicFramePr>
            <p:cNvPr id="9" name="Object 8"/>
            <p:cNvGraphicFramePr>
              <a:graphicFrameLocks noChangeAspect="1"/>
            </p:cNvGraphicFramePr>
            <p:nvPr/>
          </p:nvGraphicFramePr>
          <p:xfrm>
            <a:off x="3637938" y="1781954"/>
            <a:ext cx="2646006" cy="1133388"/>
          </p:xfrm>
          <a:graphic>
            <a:graphicData uri="http://schemas.openxmlformats.org/presentationml/2006/ole">
              <mc:AlternateContent xmlns:mc="http://schemas.openxmlformats.org/markup-compatibility/2006">
                <mc:Choice xmlns:v="urn:schemas-microsoft-com:vml" Requires="v">
                  <p:oleObj name="Equation" r:id="rId6" imgW="1180800" imgH="672840" progId="Equation.3">
                    <p:embed/>
                  </p:oleObj>
                </mc:Choice>
                <mc:Fallback>
                  <p:oleObj name="Equation" r:id="rId6" imgW="1180800" imgH="672840" progId="Equation.3">
                    <p:embed/>
                    <p:pic>
                      <p:nvPicPr>
                        <p:cNvPr id="0"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37938" y="1781954"/>
                          <a:ext cx="2646006" cy="11333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TextBox 12"/>
            <p:cNvSpPr txBox="1"/>
            <p:nvPr/>
          </p:nvSpPr>
          <p:spPr>
            <a:xfrm>
              <a:off x="801385" y="2095928"/>
              <a:ext cx="3071972" cy="492443"/>
            </a:xfrm>
            <a:prstGeom prst="rect">
              <a:avLst/>
            </a:prstGeom>
            <a:noFill/>
          </p:spPr>
          <p:txBody>
            <a:bodyPr wrap="square" rtlCol="0">
              <a:spAutoFit/>
            </a:bodyPr>
            <a:lstStyle/>
            <a:p>
              <a:r>
                <a:rPr lang="en-IN" sz="2600" dirty="0">
                  <a:latin typeface="Times New Roman" pitchFamily="18" charset="0"/>
                  <a:cs typeface="Times New Roman" pitchFamily="18" charset="0"/>
                </a:rPr>
                <a:t> ℒ </a:t>
              </a:r>
              <a:r>
                <a:rPr lang="en-IN" sz="2600" baseline="30000" dirty="0">
                  <a:latin typeface="Times New Roman" pitchFamily="18" charset="0"/>
                  <a:cs typeface="Times New Roman" pitchFamily="18" charset="0"/>
                </a:rPr>
                <a:t>-1</a:t>
              </a:r>
              <a:r>
                <a:rPr lang="en-IN" sz="2600" dirty="0">
                  <a:latin typeface="Times New Roman" pitchFamily="18" charset="0"/>
                  <a:cs typeface="Times New Roman" pitchFamily="18" charset="0"/>
                </a:rPr>
                <a:t> [ F (s)] = f (t) = </a:t>
              </a:r>
              <a:endParaRPr lang="en-US" sz="2600" dirty="0"/>
            </a:p>
          </p:txBody>
        </p:sp>
      </p:gr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822359CF-A91F-B760-F557-D58B68E67FDC}"/>
                  </a:ext>
                </a:extLst>
              </p:cNvPr>
              <p:cNvSpPr txBox="1"/>
              <p:nvPr/>
            </p:nvSpPr>
            <p:spPr>
              <a:xfrm>
                <a:off x="285004" y="2912165"/>
                <a:ext cx="11453110" cy="3020763"/>
              </a:xfrm>
              <a:prstGeom prst="rect">
                <a:avLst/>
              </a:prstGeom>
              <a:noFill/>
            </p:spPr>
            <p:txBody>
              <a:bodyPr wrap="square" rtlCol="0">
                <a:spAutoFit/>
              </a:bodyPr>
              <a:lstStyle/>
              <a:p>
                <a:pPr>
                  <a:lnSpc>
                    <a:spcPct val="150000"/>
                  </a:lnSpc>
                </a:pPr>
                <a:r>
                  <a:rPr lang="en-US" sz="2200" b="1" dirty="0">
                    <a:solidFill>
                      <a:srgbClr val="0000FF"/>
                    </a:solidFill>
                    <a:latin typeface="Times New Roman" panose="02020603050405020304" pitchFamily="18" charset="0"/>
                    <a:cs typeface="Times New Roman" panose="02020603050405020304" pitchFamily="18" charset="0"/>
                  </a:rPr>
                  <a:t>EXAMPLE: </a:t>
                </a:r>
                <a:r>
                  <a:rPr lang="en-US" sz="2200" dirty="0">
                    <a:latin typeface="Times New Roman" panose="02020603050405020304" pitchFamily="18" charset="0"/>
                    <a:cs typeface="Times New Roman" panose="02020603050405020304" pitchFamily="18" charset="0"/>
                  </a:rPr>
                  <a:t>Calculate the Laplace transform of</a:t>
                </a:r>
              </a:p>
              <a:p>
                <a:pPr>
                  <a:lnSpc>
                    <a:spcPct val="150000"/>
                  </a:lnSpc>
                </a:pPr>
                <a:r>
                  <a:rPr lang="en-US" sz="2200" dirty="0">
                    <a:latin typeface="Times New Roman" panose="02020603050405020304" pitchFamily="18" charset="0"/>
                    <a:cs typeface="Times New Roman" panose="02020603050405020304" pitchFamily="18" charset="0"/>
                  </a:rPr>
                  <a:t>f(t) = K for  t  ≥ 0</a:t>
                </a:r>
              </a:p>
              <a:p>
                <a:pPr>
                  <a:lnSpc>
                    <a:spcPct val="150000"/>
                  </a:lnSpc>
                </a:pPr>
                <a:r>
                  <a:rPr lang="en-US" sz="2200" dirty="0">
                    <a:latin typeface="Times New Roman" panose="02020603050405020304" pitchFamily="18" charset="0"/>
                    <a:cs typeface="Times New Roman" panose="02020603050405020304" pitchFamily="18" charset="0"/>
                  </a:rPr>
                  <a:t>       = 0 for  t &lt; 0       where K is constant</a:t>
                </a:r>
              </a:p>
              <a:p>
                <a:pPr>
                  <a:lnSpc>
                    <a:spcPct val="150000"/>
                  </a:lnSpc>
                </a:pPr>
                <a:r>
                  <a:rPr lang="en-US" sz="2200" dirty="0">
                    <a:latin typeface="Times New Roman" panose="02020603050405020304" pitchFamily="18" charset="0"/>
                    <a:cs typeface="Times New Roman" panose="02020603050405020304" pitchFamily="18" charset="0"/>
                  </a:rPr>
                  <a:t>SOLUTION: As the function f(t) is zero for t &lt; 0, the Laplace transform can be obtained as</a:t>
                </a:r>
              </a:p>
              <a:p>
                <a:pPr>
                  <a:lnSpc>
                    <a:spcPct val="150000"/>
                  </a:lnSpc>
                </a:pPr>
                <a:r>
                  <a:rPr lang="en-US" sz="2200" dirty="0">
                    <a:latin typeface="Times New Roman" panose="02020603050405020304" pitchFamily="18" charset="0"/>
                    <a:cs typeface="Times New Roman" panose="02020603050405020304" pitchFamily="18" charset="0"/>
                  </a:rPr>
                  <a:t>F(s) = </a:t>
                </a:r>
                <a14:m>
                  <m:oMath xmlns:m="http://schemas.openxmlformats.org/officeDocument/2006/math">
                    <m:nary>
                      <m:naryPr>
                        <m:limLoc m:val="undOvr"/>
                        <m:ctrlPr>
                          <a:rPr lang="en-IN" sz="2200" i="1" smtClean="0">
                            <a:latin typeface="Cambria Math" panose="02040503050406030204" pitchFamily="18" charset="0"/>
                            <a:cs typeface="Times New Roman" panose="02020603050405020304" pitchFamily="18" charset="0"/>
                          </a:rPr>
                        </m:ctrlPr>
                      </m:naryPr>
                      <m:sub>
                        <m:r>
                          <m:rPr>
                            <m:brk m:alnAt="24"/>
                          </m:rPr>
                          <a:rPr lang="en-US" sz="2200" b="0" i="1" smtClean="0">
                            <a:latin typeface="Cambria Math" panose="02040503050406030204" pitchFamily="18" charset="0"/>
                            <a:cs typeface="Times New Roman" panose="02020603050405020304" pitchFamily="18" charset="0"/>
                          </a:rPr>
                          <m:t>0</m:t>
                        </m:r>
                      </m:sub>
                      <m:sup>
                        <m:r>
                          <a:rPr lang="en-IN" sz="2200" i="1" smtClean="0">
                            <a:latin typeface="Cambria Math" panose="02040503050406030204" pitchFamily="18" charset="0"/>
                            <a:cs typeface="Times New Roman" panose="02020603050405020304" pitchFamily="18" charset="0"/>
                          </a:rPr>
                          <m:t>ꝏ</m:t>
                        </m:r>
                      </m:sup>
                      <m:e>
                        <m:sSup>
                          <m:sSupPr>
                            <m:ctrlPr>
                              <a:rPr lang="en-IN" sz="2200" i="1" smtClean="0">
                                <a:latin typeface="Cambria Math" panose="02040503050406030204" pitchFamily="18" charset="0"/>
                                <a:cs typeface="Times New Roman" panose="02020603050405020304" pitchFamily="18" charset="0"/>
                              </a:rPr>
                            </m:ctrlPr>
                          </m:sSupPr>
                          <m:e>
                            <m:r>
                              <m:rPr>
                                <m:sty m:val="p"/>
                              </m:rPr>
                              <a:rPr lang="en-US" sz="2200" b="0" i="1" smtClean="0">
                                <a:latin typeface="Cambria Math" panose="02040503050406030204" pitchFamily="18" charset="0"/>
                                <a:cs typeface="Times New Roman" panose="02020603050405020304" pitchFamily="18" charset="0"/>
                              </a:rPr>
                              <m:t>f</m:t>
                            </m:r>
                            <m:r>
                              <a:rPr lang="en-US" sz="2200" b="0" i="1" smtClean="0">
                                <a:latin typeface="Cambria Math" panose="02040503050406030204" pitchFamily="18" charset="0"/>
                                <a:cs typeface="Times New Roman" panose="02020603050405020304" pitchFamily="18" charset="0"/>
                              </a:rPr>
                              <m:t>(</m:t>
                            </m:r>
                            <m:r>
                              <m:rPr>
                                <m:sty m:val="p"/>
                              </m:rPr>
                              <a:rPr lang="en-US" sz="2200" b="0" i="1" smtClean="0">
                                <a:latin typeface="Cambria Math" panose="02040503050406030204" pitchFamily="18" charset="0"/>
                                <a:cs typeface="Times New Roman" panose="02020603050405020304" pitchFamily="18" charset="0"/>
                              </a:rPr>
                              <m:t>t</m:t>
                            </m:r>
                            <m:r>
                              <a:rPr lang="en-US" sz="2200" b="0" i="1" smtClean="0">
                                <a:latin typeface="Cambria Math" panose="02040503050406030204" pitchFamily="18" charset="0"/>
                                <a:cs typeface="Times New Roman" panose="02020603050405020304" pitchFamily="18" charset="0"/>
                              </a:rPr>
                              <m:t>) </m:t>
                            </m:r>
                            <m:r>
                              <m:rPr>
                                <m:sty m:val="p"/>
                              </m:rPr>
                              <a:rPr lang="en-US" sz="2200" b="0" i="1" smtClean="0">
                                <a:latin typeface="Cambria Math" panose="02040503050406030204" pitchFamily="18" charset="0"/>
                                <a:cs typeface="Times New Roman" panose="02020603050405020304" pitchFamily="18" charset="0"/>
                              </a:rPr>
                              <m:t>e</m:t>
                            </m:r>
                          </m:e>
                          <m:sup>
                            <m:r>
                              <a:rPr lang="en-US" sz="2200" b="0" i="1" smtClean="0">
                                <a:latin typeface="Cambria Math" panose="02040503050406030204" pitchFamily="18" charset="0"/>
                                <a:cs typeface="Times New Roman" panose="02020603050405020304" pitchFamily="18" charset="0"/>
                              </a:rPr>
                              <m:t>−</m:t>
                            </m:r>
                            <m:r>
                              <m:rPr>
                                <m:sty m:val="p"/>
                              </m:rPr>
                              <a:rPr lang="en-US" sz="2200" b="0" i="1" smtClean="0">
                                <a:latin typeface="Cambria Math" panose="02040503050406030204" pitchFamily="18" charset="0"/>
                                <a:cs typeface="Times New Roman" panose="02020603050405020304" pitchFamily="18" charset="0"/>
                              </a:rPr>
                              <m:t>st</m:t>
                            </m:r>
                          </m:sup>
                        </m:sSup>
                      </m:e>
                    </m:nary>
                  </m:oMath>
                </a14:m>
                <a:r>
                  <a:rPr lang="en-IN" sz="2200" dirty="0">
                    <a:latin typeface="Times New Roman" panose="02020603050405020304" pitchFamily="18" charset="0"/>
                    <a:cs typeface="Times New Roman" panose="02020603050405020304" pitchFamily="18" charset="0"/>
                  </a:rPr>
                  <a:t> dt = </a:t>
                </a:r>
                <a14:m>
                  <m:oMath xmlns:m="http://schemas.openxmlformats.org/officeDocument/2006/math">
                    <m:nary>
                      <m:naryPr>
                        <m:limLoc m:val="undOvr"/>
                        <m:ctrlPr>
                          <a:rPr lang="en-IN" sz="2200" i="1" smtClean="0">
                            <a:latin typeface="Cambria Math" panose="02040503050406030204" pitchFamily="18" charset="0"/>
                            <a:cs typeface="Times New Roman" panose="02020603050405020304" pitchFamily="18" charset="0"/>
                          </a:rPr>
                        </m:ctrlPr>
                      </m:naryPr>
                      <m:sub>
                        <m:r>
                          <m:rPr>
                            <m:brk m:alnAt="24"/>
                          </m:rPr>
                          <a:rPr lang="en-US" sz="2200" b="0" i="1" smtClean="0">
                            <a:latin typeface="Cambria Math" panose="02040503050406030204" pitchFamily="18" charset="0"/>
                            <a:cs typeface="Times New Roman" panose="02020603050405020304" pitchFamily="18" charset="0"/>
                          </a:rPr>
                          <m:t>0</m:t>
                        </m:r>
                      </m:sub>
                      <m:sup>
                        <m:r>
                          <a:rPr lang="en-IN" sz="2200" i="1" smtClean="0">
                            <a:latin typeface="Cambria Math" panose="02040503050406030204" pitchFamily="18" charset="0"/>
                            <a:cs typeface="Times New Roman" panose="02020603050405020304" pitchFamily="18" charset="0"/>
                          </a:rPr>
                          <m:t>ꝏ</m:t>
                        </m:r>
                      </m:sup>
                      <m:e>
                        <m:r>
                          <m:rPr>
                            <m:sty m:val="p"/>
                          </m:rPr>
                          <a:rPr lang="en-US" sz="2200" b="0" i="1" smtClean="0">
                            <a:latin typeface="Cambria Math" panose="02040503050406030204" pitchFamily="18" charset="0"/>
                            <a:cs typeface="Times New Roman" panose="02020603050405020304" pitchFamily="18" charset="0"/>
                          </a:rPr>
                          <m:t>K</m:t>
                        </m:r>
                        <m:r>
                          <a:rPr lang="en-US" sz="2200" b="0" i="1" smtClean="0">
                            <a:latin typeface="Cambria Math" panose="02040503050406030204" pitchFamily="18" charset="0"/>
                            <a:cs typeface="Times New Roman" panose="02020603050405020304" pitchFamily="18" charset="0"/>
                          </a:rPr>
                          <m:t> </m:t>
                        </m:r>
                        <m:sSup>
                          <m:sSupPr>
                            <m:ctrlPr>
                              <a:rPr lang="en-IN" sz="2200" b="0" i="1" smtClean="0">
                                <a:latin typeface="Cambria Math" panose="02040503050406030204" pitchFamily="18" charset="0"/>
                                <a:cs typeface="Times New Roman" panose="02020603050405020304" pitchFamily="18" charset="0"/>
                              </a:rPr>
                            </m:ctrlPr>
                          </m:sSupPr>
                          <m:e>
                            <m:r>
                              <m:rPr>
                                <m:sty m:val="p"/>
                              </m:rPr>
                              <a:rPr lang="en-US" sz="2200" b="0" i="1" smtClean="0">
                                <a:latin typeface="Cambria Math" panose="02040503050406030204" pitchFamily="18" charset="0"/>
                                <a:cs typeface="Times New Roman" panose="02020603050405020304" pitchFamily="18" charset="0"/>
                              </a:rPr>
                              <m:t>e</m:t>
                            </m:r>
                          </m:e>
                          <m:sup>
                            <m:r>
                              <a:rPr lang="en-US" sz="2200" b="0" i="1" smtClean="0">
                                <a:latin typeface="Cambria Math" panose="02040503050406030204" pitchFamily="18" charset="0"/>
                                <a:cs typeface="Times New Roman" panose="02020603050405020304" pitchFamily="18" charset="0"/>
                              </a:rPr>
                              <m:t>−</m:t>
                            </m:r>
                            <m:r>
                              <m:rPr>
                                <m:sty m:val="p"/>
                              </m:rPr>
                              <a:rPr lang="en-US" sz="2200" b="0" i="1" smtClean="0">
                                <a:latin typeface="Cambria Math" panose="02040503050406030204" pitchFamily="18" charset="0"/>
                                <a:cs typeface="Times New Roman" panose="02020603050405020304" pitchFamily="18" charset="0"/>
                              </a:rPr>
                              <m:t>st</m:t>
                            </m:r>
                          </m:sup>
                        </m:sSup>
                      </m:e>
                    </m:nary>
                  </m:oMath>
                </a14:m>
                <a:r>
                  <a:rPr lang="en-IN" sz="2200" dirty="0">
                    <a:latin typeface="Times New Roman" panose="02020603050405020304" pitchFamily="18" charset="0"/>
                    <a:cs typeface="Times New Roman" panose="02020603050405020304" pitchFamily="18" charset="0"/>
                  </a:rPr>
                  <a:t> dt = K </a:t>
                </a:r>
                <a14:m>
                  <m:oMath xmlns:m="http://schemas.openxmlformats.org/officeDocument/2006/math">
                    <m:nary>
                      <m:naryPr>
                        <m:limLoc m:val="undOvr"/>
                        <m:ctrlPr>
                          <a:rPr lang="en-IN" sz="2200" i="1">
                            <a:latin typeface="Cambria Math" panose="02040503050406030204" pitchFamily="18" charset="0"/>
                            <a:cs typeface="Times New Roman" panose="02020603050405020304" pitchFamily="18" charset="0"/>
                          </a:rPr>
                        </m:ctrlPr>
                      </m:naryPr>
                      <m:sub>
                        <m:r>
                          <m:rPr>
                            <m:brk m:alnAt="24"/>
                          </m:rPr>
                          <a:rPr lang="en-US" sz="2200" i="1">
                            <a:latin typeface="Cambria Math" panose="02040503050406030204" pitchFamily="18" charset="0"/>
                            <a:cs typeface="Times New Roman" panose="02020603050405020304" pitchFamily="18" charset="0"/>
                          </a:rPr>
                          <m:t>0</m:t>
                        </m:r>
                      </m:sub>
                      <m:sup>
                        <m:r>
                          <a:rPr lang="en-IN" sz="2200" i="1">
                            <a:latin typeface="Cambria Math" panose="02040503050406030204" pitchFamily="18" charset="0"/>
                            <a:cs typeface="Times New Roman" panose="02020603050405020304" pitchFamily="18" charset="0"/>
                          </a:rPr>
                          <m:t>ꝏ</m:t>
                        </m:r>
                      </m:sup>
                      <m:e>
                        <m:r>
                          <a:rPr lang="en-US" sz="2200" i="1">
                            <a:latin typeface="Cambria Math" panose="02040503050406030204" pitchFamily="18" charset="0"/>
                            <a:cs typeface="Times New Roman" panose="02020603050405020304" pitchFamily="18" charset="0"/>
                          </a:rPr>
                          <m:t> </m:t>
                        </m:r>
                        <m:sSup>
                          <m:sSupPr>
                            <m:ctrlPr>
                              <a:rPr lang="en-IN" sz="2200" i="1">
                                <a:latin typeface="Cambria Math" panose="02040503050406030204" pitchFamily="18" charset="0"/>
                                <a:cs typeface="Times New Roman" panose="02020603050405020304" pitchFamily="18" charset="0"/>
                              </a:rPr>
                            </m:ctrlPr>
                          </m:sSupPr>
                          <m:e>
                            <m:r>
                              <m:rPr>
                                <m:sty m:val="p"/>
                              </m:rPr>
                              <a:rPr lang="en-US" sz="2200" i="1">
                                <a:latin typeface="Cambria Math" panose="02040503050406030204" pitchFamily="18" charset="0"/>
                                <a:cs typeface="Times New Roman" panose="02020603050405020304" pitchFamily="18" charset="0"/>
                              </a:rPr>
                              <m:t>e</m:t>
                            </m:r>
                          </m:e>
                          <m:sup>
                            <m:r>
                              <a:rPr lang="en-US" sz="2200" i="1">
                                <a:latin typeface="Cambria Math" panose="02040503050406030204" pitchFamily="18" charset="0"/>
                                <a:cs typeface="Times New Roman" panose="02020603050405020304" pitchFamily="18" charset="0"/>
                              </a:rPr>
                              <m:t>−</m:t>
                            </m:r>
                            <m:r>
                              <m:rPr>
                                <m:sty m:val="p"/>
                              </m:rPr>
                              <a:rPr lang="en-US" sz="2200" i="1">
                                <a:latin typeface="Cambria Math" panose="02040503050406030204" pitchFamily="18" charset="0"/>
                                <a:cs typeface="Times New Roman" panose="02020603050405020304" pitchFamily="18" charset="0"/>
                              </a:rPr>
                              <m:t>st</m:t>
                            </m:r>
                          </m:sup>
                        </m:sSup>
                      </m:e>
                    </m:nary>
                  </m:oMath>
                </a14:m>
                <a:r>
                  <a:rPr lang="en-IN" sz="2200" dirty="0">
                    <a:latin typeface="Times New Roman" panose="02020603050405020304" pitchFamily="18" charset="0"/>
                    <a:cs typeface="Times New Roman" panose="02020603050405020304" pitchFamily="18" charset="0"/>
                  </a:rPr>
                  <a:t> dt = K </a:t>
                </a:r>
                <a14:m>
                  <m:oMath xmlns:m="http://schemas.openxmlformats.org/officeDocument/2006/math">
                    <m:sSubSup>
                      <m:sSubSupPr>
                        <m:ctrlPr>
                          <a:rPr lang="en-IN" sz="2200" i="1" smtClean="0">
                            <a:latin typeface="Cambria Math" panose="02040503050406030204" pitchFamily="18" charset="0"/>
                            <a:cs typeface="Times New Roman" panose="02020603050405020304" pitchFamily="18" charset="0"/>
                          </a:rPr>
                        </m:ctrlPr>
                      </m:sSubSupPr>
                      <m:e>
                        <m:d>
                          <m:dPr>
                            <m:begChr m:val="["/>
                            <m:endChr m:val="]"/>
                            <m:ctrlPr>
                              <a:rPr lang="en-IN" sz="2200" i="1" smtClean="0">
                                <a:latin typeface="Cambria Math" panose="02040503050406030204" pitchFamily="18" charset="0"/>
                                <a:cs typeface="Times New Roman" panose="02020603050405020304" pitchFamily="18" charset="0"/>
                              </a:rPr>
                            </m:ctrlPr>
                          </m:dPr>
                          <m:e>
                            <m:f>
                              <m:fPr>
                                <m:ctrlPr>
                                  <a:rPr lang="en-IN" sz="2200" i="1" smtClean="0">
                                    <a:latin typeface="Cambria Math" panose="02040503050406030204" pitchFamily="18" charset="0"/>
                                    <a:cs typeface="Times New Roman" panose="02020603050405020304" pitchFamily="18" charset="0"/>
                                  </a:rPr>
                                </m:ctrlPr>
                              </m:fPr>
                              <m:num>
                                <m:sSup>
                                  <m:sSupPr>
                                    <m:ctrlPr>
                                      <a:rPr lang="en-IN" sz="2200" i="1" smtClean="0">
                                        <a:latin typeface="Cambria Math" panose="02040503050406030204" pitchFamily="18" charset="0"/>
                                        <a:cs typeface="Times New Roman" panose="02020603050405020304" pitchFamily="18" charset="0"/>
                                      </a:rPr>
                                    </m:ctrlPr>
                                  </m:sSupPr>
                                  <m:e>
                                    <m:r>
                                      <m:rPr>
                                        <m:sty m:val="p"/>
                                      </m:rPr>
                                      <a:rPr lang="en-US" sz="2200" b="0" i="1" smtClean="0">
                                        <a:latin typeface="Cambria Math" panose="02040503050406030204" pitchFamily="18" charset="0"/>
                                        <a:cs typeface="Times New Roman" panose="02020603050405020304" pitchFamily="18" charset="0"/>
                                      </a:rPr>
                                      <m:t>e</m:t>
                                    </m:r>
                                  </m:e>
                                  <m:sup>
                                    <m:r>
                                      <a:rPr lang="en-US" sz="2200" b="0" i="1" smtClean="0">
                                        <a:latin typeface="Cambria Math" panose="02040503050406030204" pitchFamily="18" charset="0"/>
                                        <a:cs typeface="Times New Roman" panose="02020603050405020304" pitchFamily="18" charset="0"/>
                                      </a:rPr>
                                      <m:t>−</m:t>
                                    </m:r>
                                    <m:r>
                                      <m:rPr>
                                        <m:sty m:val="p"/>
                                      </m:rPr>
                                      <a:rPr lang="en-US" sz="2200" b="0" i="1" smtClean="0">
                                        <a:latin typeface="Cambria Math" panose="02040503050406030204" pitchFamily="18" charset="0"/>
                                        <a:cs typeface="Times New Roman" panose="02020603050405020304" pitchFamily="18" charset="0"/>
                                      </a:rPr>
                                      <m:t>st</m:t>
                                    </m:r>
                                  </m:sup>
                                </m:sSup>
                              </m:num>
                              <m:den>
                                <m:r>
                                  <a:rPr lang="en-US" sz="2200" b="0" i="1" smtClean="0">
                                    <a:latin typeface="Cambria Math" panose="02040503050406030204" pitchFamily="18" charset="0"/>
                                    <a:cs typeface="Times New Roman" panose="02020603050405020304" pitchFamily="18" charset="0"/>
                                  </a:rPr>
                                  <m:t>−</m:t>
                                </m:r>
                                <m:r>
                                  <m:rPr>
                                    <m:sty m:val="p"/>
                                  </m:rPr>
                                  <a:rPr lang="en-US" sz="2200" b="0" i="1" smtClean="0">
                                    <a:latin typeface="Cambria Math" panose="02040503050406030204" pitchFamily="18" charset="0"/>
                                    <a:cs typeface="Times New Roman" panose="02020603050405020304" pitchFamily="18" charset="0"/>
                                  </a:rPr>
                                  <m:t>s</m:t>
                                </m:r>
                              </m:den>
                            </m:f>
                          </m:e>
                        </m:d>
                      </m:e>
                      <m:sub>
                        <m:r>
                          <a:rPr lang="en-US" sz="2200" b="0" i="1" smtClean="0">
                            <a:latin typeface="Cambria Math" panose="02040503050406030204" pitchFamily="18" charset="0"/>
                            <a:cs typeface="Times New Roman" panose="02020603050405020304" pitchFamily="18" charset="0"/>
                          </a:rPr>
                          <m:t>0</m:t>
                        </m:r>
                      </m:sub>
                      <m:sup>
                        <m:r>
                          <a:rPr lang="en-IN" sz="2200" i="1" smtClean="0">
                            <a:latin typeface="Cambria Math" panose="02040503050406030204" pitchFamily="18" charset="0"/>
                            <a:cs typeface="Times New Roman" panose="02020603050405020304" pitchFamily="18" charset="0"/>
                          </a:rPr>
                          <m:t>ꝏ</m:t>
                        </m:r>
                      </m:sup>
                    </m:sSubSup>
                  </m:oMath>
                </a14:m>
                <a:r>
                  <a:rPr lang="en-IN" sz="2200" dirty="0">
                    <a:latin typeface="Times New Roman" panose="02020603050405020304" pitchFamily="18" charset="0"/>
                    <a:cs typeface="Times New Roman" panose="02020603050405020304" pitchFamily="18" charset="0"/>
                  </a:rPr>
                  <a:t>= K </a:t>
                </a:r>
                <a14:m>
                  <m:oMath xmlns:m="http://schemas.openxmlformats.org/officeDocument/2006/math">
                    <m:d>
                      <m:dPr>
                        <m:begChr m:val="["/>
                        <m:endChr m:val="]"/>
                        <m:ctrlPr>
                          <a:rPr lang="en-IN" sz="2200" i="1" smtClean="0">
                            <a:latin typeface="Cambria Math" panose="02040503050406030204" pitchFamily="18" charset="0"/>
                            <a:cs typeface="Times New Roman" panose="02020603050405020304" pitchFamily="18" charset="0"/>
                          </a:rPr>
                        </m:ctrlPr>
                      </m:dPr>
                      <m:e>
                        <m:f>
                          <m:fPr>
                            <m:ctrlPr>
                              <a:rPr lang="en-IN" sz="2200" i="1" smtClean="0">
                                <a:latin typeface="Cambria Math" panose="02040503050406030204" pitchFamily="18" charset="0"/>
                                <a:cs typeface="Times New Roman" panose="02020603050405020304" pitchFamily="18" charset="0"/>
                              </a:rPr>
                            </m:ctrlPr>
                          </m:fPr>
                          <m:num>
                            <m:sSup>
                              <m:sSupPr>
                                <m:ctrlPr>
                                  <a:rPr lang="en-IN" sz="2200" i="1" smtClean="0">
                                    <a:latin typeface="Cambria Math" panose="02040503050406030204" pitchFamily="18" charset="0"/>
                                    <a:cs typeface="Times New Roman" panose="02020603050405020304" pitchFamily="18" charset="0"/>
                                  </a:rPr>
                                </m:ctrlPr>
                              </m:sSupPr>
                              <m:e>
                                <m:r>
                                  <m:rPr>
                                    <m:sty m:val="p"/>
                                  </m:rPr>
                                  <a:rPr lang="en-US" sz="2200" b="0" i="1" smtClean="0">
                                    <a:latin typeface="Cambria Math" panose="02040503050406030204" pitchFamily="18" charset="0"/>
                                    <a:cs typeface="Times New Roman" panose="02020603050405020304" pitchFamily="18" charset="0"/>
                                  </a:rPr>
                                  <m:t>e</m:t>
                                </m:r>
                              </m:e>
                              <m:sup>
                                <m:r>
                                  <a:rPr lang="en-US" sz="2200" b="0" i="1" smtClean="0">
                                    <a:latin typeface="Cambria Math" panose="02040503050406030204" pitchFamily="18" charset="0"/>
                                    <a:cs typeface="Times New Roman" panose="02020603050405020304" pitchFamily="18" charset="0"/>
                                  </a:rPr>
                                  <m:t>−</m:t>
                                </m:r>
                                <m:r>
                                  <a:rPr lang="en-US" sz="2200" b="0" i="1" smtClean="0">
                                    <a:latin typeface="Cambria Math" panose="02040503050406030204" pitchFamily="18" charset="0"/>
                                    <a:cs typeface="Times New Roman" panose="02020603050405020304" pitchFamily="18" charset="0"/>
                                  </a:rPr>
                                  <m:t>ꝏ</m:t>
                                </m:r>
                              </m:sup>
                            </m:sSup>
                          </m:num>
                          <m:den>
                            <m:r>
                              <a:rPr lang="en-US" sz="2200" b="0" i="1" smtClean="0">
                                <a:latin typeface="Cambria Math" panose="02040503050406030204" pitchFamily="18" charset="0"/>
                                <a:cs typeface="Times New Roman" panose="02020603050405020304" pitchFamily="18" charset="0"/>
                              </a:rPr>
                              <m:t>−</m:t>
                            </m:r>
                            <m:r>
                              <m:rPr>
                                <m:sty m:val="p"/>
                              </m:rPr>
                              <a:rPr lang="en-US" sz="2200" b="0" i="1" smtClean="0">
                                <a:latin typeface="Cambria Math" panose="02040503050406030204" pitchFamily="18" charset="0"/>
                                <a:cs typeface="Times New Roman" panose="02020603050405020304" pitchFamily="18" charset="0"/>
                              </a:rPr>
                              <m:t>s</m:t>
                            </m:r>
                          </m:den>
                        </m:f>
                        <m:r>
                          <a:rPr lang="en-US" sz="2200" b="0" i="1" smtClean="0">
                            <a:latin typeface="Cambria Math" panose="02040503050406030204" pitchFamily="18" charset="0"/>
                            <a:cs typeface="Times New Roman" panose="02020603050405020304" pitchFamily="18" charset="0"/>
                          </a:rPr>
                          <m:t> − </m:t>
                        </m:r>
                        <m:f>
                          <m:fPr>
                            <m:ctrlPr>
                              <a:rPr lang="en-IN" sz="2200" b="0" i="1" smtClean="0">
                                <a:latin typeface="Cambria Math" panose="02040503050406030204" pitchFamily="18" charset="0"/>
                                <a:cs typeface="Times New Roman" panose="02020603050405020304" pitchFamily="18" charset="0"/>
                              </a:rPr>
                            </m:ctrlPr>
                          </m:fPr>
                          <m:num>
                            <m:sSup>
                              <m:sSupPr>
                                <m:ctrlPr>
                                  <a:rPr lang="en-IN" sz="2200" b="0" i="1" smtClean="0">
                                    <a:latin typeface="Cambria Math" panose="02040503050406030204" pitchFamily="18" charset="0"/>
                                    <a:cs typeface="Times New Roman" panose="02020603050405020304" pitchFamily="18" charset="0"/>
                                  </a:rPr>
                                </m:ctrlPr>
                              </m:sSupPr>
                              <m:e>
                                <m:r>
                                  <m:rPr>
                                    <m:sty m:val="p"/>
                                  </m:rPr>
                                  <a:rPr lang="en-US" sz="2200" b="0" i="1" smtClean="0">
                                    <a:latin typeface="Cambria Math" panose="02040503050406030204" pitchFamily="18" charset="0"/>
                                    <a:cs typeface="Times New Roman" panose="02020603050405020304" pitchFamily="18" charset="0"/>
                                  </a:rPr>
                                  <m:t>e</m:t>
                                </m:r>
                              </m:e>
                              <m:sup>
                                <m:r>
                                  <a:rPr lang="en-US" sz="2200" b="0" i="1" smtClean="0">
                                    <a:latin typeface="Cambria Math" panose="02040503050406030204" pitchFamily="18" charset="0"/>
                                    <a:cs typeface="Times New Roman" panose="02020603050405020304" pitchFamily="18" charset="0"/>
                                  </a:rPr>
                                  <m:t>0</m:t>
                                </m:r>
                              </m:sup>
                            </m:sSup>
                          </m:num>
                          <m:den>
                            <m:r>
                              <a:rPr lang="en-US" sz="2200" b="0" i="1" smtClean="0">
                                <a:latin typeface="Cambria Math" panose="02040503050406030204" pitchFamily="18" charset="0"/>
                                <a:cs typeface="Times New Roman" panose="02020603050405020304" pitchFamily="18" charset="0"/>
                              </a:rPr>
                              <m:t>−</m:t>
                            </m:r>
                            <m:r>
                              <m:rPr>
                                <m:sty m:val="p"/>
                              </m:rPr>
                              <a:rPr lang="en-US" sz="2200" b="0" i="1" smtClean="0">
                                <a:latin typeface="Cambria Math" panose="02040503050406030204" pitchFamily="18" charset="0"/>
                                <a:cs typeface="Times New Roman" panose="02020603050405020304" pitchFamily="18" charset="0"/>
                              </a:rPr>
                              <m:t>s</m:t>
                            </m:r>
                          </m:den>
                        </m:f>
                      </m:e>
                    </m:d>
                  </m:oMath>
                </a14:m>
                <a:r>
                  <a:rPr lang="en-IN" sz="2200" dirty="0">
                    <a:latin typeface="Times New Roman" panose="02020603050405020304" pitchFamily="18" charset="0"/>
                    <a:cs typeface="Times New Roman" panose="02020603050405020304" pitchFamily="18" charset="0"/>
                  </a:rPr>
                  <a:t> = </a:t>
                </a:r>
                <a14:m>
                  <m:oMath xmlns:m="http://schemas.openxmlformats.org/officeDocument/2006/math">
                    <m:f>
                      <m:fPr>
                        <m:ctrlPr>
                          <a:rPr lang="en-IN" sz="2200" i="1" smtClean="0">
                            <a:latin typeface="Cambria Math" panose="02040503050406030204" pitchFamily="18" charset="0"/>
                            <a:cs typeface="Times New Roman" panose="02020603050405020304" pitchFamily="18" charset="0"/>
                          </a:rPr>
                        </m:ctrlPr>
                      </m:fPr>
                      <m:num>
                        <m:r>
                          <m:rPr>
                            <m:sty m:val="p"/>
                          </m:rPr>
                          <a:rPr lang="en-US" sz="2200" b="0" i="1" smtClean="0">
                            <a:latin typeface="Cambria Math" panose="02040503050406030204" pitchFamily="18" charset="0"/>
                            <a:cs typeface="Times New Roman" panose="02020603050405020304" pitchFamily="18" charset="0"/>
                          </a:rPr>
                          <m:t>K</m:t>
                        </m:r>
                      </m:num>
                      <m:den>
                        <m:r>
                          <m:rPr>
                            <m:sty m:val="p"/>
                          </m:rPr>
                          <a:rPr lang="en-US" sz="2200" b="0" i="1" smtClean="0">
                            <a:latin typeface="Cambria Math" panose="02040503050406030204" pitchFamily="18" charset="0"/>
                            <a:cs typeface="Times New Roman" panose="02020603050405020304" pitchFamily="18" charset="0"/>
                          </a:rPr>
                          <m:t>s</m:t>
                        </m:r>
                      </m:den>
                    </m:f>
                  </m:oMath>
                </a14:m>
                <a:endParaRPr lang="en-IN" sz="2200" dirty="0">
                  <a:latin typeface="Times New Roman" panose="02020603050405020304" pitchFamily="18" charset="0"/>
                  <a:cs typeface="Times New Roman" panose="02020603050405020304" pitchFamily="18" charset="0"/>
                </a:endParaRPr>
              </a:p>
            </p:txBody>
          </p:sp>
        </mc:Choice>
        <mc:Fallback xmlns="">
          <p:sp>
            <p:nvSpPr>
              <p:cNvPr id="3" name="TextBox 2">
                <a:extLst>
                  <a:ext uri="{FF2B5EF4-FFF2-40B4-BE49-F238E27FC236}">
                    <a16:creationId xmlns:a16="http://schemas.microsoft.com/office/drawing/2014/main" id="{822359CF-A91F-B760-F557-D58B68E67FDC}"/>
                  </a:ext>
                </a:extLst>
              </p:cNvPr>
              <p:cNvSpPr txBox="1">
                <a:spLocks noRot="1" noChangeAspect="1" noMove="1" noResize="1" noEditPoints="1" noAdjustHandles="1" noChangeArrowheads="1" noChangeShapeType="1" noTextEdit="1"/>
              </p:cNvSpPr>
              <p:nvPr/>
            </p:nvSpPr>
            <p:spPr>
              <a:xfrm>
                <a:off x="285004" y="2912165"/>
                <a:ext cx="11453110" cy="3020763"/>
              </a:xfrm>
              <a:prstGeom prst="rect">
                <a:avLst/>
              </a:prstGeom>
              <a:blipFill>
                <a:blip r:embed="rId8"/>
                <a:stretch>
                  <a:fillRect l="-692"/>
                </a:stretch>
              </a:blipFill>
            </p:spPr>
            <p:txBody>
              <a:bodyPr/>
              <a:lstStyle/>
              <a:p>
                <a:r>
                  <a:rPr lang="en-IN">
                    <a:noFill/>
                  </a:rPr>
                  <a:t> </a:t>
                </a:r>
              </a:p>
            </p:txBody>
          </p:sp>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B3DEF8-D85A-29FC-A3CC-C87F92F221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C438CE-9CE2-6FBA-4B4B-C424FAD7ECCB}"/>
              </a:ext>
            </a:extLst>
          </p:cNvPr>
          <p:cNvSpPr>
            <a:spLocks noGrp="1"/>
          </p:cNvSpPr>
          <p:nvPr>
            <p:ph type="title"/>
          </p:nvPr>
        </p:nvSpPr>
        <p:spPr>
          <a:xfrm>
            <a:off x="285003" y="71415"/>
            <a:ext cx="11591833" cy="714380"/>
          </a:xfrm>
        </p:spPr>
        <p:txBody>
          <a:bodyPr>
            <a:normAutofit/>
          </a:bodyPr>
          <a:lstStyle/>
          <a:p>
            <a:r>
              <a:rPr lang="en-IN" sz="2800" dirty="0">
                <a:solidFill>
                  <a:srgbClr val="00B050"/>
                </a:solidFill>
                <a:latin typeface="Times New Roman" pitchFamily="18" charset="0"/>
                <a:cs typeface="Times New Roman" pitchFamily="18" charset="0"/>
              </a:rPr>
              <a:t>LAPLACE TRANSFORM</a:t>
            </a:r>
            <a:endParaRPr lang="en-US" sz="2800" dirty="0">
              <a:solidFill>
                <a:srgbClr val="FF0000"/>
              </a:solidFill>
              <a:latin typeface="Times New Roman" pitchFamily="18" charset="0"/>
              <a:cs typeface="Times New Roman" pitchFamily="18" charset="0"/>
            </a:endParaRPr>
          </a:p>
        </p:txBody>
      </p:sp>
      <p:sp>
        <p:nvSpPr>
          <p:cNvPr id="4" name="Date Placeholder 3">
            <a:extLst>
              <a:ext uri="{FF2B5EF4-FFF2-40B4-BE49-F238E27FC236}">
                <a16:creationId xmlns:a16="http://schemas.microsoft.com/office/drawing/2014/main" id="{5BEC844A-990F-B59F-228E-61808FFED62F}"/>
              </a:ext>
            </a:extLst>
          </p:cNvPr>
          <p:cNvSpPr>
            <a:spLocks noGrp="1"/>
          </p:cNvSpPr>
          <p:nvPr>
            <p:ph type="dt" sz="half" idx="10"/>
          </p:nvPr>
        </p:nvSpPr>
        <p:spPr/>
        <p:txBody>
          <a:bodyPr/>
          <a:lstStyle/>
          <a:p>
            <a:fld id="{2186F227-248D-4963-99BB-700C4C3FB295}" type="datetime2">
              <a:rPr lang="en-US" smtClean="0"/>
              <a:pPr/>
              <a:t>Monday, June 29, 2026</a:t>
            </a:fld>
            <a:endParaRPr lang="en-US"/>
          </a:p>
        </p:txBody>
      </p:sp>
      <p:sp>
        <p:nvSpPr>
          <p:cNvPr id="5" name="Footer Placeholder 4">
            <a:extLst>
              <a:ext uri="{FF2B5EF4-FFF2-40B4-BE49-F238E27FC236}">
                <a16:creationId xmlns:a16="http://schemas.microsoft.com/office/drawing/2014/main" id="{3E2F1BD1-3B69-179A-3D70-727C73CB071C}"/>
              </a:ext>
            </a:extLst>
          </p:cNvPr>
          <p:cNvSpPr>
            <a:spLocks noGrp="1"/>
          </p:cNvSpPr>
          <p:nvPr>
            <p:ph type="ftr" sz="quarter" idx="11"/>
          </p:nvPr>
        </p:nvSpPr>
        <p:spPr/>
        <p:txBody>
          <a:bodyPr/>
          <a:lstStyle/>
          <a:p>
            <a:r>
              <a:rPr lang="en-US"/>
              <a:t>syed hasan saeed</a:t>
            </a:r>
          </a:p>
        </p:txBody>
      </p:sp>
      <p:sp>
        <p:nvSpPr>
          <p:cNvPr id="6" name="Slide Number Placeholder 5">
            <a:extLst>
              <a:ext uri="{FF2B5EF4-FFF2-40B4-BE49-F238E27FC236}">
                <a16:creationId xmlns:a16="http://schemas.microsoft.com/office/drawing/2014/main" id="{FAE20A57-9132-25DF-FE18-3369B1758478}"/>
              </a:ext>
            </a:extLst>
          </p:cNvPr>
          <p:cNvSpPr>
            <a:spLocks noGrp="1"/>
          </p:cNvSpPr>
          <p:nvPr>
            <p:ph type="sldNum" sz="quarter" idx="12"/>
          </p:nvPr>
        </p:nvSpPr>
        <p:spPr/>
        <p:txBody>
          <a:bodyPr/>
          <a:lstStyle/>
          <a:p>
            <a:fld id="{435E54C7-FAA8-46C1-A880-53547F97989D}" type="slidenum">
              <a:rPr lang="en-US" smtClean="0"/>
              <a:pPr/>
              <a:t>6</a:t>
            </a:fld>
            <a:endParaRPr lang="en-US"/>
          </a:p>
        </p:txBody>
      </p:sp>
      <p:sp>
        <p:nvSpPr>
          <p:cNvPr id="7" name="Content Placeholder 6">
            <a:extLst>
              <a:ext uri="{FF2B5EF4-FFF2-40B4-BE49-F238E27FC236}">
                <a16:creationId xmlns:a16="http://schemas.microsoft.com/office/drawing/2014/main" id="{78EBDDBA-ECE1-F259-BFC5-61281D49D631}"/>
              </a:ext>
            </a:extLst>
          </p:cNvPr>
          <p:cNvSpPr>
            <a:spLocks noGrp="1"/>
          </p:cNvSpPr>
          <p:nvPr>
            <p:ph idx="1"/>
          </p:nvPr>
        </p:nvSpPr>
        <p:spPr>
          <a:xfrm>
            <a:off x="189988" y="714357"/>
            <a:ext cx="11781863" cy="5643603"/>
          </a:xfrm>
        </p:spPr>
        <p:txBody>
          <a:bodyPr>
            <a:normAutofit/>
          </a:bodyPr>
          <a:lstStyle/>
          <a:p>
            <a:pPr>
              <a:buNone/>
            </a:pPr>
            <a:r>
              <a:rPr lang="en-US" sz="2200" dirty="0">
                <a:latin typeface="Times New Roman" pitchFamily="18" charset="0"/>
                <a:cs typeface="Times New Roman" pitchFamily="18" charset="0"/>
              </a:rPr>
              <a:t>  </a:t>
            </a:r>
            <a:r>
              <a:rPr lang="en-IN" sz="2200" dirty="0">
                <a:latin typeface="Times New Roman" pitchFamily="18" charset="0"/>
                <a:cs typeface="Times New Roman" pitchFamily="18" charset="0"/>
              </a:rPr>
              <a:t>  </a:t>
            </a:r>
          </a:p>
          <a:p>
            <a:pPr>
              <a:lnSpc>
                <a:spcPct val="150000"/>
              </a:lnSpc>
              <a:buNone/>
            </a:pPr>
            <a:endParaRPr lang="en-US" sz="2000" dirty="0">
              <a:solidFill>
                <a:srgbClr val="7030A0"/>
              </a:solidFill>
              <a:latin typeface="Times New Roman" pitchFamily="18" charset="0"/>
              <a:cs typeface="Times New Roman" pitchFamily="18" charset="0"/>
            </a:endParaRPr>
          </a:p>
          <a:p>
            <a:pPr>
              <a:lnSpc>
                <a:spcPct val="150000"/>
              </a:lnSpc>
              <a:buNone/>
            </a:pPr>
            <a:r>
              <a:rPr lang="en-US" sz="2400" dirty="0">
                <a:latin typeface="Times New Roman" pitchFamily="18" charset="0"/>
                <a:cs typeface="Times New Roman" pitchFamily="18" charset="0"/>
              </a:rPr>
              <a:t>  </a:t>
            </a:r>
          </a:p>
        </p:txBody>
      </p:sp>
      <p:graphicFrame>
        <p:nvGraphicFramePr>
          <p:cNvPr id="8" name="Object 7">
            <a:extLst>
              <a:ext uri="{FF2B5EF4-FFF2-40B4-BE49-F238E27FC236}">
                <a16:creationId xmlns:a16="http://schemas.microsoft.com/office/drawing/2014/main" id="{AE9D3850-0632-A9B8-683D-07C2C710D137}"/>
              </a:ext>
            </a:extLst>
          </p:cNvPr>
          <p:cNvGraphicFramePr>
            <a:graphicFrameLocks noChangeAspect="1"/>
          </p:cNvGraphicFramePr>
          <p:nvPr/>
        </p:nvGraphicFramePr>
        <p:xfrm>
          <a:off x="6004908" y="3321051"/>
          <a:ext cx="152023" cy="215900"/>
        </p:xfrm>
        <a:graphic>
          <a:graphicData uri="http://schemas.openxmlformats.org/presentationml/2006/ole">
            <mc:AlternateContent xmlns:mc="http://schemas.openxmlformats.org/markup-compatibility/2006">
              <mc:Choice xmlns:v="urn:schemas-microsoft-com:vml" Requires="v">
                <p:oleObj name="Equation" r:id="rId2" imgW="114120" imgH="215640" progId="Equation.3">
                  <p:embed/>
                </p:oleObj>
              </mc:Choice>
              <mc:Fallback>
                <p:oleObj name="Equation" r:id="rId2" imgW="114120" imgH="215640" progId="Equation.3">
                  <p:embed/>
                  <p:pic>
                    <p:nvPicPr>
                      <p:cNvPr id="8"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04908" y="3321051"/>
                        <a:ext cx="152023"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 name="Object 9">
            <a:extLst>
              <a:ext uri="{FF2B5EF4-FFF2-40B4-BE49-F238E27FC236}">
                <a16:creationId xmlns:a16="http://schemas.microsoft.com/office/drawing/2014/main" id="{8419ADC7-C9A3-F975-0532-4B3B2B4E35EE}"/>
              </a:ext>
            </a:extLst>
          </p:cNvPr>
          <p:cNvGraphicFramePr>
            <a:graphicFrameLocks noChangeAspect="1"/>
          </p:cNvGraphicFramePr>
          <p:nvPr/>
        </p:nvGraphicFramePr>
        <p:xfrm>
          <a:off x="6004908" y="3321051"/>
          <a:ext cx="152023" cy="215900"/>
        </p:xfrm>
        <a:graphic>
          <a:graphicData uri="http://schemas.openxmlformats.org/presentationml/2006/ole">
            <mc:AlternateContent xmlns:mc="http://schemas.openxmlformats.org/markup-compatibility/2006">
              <mc:Choice xmlns:v="urn:schemas-microsoft-com:vml" Requires="v">
                <p:oleObj name="Equation" r:id="rId4" imgW="114120" imgH="215640" progId="Equation.3">
                  <p:embed/>
                </p:oleObj>
              </mc:Choice>
              <mc:Fallback>
                <p:oleObj name="Equation" r:id="rId4" imgW="114120" imgH="215640" progId="Equation.3">
                  <p:embed/>
                  <p:pic>
                    <p:nvPicPr>
                      <p:cNvPr id="10"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04908" y="3321051"/>
                        <a:ext cx="152023"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6" name="Group 15">
            <a:extLst>
              <a:ext uri="{FF2B5EF4-FFF2-40B4-BE49-F238E27FC236}">
                <a16:creationId xmlns:a16="http://schemas.microsoft.com/office/drawing/2014/main" id="{560F947C-4C1B-AAEF-5116-BF78D72FA589}"/>
              </a:ext>
            </a:extLst>
          </p:cNvPr>
          <p:cNvGrpSpPr/>
          <p:nvPr/>
        </p:nvGrpSpPr>
        <p:grpSpPr>
          <a:xfrm>
            <a:off x="2256605" y="1410436"/>
            <a:ext cx="6698702" cy="3821230"/>
            <a:chOff x="1944295" y="2897204"/>
            <a:chExt cx="6390702" cy="3590224"/>
          </a:xfrm>
        </p:grpSpPr>
        <p:graphicFrame>
          <p:nvGraphicFramePr>
            <p:cNvPr id="12" name="Object 11">
              <a:extLst>
                <a:ext uri="{FF2B5EF4-FFF2-40B4-BE49-F238E27FC236}">
                  <a16:creationId xmlns:a16="http://schemas.microsoft.com/office/drawing/2014/main" id="{136AEC01-EE30-E69F-C41A-8B01D7F39244}"/>
                </a:ext>
              </a:extLst>
            </p:cNvPr>
            <p:cNvGraphicFramePr>
              <a:graphicFrameLocks noChangeAspect="1"/>
            </p:cNvGraphicFramePr>
            <p:nvPr/>
          </p:nvGraphicFramePr>
          <p:xfrm>
            <a:off x="2689912" y="2897204"/>
            <a:ext cx="5645085" cy="3590224"/>
          </p:xfrm>
          <a:graphic>
            <a:graphicData uri="http://schemas.openxmlformats.org/presentationml/2006/ole">
              <mc:AlternateContent xmlns:mc="http://schemas.openxmlformats.org/markup-compatibility/2006">
                <mc:Choice xmlns:v="urn:schemas-microsoft-com:vml" Requires="v">
                  <p:oleObj name="Equation" r:id="rId6" imgW="2019240" imgH="1803240" progId="Equation.3">
                    <p:embed/>
                  </p:oleObj>
                </mc:Choice>
                <mc:Fallback>
                  <p:oleObj name="Equation" r:id="rId6" imgW="2019240" imgH="1803240" progId="Equation.3">
                    <p:embed/>
                    <p:pic>
                      <p:nvPicPr>
                        <p:cNvPr id="12" name="Object 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89912" y="2897204"/>
                          <a:ext cx="5645085" cy="359022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 name="TextBox 14">
              <a:extLst>
                <a:ext uri="{FF2B5EF4-FFF2-40B4-BE49-F238E27FC236}">
                  <a16:creationId xmlns:a16="http://schemas.microsoft.com/office/drawing/2014/main" id="{20CBC062-E357-C7B3-97A6-3571FC48FF7D}"/>
                </a:ext>
              </a:extLst>
            </p:cNvPr>
            <p:cNvSpPr txBox="1"/>
            <p:nvPr/>
          </p:nvSpPr>
          <p:spPr>
            <a:xfrm>
              <a:off x="1944295" y="3157087"/>
              <a:ext cx="991402" cy="461665"/>
            </a:xfrm>
            <a:prstGeom prst="rect">
              <a:avLst/>
            </a:prstGeom>
            <a:noFill/>
          </p:spPr>
          <p:txBody>
            <a:bodyPr wrap="square" rtlCol="0">
              <a:spAutoFit/>
            </a:bodyPr>
            <a:lstStyle/>
            <a:p>
              <a:r>
                <a:rPr lang="en-US" sz="2400" dirty="0">
                  <a:latin typeface="Times New Roman" pitchFamily="18" charset="0"/>
                  <a:cs typeface="Times New Roman" pitchFamily="18" charset="0"/>
                </a:rPr>
                <a:t>1. ℒ</a:t>
              </a:r>
              <a:endParaRPr lang="en-US" sz="2400" dirty="0"/>
            </a:p>
          </p:txBody>
        </p:sp>
      </p:grpSp>
    </p:spTree>
    <p:extLst>
      <p:ext uri="{BB962C8B-B14F-4D97-AF65-F5344CB8AC3E}">
        <p14:creationId xmlns:p14="http://schemas.microsoft.com/office/powerpoint/2010/main" val="20218216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003" y="71415"/>
            <a:ext cx="11591833" cy="714380"/>
          </a:xfrm>
        </p:spPr>
        <p:txBody>
          <a:bodyPr>
            <a:normAutofit/>
          </a:bodyPr>
          <a:lstStyle/>
          <a:p>
            <a:r>
              <a:rPr lang="en-IN" sz="2800" dirty="0">
                <a:solidFill>
                  <a:srgbClr val="00B050"/>
                </a:solidFill>
                <a:latin typeface="Times New Roman" pitchFamily="18" charset="0"/>
                <a:cs typeface="Times New Roman" pitchFamily="18" charset="0"/>
              </a:rPr>
              <a:t>LAPLACE TRANSFORM</a:t>
            </a:r>
            <a:endParaRPr lang="en-US" sz="2800" dirty="0">
              <a:solidFill>
                <a:srgbClr val="FF0000"/>
              </a:solidFill>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2186F227-248D-4963-99BB-700C4C3FB295}" type="datetime2">
              <a:rPr lang="en-US" smtClean="0"/>
              <a:pPr/>
              <a:t>Monday, June 29, 2026</a:t>
            </a:fld>
            <a:endParaRPr lang="en-US"/>
          </a:p>
        </p:txBody>
      </p:sp>
      <p:sp>
        <p:nvSpPr>
          <p:cNvPr id="5" name="Footer Placeholder 4"/>
          <p:cNvSpPr>
            <a:spLocks noGrp="1"/>
          </p:cNvSpPr>
          <p:nvPr>
            <p:ph type="ftr" sz="quarter" idx="11"/>
          </p:nvPr>
        </p:nvSpPr>
        <p:spPr/>
        <p:txBody>
          <a:bodyPr/>
          <a:lstStyle/>
          <a:p>
            <a:r>
              <a:rPr lang="en-US"/>
              <a:t>syed hasan saeed</a:t>
            </a:r>
          </a:p>
        </p:txBody>
      </p:sp>
      <p:sp>
        <p:nvSpPr>
          <p:cNvPr id="6" name="Slide Number Placeholder 5"/>
          <p:cNvSpPr>
            <a:spLocks noGrp="1"/>
          </p:cNvSpPr>
          <p:nvPr>
            <p:ph type="sldNum" sz="quarter" idx="12"/>
          </p:nvPr>
        </p:nvSpPr>
        <p:spPr/>
        <p:txBody>
          <a:bodyPr/>
          <a:lstStyle/>
          <a:p>
            <a:fld id="{435E54C7-FAA8-46C1-A880-53547F97989D}" type="slidenum">
              <a:rPr lang="en-US" smtClean="0"/>
              <a:pPr/>
              <a:t>7</a:t>
            </a:fld>
            <a:endParaRPr lang="en-US"/>
          </a:p>
        </p:txBody>
      </p:sp>
      <p:graphicFrame>
        <p:nvGraphicFramePr>
          <p:cNvPr id="8" name="Object 7"/>
          <p:cNvGraphicFramePr>
            <a:graphicFrameLocks noChangeAspect="1"/>
          </p:cNvGraphicFramePr>
          <p:nvPr/>
        </p:nvGraphicFramePr>
        <p:xfrm>
          <a:off x="6004908" y="3321051"/>
          <a:ext cx="152023" cy="215900"/>
        </p:xfrm>
        <a:graphic>
          <a:graphicData uri="http://schemas.openxmlformats.org/presentationml/2006/ole">
            <mc:AlternateContent xmlns:mc="http://schemas.openxmlformats.org/markup-compatibility/2006">
              <mc:Choice xmlns:v="urn:schemas-microsoft-com:vml" Requires="v">
                <p:oleObj name="Equation" r:id="rId2" imgW="114120" imgH="215640" progId="Equation.3">
                  <p:embed/>
                </p:oleObj>
              </mc:Choice>
              <mc:Fallback>
                <p:oleObj name="Equation" r:id="rId2" imgW="114120" imgH="215640" progId="Equation.3">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04908" y="3321051"/>
                        <a:ext cx="152023"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2" name="Group 11"/>
          <p:cNvGrpSpPr/>
          <p:nvPr/>
        </p:nvGrpSpPr>
        <p:grpSpPr>
          <a:xfrm>
            <a:off x="1357938" y="779646"/>
            <a:ext cx="7042409" cy="3753853"/>
            <a:chOff x="1357938" y="779646"/>
            <a:chExt cx="7042409" cy="3753853"/>
          </a:xfrm>
        </p:grpSpPr>
        <p:graphicFrame>
          <p:nvGraphicFramePr>
            <p:cNvPr id="95235" name="Object 3"/>
            <p:cNvGraphicFramePr>
              <a:graphicFrameLocks noGrp="1" noChangeAspect="1"/>
            </p:cNvGraphicFramePr>
            <p:nvPr>
              <p:ph idx="1"/>
            </p:nvPr>
          </p:nvGraphicFramePr>
          <p:xfrm>
            <a:off x="2038095" y="779646"/>
            <a:ext cx="6362252" cy="3753853"/>
          </p:xfrm>
          <a:graphic>
            <a:graphicData uri="http://schemas.openxmlformats.org/presentationml/2006/ole">
              <mc:AlternateContent xmlns:mc="http://schemas.openxmlformats.org/markup-compatibility/2006">
                <mc:Choice xmlns:v="urn:schemas-microsoft-com:vml" Requires="v">
                  <p:oleObj name="Microsoft Equation 3.0" r:id="rId4" imgW="1828800" imgH="1434960" progId="Equation.3">
                    <p:embed/>
                  </p:oleObj>
                </mc:Choice>
                <mc:Fallback>
                  <p:oleObj name="Microsoft Equation 3.0" r:id="rId4" imgW="1828800" imgH="1434960" progId="Equation.3">
                    <p:embed/>
                    <p:pic>
                      <p:nvPicPr>
                        <p:cNvPr id="0"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38095" y="779646"/>
                          <a:ext cx="6362252" cy="375385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Rectangle 8"/>
            <p:cNvSpPr/>
            <p:nvPr/>
          </p:nvSpPr>
          <p:spPr>
            <a:xfrm>
              <a:off x="1357938" y="1184966"/>
              <a:ext cx="737702" cy="430887"/>
            </a:xfrm>
            <a:prstGeom prst="rect">
              <a:avLst/>
            </a:prstGeom>
          </p:spPr>
          <p:txBody>
            <a:bodyPr wrap="none">
              <a:spAutoFit/>
            </a:bodyPr>
            <a:lstStyle/>
            <a:p>
              <a:r>
                <a:rPr lang="en-US" sz="2200" dirty="0">
                  <a:latin typeface="Times New Roman" pitchFamily="18" charset="0"/>
                  <a:cs typeface="Times New Roman" pitchFamily="18" charset="0"/>
                </a:rPr>
                <a:t>2. ℒ </a:t>
              </a:r>
              <a:endParaRPr lang="en-US" sz="2200" dirty="0"/>
            </a:p>
          </p:txBody>
        </p:sp>
      </p:grpSp>
      <p:sp>
        <p:nvSpPr>
          <p:cNvPr id="10" name="TextBox 9"/>
          <p:cNvSpPr txBox="1"/>
          <p:nvPr/>
        </p:nvSpPr>
        <p:spPr>
          <a:xfrm>
            <a:off x="368539" y="4752109"/>
            <a:ext cx="5306985" cy="430887"/>
          </a:xfrm>
          <a:prstGeom prst="rect">
            <a:avLst/>
          </a:prstGeom>
          <a:noFill/>
        </p:spPr>
        <p:txBody>
          <a:bodyPr wrap="square" rtlCol="0">
            <a:spAutoFit/>
          </a:bodyPr>
          <a:lstStyle/>
          <a:p>
            <a:r>
              <a:rPr lang="en-US" sz="2200" dirty="0">
                <a:solidFill>
                  <a:srgbClr val="7030A0"/>
                </a:solidFill>
                <a:latin typeface="Times New Roman" pitchFamily="18" charset="0"/>
                <a:cs typeface="Times New Roman" pitchFamily="18" charset="0"/>
              </a:rPr>
              <a:t>SOME IMPORTANT RELATION:</a:t>
            </a:r>
          </a:p>
        </p:txBody>
      </p:sp>
      <p:graphicFrame>
        <p:nvGraphicFramePr>
          <p:cNvPr id="11" name="Object 10"/>
          <p:cNvGraphicFramePr>
            <a:graphicFrameLocks noChangeAspect="1"/>
          </p:cNvGraphicFramePr>
          <p:nvPr/>
        </p:nvGraphicFramePr>
        <p:xfrm>
          <a:off x="2248634" y="5244313"/>
          <a:ext cx="8272584" cy="914400"/>
        </p:xfrm>
        <a:graphic>
          <a:graphicData uri="http://schemas.openxmlformats.org/presentationml/2006/ole">
            <mc:AlternateContent xmlns:mc="http://schemas.openxmlformats.org/markup-compatibility/2006">
              <mc:Choice xmlns:v="urn:schemas-microsoft-com:vml" Requires="v">
                <p:oleObj name="Equation" r:id="rId6" imgW="3022560" imgH="444240" progId="Equation.3">
                  <p:embed/>
                </p:oleObj>
              </mc:Choice>
              <mc:Fallback>
                <p:oleObj name="Equation" r:id="rId6" imgW="3022560" imgH="444240" progId="Equation.3">
                  <p:embed/>
                  <p:pic>
                    <p:nvPicPr>
                      <p:cNvPr id="0" name="Picture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48634" y="5244313"/>
                        <a:ext cx="8272584" cy="914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003" y="71415"/>
            <a:ext cx="11591833" cy="714380"/>
          </a:xfrm>
        </p:spPr>
        <p:txBody>
          <a:bodyPr>
            <a:normAutofit/>
          </a:bodyPr>
          <a:lstStyle/>
          <a:p>
            <a:r>
              <a:rPr lang="en-IN" sz="2800" dirty="0">
                <a:solidFill>
                  <a:srgbClr val="00B050"/>
                </a:solidFill>
                <a:latin typeface="Times New Roman" pitchFamily="18" charset="0"/>
                <a:cs typeface="Times New Roman" pitchFamily="18" charset="0"/>
              </a:rPr>
              <a:t>LAPLACE TRANSFORM</a:t>
            </a:r>
            <a:endParaRPr lang="en-US" sz="2800" dirty="0">
              <a:solidFill>
                <a:srgbClr val="FF0000"/>
              </a:solidFill>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2186F227-248D-4963-99BB-700C4C3FB295}" type="datetime2">
              <a:rPr lang="en-US" smtClean="0"/>
              <a:pPr/>
              <a:t>Monday, June 29, 2026</a:t>
            </a:fld>
            <a:endParaRPr lang="en-US"/>
          </a:p>
        </p:txBody>
      </p:sp>
      <p:sp>
        <p:nvSpPr>
          <p:cNvPr id="5" name="Footer Placeholder 4"/>
          <p:cNvSpPr>
            <a:spLocks noGrp="1"/>
          </p:cNvSpPr>
          <p:nvPr>
            <p:ph type="ftr" sz="quarter" idx="11"/>
          </p:nvPr>
        </p:nvSpPr>
        <p:spPr/>
        <p:txBody>
          <a:bodyPr/>
          <a:lstStyle/>
          <a:p>
            <a:r>
              <a:rPr lang="en-US"/>
              <a:t>syed hasan saeed</a:t>
            </a:r>
          </a:p>
        </p:txBody>
      </p:sp>
      <p:sp>
        <p:nvSpPr>
          <p:cNvPr id="6" name="Slide Number Placeholder 5"/>
          <p:cNvSpPr>
            <a:spLocks noGrp="1"/>
          </p:cNvSpPr>
          <p:nvPr>
            <p:ph type="sldNum" sz="quarter" idx="12"/>
          </p:nvPr>
        </p:nvSpPr>
        <p:spPr/>
        <p:txBody>
          <a:bodyPr/>
          <a:lstStyle/>
          <a:p>
            <a:fld id="{435E54C7-FAA8-46C1-A880-53547F97989D}" type="slidenum">
              <a:rPr lang="en-US" smtClean="0"/>
              <a:pPr/>
              <a:t>8</a:t>
            </a:fld>
            <a:endParaRPr lang="en-US"/>
          </a:p>
        </p:txBody>
      </p:sp>
      <p:sp>
        <p:nvSpPr>
          <p:cNvPr id="7" name="Content Placeholder 6"/>
          <p:cNvSpPr>
            <a:spLocks noGrp="1"/>
          </p:cNvSpPr>
          <p:nvPr>
            <p:ph idx="1"/>
          </p:nvPr>
        </p:nvSpPr>
        <p:spPr>
          <a:xfrm>
            <a:off x="189988" y="714357"/>
            <a:ext cx="11781863" cy="5643603"/>
          </a:xfrm>
        </p:spPr>
        <p:txBody>
          <a:bodyPr>
            <a:normAutofit/>
          </a:bodyPr>
          <a:lstStyle/>
          <a:p>
            <a:pPr>
              <a:lnSpc>
                <a:spcPct val="150000"/>
              </a:lnSpc>
              <a:buNone/>
            </a:pPr>
            <a:r>
              <a:rPr lang="en-US" sz="2200" dirty="0">
                <a:latin typeface="Times New Roman" pitchFamily="18" charset="0"/>
                <a:cs typeface="Times New Roman" pitchFamily="18" charset="0"/>
              </a:rPr>
              <a:t>  </a:t>
            </a:r>
          </a:p>
          <a:p>
            <a:pPr>
              <a:lnSpc>
                <a:spcPct val="150000"/>
              </a:lnSpc>
              <a:buNone/>
            </a:pPr>
            <a:endParaRPr lang="en-US" sz="2000" dirty="0">
              <a:solidFill>
                <a:srgbClr val="7030A0"/>
              </a:solidFill>
              <a:latin typeface="Times New Roman" pitchFamily="18" charset="0"/>
              <a:cs typeface="Times New Roman" pitchFamily="18" charset="0"/>
            </a:endParaRPr>
          </a:p>
        </p:txBody>
      </p:sp>
      <p:graphicFrame>
        <p:nvGraphicFramePr>
          <p:cNvPr id="8" name="Object 7"/>
          <p:cNvGraphicFramePr>
            <a:graphicFrameLocks noChangeAspect="1"/>
          </p:cNvGraphicFramePr>
          <p:nvPr/>
        </p:nvGraphicFramePr>
        <p:xfrm>
          <a:off x="6004908" y="3321051"/>
          <a:ext cx="152023" cy="215900"/>
        </p:xfrm>
        <a:graphic>
          <a:graphicData uri="http://schemas.openxmlformats.org/presentationml/2006/ole">
            <mc:AlternateContent xmlns:mc="http://schemas.openxmlformats.org/markup-compatibility/2006">
              <mc:Choice xmlns:v="urn:schemas-microsoft-com:vml" Requires="v">
                <p:oleObj name="Equation" r:id="rId2" imgW="114120" imgH="215640" progId="Equation.3">
                  <p:embed/>
                </p:oleObj>
              </mc:Choice>
              <mc:Fallback>
                <p:oleObj name="Equation" r:id="rId2" imgW="114120" imgH="215640" progId="Equation.3">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04908" y="3321051"/>
                        <a:ext cx="152023"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Rectangle 12"/>
          <p:cNvSpPr/>
          <p:nvPr/>
        </p:nvSpPr>
        <p:spPr>
          <a:xfrm>
            <a:off x="3617829" y="2831033"/>
            <a:ext cx="583176" cy="461665"/>
          </a:xfrm>
          <a:prstGeom prst="rect">
            <a:avLst/>
          </a:prstGeom>
        </p:spPr>
        <p:txBody>
          <a:bodyPr wrap="square">
            <a:spAutoFit/>
          </a:bodyPr>
          <a:lstStyle/>
          <a:p>
            <a:r>
              <a:rPr lang="en-US" sz="2400" dirty="0">
                <a:latin typeface="Times New Roman" pitchFamily="18" charset="0"/>
                <a:cs typeface="Times New Roman" pitchFamily="18" charset="0"/>
              </a:rPr>
              <a:t>ℒ </a:t>
            </a:r>
            <a:endParaRPr lang="en-US" sz="2400" dirty="0"/>
          </a:p>
        </p:txBody>
      </p:sp>
      <p:grpSp>
        <p:nvGrpSpPr>
          <p:cNvPr id="16" name="Group 15"/>
          <p:cNvGrpSpPr/>
          <p:nvPr/>
        </p:nvGrpSpPr>
        <p:grpSpPr>
          <a:xfrm>
            <a:off x="1850471" y="806550"/>
            <a:ext cx="8641066" cy="5074486"/>
            <a:chOff x="1850471" y="806550"/>
            <a:chExt cx="8641066" cy="5074486"/>
          </a:xfrm>
        </p:grpSpPr>
        <p:grpSp>
          <p:nvGrpSpPr>
            <p:cNvPr id="15" name="Group 14"/>
            <p:cNvGrpSpPr/>
            <p:nvPr/>
          </p:nvGrpSpPr>
          <p:grpSpPr>
            <a:xfrm>
              <a:off x="1850471" y="806550"/>
              <a:ext cx="8641066" cy="5074486"/>
              <a:chOff x="743566" y="796925"/>
              <a:chExt cx="8378209" cy="4979988"/>
            </a:xfrm>
          </p:grpSpPr>
          <p:graphicFrame>
            <p:nvGraphicFramePr>
              <p:cNvPr id="9" name="Object 8"/>
              <p:cNvGraphicFramePr>
                <a:graphicFrameLocks noChangeAspect="1"/>
              </p:cNvGraphicFramePr>
              <p:nvPr/>
            </p:nvGraphicFramePr>
            <p:xfrm>
              <a:off x="1143000" y="796925"/>
              <a:ext cx="7978775" cy="4979988"/>
            </p:xfrm>
            <a:graphic>
              <a:graphicData uri="http://schemas.openxmlformats.org/presentationml/2006/ole">
                <mc:AlternateContent xmlns:mc="http://schemas.openxmlformats.org/markup-compatibility/2006">
                  <mc:Choice xmlns:v="urn:schemas-microsoft-com:vml" Requires="v">
                    <p:oleObj name="Equation" r:id="rId4" imgW="2984400" imgH="2476440" progId="Equation.3">
                      <p:embed/>
                    </p:oleObj>
                  </mc:Choice>
                  <mc:Fallback>
                    <p:oleObj name="Equation" r:id="rId4" imgW="2984400" imgH="2476440" progId="Equation.3">
                      <p:embed/>
                      <p:pic>
                        <p:nvPicPr>
                          <p:cNvPr id="0" name="Picture 3"/>
                          <p:cNvPicPr preferRelativeResize="0">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43000" y="796925"/>
                            <a:ext cx="7978775" cy="49799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Rectangle 9"/>
              <p:cNvSpPr/>
              <p:nvPr/>
            </p:nvSpPr>
            <p:spPr>
              <a:xfrm>
                <a:off x="743566" y="2842555"/>
                <a:ext cx="455574" cy="430887"/>
              </a:xfrm>
              <a:prstGeom prst="rect">
                <a:avLst/>
              </a:prstGeom>
            </p:spPr>
            <p:txBody>
              <a:bodyPr wrap="none">
                <a:spAutoFit/>
              </a:bodyPr>
              <a:lstStyle/>
              <a:p>
                <a:r>
                  <a:rPr lang="en-US" sz="2200" dirty="0">
                    <a:latin typeface="Times New Roman" pitchFamily="18" charset="0"/>
                    <a:cs typeface="Times New Roman" pitchFamily="18" charset="0"/>
                  </a:rPr>
                  <a:t>ℒ </a:t>
                </a:r>
                <a:endParaRPr lang="en-US" sz="2200" dirty="0"/>
              </a:p>
            </p:txBody>
          </p:sp>
        </p:grpSp>
        <p:sp>
          <p:nvSpPr>
            <p:cNvPr id="11" name="Rectangle 10"/>
            <p:cNvSpPr/>
            <p:nvPr/>
          </p:nvSpPr>
          <p:spPr>
            <a:xfrm>
              <a:off x="7487869" y="2787134"/>
              <a:ext cx="479618" cy="461665"/>
            </a:xfrm>
            <a:prstGeom prst="rect">
              <a:avLst/>
            </a:prstGeom>
          </p:spPr>
          <p:txBody>
            <a:bodyPr wrap="none">
              <a:spAutoFit/>
            </a:bodyPr>
            <a:lstStyle/>
            <a:p>
              <a:r>
                <a:rPr lang="en-US" sz="2400" dirty="0">
                  <a:latin typeface="Times New Roman" pitchFamily="18" charset="0"/>
                  <a:cs typeface="Times New Roman" pitchFamily="18" charset="0"/>
                </a:rPr>
                <a:t>ℒ </a:t>
              </a:r>
              <a:endParaRPr lang="en-US" sz="2400" dirty="0"/>
            </a:p>
          </p:txBody>
        </p:sp>
        <p:sp>
          <p:nvSpPr>
            <p:cNvPr id="14" name="Rectangle 13"/>
            <p:cNvSpPr/>
            <p:nvPr/>
          </p:nvSpPr>
          <p:spPr>
            <a:xfrm>
              <a:off x="8905140" y="2850283"/>
              <a:ext cx="479618" cy="461665"/>
            </a:xfrm>
            <a:prstGeom prst="rect">
              <a:avLst/>
            </a:prstGeom>
          </p:spPr>
          <p:txBody>
            <a:bodyPr wrap="none">
              <a:spAutoFit/>
            </a:bodyPr>
            <a:lstStyle/>
            <a:p>
              <a:r>
                <a:rPr lang="en-US" sz="2400" dirty="0">
                  <a:latin typeface="Times New Roman" pitchFamily="18" charset="0"/>
                  <a:cs typeface="Times New Roman" pitchFamily="18" charset="0"/>
                </a:rPr>
                <a:t>ℒ </a:t>
              </a:r>
              <a:endParaRPr lang="en-US" sz="2400" dirty="0"/>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003" y="71415"/>
            <a:ext cx="11591833" cy="714380"/>
          </a:xfrm>
        </p:spPr>
        <p:txBody>
          <a:bodyPr>
            <a:normAutofit/>
          </a:bodyPr>
          <a:lstStyle/>
          <a:p>
            <a:r>
              <a:rPr lang="en-IN" sz="2800" dirty="0">
                <a:solidFill>
                  <a:srgbClr val="00B050"/>
                </a:solidFill>
                <a:latin typeface="Times New Roman" pitchFamily="18" charset="0"/>
                <a:cs typeface="Times New Roman" pitchFamily="18" charset="0"/>
              </a:rPr>
              <a:t>LAPLACE TRANSFORM</a:t>
            </a:r>
            <a:endParaRPr lang="en-US" sz="2800" dirty="0">
              <a:solidFill>
                <a:srgbClr val="FF0000"/>
              </a:solidFill>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2186F227-248D-4963-99BB-700C4C3FB295}" type="datetime2">
              <a:rPr lang="en-US" smtClean="0"/>
              <a:pPr/>
              <a:t>Monday, June 29, 2026</a:t>
            </a:fld>
            <a:endParaRPr lang="en-US"/>
          </a:p>
        </p:txBody>
      </p:sp>
      <p:sp>
        <p:nvSpPr>
          <p:cNvPr id="5" name="Footer Placeholder 4"/>
          <p:cNvSpPr>
            <a:spLocks noGrp="1"/>
          </p:cNvSpPr>
          <p:nvPr>
            <p:ph type="ftr" sz="quarter" idx="11"/>
          </p:nvPr>
        </p:nvSpPr>
        <p:spPr/>
        <p:txBody>
          <a:bodyPr/>
          <a:lstStyle/>
          <a:p>
            <a:r>
              <a:rPr lang="en-US"/>
              <a:t>syed hasan saeed</a:t>
            </a:r>
          </a:p>
        </p:txBody>
      </p:sp>
      <p:sp>
        <p:nvSpPr>
          <p:cNvPr id="6" name="Slide Number Placeholder 5"/>
          <p:cNvSpPr>
            <a:spLocks noGrp="1"/>
          </p:cNvSpPr>
          <p:nvPr>
            <p:ph type="sldNum" sz="quarter" idx="12"/>
          </p:nvPr>
        </p:nvSpPr>
        <p:spPr/>
        <p:txBody>
          <a:bodyPr/>
          <a:lstStyle/>
          <a:p>
            <a:fld id="{435E54C7-FAA8-46C1-A880-53547F97989D}" type="slidenum">
              <a:rPr lang="en-US" smtClean="0"/>
              <a:pPr/>
              <a:t>9</a:t>
            </a:fld>
            <a:endParaRPr lang="en-US"/>
          </a:p>
        </p:txBody>
      </p:sp>
      <p:sp>
        <p:nvSpPr>
          <p:cNvPr id="7" name="Content Placeholder 6"/>
          <p:cNvSpPr>
            <a:spLocks noGrp="1"/>
          </p:cNvSpPr>
          <p:nvPr>
            <p:ph idx="1"/>
          </p:nvPr>
        </p:nvSpPr>
        <p:spPr>
          <a:xfrm>
            <a:off x="189988" y="714357"/>
            <a:ext cx="11781863" cy="5643603"/>
          </a:xfrm>
        </p:spPr>
        <p:txBody>
          <a:bodyPr>
            <a:normAutofit/>
          </a:bodyPr>
          <a:lstStyle/>
          <a:p>
            <a:pPr>
              <a:lnSpc>
                <a:spcPct val="150000"/>
              </a:lnSpc>
              <a:buNone/>
            </a:pPr>
            <a:r>
              <a:rPr lang="en-US" sz="2200" dirty="0">
                <a:latin typeface="Times New Roman" pitchFamily="18" charset="0"/>
                <a:cs typeface="Times New Roman" pitchFamily="18" charset="0"/>
              </a:rPr>
              <a:t>  </a:t>
            </a:r>
            <a:r>
              <a:rPr lang="en-US" sz="2400" dirty="0">
                <a:latin typeface="Times New Roman" pitchFamily="18" charset="0"/>
                <a:cs typeface="Times New Roman" pitchFamily="18" charset="0"/>
              </a:rPr>
              <a:t>Damped sine and cosine functions:</a:t>
            </a:r>
          </a:p>
          <a:p>
            <a:pPr>
              <a:lnSpc>
                <a:spcPct val="150000"/>
              </a:lnSpc>
              <a:buNone/>
            </a:pPr>
            <a:endParaRPr lang="en-US" sz="2200" dirty="0">
              <a:latin typeface="Times New Roman" pitchFamily="18" charset="0"/>
              <a:cs typeface="Times New Roman" pitchFamily="18" charset="0"/>
            </a:endParaRPr>
          </a:p>
          <a:p>
            <a:pPr>
              <a:lnSpc>
                <a:spcPct val="150000"/>
              </a:lnSpc>
              <a:buNone/>
            </a:pPr>
            <a:endParaRPr lang="en-US" sz="2000" dirty="0">
              <a:solidFill>
                <a:srgbClr val="7030A0"/>
              </a:solidFill>
              <a:latin typeface="Times New Roman" pitchFamily="18" charset="0"/>
              <a:cs typeface="Times New Roman" pitchFamily="18" charset="0"/>
            </a:endParaRPr>
          </a:p>
        </p:txBody>
      </p:sp>
      <p:graphicFrame>
        <p:nvGraphicFramePr>
          <p:cNvPr id="8" name="Object 7"/>
          <p:cNvGraphicFramePr>
            <a:graphicFrameLocks noChangeAspect="1"/>
          </p:cNvGraphicFramePr>
          <p:nvPr/>
        </p:nvGraphicFramePr>
        <p:xfrm>
          <a:off x="6004908" y="3321051"/>
          <a:ext cx="152023" cy="215900"/>
        </p:xfrm>
        <a:graphic>
          <a:graphicData uri="http://schemas.openxmlformats.org/presentationml/2006/ole">
            <mc:AlternateContent xmlns:mc="http://schemas.openxmlformats.org/markup-compatibility/2006">
              <mc:Choice xmlns:v="urn:schemas-microsoft-com:vml" Requires="v">
                <p:oleObj name="Equation" r:id="rId2" imgW="114120" imgH="215640" progId="Equation.3">
                  <p:embed/>
                </p:oleObj>
              </mc:Choice>
              <mc:Fallback>
                <p:oleObj name="Equation" r:id="rId2" imgW="114120" imgH="215640" progId="Equation.3">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04908" y="3321051"/>
                        <a:ext cx="152023"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2" name="Group 11"/>
          <p:cNvGrpSpPr/>
          <p:nvPr/>
        </p:nvGrpSpPr>
        <p:grpSpPr>
          <a:xfrm>
            <a:off x="2679155" y="1255711"/>
            <a:ext cx="7009322" cy="5124542"/>
            <a:chOff x="2094712" y="1483171"/>
            <a:chExt cx="4688251" cy="4062722"/>
          </a:xfrm>
        </p:grpSpPr>
        <p:graphicFrame>
          <p:nvGraphicFramePr>
            <p:cNvPr id="9" name="Object 8"/>
            <p:cNvGraphicFramePr>
              <a:graphicFrameLocks/>
            </p:cNvGraphicFramePr>
            <p:nvPr/>
          </p:nvGraphicFramePr>
          <p:xfrm>
            <a:off x="2433927" y="1483171"/>
            <a:ext cx="4349036" cy="4062722"/>
          </p:xfrm>
          <a:graphic>
            <a:graphicData uri="http://schemas.openxmlformats.org/presentationml/2006/ole">
              <mc:AlternateContent xmlns:mc="http://schemas.openxmlformats.org/markup-compatibility/2006">
                <mc:Choice xmlns:v="urn:schemas-microsoft-com:vml" Requires="v">
                  <p:oleObj name="Microsoft Equation 3.0" r:id="rId4" imgW="2158920" imgH="2057400" progId="Equation.3">
                    <p:embed/>
                  </p:oleObj>
                </mc:Choice>
                <mc:Fallback>
                  <p:oleObj name="Microsoft Equation 3.0" r:id="rId4" imgW="2158920" imgH="2057400" progId="Equation.3">
                    <p:embed/>
                    <p:pic>
                      <p:nvPicPr>
                        <p:cNvPr id="0" name="Picture 3"/>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33927" y="1483171"/>
                          <a:ext cx="4349036" cy="40627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Rectangle 9"/>
            <p:cNvSpPr/>
            <p:nvPr/>
          </p:nvSpPr>
          <p:spPr>
            <a:xfrm>
              <a:off x="2095829" y="4953900"/>
              <a:ext cx="320797" cy="366007"/>
            </a:xfrm>
            <a:prstGeom prst="rect">
              <a:avLst/>
            </a:prstGeom>
          </p:spPr>
          <p:txBody>
            <a:bodyPr wrap="none">
              <a:spAutoFit/>
            </a:bodyPr>
            <a:lstStyle/>
            <a:p>
              <a:r>
                <a:rPr lang="en-US" sz="2400" dirty="0">
                  <a:latin typeface="Times New Roman" pitchFamily="18" charset="0"/>
                  <a:cs typeface="Times New Roman" pitchFamily="18" charset="0"/>
                </a:rPr>
                <a:t>ℒ </a:t>
              </a:r>
              <a:endParaRPr lang="en-US" sz="2400" dirty="0"/>
            </a:p>
          </p:txBody>
        </p:sp>
        <p:sp>
          <p:nvSpPr>
            <p:cNvPr id="11" name="Rectangle 10"/>
            <p:cNvSpPr/>
            <p:nvPr/>
          </p:nvSpPr>
          <p:spPr>
            <a:xfrm>
              <a:off x="2094712" y="3091714"/>
              <a:ext cx="320797" cy="366007"/>
            </a:xfrm>
            <a:prstGeom prst="rect">
              <a:avLst/>
            </a:prstGeom>
          </p:spPr>
          <p:txBody>
            <a:bodyPr wrap="none">
              <a:spAutoFit/>
            </a:bodyPr>
            <a:lstStyle/>
            <a:p>
              <a:r>
                <a:rPr lang="en-US" sz="2400" dirty="0">
                  <a:latin typeface="Times New Roman" pitchFamily="18" charset="0"/>
                  <a:cs typeface="Times New Roman" pitchFamily="18" charset="0"/>
                </a:rPr>
                <a:t>ℒ </a:t>
              </a:r>
              <a:endParaRPr lang="en-US" sz="2400" dirty="0"/>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003" y="71415"/>
            <a:ext cx="11591833" cy="714380"/>
          </a:xfrm>
        </p:spPr>
        <p:txBody>
          <a:bodyPr>
            <a:normAutofit/>
          </a:bodyPr>
          <a:lstStyle/>
          <a:p>
            <a:r>
              <a:rPr lang="en-IN" sz="2800" dirty="0">
                <a:solidFill>
                  <a:srgbClr val="00B050"/>
                </a:solidFill>
                <a:latin typeface="Times New Roman" pitchFamily="18" charset="0"/>
                <a:cs typeface="Times New Roman" pitchFamily="18" charset="0"/>
              </a:rPr>
              <a:t>LAPLACE TRANSFORM</a:t>
            </a:r>
            <a:endParaRPr lang="en-US" sz="2800" dirty="0">
              <a:solidFill>
                <a:srgbClr val="FF0000"/>
              </a:solidFill>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2186F227-248D-4963-99BB-700C4C3FB295}" type="datetime2">
              <a:rPr lang="en-US" smtClean="0"/>
              <a:pPr/>
              <a:t>Monday, June 29, 2026</a:t>
            </a:fld>
            <a:endParaRPr lang="en-US"/>
          </a:p>
        </p:txBody>
      </p:sp>
      <p:sp>
        <p:nvSpPr>
          <p:cNvPr id="5" name="Footer Placeholder 4"/>
          <p:cNvSpPr>
            <a:spLocks noGrp="1"/>
          </p:cNvSpPr>
          <p:nvPr>
            <p:ph type="ftr" sz="quarter" idx="11"/>
          </p:nvPr>
        </p:nvSpPr>
        <p:spPr/>
        <p:txBody>
          <a:bodyPr/>
          <a:lstStyle/>
          <a:p>
            <a:r>
              <a:rPr lang="en-US"/>
              <a:t>syed hasan saeed</a:t>
            </a:r>
          </a:p>
        </p:txBody>
      </p:sp>
      <p:sp>
        <p:nvSpPr>
          <p:cNvPr id="6" name="Slide Number Placeholder 5"/>
          <p:cNvSpPr>
            <a:spLocks noGrp="1"/>
          </p:cNvSpPr>
          <p:nvPr>
            <p:ph type="sldNum" sz="quarter" idx="12"/>
          </p:nvPr>
        </p:nvSpPr>
        <p:spPr/>
        <p:txBody>
          <a:bodyPr/>
          <a:lstStyle/>
          <a:p>
            <a:fld id="{435E54C7-FAA8-46C1-A880-53547F97989D}" type="slidenum">
              <a:rPr lang="en-US" smtClean="0"/>
              <a:pPr/>
              <a:t>10</a:t>
            </a:fld>
            <a:endParaRPr lang="en-US"/>
          </a:p>
        </p:txBody>
      </p:sp>
      <p:sp>
        <p:nvSpPr>
          <p:cNvPr id="7" name="Content Placeholder 6"/>
          <p:cNvSpPr>
            <a:spLocks noGrp="1"/>
          </p:cNvSpPr>
          <p:nvPr>
            <p:ph idx="1"/>
          </p:nvPr>
        </p:nvSpPr>
        <p:spPr>
          <a:xfrm>
            <a:off x="189988" y="714357"/>
            <a:ext cx="11781863" cy="5643603"/>
          </a:xfrm>
        </p:spPr>
        <p:txBody>
          <a:bodyPr>
            <a:normAutofit/>
          </a:bodyPr>
          <a:lstStyle/>
          <a:p>
            <a:pPr>
              <a:lnSpc>
                <a:spcPct val="150000"/>
              </a:lnSpc>
              <a:buNone/>
            </a:pPr>
            <a:r>
              <a:rPr lang="en-US" sz="2400" dirty="0">
                <a:latin typeface="Times New Roman" pitchFamily="18" charset="0"/>
                <a:cs typeface="Times New Roman" pitchFamily="18" charset="0"/>
              </a:rPr>
              <a:t>  Similarly, </a:t>
            </a:r>
          </a:p>
          <a:p>
            <a:pPr>
              <a:lnSpc>
                <a:spcPct val="150000"/>
              </a:lnSpc>
              <a:buNone/>
            </a:pPr>
            <a:endParaRPr lang="en-US" sz="2400" dirty="0">
              <a:latin typeface="Times New Roman" pitchFamily="18" charset="0"/>
              <a:cs typeface="Times New Roman" pitchFamily="18" charset="0"/>
            </a:endParaRPr>
          </a:p>
          <a:p>
            <a:pPr>
              <a:lnSpc>
                <a:spcPct val="150000"/>
              </a:lnSpc>
              <a:buNone/>
            </a:pPr>
            <a:endParaRPr lang="en-US" sz="2000" dirty="0">
              <a:solidFill>
                <a:srgbClr val="7030A0"/>
              </a:solidFill>
              <a:latin typeface="Times New Roman" pitchFamily="18" charset="0"/>
              <a:cs typeface="Times New Roman" pitchFamily="18" charset="0"/>
            </a:endParaRPr>
          </a:p>
        </p:txBody>
      </p:sp>
      <p:graphicFrame>
        <p:nvGraphicFramePr>
          <p:cNvPr id="8" name="Object 7"/>
          <p:cNvGraphicFramePr>
            <a:graphicFrameLocks noChangeAspect="1"/>
          </p:cNvGraphicFramePr>
          <p:nvPr/>
        </p:nvGraphicFramePr>
        <p:xfrm>
          <a:off x="6004908" y="3321051"/>
          <a:ext cx="152023" cy="215900"/>
        </p:xfrm>
        <a:graphic>
          <a:graphicData uri="http://schemas.openxmlformats.org/presentationml/2006/ole">
            <mc:AlternateContent xmlns:mc="http://schemas.openxmlformats.org/markup-compatibility/2006">
              <mc:Choice xmlns:v="urn:schemas-microsoft-com:vml" Requires="v">
                <p:oleObj name="Equation" r:id="rId2" imgW="114120" imgH="215640" progId="Equation.3">
                  <p:embed/>
                </p:oleObj>
              </mc:Choice>
              <mc:Fallback>
                <p:oleObj name="Equation" r:id="rId2" imgW="114120" imgH="215640" progId="Equation.3">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04908" y="3321051"/>
                        <a:ext cx="152023"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2163" name="Object 3"/>
          <p:cNvGraphicFramePr>
            <a:graphicFrameLocks noChangeAspect="1"/>
          </p:cNvGraphicFramePr>
          <p:nvPr/>
        </p:nvGraphicFramePr>
        <p:xfrm>
          <a:off x="2617753" y="1274619"/>
          <a:ext cx="3926912" cy="839932"/>
        </p:xfrm>
        <a:graphic>
          <a:graphicData uri="http://schemas.openxmlformats.org/presentationml/2006/ole">
            <mc:AlternateContent xmlns:mc="http://schemas.openxmlformats.org/markup-compatibility/2006">
              <mc:Choice xmlns:v="urn:schemas-microsoft-com:vml" Requires="v">
                <p:oleObj name="Equation" r:id="rId4" imgW="1473120" imgH="419040" progId="Equation.3">
                  <p:embed/>
                </p:oleObj>
              </mc:Choice>
              <mc:Fallback>
                <p:oleObj name="Equation" r:id="rId4" imgW="1473120" imgH="419040" progId="Equation.3">
                  <p:embed/>
                  <p:pic>
                    <p:nvPicPr>
                      <p:cNvPr id="0"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17753" y="1274619"/>
                        <a:ext cx="3926912" cy="8399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 name="Rectangle 8"/>
          <p:cNvSpPr/>
          <p:nvPr/>
        </p:nvSpPr>
        <p:spPr>
          <a:xfrm>
            <a:off x="2137610" y="1415594"/>
            <a:ext cx="479618" cy="461665"/>
          </a:xfrm>
          <a:prstGeom prst="rect">
            <a:avLst/>
          </a:prstGeom>
        </p:spPr>
        <p:txBody>
          <a:bodyPr wrap="none">
            <a:spAutoFit/>
          </a:bodyPr>
          <a:lstStyle/>
          <a:p>
            <a:r>
              <a:rPr lang="en-US" sz="2400" dirty="0">
                <a:latin typeface="Times New Roman" pitchFamily="18" charset="0"/>
                <a:cs typeface="Times New Roman" pitchFamily="18" charset="0"/>
              </a:rPr>
              <a:t>ℒ </a:t>
            </a:r>
            <a:endParaRPr lang="en-US" sz="2400" dirty="0"/>
          </a:p>
        </p:txBody>
      </p:sp>
      <p:graphicFrame>
        <p:nvGraphicFramePr>
          <p:cNvPr id="10" name="Object 9"/>
          <p:cNvGraphicFramePr>
            <a:graphicFrameLocks noChangeAspect="1"/>
          </p:cNvGraphicFramePr>
          <p:nvPr/>
        </p:nvGraphicFramePr>
        <p:xfrm>
          <a:off x="2366145" y="2561657"/>
          <a:ext cx="5734644" cy="2917825"/>
        </p:xfrm>
        <a:graphic>
          <a:graphicData uri="http://schemas.openxmlformats.org/presentationml/2006/ole">
            <mc:AlternateContent xmlns:mc="http://schemas.openxmlformats.org/markup-compatibility/2006">
              <mc:Choice xmlns:v="urn:schemas-microsoft-com:vml" Requires="v">
                <p:oleObj name="Microsoft Equation 3.0" r:id="rId6" imgW="2044440" imgH="1384200" progId="Equation.3">
                  <p:embed/>
                </p:oleObj>
              </mc:Choice>
              <mc:Fallback>
                <p:oleObj name="Microsoft Equation 3.0" r:id="rId6" imgW="2044440" imgH="1384200" progId="Equation.3">
                  <p:embed/>
                  <p:pic>
                    <p:nvPicPr>
                      <p:cNvPr id="0" name="Picture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66145" y="2561657"/>
                        <a:ext cx="5734644" cy="2917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Rectangle 10"/>
          <p:cNvSpPr/>
          <p:nvPr/>
        </p:nvSpPr>
        <p:spPr>
          <a:xfrm>
            <a:off x="1818205" y="4740686"/>
            <a:ext cx="479618" cy="461665"/>
          </a:xfrm>
          <a:prstGeom prst="rect">
            <a:avLst/>
          </a:prstGeom>
        </p:spPr>
        <p:txBody>
          <a:bodyPr wrap="none">
            <a:spAutoFit/>
          </a:bodyPr>
          <a:lstStyle/>
          <a:p>
            <a:r>
              <a:rPr lang="en-US" sz="2400" dirty="0">
                <a:latin typeface="Times New Roman" pitchFamily="18" charset="0"/>
                <a:cs typeface="Times New Roman" pitchFamily="18" charset="0"/>
              </a:rPr>
              <a:t>ℒ </a:t>
            </a:r>
            <a:endParaRPr lang="en-US" sz="2400" dirty="0"/>
          </a:p>
        </p:txBody>
      </p:sp>
      <p:sp>
        <p:nvSpPr>
          <p:cNvPr id="12" name="Rectangle 11"/>
          <p:cNvSpPr/>
          <p:nvPr/>
        </p:nvSpPr>
        <p:spPr>
          <a:xfrm>
            <a:off x="1836618" y="3142795"/>
            <a:ext cx="479618" cy="461665"/>
          </a:xfrm>
          <a:prstGeom prst="rect">
            <a:avLst/>
          </a:prstGeom>
        </p:spPr>
        <p:txBody>
          <a:bodyPr wrap="none">
            <a:spAutoFit/>
          </a:bodyPr>
          <a:lstStyle/>
          <a:p>
            <a:r>
              <a:rPr lang="en-US" sz="2400" dirty="0">
                <a:latin typeface="Times New Roman" pitchFamily="18" charset="0"/>
                <a:cs typeface="Times New Roman" pitchFamily="18" charset="0"/>
              </a:rPr>
              <a:t>ℒ </a:t>
            </a:r>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003" y="71415"/>
            <a:ext cx="11591833" cy="714380"/>
          </a:xfrm>
        </p:spPr>
        <p:txBody>
          <a:bodyPr>
            <a:normAutofit/>
          </a:bodyPr>
          <a:lstStyle/>
          <a:p>
            <a:r>
              <a:rPr lang="en-IN" sz="2800" dirty="0">
                <a:solidFill>
                  <a:srgbClr val="00B050"/>
                </a:solidFill>
                <a:latin typeface="Times New Roman" pitchFamily="18" charset="0"/>
                <a:cs typeface="Times New Roman" pitchFamily="18" charset="0"/>
              </a:rPr>
              <a:t>LAPLACE TRANSFORM</a:t>
            </a:r>
            <a:endParaRPr lang="en-US" sz="2800" dirty="0">
              <a:solidFill>
                <a:srgbClr val="FF0000"/>
              </a:solidFill>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2186F227-248D-4963-99BB-700C4C3FB295}" type="datetime2">
              <a:rPr lang="en-US" smtClean="0"/>
              <a:pPr/>
              <a:t>Monday, June 29, 2026</a:t>
            </a:fld>
            <a:endParaRPr lang="en-US"/>
          </a:p>
        </p:txBody>
      </p:sp>
      <p:sp>
        <p:nvSpPr>
          <p:cNvPr id="5" name="Footer Placeholder 4"/>
          <p:cNvSpPr>
            <a:spLocks noGrp="1"/>
          </p:cNvSpPr>
          <p:nvPr>
            <p:ph type="ftr" sz="quarter" idx="11"/>
          </p:nvPr>
        </p:nvSpPr>
        <p:spPr/>
        <p:txBody>
          <a:bodyPr/>
          <a:lstStyle/>
          <a:p>
            <a:r>
              <a:rPr lang="en-US"/>
              <a:t>syed hasan saeed</a:t>
            </a:r>
          </a:p>
        </p:txBody>
      </p:sp>
      <p:sp>
        <p:nvSpPr>
          <p:cNvPr id="6" name="Slide Number Placeholder 5"/>
          <p:cNvSpPr>
            <a:spLocks noGrp="1"/>
          </p:cNvSpPr>
          <p:nvPr>
            <p:ph type="sldNum" sz="quarter" idx="12"/>
          </p:nvPr>
        </p:nvSpPr>
        <p:spPr/>
        <p:txBody>
          <a:bodyPr/>
          <a:lstStyle/>
          <a:p>
            <a:fld id="{435E54C7-FAA8-46C1-A880-53547F97989D}" type="slidenum">
              <a:rPr lang="en-US" smtClean="0"/>
              <a:pPr/>
              <a:t>11</a:t>
            </a:fld>
            <a:endParaRPr lang="en-US"/>
          </a:p>
        </p:txBody>
      </p:sp>
      <p:sp>
        <p:nvSpPr>
          <p:cNvPr id="7" name="Content Placeholder 6"/>
          <p:cNvSpPr>
            <a:spLocks noGrp="1"/>
          </p:cNvSpPr>
          <p:nvPr>
            <p:ph idx="1"/>
          </p:nvPr>
        </p:nvSpPr>
        <p:spPr>
          <a:xfrm>
            <a:off x="189988" y="714357"/>
            <a:ext cx="11781863" cy="5643603"/>
          </a:xfrm>
        </p:spPr>
        <p:txBody>
          <a:bodyPr>
            <a:normAutofit/>
          </a:bodyPr>
          <a:lstStyle/>
          <a:p>
            <a:pPr>
              <a:lnSpc>
                <a:spcPct val="150000"/>
              </a:lnSpc>
              <a:buNone/>
            </a:pPr>
            <a:r>
              <a:rPr lang="en-US" sz="2200" dirty="0">
                <a:latin typeface="Times New Roman" pitchFamily="18" charset="0"/>
                <a:cs typeface="Times New Roman" pitchFamily="18" charset="0"/>
              </a:rPr>
              <a:t>  </a:t>
            </a:r>
          </a:p>
          <a:p>
            <a:pPr>
              <a:lnSpc>
                <a:spcPct val="150000"/>
              </a:lnSpc>
              <a:buNone/>
            </a:pPr>
            <a:endParaRPr lang="en-US" sz="2000" dirty="0">
              <a:solidFill>
                <a:srgbClr val="7030A0"/>
              </a:solidFill>
              <a:latin typeface="Times New Roman" pitchFamily="18" charset="0"/>
              <a:cs typeface="Times New Roman" pitchFamily="18" charset="0"/>
            </a:endParaRPr>
          </a:p>
        </p:txBody>
      </p:sp>
      <p:graphicFrame>
        <p:nvGraphicFramePr>
          <p:cNvPr id="8" name="Object 7"/>
          <p:cNvGraphicFramePr>
            <a:graphicFrameLocks noChangeAspect="1"/>
          </p:cNvGraphicFramePr>
          <p:nvPr/>
        </p:nvGraphicFramePr>
        <p:xfrm>
          <a:off x="6004908" y="3321051"/>
          <a:ext cx="152023" cy="215900"/>
        </p:xfrm>
        <a:graphic>
          <a:graphicData uri="http://schemas.openxmlformats.org/presentationml/2006/ole">
            <mc:AlternateContent xmlns:mc="http://schemas.openxmlformats.org/markup-compatibility/2006">
              <mc:Choice xmlns:v="urn:schemas-microsoft-com:vml" Requires="v">
                <p:oleObj name="Equation" r:id="rId2" imgW="114120" imgH="215640" progId="Equation.3">
                  <p:embed/>
                </p:oleObj>
              </mc:Choice>
              <mc:Fallback>
                <p:oleObj name="Equation" r:id="rId2" imgW="114120" imgH="215640" progId="Equation.3">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04908" y="3321051"/>
                        <a:ext cx="152023"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Object 8"/>
          <p:cNvGraphicFramePr>
            <a:graphicFrameLocks noChangeAspect="1"/>
          </p:cNvGraphicFramePr>
          <p:nvPr/>
        </p:nvGraphicFramePr>
        <p:xfrm>
          <a:off x="5472827" y="3321051"/>
          <a:ext cx="1216184" cy="215900"/>
        </p:xfrm>
        <a:graphic>
          <a:graphicData uri="http://schemas.openxmlformats.org/presentationml/2006/ole">
            <mc:AlternateContent xmlns:mc="http://schemas.openxmlformats.org/markup-compatibility/2006">
              <mc:Choice xmlns:v="urn:schemas-microsoft-com:vml" Requires="v">
                <p:oleObj name="Equation" r:id="rId4" imgW="114120" imgH="215640" progId="Equation.3">
                  <p:embed/>
                </p:oleObj>
              </mc:Choice>
              <mc:Fallback>
                <p:oleObj name="Equation" r:id="rId4" imgW="114120" imgH="215640" progId="Equation.3">
                  <p:embed/>
                  <p:pic>
                    <p:nvPicPr>
                      <p:cNvPr id="0"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72827" y="3321051"/>
                        <a:ext cx="1216184"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 name="Object 9"/>
          <p:cNvGraphicFramePr>
            <a:graphicFrameLocks noChangeAspect="1"/>
          </p:cNvGraphicFramePr>
          <p:nvPr/>
        </p:nvGraphicFramePr>
        <p:xfrm>
          <a:off x="1782226" y="816780"/>
          <a:ext cx="5836301" cy="4751816"/>
        </p:xfrm>
        <a:graphic>
          <a:graphicData uri="http://schemas.openxmlformats.org/presentationml/2006/ole">
            <mc:AlternateContent xmlns:mc="http://schemas.openxmlformats.org/markup-compatibility/2006">
              <mc:Choice xmlns:v="urn:schemas-microsoft-com:vml" Requires="v">
                <p:oleObj name="Equation" r:id="rId5" imgW="1993680" imgH="2158920" progId="Equation.3">
                  <p:embed/>
                </p:oleObj>
              </mc:Choice>
              <mc:Fallback>
                <p:oleObj name="Equation" r:id="rId5" imgW="1993680" imgH="2158920" progId="Equation.3">
                  <p:embed/>
                  <p:pic>
                    <p:nvPicPr>
                      <p:cNvPr id="0"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82226" y="816780"/>
                        <a:ext cx="5836301" cy="475181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Rectangle 12"/>
          <p:cNvSpPr/>
          <p:nvPr/>
        </p:nvSpPr>
        <p:spPr>
          <a:xfrm>
            <a:off x="2822199" y="2583890"/>
            <a:ext cx="479618" cy="461665"/>
          </a:xfrm>
          <a:prstGeom prst="rect">
            <a:avLst/>
          </a:prstGeom>
        </p:spPr>
        <p:txBody>
          <a:bodyPr wrap="none">
            <a:spAutoFit/>
          </a:bodyPr>
          <a:lstStyle/>
          <a:p>
            <a:r>
              <a:rPr lang="en-US" sz="2400" dirty="0">
                <a:latin typeface="Times New Roman" pitchFamily="18" charset="0"/>
                <a:cs typeface="Times New Roman" pitchFamily="18" charset="0"/>
              </a:rPr>
              <a:t>ℒ </a:t>
            </a:r>
            <a:endParaRPr lang="en-US" sz="2400" dirty="0"/>
          </a:p>
        </p:txBody>
      </p:sp>
      <p:sp>
        <p:nvSpPr>
          <p:cNvPr id="14" name="Rectangle 13"/>
          <p:cNvSpPr/>
          <p:nvPr/>
        </p:nvSpPr>
        <p:spPr>
          <a:xfrm>
            <a:off x="2377162" y="4006393"/>
            <a:ext cx="479618" cy="461665"/>
          </a:xfrm>
          <a:prstGeom prst="rect">
            <a:avLst/>
          </a:prstGeom>
        </p:spPr>
        <p:txBody>
          <a:bodyPr wrap="none">
            <a:spAutoFit/>
          </a:bodyPr>
          <a:lstStyle/>
          <a:p>
            <a:r>
              <a:rPr lang="en-US" sz="2400" dirty="0">
                <a:latin typeface="Times New Roman" pitchFamily="18" charset="0"/>
                <a:cs typeface="Times New Roman" pitchFamily="18" charset="0"/>
              </a:rPr>
              <a:t>ℒ </a:t>
            </a:r>
            <a:endParaRPr lang="en-US" sz="2400" dirty="0"/>
          </a:p>
        </p:txBody>
      </p:sp>
      <p:sp>
        <p:nvSpPr>
          <p:cNvPr id="15" name="Rectangle 14"/>
          <p:cNvSpPr/>
          <p:nvPr/>
        </p:nvSpPr>
        <p:spPr>
          <a:xfrm>
            <a:off x="2598285" y="4879230"/>
            <a:ext cx="479618" cy="461665"/>
          </a:xfrm>
          <a:prstGeom prst="rect">
            <a:avLst/>
          </a:prstGeom>
        </p:spPr>
        <p:txBody>
          <a:bodyPr wrap="none">
            <a:spAutoFit/>
          </a:bodyPr>
          <a:lstStyle/>
          <a:p>
            <a:r>
              <a:rPr lang="en-US" sz="2400" dirty="0">
                <a:latin typeface="Times New Roman" pitchFamily="18" charset="0"/>
                <a:cs typeface="Times New Roman" pitchFamily="18" charset="0"/>
              </a:rPr>
              <a:t>ℒ </a:t>
            </a:r>
            <a:endParaRPr 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003" y="71415"/>
            <a:ext cx="11591833" cy="714380"/>
          </a:xfrm>
        </p:spPr>
        <p:txBody>
          <a:bodyPr>
            <a:normAutofit/>
          </a:bodyPr>
          <a:lstStyle/>
          <a:p>
            <a:r>
              <a:rPr lang="en-IN" sz="2800" dirty="0">
                <a:solidFill>
                  <a:srgbClr val="00B050"/>
                </a:solidFill>
                <a:latin typeface="Times New Roman" pitchFamily="18" charset="0"/>
                <a:cs typeface="Times New Roman" pitchFamily="18" charset="0"/>
              </a:rPr>
              <a:t>LAPLACE TRANSFORM</a:t>
            </a:r>
            <a:endParaRPr lang="en-US" sz="2800" dirty="0">
              <a:solidFill>
                <a:srgbClr val="FF0000"/>
              </a:solidFill>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2186F227-248D-4963-99BB-700C4C3FB295}" type="datetime2">
              <a:rPr lang="en-US" smtClean="0"/>
              <a:pPr/>
              <a:t>Monday, June 29, 2026</a:t>
            </a:fld>
            <a:endParaRPr lang="en-US"/>
          </a:p>
        </p:txBody>
      </p:sp>
      <p:sp>
        <p:nvSpPr>
          <p:cNvPr id="5" name="Footer Placeholder 4"/>
          <p:cNvSpPr>
            <a:spLocks noGrp="1"/>
          </p:cNvSpPr>
          <p:nvPr>
            <p:ph type="ftr" sz="quarter" idx="11"/>
          </p:nvPr>
        </p:nvSpPr>
        <p:spPr/>
        <p:txBody>
          <a:bodyPr/>
          <a:lstStyle/>
          <a:p>
            <a:r>
              <a:rPr lang="en-US"/>
              <a:t>syed hasan saeed</a:t>
            </a:r>
          </a:p>
        </p:txBody>
      </p:sp>
      <p:sp>
        <p:nvSpPr>
          <p:cNvPr id="6" name="Slide Number Placeholder 5"/>
          <p:cNvSpPr>
            <a:spLocks noGrp="1"/>
          </p:cNvSpPr>
          <p:nvPr>
            <p:ph type="sldNum" sz="quarter" idx="12"/>
          </p:nvPr>
        </p:nvSpPr>
        <p:spPr/>
        <p:txBody>
          <a:bodyPr/>
          <a:lstStyle/>
          <a:p>
            <a:fld id="{435E54C7-FAA8-46C1-A880-53547F97989D}" type="slidenum">
              <a:rPr lang="en-US" smtClean="0"/>
              <a:pPr/>
              <a:t>12</a:t>
            </a:fld>
            <a:endParaRPr lang="en-US"/>
          </a:p>
        </p:txBody>
      </p:sp>
      <p:sp>
        <p:nvSpPr>
          <p:cNvPr id="7" name="Content Placeholder 6"/>
          <p:cNvSpPr>
            <a:spLocks noGrp="1"/>
          </p:cNvSpPr>
          <p:nvPr>
            <p:ph idx="1"/>
          </p:nvPr>
        </p:nvSpPr>
        <p:spPr>
          <a:xfrm>
            <a:off x="189988" y="714357"/>
            <a:ext cx="11781863" cy="5643603"/>
          </a:xfrm>
        </p:spPr>
        <p:txBody>
          <a:bodyPr>
            <a:normAutofit/>
          </a:bodyPr>
          <a:lstStyle/>
          <a:p>
            <a:pPr>
              <a:lnSpc>
                <a:spcPct val="150000"/>
              </a:lnSpc>
              <a:buNone/>
            </a:pPr>
            <a:r>
              <a:rPr lang="en-US" sz="2400" dirty="0">
                <a:latin typeface="Times New Roman" pitchFamily="18" charset="0"/>
                <a:cs typeface="Times New Roman" pitchFamily="18" charset="0"/>
              </a:rPr>
              <a:t> </a:t>
            </a:r>
            <a:r>
              <a:rPr lang="en-US" sz="2400" dirty="0">
                <a:solidFill>
                  <a:srgbClr val="7030A0"/>
                </a:solidFill>
                <a:latin typeface="Times New Roman" pitchFamily="18" charset="0"/>
                <a:cs typeface="Times New Roman" pitchFamily="18" charset="0"/>
              </a:rPr>
              <a:t>PROPERTIES OF LAPLACE TRANSFORMS: </a:t>
            </a:r>
          </a:p>
          <a:p>
            <a:pPr marL="457200" indent="-457200">
              <a:lnSpc>
                <a:spcPct val="150000"/>
              </a:lnSpc>
              <a:buFont typeface="+mj-lt"/>
              <a:buAutoNum type="arabicPeriod"/>
            </a:pPr>
            <a:r>
              <a:rPr lang="en-US" sz="2400" dirty="0">
                <a:latin typeface="Times New Roman" pitchFamily="18" charset="0"/>
                <a:cs typeface="Times New Roman" pitchFamily="18" charset="0"/>
              </a:rPr>
              <a:t>The Laplace transform of a sum ( or difference) of time function is the sum (or difference) of the Laplace transform the individual time function. </a:t>
            </a:r>
          </a:p>
          <a:p>
            <a:pPr marL="457200" indent="-457200">
              <a:lnSpc>
                <a:spcPct val="150000"/>
              </a:lnSpc>
              <a:buNone/>
            </a:pPr>
            <a:r>
              <a:rPr lang="en-US" sz="2400" dirty="0">
                <a:latin typeface="Times New Roman" pitchFamily="18" charset="0"/>
                <a:cs typeface="Times New Roman" pitchFamily="18" charset="0"/>
              </a:rPr>
              <a:t>      ℒ [ f</a:t>
            </a:r>
            <a:r>
              <a:rPr lang="en-US" sz="2400" baseline="-25000" dirty="0">
                <a:latin typeface="Times New Roman" pitchFamily="18" charset="0"/>
                <a:cs typeface="Times New Roman" pitchFamily="18" charset="0"/>
              </a:rPr>
              <a:t>1</a:t>
            </a:r>
            <a:r>
              <a:rPr lang="en-US" sz="2400" dirty="0">
                <a:latin typeface="Times New Roman" pitchFamily="18" charset="0"/>
                <a:cs typeface="Times New Roman" pitchFamily="18" charset="0"/>
              </a:rPr>
              <a:t>(t) + f</a:t>
            </a:r>
            <a:r>
              <a:rPr lang="en-US" sz="2400" baseline="-25000" dirty="0">
                <a:latin typeface="Times New Roman" pitchFamily="18" charset="0"/>
                <a:cs typeface="Times New Roman" pitchFamily="18" charset="0"/>
              </a:rPr>
              <a:t>2</a:t>
            </a:r>
            <a:r>
              <a:rPr lang="en-US" sz="2400" dirty="0">
                <a:latin typeface="Times New Roman" pitchFamily="18" charset="0"/>
                <a:cs typeface="Times New Roman" pitchFamily="18" charset="0"/>
              </a:rPr>
              <a:t>(t) +………+f</a:t>
            </a:r>
            <a:r>
              <a:rPr lang="en-US" sz="2400" baseline="-25000" dirty="0">
                <a:latin typeface="Times New Roman" pitchFamily="18" charset="0"/>
                <a:cs typeface="Times New Roman" pitchFamily="18" charset="0"/>
              </a:rPr>
              <a:t>n</a:t>
            </a:r>
            <a:r>
              <a:rPr lang="en-US" sz="2400" dirty="0">
                <a:latin typeface="Times New Roman" pitchFamily="18" charset="0"/>
                <a:cs typeface="Times New Roman" pitchFamily="18" charset="0"/>
              </a:rPr>
              <a:t>(t) ] = F</a:t>
            </a:r>
            <a:r>
              <a:rPr lang="en-US" sz="2400" baseline="-25000" dirty="0">
                <a:latin typeface="Times New Roman" pitchFamily="18" charset="0"/>
                <a:cs typeface="Times New Roman" pitchFamily="18" charset="0"/>
              </a:rPr>
              <a:t>1</a:t>
            </a:r>
            <a:r>
              <a:rPr lang="en-US" sz="2400" dirty="0">
                <a:latin typeface="Times New Roman" pitchFamily="18" charset="0"/>
                <a:cs typeface="Times New Roman" pitchFamily="18" charset="0"/>
              </a:rPr>
              <a:t>(s) + F</a:t>
            </a:r>
            <a:r>
              <a:rPr lang="en-US" sz="2400" baseline="-25000" dirty="0">
                <a:latin typeface="Times New Roman" pitchFamily="18" charset="0"/>
                <a:cs typeface="Times New Roman" pitchFamily="18" charset="0"/>
              </a:rPr>
              <a:t>2</a:t>
            </a:r>
            <a:r>
              <a:rPr lang="en-US" sz="2400" dirty="0">
                <a:latin typeface="Times New Roman" pitchFamily="18" charset="0"/>
                <a:cs typeface="Times New Roman" pitchFamily="18" charset="0"/>
              </a:rPr>
              <a:t>(s) + ……..+ F</a:t>
            </a:r>
            <a:r>
              <a:rPr lang="en-US" sz="2400" baseline="-25000" dirty="0">
                <a:latin typeface="Times New Roman" pitchFamily="18" charset="0"/>
                <a:cs typeface="Times New Roman" pitchFamily="18" charset="0"/>
              </a:rPr>
              <a:t>n</a:t>
            </a:r>
            <a:r>
              <a:rPr lang="en-US" sz="2400" dirty="0">
                <a:latin typeface="Times New Roman" pitchFamily="18" charset="0"/>
                <a:cs typeface="Times New Roman" pitchFamily="18" charset="0"/>
              </a:rPr>
              <a:t>(s)</a:t>
            </a:r>
          </a:p>
          <a:p>
            <a:pPr marL="457200" indent="-457200">
              <a:lnSpc>
                <a:spcPct val="150000"/>
              </a:lnSpc>
              <a:buNone/>
            </a:pPr>
            <a:r>
              <a:rPr lang="en-US" sz="2400" dirty="0">
                <a:latin typeface="Times New Roman" pitchFamily="18" charset="0"/>
                <a:cs typeface="Times New Roman" pitchFamily="18" charset="0"/>
              </a:rPr>
              <a:t>2. The Laplace transform of a product of a constant and a time function is equal to the product of the constant and Laplace transform of the time function. </a:t>
            </a:r>
          </a:p>
          <a:p>
            <a:pPr marL="457200" indent="-457200">
              <a:lnSpc>
                <a:spcPct val="150000"/>
              </a:lnSpc>
              <a:buNone/>
            </a:pPr>
            <a:r>
              <a:rPr lang="en-US" sz="2400" dirty="0">
                <a:latin typeface="Times New Roman" pitchFamily="18" charset="0"/>
                <a:cs typeface="Times New Roman" pitchFamily="18" charset="0"/>
              </a:rPr>
              <a:t>       ℒ [ a f(t)] = a </a:t>
            </a:r>
            <a:r>
              <a:rPr lang="en-US" sz="2400" dirty="0">
                <a:latin typeface="Times New Roman"/>
                <a:cs typeface="Times New Roman"/>
              </a:rPr>
              <a:t>ℒ f(t) = a F (s)</a:t>
            </a:r>
            <a:endParaRPr lang="en-US" sz="2400" dirty="0">
              <a:latin typeface="Times New Roman" pitchFamily="18" charset="0"/>
              <a:cs typeface="Times New Roman" pitchFamily="18" charset="0"/>
            </a:endParaRPr>
          </a:p>
        </p:txBody>
      </p:sp>
      <p:graphicFrame>
        <p:nvGraphicFramePr>
          <p:cNvPr id="8" name="Object 7"/>
          <p:cNvGraphicFramePr>
            <a:graphicFrameLocks noChangeAspect="1"/>
          </p:cNvGraphicFramePr>
          <p:nvPr/>
        </p:nvGraphicFramePr>
        <p:xfrm>
          <a:off x="6004908" y="3321051"/>
          <a:ext cx="152023" cy="215900"/>
        </p:xfrm>
        <a:graphic>
          <a:graphicData uri="http://schemas.openxmlformats.org/presentationml/2006/ole">
            <mc:AlternateContent xmlns:mc="http://schemas.openxmlformats.org/markup-compatibility/2006">
              <mc:Choice xmlns:v="urn:schemas-microsoft-com:vml" Requires="v">
                <p:oleObj name="Equation" r:id="rId2" imgW="114120" imgH="215640" progId="Equation.3">
                  <p:embed/>
                </p:oleObj>
              </mc:Choice>
              <mc:Fallback>
                <p:oleObj name="Equation" r:id="rId2" imgW="114120" imgH="215640" progId="Equation.3">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04908" y="3321051"/>
                        <a:ext cx="152023"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003" y="71415"/>
            <a:ext cx="11591833" cy="714380"/>
          </a:xfrm>
        </p:spPr>
        <p:txBody>
          <a:bodyPr>
            <a:normAutofit/>
          </a:bodyPr>
          <a:lstStyle/>
          <a:p>
            <a:r>
              <a:rPr lang="en-IN" sz="2800" dirty="0">
                <a:solidFill>
                  <a:srgbClr val="00B050"/>
                </a:solidFill>
                <a:latin typeface="Times New Roman" pitchFamily="18" charset="0"/>
                <a:cs typeface="Times New Roman" pitchFamily="18" charset="0"/>
              </a:rPr>
              <a:t>LAPLACE TRANSFORM</a:t>
            </a:r>
            <a:endParaRPr lang="en-US" sz="2800" dirty="0">
              <a:solidFill>
                <a:srgbClr val="FF0000"/>
              </a:solidFill>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2186F227-248D-4963-99BB-700C4C3FB295}" type="datetime2">
              <a:rPr lang="en-US" smtClean="0"/>
              <a:pPr/>
              <a:t>Monday, June 29, 2026</a:t>
            </a:fld>
            <a:endParaRPr lang="en-US"/>
          </a:p>
        </p:txBody>
      </p:sp>
      <p:sp>
        <p:nvSpPr>
          <p:cNvPr id="5" name="Footer Placeholder 4"/>
          <p:cNvSpPr>
            <a:spLocks noGrp="1"/>
          </p:cNvSpPr>
          <p:nvPr>
            <p:ph type="ftr" sz="quarter" idx="11"/>
          </p:nvPr>
        </p:nvSpPr>
        <p:spPr/>
        <p:txBody>
          <a:bodyPr/>
          <a:lstStyle/>
          <a:p>
            <a:r>
              <a:rPr lang="en-US"/>
              <a:t>syed hasan saeed</a:t>
            </a:r>
          </a:p>
        </p:txBody>
      </p:sp>
      <p:sp>
        <p:nvSpPr>
          <p:cNvPr id="6" name="Slide Number Placeholder 5"/>
          <p:cNvSpPr>
            <a:spLocks noGrp="1"/>
          </p:cNvSpPr>
          <p:nvPr>
            <p:ph type="sldNum" sz="quarter" idx="12"/>
          </p:nvPr>
        </p:nvSpPr>
        <p:spPr/>
        <p:txBody>
          <a:bodyPr/>
          <a:lstStyle/>
          <a:p>
            <a:fld id="{435E54C7-FAA8-46C1-A880-53547F97989D}" type="slidenum">
              <a:rPr lang="en-US" smtClean="0"/>
              <a:pPr/>
              <a:t>13</a:t>
            </a:fld>
            <a:endParaRPr lang="en-US"/>
          </a:p>
        </p:txBody>
      </p:sp>
      <p:sp>
        <p:nvSpPr>
          <p:cNvPr id="7" name="Content Placeholder 6"/>
          <p:cNvSpPr>
            <a:spLocks noGrp="1"/>
          </p:cNvSpPr>
          <p:nvPr>
            <p:ph idx="1"/>
          </p:nvPr>
        </p:nvSpPr>
        <p:spPr>
          <a:xfrm>
            <a:off x="189988" y="714357"/>
            <a:ext cx="11781863" cy="5643603"/>
          </a:xfrm>
        </p:spPr>
        <p:txBody>
          <a:bodyPr>
            <a:normAutofit/>
          </a:bodyPr>
          <a:lstStyle/>
          <a:p>
            <a:pPr>
              <a:lnSpc>
                <a:spcPct val="150000"/>
              </a:lnSpc>
              <a:buNone/>
            </a:pPr>
            <a:r>
              <a:rPr lang="en-US" sz="2400" dirty="0">
                <a:latin typeface="Times New Roman" pitchFamily="18" charset="0"/>
                <a:cs typeface="Times New Roman" pitchFamily="18" charset="0"/>
              </a:rPr>
              <a:t>  Linearity theorem: </a:t>
            </a:r>
          </a:p>
          <a:p>
            <a:pPr>
              <a:lnSpc>
                <a:spcPct val="150000"/>
              </a:lnSpc>
              <a:buNone/>
            </a:pPr>
            <a:r>
              <a:rPr lang="en-US" sz="2400" dirty="0">
                <a:latin typeface="Times New Roman" pitchFamily="18" charset="0"/>
                <a:cs typeface="Times New Roman" pitchFamily="18" charset="0"/>
              </a:rPr>
              <a:t> If F1(s) and F2(s) are the Laplace transform of f1(t) and f2(t) and a1, a2 are arbitrary constant then</a:t>
            </a:r>
          </a:p>
          <a:p>
            <a:pPr>
              <a:lnSpc>
                <a:spcPct val="150000"/>
              </a:lnSpc>
              <a:buNone/>
            </a:pPr>
            <a:r>
              <a:rPr lang="en-US" sz="2400" dirty="0">
                <a:latin typeface="Times New Roman" pitchFamily="18" charset="0"/>
                <a:cs typeface="Times New Roman" pitchFamily="18" charset="0"/>
              </a:rPr>
              <a:t>                 ℒ  [ a</a:t>
            </a:r>
            <a:r>
              <a:rPr lang="en-US" sz="2400" baseline="-25000" dirty="0">
                <a:latin typeface="Times New Roman" pitchFamily="18" charset="0"/>
                <a:cs typeface="Times New Roman" pitchFamily="18" charset="0"/>
              </a:rPr>
              <a:t>1</a:t>
            </a:r>
            <a:r>
              <a:rPr lang="en-US" sz="2400" dirty="0">
                <a:latin typeface="Times New Roman" pitchFamily="18" charset="0"/>
                <a:cs typeface="Times New Roman" pitchFamily="18" charset="0"/>
              </a:rPr>
              <a:t>f</a:t>
            </a:r>
            <a:r>
              <a:rPr lang="en-US" sz="2400" baseline="-25000" dirty="0">
                <a:latin typeface="Times New Roman" pitchFamily="18" charset="0"/>
                <a:cs typeface="Times New Roman" pitchFamily="18" charset="0"/>
              </a:rPr>
              <a:t>1</a:t>
            </a:r>
            <a:r>
              <a:rPr lang="en-US" sz="2400" dirty="0">
                <a:latin typeface="Times New Roman" pitchFamily="18" charset="0"/>
                <a:cs typeface="Times New Roman" pitchFamily="18" charset="0"/>
              </a:rPr>
              <a:t>(t) + a</a:t>
            </a:r>
            <a:r>
              <a:rPr lang="en-US" sz="2400" baseline="-25000" dirty="0">
                <a:latin typeface="Times New Roman" pitchFamily="18" charset="0"/>
                <a:cs typeface="Times New Roman" pitchFamily="18" charset="0"/>
              </a:rPr>
              <a:t>2</a:t>
            </a:r>
            <a:r>
              <a:rPr lang="en-US" sz="2400" dirty="0">
                <a:latin typeface="Times New Roman" pitchFamily="18" charset="0"/>
                <a:cs typeface="Times New Roman" pitchFamily="18" charset="0"/>
              </a:rPr>
              <a:t>f</a:t>
            </a:r>
            <a:r>
              <a:rPr lang="en-US" sz="2400" baseline="-25000" dirty="0">
                <a:latin typeface="Times New Roman" pitchFamily="18" charset="0"/>
                <a:cs typeface="Times New Roman" pitchFamily="18" charset="0"/>
              </a:rPr>
              <a:t>2</a:t>
            </a:r>
            <a:r>
              <a:rPr lang="en-US" sz="2400" dirty="0">
                <a:latin typeface="Times New Roman" pitchFamily="18" charset="0"/>
                <a:cs typeface="Times New Roman" pitchFamily="18" charset="0"/>
              </a:rPr>
              <a:t>(t) ] = a</a:t>
            </a:r>
            <a:r>
              <a:rPr lang="en-US" sz="2400" baseline="-25000" dirty="0">
                <a:latin typeface="Times New Roman" pitchFamily="18" charset="0"/>
                <a:cs typeface="Times New Roman" pitchFamily="18" charset="0"/>
              </a:rPr>
              <a:t>1</a:t>
            </a:r>
            <a:r>
              <a:rPr lang="en-US" sz="2400" dirty="0">
                <a:latin typeface="Times New Roman" pitchFamily="18" charset="0"/>
                <a:cs typeface="Times New Roman" pitchFamily="18" charset="0"/>
              </a:rPr>
              <a:t> F</a:t>
            </a:r>
            <a:r>
              <a:rPr lang="en-US" sz="2400" baseline="-25000" dirty="0">
                <a:latin typeface="Times New Roman" pitchFamily="18" charset="0"/>
                <a:cs typeface="Times New Roman" pitchFamily="18" charset="0"/>
              </a:rPr>
              <a:t>1</a:t>
            </a:r>
            <a:r>
              <a:rPr lang="en-US" sz="2400" dirty="0">
                <a:latin typeface="Times New Roman" pitchFamily="18" charset="0"/>
                <a:cs typeface="Times New Roman" pitchFamily="18" charset="0"/>
              </a:rPr>
              <a:t>(s) + a</a:t>
            </a:r>
            <a:r>
              <a:rPr lang="en-US" sz="2400" baseline="-25000" dirty="0">
                <a:latin typeface="Times New Roman" pitchFamily="18" charset="0"/>
                <a:cs typeface="Times New Roman" pitchFamily="18" charset="0"/>
              </a:rPr>
              <a:t>2</a:t>
            </a:r>
            <a:r>
              <a:rPr lang="en-US" sz="2400" dirty="0">
                <a:latin typeface="Times New Roman" pitchFamily="18" charset="0"/>
                <a:cs typeface="Times New Roman" pitchFamily="18" charset="0"/>
              </a:rPr>
              <a:t>F</a:t>
            </a:r>
            <a:r>
              <a:rPr lang="en-US" sz="2400" baseline="-25000" dirty="0">
                <a:latin typeface="Times New Roman" pitchFamily="18" charset="0"/>
                <a:cs typeface="Times New Roman" pitchFamily="18" charset="0"/>
              </a:rPr>
              <a:t>2</a:t>
            </a:r>
            <a:r>
              <a:rPr lang="en-US" sz="2400" dirty="0">
                <a:latin typeface="Times New Roman" pitchFamily="18" charset="0"/>
                <a:cs typeface="Times New Roman" pitchFamily="18" charset="0"/>
              </a:rPr>
              <a:t>(s)</a:t>
            </a:r>
          </a:p>
          <a:p>
            <a:pPr>
              <a:lnSpc>
                <a:spcPct val="150000"/>
              </a:lnSpc>
              <a:buNone/>
            </a:pPr>
            <a:r>
              <a:rPr lang="en-US" sz="2400" dirty="0">
                <a:latin typeface="Times New Roman" pitchFamily="18" charset="0"/>
                <a:cs typeface="Times New Roman" pitchFamily="18" charset="0"/>
              </a:rPr>
              <a:t>                 ℒ  [f</a:t>
            </a:r>
            <a:r>
              <a:rPr lang="en-US" sz="2400" baseline="-25000" dirty="0">
                <a:latin typeface="Times New Roman" pitchFamily="18" charset="0"/>
                <a:cs typeface="Times New Roman" pitchFamily="18" charset="0"/>
              </a:rPr>
              <a:t>1</a:t>
            </a:r>
            <a:r>
              <a:rPr lang="en-US" sz="2400" dirty="0">
                <a:latin typeface="Times New Roman" pitchFamily="18" charset="0"/>
                <a:cs typeface="Times New Roman" pitchFamily="18" charset="0"/>
              </a:rPr>
              <a:t>(t) .f</a:t>
            </a:r>
            <a:r>
              <a:rPr lang="en-US" sz="2400" baseline="-25000" dirty="0">
                <a:latin typeface="Times New Roman" pitchFamily="18" charset="0"/>
                <a:cs typeface="Times New Roman" pitchFamily="18" charset="0"/>
              </a:rPr>
              <a:t>2</a:t>
            </a:r>
            <a:r>
              <a:rPr lang="en-US" sz="2400" dirty="0">
                <a:latin typeface="Times New Roman" pitchFamily="18" charset="0"/>
                <a:cs typeface="Times New Roman" pitchFamily="18" charset="0"/>
              </a:rPr>
              <a:t>(t) ] ≠ F</a:t>
            </a:r>
            <a:r>
              <a:rPr lang="en-US" sz="2400" baseline="-25000" dirty="0">
                <a:latin typeface="Times New Roman" pitchFamily="18" charset="0"/>
                <a:cs typeface="Times New Roman" pitchFamily="18" charset="0"/>
              </a:rPr>
              <a:t>1</a:t>
            </a:r>
            <a:r>
              <a:rPr lang="en-US" sz="2400" dirty="0">
                <a:latin typeface="Times New Roman" pitchFamily="18" charset="0"/>
                <a:cs typeface="Times New Roman" pitchFamily="18" charset="0"/>
              </a:rPr>
              <a:t>(s) . F</a:t>
            </a:r>
            <a:r>
              <a:rPr lang="en-US" sz="2400" baseline="-25000" dirty="0">
                <a:latin typeface="Times New Roman" pitchFamily="18" charset="0"/>
                <a:cs typeface="Times New Roman" pitchFamily="18" charset="0"/>
              </a:rPr>
              <a:t>2</a:t>
            </a:r>
            <a:r>
              <a:rPr lang="en-US" sz="2400" dirty="0">
                <a:latin typeface="Times New Roman" pitchFamily="18" charset="0"/>
                <a:cs typeface="Times New Roman" pitchFamily="18" charset="0"/>
              </a:rPr>
              <a:t>(s) </a:t>
            </a:r>
          </a:p>
          <a:p>
            <a:pPr>
              <a:lnSpc>
                <a:spcPct val="150000"/>
              </a:lnSpc>
              <a:buNone/>
            </a:pPr>
            <a:r>
              <a:rPr lang="en-US" sz="2400" dirty="0">
                <a:latin typeface="Times New Roman" pitchFamily="18" charset="0"/>
                <a:cs typeface="Times New Roman" pitchFamily="18" charset="0"/>
              </a:rPr>
              <a:t>3. Laplace transform of a Derivative of a function</a:t>
            </a:r>
          </a:p>
          <a:p>
            <a:pPr>
              <a:lnSpc>
                <a:spcPct val="150000"/>
              </a:lnSpc>
              <a:buNone/>
            </a:pPr>
            <a:endParaRPr lang="en-US" sz="2400" dirty="0">
              <a:latin typeface="Times New Roman" pitchFamily="18" charset="0"/>
              <a:cs typeface="Times New Roman" pitchFamily="18" charset="0"/>
            </a:endParaRPr>
          </a:p>
          <a:p>
            <a:pPr>
              <a:lnSpc>
                <a:spcPct val="150000"/>
              </a:lnSpc>
              <a:buNone/>
            </a:pPr>
            <a:endParaRPr lang="en-US" sz="2400" dirty="0">
              <a:latin typeface="Times New Roman" pitchFamily="18" charset="0"/>
              <a:cs typeface="Times New Roman" pitchFamily="18" charset="0"/>
            </a:endParaRPr>
          </a:p>
          <a:p>
            <a:pPr>
              <a:lnSpc>
                <a:spcPct val="150000"/>
              </a:lnSpc>
              <a:buNone/>
            </a:pPr>
            <a:r>
              <a:rPr lang="en-US" sz="2400" dirty="0">
                <a:latin typeface="Times New Roman" pitchFamily="18" charset="0"/>
                <a:cs typeface="Times New Roman" pitchFamily="18" charset="0"/>
              </a:rPr>
              <a:t>Where f(0</a:t>
            </a:r>
            <a:r>
              <a:rPr lang="en-US" sz="2400" baseline="-25000" dirty="0">
                <a:latin typeface="Times New Roman" pitchFamily="18" charset="0"/>
                <a:cs typeface="Times New Roman" pitchFamily="18" charset="0"/>
              </a:rPr>
              <a:t>-</a:t>
            </a:r>
            <a:r>
              <a:rPr lang="en-US" sz="2400" dirty="0">
                <a:latin typeface="Times New Roman" pitchFamily="18" charset="0"/>
                <a:cs typeface="Times New Roman" pitchFamily="18" charset="0"/>
              </a:rPr>
              <a:t>) is the value of f(t) at t = 0</a:t>
            </a:r>
          </a:p>
          <a:p>
            <a:pPr>
              <a:lnSpc>
                <a:spcPct val="150000"/>
              </a:lnSpc>
              <a:buNone/>
            </a:pPr>
            <a:endParaRPr lang="en-US" sz="2400" dirty="0">
              <a:latin typeface="Times New Roman" pitchFamily="18" charset="0"/>
              <a:cs typeface="Times New Roman" pitchFamily="18" charset="0"/>
            </a:endParaRPr>
          </a:p>
          <a:p>
            <a:pPr>
              <a:lnSpc>
                <a:spcPct val="150000"/>
              </a:lnSpc>
              <a:buNone/>
            </a:pPr>
            <a:endParaRPr lang="en-US" sz="2400" dirty="0">
              <a:solidFill>
                <a:srgbClr val="7030A0"/>
              </a:solidFill>
              <a:latin typeface="Times New Roman" pitchFamily="18" charset="0"/>
              <a:cs typeface="Times New Roman" pitchFamily="18" charset="0"/>
            </a:endParaRPr>
          </a:p>
        </p:txBody>
      </p:sp>
      <p:graphicFrame>
        <p:nvGraphicFramePr>
          <p:cNvPr id="8" name="Object 7"/>
          <p:cNvGraphicFramePr>
            <a:graphicFrameLocks noChangeAspect="1"/>
          </p:cNvGraphicFramePr>
          <p:nvPr/>
        </p:nvGraphicFramePr>
        <p:xfrm>
          <a:off x="6004908" y="3321051"/>
          <a:ext cx="152023" cy="215900"/>
        </p:xfrm>
        <a:graphic>
          <a:graphicData uri="http://schemas.openxmlformats.org/presentationml/2006/ole">
            <mc:AlternateContent xmlns:mc="http://schemas.openxmlformats.org/markup-compatibility/2006">
              <mc:Choice xmlns:v="urn:schemas-microsoft-com:vml" Requires="v">
                <p:oleObj name="Equation" r:id="rId2" imgW="114120" imgH="215640" progId="Equation.3">
                  <p:embed/>
                </p:oleObj>
              </mc:Choice>
              <mc:Fallback>
                <p:oleObj name="Equation" r:id="rId2" imgW="114120" imgH="215640" progId="Equation.3">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04908" y="3321051"/>
                        <a:ext cx="152023"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11" name="Straight Connector 10"/>
          <p:cNvCxnSpPr/>
          <p:nvPr/>
        </p:nvCxnSpPr>
        <p:spPr>
          <a:xfrm rot="10800000" flipH="1">
            <a:off x="2320565" y="4664251"/>
            <a:ext cx="109456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2321807" y="4230255"/>
            <a:ext cx="1117908" cy="830997"/>
          </a:xfrm>
          <a:prstGeom prst="rect">
            <a:avLst/>
          </a:prstGeom>
          <a:noFill/>
        </p:spPr>
        <p:txBody>
          <a:bodyPr wrap="square" rtlCol="0">
            <a:spAutoFit/>
          </a:bodyPr>
          <a:lstStyle/>
          <a:p>
            <a:r>
              <a:rPr lang="en-US" sz="2400" dirty="0">
                <a:latin typeface="Times New Roman" pitchFamily="18" charset="0"/>
                <a:cs typeface="Times New Roman" pitchFamily="18" charset="0"/>
              </a:rPr>
              <a:t>d f(t)</a:t>
            </a:r>
          </a:p>
          <a:p>
            <a:r>
              <a:rPr lang="en-US" sz="2400" dirty="0" err="1">
                <a:latin typeface="Times New Roman" pitchFamily="18" charset="0"/>
                <a:cs typeface="Times New Roman" pitchFamily="18" charset="0"/>
              </a:rPr>
              <a:t>dt</a:t>
            </a:r>
            <a:endParaRPr lang="en-US" sz="2400" dirty="0">
              <a:latin typeface="Times New Roman" pitchFamily="18" charset="0"/>
              <a:cs typeface="Times New Roman" pitchFamily="18" charset="0"/>
            </a:endParaRPr>
          </a:p>
        </p:txBody>
      </p:sp>
      <p:grpSp>
        <p:nvGrpSpPr>
          <p:cNvPr id="18" name="Group 17"/>
          <p:cNvGrpSpPr/>
          <p:nvPr/>
        </p:nvGrpSpPr>
        <p:grpSpPr>
          <a:xfrm>
            <a:off x="1658435" y="4368806"/>
            <a:ext cx="5736956" cy="498611"/>
            <a:chOff x="1246911" y="4368799"/>
            <a:chExt cx="4313388" cy="498611"/>
          </a:xfrm>
        </p:grpSpPr>
        <p:sp>
          <p:nvSpPr>
            <p:cNvPr id="12" name="TextBox 11"/>
            <p:cNvSpPr txBox="1"/>
            <p:nvPr/>
          </p:nvSpPr>
          <p:spPr>
            <a:xfrm>
              <a:off x="1246911" y="4405745"/>
              <a:ext cx="517236" cy="461665"/>
            </a:xfrm>
            <a:prstGeom prst="rect">
              <a:avLst/>
            </a:prstGeom>
            <a:noFill/>
          </p:spPr>
          <p:txBody>
            <a:bodyPr wrap="square" rtlCol="0">
              <a:spAutoFit/>
            </a:bodyPr>
            <a:lstStyle/>
            <a:p>
              <a:r>
                <a:rPr lang="en-US" sz="2400" dirty="0">
                  <a:latin typeface="Times New Roman"/>
                  <a:cs typeface="Times New Roman"/>
                </a:rPr>
                <a:t>ℒ</a:t>
              </a:r>
              <a:endParaRPr lang="en-US" sz="2400" dirty="0"/>
            </a:p>
          </p:txBody>
        </p:sp>
        <p:sp>
          <p:nvSpPr>
            <p:cNvPr id="13" name="TextBox 12"/>
            <p:cNvSpPr txBox="1"/>
            <p:nvPr/>
          </p:nvSpPr>
          <p:spPr>
            <a:xfrm>
              <a:off x="2576953" y="4368799"/>
              <a:ext cx="2983346" cy="461665"/>
            </a:xfrm>
            <a:prstGeom prst="rect">
              <a:avLst/>
            </a:prstGeom>
            <a:noFill/>
          </p:spPr>
          <p:txBody>
            <a:bodyPr wrap="square" rtlCol="0">
              <a:spAutoFit/>
            </a:bodyPr>
            <a:lstStyle/>
            <a:p>
              <a:r>
                <a:rPr lang="en-US" sz="2400" dirty="0">
                  <a:latin typeface="Times New Roman" pitchFamily="18" charset="0"/>
                  <a:cs typeface="Times New Roman" pitchFamily="18" charset="0"/>
                </a:rPr>
                <a:t>= f </a:t>
              </a:r>
              <a:r>
                <a:rPr lang="en-US" sz="2400" dirty="0">
                  <a:latin typeface="Times New Roman"/>
                  <a:cs typeface="Times New Roman"/>
                </a:rPr>
                <a:t>′</a:t>
              </a:r>
              <a:r>
                <a:rPr lang="en-US" sz="2400" dirty="0">
                  <a:latin typeface="Times New Roman" pitchFamily="18" charset="0"/>
                  <a:cs typeface="Times New Roman" pitchFamily="18" charset="0"/>
                </a:rPr>
                <a:t> (t) = </a:t>
              </a:r>
              <a:r>
                <a:rPr lang="en-US" sz="2400" dirty="0" err="1">
                  <a:latin typeface="Times New Roman" pitchFamily="18" charset="0"/>
                  <a:cs typeface="Times New Roman" pitchFamily="18" charset="0"/>
                </a:rPr>
                <a:t>sF</a:t>
              </a:r>
              <a:r>
                <a:rPr lang="en-US" sz="2400" dirty="0">
                  <a:latin typeface="Times New Roman" pitchFamily="18" charset="0"/>
                  <a:cs typeface="Times New Roman" pitchFamily="18" charset="0"/>
                </a:rPr>
                <a:t>(s) –f(0</a:t>
              </a:r>
              <a:r>
                <a:rPr lang="en-US" sz="2400" baseline="-25000" dirty="0">
                  <a:latin typeface="Times New Roman" pitchFamily="18" charset="0"/>
                  <a:cs typeface="Times New Roman" pitchFamily="18" charset="0"/>
                </a:rPr>
                <a:t>-</a:t>
              </a:r>
              <a:r>
                <a:rPr lang="en-US" sz="2400" dirty="0">
                  <a:latin typeface="Times New Roman" pitchFamily="18" charset="0"/>
                  <a:cs typeface="Times New Roman" pitchFamily="18" charset="0"/>
                </a:rPr>
                <a:t>)</a:t>
              </a: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003" y="71415"/>
            <a:ext cx="11591833" cy="714380"/>
          </a:xfrm>
        </p:spPr>
        <p:txBody>
          <a:bodyPr>
            <a:normAutofit/>
          </a:bodyPr>
          <a:lstStyle/>
          <a:p>
            <a:r>
              <a:rPr lang="en-IN" sz="2800" dirty="0">
                <a:solidFill>
                  <a:srgbClr val="00B050"/>
                </a:solidFill>
                <a:latin typeface="Times New Roman" pitchFamily="18" charset="0"/>
                <a:cs typeface="Times New Roman" pitchFamily="18" charset="0"/>
              </a:rPr>
              <a:t>LAPLACE TRANSFORM</a:t>
            </a:r>
            <a:endParaRPr lang="en-US" sz="2800" dirty="0">
              <a:solidFill>
                <a:srgbClr val="FF0000"/>
              </a:solidFill>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2186F227-248D-4963-99BB-700C4C3FB295}" type="datetime2">
              <a:rPr lang="en-US" smtClean="0"/>
              <a:pPr/>
              <a:t>Monday, June 29, 2026</a:t>
            </a:fld>
            <a:endParaRPr lang="en-US"/>
          </a:p>
        </p:txBody>
      </p:sp>
      <p:sp>
        <p:nvSpPr>
          <p:cNvPr id="5" name="Footer Placeholder 4"/>
          <p:cNvSpPr>
            <a:spLocks noGrp="1"/>
          </p:cNvSpPr>
          <p:nvPr>
            <p:ph type="ftr" sz="quarter" idx="11"/>
          </p:nvPr>
        </p:nvSpPr>
        <p:spPr/>
        <p:txBody>
          <a:bodyPr/>
          <a:lstStyle/>
          <a:p>
            <a:r>
              <a:rPr lang="en-US"/>
              <a:t>syed hasan saeed</a:t>
            </a:r>
          </a:p>
        </p:txBody>
      </p:sp>
      <p:sp>
        <p:nvSpPr>
          <p:cNvPr id="6" name="Slide Number Placeholder 5"/>
          <p:cNvSpPr>
            <a:spLocks noGrp="1"/>
          </p:cNvSpPr>
          <p:nvPr>
            <p:ph type="sldNum" sz="quarter" idx="12"/>
          </p:nvPr>
        </p:nvSpPr>
        <p:spPr/>
        <p:txBody>
          <a:bodyPr/>
          <a:lstStyle/>
          <a:p>
            <a:fld id="{435E54C7-FAA8-46C1-A880-53547F97989D}" type="slidenum">
              <a:rPr lang="en-US" smtClean="0"/>
              <a:pPr/>
              <a:t>14</a:t>
            </a:fld>
            <a:endParaRPr lang="en-US"/>
          </a:p>
        </p:txBody>
      </p:sp>
      <mc:AlternateContent xmlns:mc="http://schemas.openxmlformats.org/markup-compatibility/2006" xmlns:a14="http://schemas.microsoft.com/office/drawing/2010/main">
        <mc:Choice Requires="a14">
          <p:sp>
            <p:nvSpPr>
              <p:cNvPr id="7" name="Content Placeholder 6"/>
              <p:cNvSpPr>
                <a:spLocks noGrp="1"/>
              </p:cNvSpPr>
              <p:nvPr>
                <p:ph idx="1"/>
              </p:nvPr>
            </p:nvSpPr>
            <p:spPr>
              <a:xfrm>
                <a:off x="189988" y="714357"/>
                <a:ext cx="11781863" cy="5643603"/>
              </a:xfrm>
            </p:spPr>
            <p:txBody>
              <a:bodyPr>
                <a:normAutofit/>
              </a:bodyPr>
              <a:lstStyle/>
              <a:p>
                <a:pPr>
                  <a:lnSpc>
                    <a:spcPct val="150000"/>
                  </a:lnSpc>
                  <a:buNone/>
                </a:pPr>
                <a:r>
                  <a:rPr lang="en-US" sz="2200" dirty="0">
                    <a:latin typeface="Times New Roman" pitchFamily="18" charset="0"/>
                    <a:cs typeface="Times New Roman" pitchFamily="18" charset="0"/>
                  </a:rPr>
                  <a:t> 4. Laplace transform of a Integral of a function</a:t>
                </a:r>
              </a:p>
              <a:p>
                <a:pPr>
                  <a:lnSpc>
                    <a:spcPct val="150000"/>
                  </a:lnSpc>
                  <a:buNone/>
                </a:pPr>
                <a:r>
                  <a:rPr lang="en-US" sz="2400" dirty="0">
                    <a:latin typeface="Times New Roman"/>
                    <a:cs typeface="Times New Roman"/>
                  </a:rPr>
                  <a:t>                                 ∫ [ f (t) </a:t>
                </a:r>
                <a:r>
                  <a:rPr lang="en-US" sz="2400" dirty="0" err="1">
                    <a:latin typeface="Times New Roman"/>
                    <a:cs typeface="Times New Roman"/>
                  </a:rPr>
                  <a:t>dt</a:t>
                </a:r>
                <a:r>
                  <a:rPr lang="en-US" sz="2400" dirty="0">
                    <a:latin typeface="Times New Roman"/>
                    <a:cs typeface="Times New Roman"/>
                  </a:rPr>
                  <a:t> ] = F(s) / s + f </a:t>
                </a:r>
                <a:r>
                  <a:rPr lang="en-US" sz="2400" baseline="30000" dirty="0">
                    <a:latin typeface="Times New Roman"/>
                    <a:cs typeface="Times New Roman"/>
                  </a:rPr>
                  <a:t>-1</a:t>
                </a:r>
                <a:r>
                  <a:rPr lang="en-US" sz="2400" dirty="0">
                    <a:latin typeface="Times New Roman"/>
                    <a:cs typeface="Times New Roman"/>
                  </a:rPr>
                  <a:t> (0) / s</a:t>
                </a:r>
              </a:p>
              <a:p>
                <a:pPr>
                  <a:lnSpc>
                    <a:spcPct val="150000"/>
                  </a:lnSpc>
                  <a:buNone/>
                </a:pPr>
                <a:r>
                  <a:rPr lang="en-US" sz="2400" dirty="0">
                    <a:latin typeface="Times New Roman"/>
                    <a:cs typeface="Times New Roman"/>
                  </a:rPr>
                  <a:t>                                 Where f </a:t>
                </a:r>
                <a:r>
                  <a:rPr lang="en-US" sz="2400" baseline="30000" dirty="0">
                    <a:latin typeface="Times New Roman"/>
                    <a:cs typeface="Times New Roman"/>
                  </a:rPr>
                  <a:t>-1</a:t>
                </a:r>
                <a:r>
                  <a:rPr lang="en-US" sz="2400" dirty="0">
                    <a:latin typeface="Times New Roman"/>
                    <a:cs typeface="Times New Roman"/>
                  </a:rPr>
                  <a:t> (0) is the value of f (t) at t = 0</a:t>
                </a:r>
              </a:p>
              <a:p>
                <a:pPr>
                  <a:lnSpc>
                    <a:spcPct val="150000"/>
                  </a:lnSpc>
                  <a:buNone/>
                </a:pPr>
                <a:r>
                  <a:rPr lang="en-US" sz="2200" b="1" dirty="0">
                    <a:latin typeface="Times New Roman"/>
                    <a:cs typeface="Times New Roman"/>
                  </a:rPr>
                  <a:t>5. Differentiation by s: </a:t>
                </a:r>
                <a:r>
                  <a:rPr lang="en-US" sz="2200" dirty="0">
                    <a:latin typeface="Times New Roman"/>
                    <a:cs typeface="Times New Roman"/>
                  </a:rPr>
                  <a:t>If F(s) is the Laplace transform of f(t) then the differentiation by s in the complex frequency domain corresponds to the multiplication by t in the time domain.</a:t>
                </a:r>
              </a:p>
              <a:p>
                <a:pPr>
                  <a:lnSpc>
                    <a:spcPct val="150000"/>
                  </a:lnSpc>
                  <a:buNone/>
                </a:pPr>
                <a:r>
                  <a:rPr lang="en-US" sz="2200" dirty="0">
                    <a:latin typeface="Times New Roman"/>
                    <a:cs typeface="Times New Roman"/>
                  </a:rPr>
                  <a:t>           L </a:t>
                </a:r>
                <a14:m>
                  <m:oMath xmlns:m="http://schemas.openxmlformats.org/officeDocument/2006/math">
                    <m:d>
                      <m:dPr>
                        <m:begChr m:val="{"/>
                        <m:endChr m:val="}"/>
                        <m:ctrlPr>
                          <a:rPr lang="en-US" sz="2200" i="1" smtClean="0">
                            <a:latin typeface="Cambria Math" panose="02040503050406030204" pitchFamily="18" charset="0"/>
                            <a:cs typeface="Times New Roman"/>
                          </a:rPr>
                        </m:ctrlPr>
                      </m:dPr>
                      <m:e>
                        <m:r>
                          <m:rPr>
                            <m:sty m:val="p"/>
                          </m:rPr>
                          <a:rPr lang="en-US" sz="2200" b="0" i="1" smtClean="0">
                            <a:latin typeface="Cambria Math" panose="02040503050406030204" pitchFamily="18" charset="0"/>
                            <a:cs typeface="Times New Roman"/>
                          </a:rPr>
                          <m:t>t</m:t>
                        </m:r>
                        <m:r>
                          <a:rPr lang="en-US" sz="2200" b="0" i="1" smtClean="0">
                            <a:latin typeface="Cambria Math" panose="02040503050406030204" pitchFamily="18" charset="0"/>
                            <a:cs typeface="Times New Roman"/>
                          </a:rPr>
                          <m:t> </m:t>
                        </m:r>
                        <m:r>
                          <m:rPr>
                            <m:sty m:val="p"/>
                          </m:rPr>
                          <a:rPr lang="en-US" sz="2200" b="0" i="1" smtClean="0">
                            <a:latin typeface="Cambria Math" panose="02040503050406030204" pitchFamily="18" charset="0"/>
                            <a:cs typeface="Times New Roman"/>
                          </a:rPr>
                          <m:t>f</m:t>
                        </m:r>
                        <m:r>
                          <a:rPr lang="en-US" sz="2200" b="0" i="1" smtClean="0">
                            <a:latin typeface="Cambria Math" panose="02040503050406030204" pitchFamily="18" charset="0"/>
                            <a:cs typeface="Times New Roman"/>
                          </a:rPr>
                          <m:t>(</m:t>
                        </m:r>
                        <m:r>
                          <m:rPr>
                            <m:sty m:val="p"/>
                          </m:rPr>
                          <a:rPr lang="en-US" sz="2200" b="0" i="1" smtClean="0">
                            <a:latin typeface="Cambria Math" panose="02040503050406030204" pitchFamily="18" charset="0"/>
                            <a:cs typeface="Times New Roman"/>
                          </a:rPr>
                          <m:t>t</m:t>
                        </m:r>
                        <m:r>
                          <a:rPr lang="en-US" sz="2200" b="0" i="1" smtClean="0">
                            <a:latin typeface="Cambria Math" panose="02040503050406030204" pitchFamily="18" charset="0"/>
                            <a:cs typeface="Times New Roman"/>
                          </a:rPr>
                          <m:t>)</m:t>
                        </m:r>
                      </m:e>
                    </m:d>
                  </m:oMath>
                </a14:m>
                <a:r>
                  <a:rPr lang="en-US" sz="2200" dirty="0">
                    <a:latin typeface="Times New Roman"/>
                    <a:cs typeface="Times New Roman"/>
                  </a:rPr>
                  <a:t> = - </a:t>
                </a:r>
                <a14:m>
                  <m:oMath xmlns:m="http://schemas.openxmlformats.org/officeDocument/2006/math">
                    <m:f>
                      <m:fPr>
                        <m:ctrlPr>
                          <a:rPr lang="en-US" sz="2200" i="1" smtClean="0">
                            <a:latin typeface="Cambria Math" panose="02040503050406030204" pitchFamily="18" charset="0"/>
                            <a:cs typeface="Times New Roman"/>
                          </a:rPr>
                        </m:ctrlPr>
                      </m:fPr>
                      <m:num>
                        <m:r>
                          <m:rPr>
                            <m:sty m:val="p"/>
                          </m:rPr>
                          <a:rPr lang="en-US" sz="2200" b="0" i="1" smtClean="0">
                            <a:latin typeface="Cambria Math" panose="02040503050406030204" pitchFamily="18" charset="0"/>
                            <a:cs typeface="Times New Roman"/>
                          </a:rPr>
                          <m:t>dF</m:t>
                        </m:r>
                        <m:r>
                          <a:rPr lang="en-US" sz="2200" b="0" i="1" smtClean="0">
                            <a:latin typeface="Cambria Math" panose="02040503050406030204" pitchFamily="18" charset="0"/>
                            <a:cs typeface="Times New Roman"/>
                          </a:rPr>
                          <m:t>(</m:t>
                        </m:r>
                        <m:r>
                          <m:rPr>
                            <m:sty m:val="p"/>
                          </m:rPr>
                          <a:rPr lang="en-US" sz="2200" b="0" i="1" smtClean="0">
                            <a:latin typeface="Cambria Math" panose="02040503050406030204" pitchFamily="18" charset="0"/>
                            <a:cs typeface="Times New Roman"/>
                          </a:rPr>
                          <m:t>s</m:t>
                        </m:r>
                        <m:r>
                          <a:rPr lang="en-US" sz="2200" b="0" i="1" smtClean="0">
                            <a:latin typeface="Cambria Math" panose="02040503050406030204" pitchFamily="18" charset="0"/>
                            <a:cs typeface="Times New Roman"/>
                          </a:rPr>
                          <m:t>)</m:t>
                        </m:r>
                      </m:num>
                      <m:den>
                        <m:r>
                          <m:rPr>
                            <m:sty m:val="p"/>
                          </m:rPr>
                          <a:rPr lang="en-US" sz="2200" b="0" i="1" smtClean="0">
                            <a:latin typeface="Cambria Math" panose="02040503050406030204" pitchFamily="18" charset="0"/>
                            <a:cs typeface="Times New Roman"/>
                          </a:rPr>
                          <m:t>ds</m:t>
                        </m:r>
                      </m:den>
                    </m:f>
                  </m:oMath>
                </a14:m>
                <a:endParaRPr lang="en-US" sz="2200" dirty="0">
                  <a:latin typeface="Times New Roman"/>
                  <a:cs typeface="Times New Roman"/>
                </a:endParaRPr>
              </a:p>
              <a:p>
                <a:pPr>
                  <a:lnSpc>
                    <a:spcPct val="150000"/>
                  </a:lnSpc>
                  <a:buNone/>
                </a:pPr>
                <a:r>
                  <a:rPr lang="en-US" sz="2200" b="1" dirty="0">
                    <a:latin typeface="Times New Roman" pitchFamily="18" charset="0"/>
                    <a:cs typeface="Times New Roman" pitchFamily="18" charset="0"/>
                  </a:rPr>
                  <a:t>6. Complex Translation: </a:t>
                </a:r>
                <a:r>
                  <a:rPr lang="en-US" sz="2200" dirty="0">
                    <a:latin typeface="Times New Roman" pitchFamily="18" charset="0"/>
                    <a:cs typeface="Times New Roman" pitchFamily="18" charset="0"/>
                  </a:rPr>
                  <a:t>If F(s) is the Laplace transform of f(t) then by the complex translation property</a:t>
                </a:r>
              </a:p>
              <a:p>
                <a:pPr>
                  <a:lnSpc>
                    <a:spcPct val="150000"/>
                  </a:lnSpc>
                  <a:buNone/>
                </a:pPr>
                <a:r>
                  <a:rPr lang="en-US" sz="2200" dirty="0">
                    <a:latin typeface="Times New Roman" pitchFamily="18" charset="0"/>
                    <a:cs typeface="Times New Roman" pitchFamily="18" charset="0"/>
                  </a:rPr>
                  <a:t>          F(s – a) = ℒ </a:t>
                </a:r>
                <a14:m>
                  <m:oMath xmlns:m="http://schemas.openxmlformats.org/officeDocument/2006/math">
                    <m:d>
                      <m:dPr>
                        <m:begChr m:val="{"/>
                        <m:endChr m:val="}"/>
                        <m:ctrlPr>
                          <a:rPr lang="en-US" sz="2200" i="1" smtClean="0">
                            <a:latin typeface="Cambria Math" panose="02040503050406030204" pitchFamily="18" charset="0"/>
                            <a:cs typeface="Times New Roman" pitchFamily="18" charset="0"/>
                          </a:rPr>
                        </m:ctrlPr>
                      </m:dPr>
                      <m:e>
                        <m:sSup>
                          <m:sSupPr>
                            <m:ctrlPr>
                              <a:rPr lang="en-US" sz="2200" i="1" smtClean="0">
                                <a:latin typeface="Cambria Math" panose="02040503050406030204" pitchFamily="18" charset="0"/>
                                <a:cs typeface="Times New Roman" pitchFamily="18" charset="0"/>
                              </a:rPr>
                            </m:ctrlPr>
                          </m:sSupPr>
                          <m:e>
                            <m:r>
                              <m:rPr>
                                <m:sty m:val="p"/>
                              </m:rPr>
                              <a:rPr lang="en-US" sz="2200" b="0" i="1" smtClean="0">
                                <a:latin typeface="Cambria Math" panose="02040503050406030204" pitchFamily="18" charset="0"/>
                                <a:cs typeface="Times New Roman" pitchFamily="18" charset="0"/>
                              </a:rPr>
                              <m:t>e</m:t>
                            </m:r>
                          </m:e>
                          <m:sup>
                            <m:r>
                              <m:rPr>
                                <m:sty m:val="p"/>
                              </m:rPr>
                              <a:rPr lang="en-US" sz="2200" b="0" i="1" smtClean="0">
                                <a:latin typeface="Cambria Math" panose="02040503050406030204" pitchFamily="18" charset="0"/>
                                <a:cs typeface="Times New Roman" pitchFamily="18" charset="0"/>
                              </a:rPr>
                              <m:t>at</m:t>
                            </m:r>
                          </m:sup>
                        </m:sSup>
                        <m:r>
                          <a:rPr lang="en-US" sz="2200" b="0" i="1" smtClean="0">
                            <a:latin typeface="Cambria Math" panose="02040503050406030204" pitchFamily="18" charset="0"/>
                            <a:cs typeface="Times New Roman" pitchFamily="18" charset="0"/>
                          </a:rPr>
                          <m:t> </m:t>
                        </m:r>
                        <m:r>
                          <m:rPr>
                            <m:sty m:val="p"/>
                          </m:rPr>
                          <a:rPr lang="en-US" sz="2200" b="0" i="1" smtClean="0">
                            <a:latin typeface="Cambria Math" panose="02040503050406030204" pitchFamily="18" charset="0"/>
                            <a:cs typeface="Times New Roman" pitchFamily="18" charset="0"/>
                          </a:rPr>
                          <m:t>f</m:t>
                        </m:r>
                        <m:r>
                          <a:rPr lang="en-US" sz="2200" b="0" i="1" smtClean="0">
                            <a:latin typeface="Cambria Math" panose="02040503050406030204" pitchFamily="18" charset="0"/>
                            <a:cs typeface="Times New Roman" pitchFamily="18" charset="0"/>
                          </a:rPr>
                          <m:t>(</m:t>
                        </m:r>
                        <m:r>
                          <m:rPr>
                            <m:sty m:val="p"/>
                          </m:rPr>
                          <a:rPr lang="en-US" sz="2200" b="0" i="1" smtClean="0">
                            <a:latin typeface="Cambria Math" panose="02040503050406030204" pitchFamily="18" charset="0"/>
                            <a:cs typeface="Times New Roman" pitchFamily="18" charset="0"/>
                          </a:rPr>
                          <m:t>t</m:t>
                        </m:r>
                        <m:r>
                          <a:rPr lang="en-US" sz="2200" b="0" i="1" smtClean="0">
                            <a:latin typeface="Cambria Math" panose="02040503050406030204" pitchFamily="18" charset="0"/>
                            <a:cs typeface="Times New Roman" pitchFamily="18" charset="0"/>
                          </a:rPr>
                          <m:t>)</m:t>
                        </m:r>
                      </m:e>
                    </m:d>
                  </m:oMath>
                </a14:m>
                <a:r>
                  <a:rPr lang="en-US" sz="2200" dirty="0">
                    <a:latin typeface="Times New Roman" pitchFamily="18" charset="0"/>
                    <a:cs typeface="Times New Roman" pitchFamily="18" charset="0"/>
                  </a:rPr>
                  <a:t> where ‘a’ is the complex number and ℒ </a:t>
                </a:r>
                <a14:m>
                  <m:oMath xmlns:m="http://schemas.openxmlformats.org/officeDocument/2006/math">
                    <m:d>
                      <m:dPr>
                        <m:begChr m:val="{"/>
                        <m:endChr m:val="}"/>
                        <m:ctrlPr>
                          <a:rPr lang="en-US" sz="2200" i="1">
                            <a:latin typeface="Cambria Math" panose="02040503050406030204" pitchFamily="18" charset="0"/>
                            <a:cs typeface="Times New Roman" pitchFamily="18" charset="0"/>
                          </a:rPr>
                        </m:ctrlPr>
                      </m:dPr>
                      <m:e>
                        <m:sSup>
                          <m:sSupPr>
                            <m:ctrlPr>
                              <a:rPr lang="en-US" sz="2200" i="1">
                                <a:latin typeface="Cambria Math" panose="02040503050406030204" pitchFamily="18" charset="0"/>
                                <a:cs typeface="Times New Roman" pitchFamily="18" charset="0"/>
                              </a:rPr>
                            </m:ctrlPr>
                          </m:sSupPr>
                          <m:e>
                            <m:r>
                              <m:rPr>
                                <m:sty m:val="p"/>
                              </m:rPr>
                              <a:rPr lang="en-US" sz="2200" i="1">
                                <a:latin typeface="Cambria Math" panose="02040503050406030204" pitchFamily="18" charset="0"/>
                                <a:cs typeface="Times New Roman" pitchFamily="18" charset="0"/>
                              </a:rPr>
                              <m:t>e</m:t>
                            </m:r>
                          </m:e>
                          <m:sup>
                            <m:r>
                              <m:rPr>
                                <m:sty m:val="p"/>
                              </m:rPr>
                              <a:rPr lang="en-US" sz="2200" i="1">
                                <a:latin typeface="Cambria Math" panose="02040503050406030204" pitchFamily="18" charset="0"/>
                                <a:cs typeface="Times New Roman" pitchFamily="18" charset="0"/>
                              </a:rPr>
                              <m:t>at</m:t>
                            </m:r>
                          </m:sup>
                        </m:sSup>
                        <m:r>
                          <a:rPr lang="en-US" sz="2200" i="1">
                            <a:latin typeface="Cambria Math" panose="02040503050406030204" pitchFamily="18" charset="0"/>
                            <a:cs typeface="Times New Roman" pitchFamily="18" charset="0"/>
                          </a:rPr>
                          <m:t> </m:t>
                        </m:r>
                        <m:r>
                          <m:rPr>
                            <m:sty m:val="p"/>
                          </m:rPr>
                          <a:rPr lang="en-US" sz="2200" i="1">
                            <a:latin typeface="Cambria Math" panose="02040503050406030204" pitchFamily="18" charset="0"/>
                            <a:cs typeface="Times New Roman" pitchFamily="18" charset="0"/>
                          </a:rPr>
                          <m:t>f</m:t>
                        </m:r>
                        <m:r>
                          <a:rPr lang="en-US" sz="2200" i="1">
                            <a:latin typeface="Cambria Math" panose="02040503050406030204" pitchFamily="18" charset="0"/>
                            <a:cs typeface="Times New Roman" pitchFamily="18" charset="0"/>
                          </a:rPr>
                          <m:t>(</m:t>
                        </m:r>
                        <m:r>
                          <m:rPr>
                            <m:sty m:val="p"/>
                          </m:rPr>
                          <a:rPr lang="en-US" sz="2200" i="1">
                            <a:latin typeface="Cambria Math" panose="02040503050406030204" pitchFamily="18" charset="0"/>
                            <a:cs typeface="Times New Roman" pitchFamily="18" charset="0"/>
                          </a:rPr>
                          <m:t>t</m:t>
                        </m:r>
                        <m:r>
                          <a:rPr lang="en-US" sz="2200" i="1">
                            <a:latin typeface="Cambria Math" panose="02040503050406030204" pitchFamily="18" charset="0"/>
                            <a:cs typeface="Times New Roman" pitchFamily="18" charset="0"/>
                          </a:rPr>
                          <m:t>)</m:t>
                        </m:r>
                      </m:e>
                    </m:d>
                    <m:r>
                      <a:rPr lang="en-US" sz="2200" b="0" i="1" smtClean="0">
                        <a:latin typeface="Cambria Math" panose="02040503050406030204" pitchFamily="18" charset="0"/>
                        <a:cs typeface="Times New Roman" pitchFamily="18" charset="0"/>
                      </a:rPr>
                      <m:t> = </m:t>
                    </m:r>
                    <m:r>
                      <m:rPr>
                        <m:sty m:val="p"/>
                      </m:rPr>
                      <a:rPr lang="en-US" sz="2200" b="0" i="1" smtClean="0">
                        <a:latin typeface="Cambria Math" panose="02040503050406030204" pitchFamily="18" charset="0"/>
                        <a:cs typeface="Times New Roman" pitchFamily="18" charset="0"/>
                      </a:rPr>
                      <m:t>F</m:t>
                    </m:r>
                    <m:r>
                      <a:rPr lang="en-US" sz="2200" b="0" i="1" smtClean="0">
                        <a:latin typeface="Cambria Math" panose="02040503050406030204" pitchFamily="18" charset="0"/>
                        <a:cs typeface="Times New Roman" pitchFamily="18" charset="0"/>
                      </a:rPr>
                      <m:t>(</m:t>
                    </m:r>
                    <m:r>
                      <m:rPr>
                        <m:sty m:val="p"/>
                      </m:rPr>
                      <a:rPr lang="en-US" sz="2200" b="0" i="1" smtClean="0">
                        <a:latin typeface="Cambria Math" panose="02040503050406030204" pitchFamily="18" charset="0"/>
                        <a:cs typeface="Times New Roman" pitchFamily="18" charset="0"/>
                      </a:rPr>
                      <m:t>s</m:t>
                    </m:r>
                    <m:r>
                      <a:rPr lang="en-US" sz="2200" b="0" i="1" smtClean="0">
                        <a:latin typeface="Cambria Math" panose="02040503050406030204" pitchFamily="18" charset="0"/>
                        <a:cs typeface="Times New Roman" pitchFamily="18" charset="0"/>
                      </a:rPr>
                      <m:t> + </m:t>
                    </m:r>
                    <m:r>
                      <m:rPr>
                        <m:sty m:val="p"/>
                      </m:rPr>
                      <a:rPr lang="en-US" sz="2200" b="0" i="1" smtClean="0">
                        <a:latin typeface="Cambria Math" panose="02040503050406030204" pitchFamily="18" charset="0"/>
                        <a:cs typeface="Times New Roman" pitchFamily="18" charset="0"/>
                      </a:rPr>
                      <m:t>a</m:t>
                    </m:r>
                    <m:r>
                      <a:rPr lang="en-US" sz="2200" b="0" i="1" smtClean="0">
                        <a:latin typeface="Cambria Math" panose="02040503050406030204" pitchFamily="18" charset="0"/>
                        <a:cs typeface="Times New Roman" pitchFamily="18" charset="0"/>
                      </a:rPr>
                      <m:t>)</m:t>
                    </m:r>
                  </m:oMath>
                </a14:m>
                <a:endParaRPr lang="en-US" sz="2200" dirty="0">
                  <a:latin typeface="Times New Roman" pitchFamily="18" charset="0"/>
                  <a:cs typeface="Times New Roman" pitchFamily="18" charset="0"/>
                </a:endParaRPr>
              </a:p>
            </p:txBody>
          </p:sp>
        </mc:Choice>
        <mc:Fallback xmlns="">
          <p:sp>
            <p:nvSpPr>
              <p:cNvPr id="7" name="Content Placeholder 6"/>
              <p:cNvSpPr>
                <a:spLocks noGrp="1" noRot="1" noChangeAspect="1" noMove="1" noResize="1" noEditPoints="1" noAdjustHandles="1" noChangeArrowheads="1" noChangeShapeType="1" noTextEdit="1"/>
              </p:cNvSpPr>
              <p:nvPr>
                <p:ph idx="1"/>
              </p:nvPr>
            </p:nvSpPr>
            <p:spPr>
              <a:xfrm>
                <a:off x="189988" y="714357"/>
                <a:ext cx="11781863" cy="5643603"/>
              </a:xfrm>
              <a:blipFill>
                <a:blip r:embed="rId2"/>
                <a:stretch>
                  <a:fillRect l="-673"/>
                </a:stretch>
              </a:blipFill>
            </p:spPr>
            <p:txBody>
              <a:bodyPr/>
              <a:lstStyle/>
              <a:p>
                <a:r>
                  <a:rPr lang="en-IN">
                    <a:noFill/>
                  </a:rPr>
                  <a:t> </a:t>
                </a:r>
              </a:p>
            </p:txBody>
          </p:sp>
        </mc:Fallback>
      </mc:AlternateContent>
      <p:graphicFrame>
        <p:nvGraphicFramePr>
          <p:cNvPr id="8" name="Object 7"/>
          <p:cNvGraphicFramePr>
            <a:graphicFrameLocks noChangeAspect="1"/>
          </p:cNvGraphicFramePr>
          <p:nvPr/>
        </p:nvGraphicFramePr>
        <p:xfrm>
          <a:off x="6004908" y="3321051"/>
          <a:ext cx="152023" cy="215900"/>
        </p:xfrm>
        <a:graphic>
          <a:graphicData uri="http://schemas.openxmlformats.org/presentationml/2006/ole">
            <mc:AlternateContent xmlns:mc="http://schemas.openxmlformats.org/markup-compatibility/2006">
              <mc:Choice xmlns:v="urn:schemas-microsoft-com:vml" Requires="v">
                <p:oleObj name="Equation" r:id="rId3" imgW="114120" imgH="215640" progId="Equation.3">
                  <p:embed/>
                </p:oleObj>
              </mc:Choice>
              <mc:Fallback>
                <p:oleObj name="Equation" r:id="rId3" imgW="114120" imgH="215640" progId="Equation.3">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04908" y="3321051"/>
                        <a:ext cx="152023"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303838-29CA-A96D-8318-C7BAEBB599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3A5400-5602-9BAB-559C-3FF2646A0CFB}"/>
              </a:ext>
            </a:extLst>
          </p:cNvPr>
          <p:cNvSpPr>
            <a:spLocks noGrp="1"/>
          </p:cNvSpPr>
          <p:nvPr>
            <p:ph type="title"/>
          </p:nvPr>
        </p:nvSpPr>
        <p:spPr>
          <a:xfrm>
            <a:off x="285003" y="71415"/>
            <a:ext cx="11591833" cy="714380"/>
          </a:xfrm>
        </p:spPr>
        <p:txBody>
          <a:bodyPr>
            <a:normAutofit/>
          </a:bodyPr>
          <a:lstStyle/>
          <a:p>
            <a:r>
              <a:rPr lang="en-IN" sz="2800" dirty="0">
                <a:solidFill>
                  <a:srgbClr val="00B050"/>
                </a:solidFill>
                <a:latin typeface="Times New Roman" pitchFamily="18" charset="0"/>
                <a:cs typeface="Times New Roman" pitchFamily="18" charset="0"/>
              </a:rPr>
              <a:t>LAPLACE TRANSFORM</a:t>
            </a:r>
            <a:endParaRPr lang="en-US" sz="2800" dirty="0">
              <a:solidFill>
                <a:srgbClr val="FF0000"/>
              </a:solidFill>
              <a:latin typeface="Times New Roman" pitchFamily="18" charset="0"/>
              <a:cs typeface="Times New Roman" pitchFamily="18" charset="0"/>
            </a:endParaRPr>
          </a:p>
        </p:txBody>
      </p:sp>
      <p:sp>
        <p:nvSpPr>
          <p:cNvPr id="4" name="Date Placeholder 3">
            <a:extLst>
              <a:ext uri="{FF2B5EF4-FFF2-40B4-BE49-F238E27FC236}">
                <a16:creationId xmlns:a16="http://schemas.microsoft.com/office/drawing/2014/main" id="{C07AD2AF-CF64-A901-BEFA-F63F0E31E59F}"/>
              </a:ext>
            </a:extLst>
          </p:cNvPr>
          <p:cNvSpPr>
            <a:spLocks noGrp="1"/>
          </p:cNvSpPr>
          <p:nvPr>
            <p:ph type="dt" sz="half" idx="10"/>
          </p:nvPr>
        </p:nvSpPr>
        <p:spPr/>
        <p:txBody>
          <a:bodyPr/>
          <a:lstStyle/>
          <a:p>
            <a:fld id="{2186F227-248D-4963-99BB-700C4C3FB295}" type="datetime2">
              <a:rPr lang="en-US" smtClean="0"/>
              <a:pPr/>
              <a:t>Monday, June 29, 2026</a:t>
            </a:fld>
            <a:endParaRPr lang="en-US"/>
          </a:p>
        </p:txBody>
      </p:sp>
      <p:sp>
        <p:nvSpPr>
          <p:cNvPr id="5" name="Footer Placeholder 4">
            <a:extLst>
              <a:ext uri="{FF2B5EF4-FFF2-40B4-BE49-F238E27FC236}">
                <a16:creationId xmlns:a16="http://schemas.microsoft.com/office/drawing/2014/main" id="{7D963E66-2D76-11DB-B794-9DCFD09FD229}"/>
              </a:ext>
            </a:extLst>
          </p:cNvPr>
          <p:cNvSpPr>
            <a:spLocks noGrp="1"/>
          </p:cNvSpPr>
          <p:nvPr>
            <p:ph type="ftr" sz="quarter" idx="11"/>
          </p:nvPr>
        </p:nvSpPr>
        <p:spPr/>
        <p:txBody>
          <a:bodyPr/>
          <a:lstStyle/>
          <a:p>
            <a:r>
              <a:rPr lang="en-US"/>
              <a:t>syed hasan saeed</a:t>
            </a:r>
          </a:p>
        </p:txBody>
      </p:sp>
      <p:sp>
        <p:nvSpPr>
          <p:cNvPr id="6" name="Slide Number Placeholder 5">
            <a:extLst>
              <a:ext uri="{FF2B5EF4-FFF2-40B4-BE49-F238E27FC236}">
                <a16:creationId xmlns:a16="http://schemas.microsoft.com/office/drawing/2014/main" id="{A3FAAD29-1793-0116-063E-091CA093EAAB}"/>
              </a:ext>
            </a:extLst>
          </p:cNvPr>
          <p:cNvSpPr>
            <a:spLocks noGrp="1"/>
          </p:cNvSpPr>
          <p:nvPr>
            <p:ph type="sldNum" sz="quarter" idx="12"/>
          </p:nvPr>
        </p:nvSpPr>
        <p:spPr/>
        <p:txBody>
          <a:bodyPr/>
          <a:lstStyle/>
          <a:p>
            <a:fld id="{435E54C7-FAA8-46C1-A880-53547F97989D}" type="slidenum">
              <a:rPr lang="en-US" smtClean="0"/>
              <a:pPr/>
              <a:t>15</a:t>
            </a:fld>
            <a:endParaRPr lang="en-US"/>
          </a:p>
        </p:txBody>
      </p:sp>
      <mc:AlternateContent xmlns:mc="http://schemas.openxmlformats.org/markup-compatibility/2006" xmlns:a14="http://schemas.microsoft.com/office/drawing/2010/main">
        <mc:Choice Requires="a14">
          <p:sp>
            <p:nvSpPr>
              <p:cNvPr id="7" name="Content Placeholder 6">
                <a:extLst>
                  <a:ext uri="{FF2B5EF4-FFF2-40B4-BE49-F238E27FC236}">
                    <a16:creationId xmlns:a16="http://schemas.microsoft.com/office/drawing/2014/main" id="{31C36474-FA92-90E8-9223-7164B63C6F66}"/>
                  </a:ext>
                </a:extLst>
              </p:cNvPr>
              <p:cNvSpPr>
                <a:spLocks noGrp="1"/>
              </p:cNvSpPr>
              <p:nvPr>
                <p:ph idx="1"/>
              </p:nvPr>
            </p:nvSpPr>
            <p:spPr>
              <a:xfrm>
                <a:off x="189988" y="714357"/>
                <a:ext cx="11781863" cy="5643603"/>
              </a:xfrm>
            </p:spPr>
            <p:txBody>
              <a:bodyPr>
                <a:normAutofit/>
              </a:bodyPr>
              <a:lstStyle/>
              <a:p>
                <a:pPr>
                  <a:lnSpc>
                    <a:spcPct val="150000"/>
                  </a:lnSpc>
                  <a:buNone/>
                </a:pPr>
                <a:r>
                  <a:rPr lang="en-US" sz="2200" dirty="0">
                    <a:latin typeface="Times New Roman" pitchFamily="18" charset="0"/>
                    <a:cs typeface="Times New Roman" pitchFamily="18" charset="0"/>
                  </a:rPr>
                  <a:t> 7</a:t>
                </a:r>
                <a:r>
                  <a:rPr lang="en-US" sz="2200" b="1" dirty="0">
                    <a:latin typeface="Times New Roman" pitchFamily="18" charset="0"/>
                    <a:cs typeface="Times New Roman" pitchFamily="18" charset="0"/>
                  </a:rPr>
                  <a:t>. Real Translation (Shifting Theorem) : </a:t>
                </a:r>
                <a:r>
                  <a:rPr lang="en-US" sz="2200" dirty="0">
                    <a:latin typeface="Times New Roman" pitchFamily="18" charset="0"/>
                    <a:cs typeface="Times New Roman" pitchFamily="18" charset="0"/>
                  </a:rPr>
                  <a:t>This theorem is useful to obtain the Laplace transform of the shifted or delayed function of time.</a:t>
                </a:r>
              </a:p>
              <a:p>
                <a:pPr>
                  <a:lnSpc>
                    <a:spcPct val="150000"/>
                  </a:lnSpc>
                  <a:buNone/>
                </a:pPr>
                <a:r>
                  <a:rPr lang="en-US" sz="2200" dirty="0">
                    <a:latin typeface="Times New Roman" pitchFamily="18" charset="0"/>
                    <a:cs typeface="Times New Roman" pitchFamily="18" charset="0"/>
                  </a:rPr>
                  <a:t>If F(s) is the Laplace transform of f(t) then Laplace transform of the function delayed by time T is </a:t>
                </a:r>
              </a:p>
              <a:p>
                <a:pPr>
                  <a:lnSpc>
                    <a:spcPct val="150000"/>
                  </a:lnSpc>
                  <a:buNone/>
                </a:pPr>
                <a:r>
                  <a:rPr lang="en-US" sz="2200" dirty="0">
                    <a:latin typeface="Times New Roman" pitchFamily="18" charset="0"/>
                    <a:cs typeface="Times New Roman" pitchFamily="18" charset="0"/>
                  </a:rPr>
                  <a:t>          ℒ </a:t>
                </a:r>
                <a14:m>
                  <m:oMath xmlns:m="http://schemas.openxmlformats.org/officeDocument/2006/math">
                    <m:d>
                      <m:dPr>
                        <m:begChr m:val="{"/>
                        <m:endChr m:val="}"/>
                        <m:ctrlPr>
                          <a:rPr lang="en-US" sz="2200" i="1" smtClean="0">
                            <a:latin typeface="Cambria Math" panose="02040503050406030204" pitchFamily="18" charset="0"/>
                            <a:cs typeface="Times New Roman" pitchFamily="18" charset="0"/>
                          </a:rPr>
                        </m:ctrlPr>
                      </m:dPr>
                      <m:e>
                        <m:r>
                          <m:rPr>
                            <m:sty m:val="p"/>
                          </m:rPr>
                          <a:rPr lang="en-US" sz="2200" b="0" i="1" smtClean="0">
                            <a:latin typeface="Cambria Math" panose="02040503050406030204" pitchFamily="18" charset="0"/>
                            <a:cs typeface="Times New Roman" pitchFamily="18" charset="0"/>
                          </a:rPr>
                          <m:t>f</m:t>
                        </m:r>
                        <m:r>
                          <a:rPr lang="en-US" sz="2200" b="0" i="1" smtClean="0">
                            <a:latin typeface="Cambria Math" panose="02040503050406030204" pitchFamily="18" charset="0"/>
                            <a:cs typeface="Times New Roman" pitchFamily="18" charset="0"/>
                          </a:rPr>
                          <m:t> (</m:t>
                        </m:r>
                        <m:r>
                          <m:rPr>
                            <m:sty m:val="p"/>
                          </m:rPr>
                          <a:rPr lang="en-US" sz="2200" b="0" i="1" smtClean="0">
                            <a:latin typeface="Cambria Math" panose="02040503050406030204" pitchFamily="18" charset="0"/>
                            <a:cs typeface="Times New Roman" pitchFamily="18" charset="0"/>
                          </a:rPr>
                          <m:t>t</m:t>
                        </m:r>
                        <m:r>
                          <a:rPr lang="en-US" sz="2200" b="0" i="1" smtClean="0">
                            <a:latin typeface="Cambria Math" panose="02040503050406030204" pitchFamily="18" charset="0"/>
                            <a:cs typeface="Times New Roman" pitchFamily="18" charset="0"/>
                          </a:rPr>
                          <m:t> − </m:t>
                        </m:r>
                        <m:r>
                          <m:rPr>
                            <m:sty m:val="p"/>
                          </m:rPr>
                          <a:rPr lang="en-US" sz="2200" b="0" i="1" smtClean="0">
                            <a:latin typeface="Cambria Math" panose="02040503050406030204" pitchFamily="18" charset="0"/>
                            <a:cs typeface="Times New Roman" pitchFamily="18" charset="0"/>
                          </a:rPr>
                          <m:t>T</m:t>
                        </m:r>
                        <m:r>
                          <a:rPr lang="en-US" sz="2200" b="0" i="1" smtClean="0">
                            <a:latin typeface="Cambria Math" panose="02040503050406030204" pitchFamily="18" charset="0"/>
                            <a:cs typeface="Times New Roman" pitchFamily="18" charset="0"/>
                          </a:rPr>
                          <m:t>)</m:t>
                        </m:r>
                      </m:e>
                    </m:d>
                  </m:oMath>
                </a14:m>
                <a:r>
                  <a:rPr lang="en-US" sz="2200" dirty="0">
                    <a:latin typeface="Times New Roman" pitchFamily="18" charset="0"/>
                    <a:cs typeface="Times New Roman" pitchFamily="18" charset="0"/>
                  </a:rPr>
                  <a:t> = </a:t>
                </a:r>
                <a14:m>
                  <m:oMath xmlns:m="http://schemas.openxmlformats.org/officeDocument/2006/math">
                    <m:sSup>
                      <m:sSupPr>
                        <m:ctrlPr>
                          <a:rPr lang="en-US" sz="2200" i="1" smtClean="0">
                            <a:latin typeface="Cambria Math" panose="02040503050406030204" pitchFamily="18" charset="0"/>
                            <a:cs typeface="Times New Roman" pitchFamily="18" charset="0"/>
                          </a:rPr>
                        </m:ctrlPr>
                      </m:sSupPr>
                      <m:e>
                        <m:r>
                          <m:rPr>
                            <m:sty m:val="p"/>
                          </m:rPr>
                          <a:rPr lang="en-US" sz="2200" b="0" i="1" smtClean="0">
                            <a:latin typeface="Cambria Math" panose="02040503050406030204" pitchFamily="18" charset="0"/>
                            <a:cs typeface="Times New Roman" pitchFamily="18" charset="0"/>
                          </a:rPr>
                          <m:t>e</m:t>
                        </m:r>
                      </m:e>
                      <m:sup>
                        <m:r>
                          <a:rPr lang="en-US" sz="2200" b="0" i="1" smtClean="0">
                            <a:latin typeface="Cambria Math" panose="02040503050406030204" pitchFamily="18" charset="0"/>
                            <a:cs typeface="Times New Roman" pitchFamily="18" charset="0"/>
                          </a:rPr>
                          <m:t>−</m:t>
                        </m:r>
                        <m:r>
                          <m:rPr>
                            <m:sty m:val="p"/>
                          </m:rPr>
                          <a:rPr lang="en-US" sz="2200" b="0" i="1" smtClean="0">
                            <a:latin typeface="Cambria Math" panose="02040503050406030204" pitchFamily="18" charset="0"/>
                            <a:cs typeface="Times New Roman" pitchFamily="18" charset="0"/>
                          </a:rPr>
                          <m:t>Ts</m:t>
                        </m:r>
                        <m:r>
                          <a:rPr lang="en-US" sz="2200" b="0" i="1" smtClean="0">
                            <a:latin typeface="Cambria Math" panose="02040503050406030204" pitchFamily="18" charset="0"/>
                            <a:cs typeface="Times New Roman" pitchFamily="18" charset="0"/>
                          </a:rPr>
                          <m:t> </m:t>
                        </m:r>
                      </m:sup>
                    </m:sSup>
                  </m:oMath>
                </a14:m>
                <a:r>
                  <a:rPr lang="en-US" sz="2200" dirty="0">
                    <a:latin typeface="Times New Roman" pitchFamily="18" charset="0"/>
                    <a:cs typeface="Times New Roman" pitchFamily="18" charset="0"/>
                  </a:rPr>
                  <a:t>F(s)</a:t>
                </a:r>
              </a:p>
            </p:txBody>
          </p:sp>
        </mc:Choice>
        <mc:Fallback xmlns="">
          <p:sp>
            <p:nvSpPr>
              <p:cNvPr id="7" name="Content Placeholder 6">
                <a:extLst>
                  <a:ext uri="{FF2B5EF4-FFF2-40B4-BE49-F238E27FC236}">
                    <a16:creationId xmlns:a16="http://schemas.microsoft.com/office/drawing/2014/main" id="{31C36474-FA92-90E8-9223-7164B63C6F66}"/>
                  </a:ext>
                </a:extLst>
              </p:cNvPr>
              <p:cNvSpPr>
                <a:spLocks noGrp="1" noRot="1" noChangeAspect="1" noMove="1" noResize="1" noEditPoints="1" noAdjustHandles="1" noChangeArrowheads="1" noChangeShapeType="1" noTextEdit="1"/>
              </p:cNvSpPr>
              <p:nvPr>
                <p:ph idx="1"/>
              </p:nvPr>
            </p:nvSpPr>
            <p:spPr>
              <a:xfrm>
                <a:off x="189988" y="714357"/>
                <a:ext cx="11781863" cy="5643603"/>
              </a:xfrm>
              <a:blipFill>
                <a:blip r:embed="rId2"/>
                <a:stretch>
                  <a:fillRect l="-673"/>
                </a:stretch>
              </a:blipFill>
            </p:spPr>
            <p:txBody>
              <a:bodyPr/>
              <a:lstStyle/>
              <a:p>
                <a:r>
                  <a:rPr lang="en-IN">
                    <a:noFill/>
                  </a:rPr>
                  <a:t> </a:t>
                </a:r>
              </a:p>
            </p:txBody>
          </p:sp>
        </mc:Fallback>
      </mc:AlternateContent>
      <p:graphicFrame>
        <p:nvGraphicFramePr>
          <p:cNvPr id="8" name="Object 7">
            <a:extLst>
              <a:ext uri="{FF2B5EF4-FFF2-40B4-BE49-F238E27FC236}">
                <a16:creationId xmlns:a16="http://schemas.microsoft.com/office/drawing/2014/main" id="{E0650F9E-08E6-1674-B0C8-9F18E6196A8B}"/>
              </a:ext>
            </a:extLst>
          </p:cNvPr>
          <p:cNvGraphicFramePr>
            <a:graphicFrameLocks noChangeAspect="1"/>
          </p:cNvGraphicFramePr>
          <p:nvPr/>
        </p:nvGraphicFramePr>
        <p:xfrm>
          <a:off x="6004908" y="3321051"/>
          <a:ext cx="152023" cy="215900"/>
        </p:xfrm>
        <a:graphic>
          <a:graphicData uri="http://schemas.openxmlformats.org/presentationml/2006/ole">
            <mc:AlternateContent xmlns:mc="http://schemas.openxmlformats.org/markup-compatibility/2006">
              <mc:Choice xmlns:v="urn:schemas-microsoft-com:vml" Requires="v">
                <p:oleObj name="Equation" r:id="rId3" imgW="114120" imgH="215640" progId="Equation.3">
                  <p:embed/>
                </p:oleObj>
              </mc:Choice>
              <mc:Fallback>
                <p:oleObj name="Equation" r:id="rId3" imgW="114120" imgH="215640" progId="Equation.3">
                  <p:embed/>
                  <p:pic>
                    <p:nvPicPr>
                      <p:cNvPr id="8"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04908" y="3321051"/>
                        <a:ext cx="152023"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9708979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003" y="71415"/>
            <a:ext cx="11591833" cy="714380"/>
          </a:xfrm>
        </p:spPr>
        <p:txBody>
          <a:bodyPr>
            <a:normAutofit/>
          </a:bodyPr>
          <a:lstStyle/>
          <a:p>
            <a:r>
              <a:rPr lang="en-IN" sz="2800" dirty="0">
                <a:solidFill>
                  <a:srgbClr val="00B050"/>
                </a:solidFill>
                <a:latin typeface="Times New Roman" pitchFamily="18" charset="0"/>
                <a:cs typeface="Times New Roman" pitchFamily="18" charset="0"/>
              </a:rPr>
              <a:t>LAPLACE TRANSFORM</a:t>
            </a:r>
            <a:endParaRPr lang="en-US" sz="2800" dirty="0">
              <a:solidFill>
                <a:srgbClr val="FF0000"/>
              </a:solidFill>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2186F227-248D-4963-99BB-700C4C3FB295}" type="datetime2">
              <a:rPr lang="en-US" smtClean="0"/>
              <a:pPr/>
              <a:t>Monday, June 29, 2026</a:t>
            </a:fld>
            <a:endParaRPr lang="en-US"/>
          </a:p>
        </p:txBody>
      </p:sp>
      <p:sp>
        <p:nvSpPr>
          <p:cNvPr id="5" name="Footer Placeholder 4"/>
          <p:cNvSpPr>
            <a:spLocks noGrp="1"/>
          </p:cNvSpPr>
          <p:nvPr>
            <p:ph type="ftr" sz="quarter" idx="11"/>
          </p:nvPr>
        </p:nvSpPr>
        <p:spPr/>
        <p:txBody>
          <a:bodyPr/>
          <a:lstStyle/>
          <a:p>
            <a:r>
              <a:rPr lang="en-US"/>
              <a:t>syed hasan saeed</a:t>
            </a:r>
          </a:p>
        </p:txBody>
      </p:sp>
      <p:sp>
        <p:nvSpPr>
          <p:cNvPr id="6" name="Slide Number Placeholder 5"/>
          <p:cNvSpPr>
            <a:spLocks noGrp="1"/>
          </p:cNvSpPr>
          <p:nvPr>
            <p:ph type="sldNum" sz="quarter" idx="12"/>
          </p:nvPr>
        </p:nvSpPr>
        <p:spPr/>
        <p:txBody>
          <a:bodyPr/>
          <a:lstStyle/>
          <a:p>
            <a:fld id="{435E54C7-FAA8-46C1-A880-53547F97989D}" type="slidenum">
              <a:rPr lang="en-US" smtClean="0"/>
              <a:pPr/>
              <a:t>16</a:t>
            </a:fld>
            <a:endParaRPr lang="en-US"/>
          </a:p>
        </p:txBody>
      </p:sp>
      <p:sp>
        <p:nvSpPr>
          <p:cNvPr id="7" name="Content Placeholder 6"/>
          <p:cNvSpPr>
            <a:spLocks noGrp="1"/>
          </p:cNvSpPr>
          <p:nvPr>
            <p:ph idx="1"/>
          </p:nvPr>
        </p:nvSpPr>
        <p:spPr>
          <a:xfrm>
            <a:off x="189988" y="714357"/>
            <a:ext cx="11781863" cy="5643603"/>
          </a:xfrm>
        </p:spPr>
        <p:txBody>
          <a:bodyPr>
            <a:normAutofit/>
          </a:bodyPr>
          <a:lstStyle/>
          <a:p>
            <a:pPr>
              <a:lnSpc>
                <a:spcPct val="150000"/>
              </a:lnSpc>
              <a:buNone/>
            </a:pPr>
            <a:r>
              <a:rPr lang="en-US" sz="2200" dirty="0">
                <a:latin typeface="Times New Roman" pitchFamily="18" charset="0"/>
                <a:cs typeface="Times New Roman" pitchFamily="18" charset="0"/>
              </a:rPr>
              <a:t>  </a:t>
            </a:r>
          </a:p>
          <a:p>
            <a:pPr>
              <a:lnSpc>
                <a:spcPct val="150000"/>
              </a:lnSpc>
              <a:buNone/>
            </a:pPr>
            <a:endParaRPr lang="en-US" sz="2000" dirty="0">
              <a:solidFill>
                <a:srgbClr val="7030A0"/>
              </a:solidFill>
              <a:latin typeface="Times New Roman" pitchFamily="18" charset="0"/>
              <a:cs typeface="Times New Roman" pitchFamily="18" charset="0"/>
            </a:endParaRPr>
          </a:p>
        </p:txBody>
      </p:sp>
      <p:graphicFrame>
        <p:nvGraphicFramePr>
          <p:cNvPr id="8" name="Object 7"/>
          <p:cNvGraphicFramePr>
            <a:graphicFrameLocks noChangeAspect="1"/>
          </p:cNvGraphicFramePr>
          <p:nvPr/>
        </p:nvGraphicFramePr>
        <p:xfrm>
          <a:off x="6004908" y="3321051"/>
          <a:ext cx="152023" cy="215900"/>
        </p:xfrm>
        <a:graphic>
          <a:graphicData uri="http://schemas.openxmlformats.org/presentationml/2006/ole">
            <mc:AlternateContent xmlns:mc="http://schemas.openxmlformats.org/markup-compatibility/2006">
              <mc:Choice xmlns:v="urn:schemas-microsoft-com:vml" Requires="v">
                <p:oleObj name="Equation" r:id="rId2" imgW="114120" imgH="215640" progId="Equation.3">
                  <p:embed/>
                </p:oleObj>
              </mc:Choice>
              <mc:Fallback>
                <p:oleObj name="Equation" r:id="rId2" imgW="114120" imgH="215640" progId="Equation.3">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04908" y="3321051"/>
                        <a:ext cx="152023"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Table 8"/>
          <p:cNvGraphicFramePr>
            <a:graphicFrameLocks noGrp="1"/>
          </p:cNvGraphicFramePr>
          <p:nvPr/>
        </p:nvGraphicFramePr>
        <p:xfrm>
          <a:off x="233409" y="692726"/>
          <a:ext cx="11670451" cy="5645267"/>
        </p:xfrm>
        <a:graphic>
          <a:graphicData uri="http://schemas.openxmlformats.org/drawingml/2006/table">
            <a:tbl>
              <a:tblPr firstRow="1" bandRow="1">
                <a:tableStyleId>{E8B1032C-EA38-4F05-BA0D-38AFFFC7BED3}</a:tableStyleId>
              </a:tblPr>
              <a:tblGrid>
                <a:gridCol w="896781">
                  <a:extLst>
                    <a:ext uri="{9D8B030D-6E8A-4147-A177-3AD203B41FA5}">
                      <a16:colId xmlns:a16="http://schemas.microsoft.com/office/drawing/2014/main" val="20000"/>
                    </a:ext>
                  </a:extLst>
                </a:gridCol>
                <a:gridCol w="2776340">
                  <a:extLst>
                    <a:ext uri="{9D8B030D-6E8A-4147-A177-3AD203B41FA5}">
                      <a16:colId xmlns:a16="http://schemas.microsoft.com/office/drawing/2014/main" val="20001"/>
                    </a:ext>
                  </a:extLst>
                </a:gridCol>
                <a:gridCol w="2788623">
                  <a:extLst>
                    <a:ext uri="{9D8B030D-6E8A-4147-A177-3AD203B41FA5}">
                      <a16:colId xmlns:a16="http://schemas.microsoft.com/office/drawing/2014/main" val="20002"/>
                    </a:ext>
                  </a:extLst>
                </a:gridCol>
                <a:gridCol w="5208707">
                  <a:extLst>
                    <a:ext uri="{9D8B030D-6E8A-4147-A177-3AD203B41FA5}">
                      <a16:colId xmlns:a16="http://schemas.microsoft.com/office/drawing/2014/main" val="20003"/>
                    </a:ext>
                  </a:extLst>
                </a:gridCol>
              </a:tblGrid>
              <a:tr h="741680">
                <a:tc>
                  <a:txBody>
                    <a:bodyPr/>
                    <a:lstStyle/>
                    <a:p>
                      <a:pPr algn="ctr"/>
                      <a:r>
                        <a:rPr lang="en-US" sz="2100" b="0" dirty="0">
                          <a:latin typeface="Times New Roman" pitchFamily="18" charset="0"/>
                          <a:cs typeface="Times New Roman" pitchFamily="18" charset="0"/>
                        </a:rPr>
                        <a:t>S.</a:t>
                      </a:r>
                    </a:p>
                    <a:p>
                      <a:pPr algn="ctr"/>
                      <a:r>
                        <a:rPr lang="en-US" sz="2100" b="0" dirty="0">
                          <a:latin typeface="Times New Roman" pitchFamily="18" charset="0"/>
                          <a:cs typeface="Times New Roman" pitchFamily="18" charset="0"/>
                        </a:rPr>
                        <a:t>NO.</a:t>
                      </a:r>
                    </a:p>
                  </a:txBody>
                  <a:tcPr marL="121618" marR="121618"/>
                </a:tc>
                <a:tc>
                  <a:txBody>
                    <a:bodyPr/>
                    <a:lstStyle/>
                    <a:p>
                      <a:pPr algn="ctr"/>
                      <a:r>
                        <a:rPr lang="en-US" sz="2100" b="0" dirty="0">
                          <a:latin typeface="Times New Roman" pitchFamily="18" charset="0"/>
                          <a:cs typeface="Times New Roman" pitchFamily="18" charset="0"/>
                        </a:rPr>
                        <a:t>PROPERTY</a:t>
                      </a:r>
                    </a:p>
                  </a:txBody>
                  <a:tcPr marL="121618" marR="121618"/>
                </a:tc>
                <a:tc>
                  <a:txBody>
                    <a:bodyPr/>
                    <a:lstStyle/>
                    <a:p>
                      <a:pPr algn="ctr"/>
                      <a:r>
                        <a:rPr lang="en-US" sz="2100" b="0" dirty="0">
                          <a:latin typeface="Times New Roman" pitchFamily="18" charset="0"/>
                          <a:cs typeface="Times New Roman" pitchFamily="18" charset="0"/>
                        </a:rPr>
                        <a:t>TIME DOMAIN</a:t>
                      </a:r>
                    </a:p>
                  </a:txBody>
                  <a:tcPr marL="121618" marR="121618"/>
                </a:tc>
                <a:tc>
                  <a:txBody>
                    <a:bodyPr/>
                    <a:lstStyle/>
                    <a:p>
                      <a:pPr algn="ctr"/>
                      <a:r>
                        <a:rPr lang="en-US" sz="2100" b="0" dirty="0">
                          <a:latin typeface="Times New Roman" pitchFamily="18" charset="0"/>
                          <a:cs typeface="Times New Roman" pitchFamily="18" charset="0"/>
                        </a:rPr>
                        <a:t>FREQUENCY DOMAIN</a:t>
                      </a:r>
                    </a:p>
                  </a:txBody>
                  <a:tcPr marL="121618" marR="121618"/>
                </a:tc>
                <a:extLst>
                  <a:ext uri="{0D108BD9-81ED-4DB2-BD59-A6C34878D82A}">
                    <a16:rowId xmlns:a16="http://schemas.microsoft.com/office/drawing/2014/main" val="10000"/>
                  </a:ext>
                </a:extLst>
              </a:tr>
              <a:tr h="731520">
                <a:tc>
                  <a:txBody>
                    <a:bodyPr/>
                    <a:lstStyle/>
                    <a:p>
                      <a:r>
                        <a:rPr lang="en-US" sz="2100" dirty="0">
                          <a:latin typeface="Times New Roman" pitchFamily="18" charset="0"/>
                          <a:cs typeface="Times New Roman" pitchFamily="18" charset="0"/>
                        </a:rPr>
                        <a:t>1.</a:t>
                      </a:r>
                    </a:p>
                  </a:txBody>
                  <a:tcPr marL="121618" marR="121618"/>
                </a:tc>
                <a:tc>
                  <a:txBody>
                    <a:bodyPr/>
                    <a:lstStyle/>
                    <a:p>
                      <a:r>
                        <a:rPr lang="en-US" sz="2100" dirty="0">
                          <a:latin typeface="Times New Roman" pitchFamily="18" charset="0"/>
                          <a:cs typeface="Times New Roman" pitchFamily="18" charset="0"/>
                        </a:rPr>
                        <a:t>Independent variable</a:t>
                      </a:r>
                    </a:p>
                  </a:txBody>
                  <a:tcPr marL="121618" marR="121618"/>
                </a:tc>
                <a:tc>
                  <a:txBody>
                    <a:bodyPr/>
                    <a:lstStyle/>
                    <a:p>
                      <a:r>
                        <a:rPr lang="en-US" sz="2100" dirty="0">
                          <a:latin typeface="Times New Roman" pitchFamily="18" charset="0"/>
                          <a:cs typeface="Times New Roman" pitchFamily="18" charset="0"/>
                        </a:rPr>
                        <a:t>Time t</a:t>
                      </a:r>
                    </a:p>
                  </a:txBody>
                  <a:tcPr marL="121618" marR="121618"/>
                </a:tc>
                <a:tc>
                  <a:txBody>
                    <a:bodyPr/>
                    <a:lstStyle/>
                    <a:p>
                      <a:r>
                        <a:rPr lang="en-US" sz="2100" dirty="0">
                          <a:latin typeface="Times New Roman" pitchFamily="18" charset="0"/>
                          <a:cs typeface="Times New Roman" pitchFamily="18" charset="0"/>
                        </a:rPr>
                        <a:t>Complex frequency s = </a:t>
                      </a:r>
                      <a:r>
                        <a:rPr lang="el-GR" sz="2100" dirty="0">
                          <a:latin typeface="Times New Roman" pitchFamily="18" charset="0"/>
                          <a:cs typeface="Times New Roman" pitchFamily="18" charset="0"/>
                        </a:rPr>
                        <a:t>σ</a:t>
                      </a:r>
                      <a:r>
                        <a:rPr lang="en-US" sz="2100" dirty="0">
                          <a:latin typeface="Times New Roman" pitchFamily="18" charset="0"/>
                          <a:cs typeface="Times New Roman" pitchFamily="18" charset="0"/>
                        </a:rPr>
                        <a:t> + jꞶ</a:t>
                      </a:r>
                    </a:p>
                  </a:txBody>
                  <a:tcPr marL="121618" marR="121618"/>
                </a:tc>
                <a:extLst>
                  <a:ext uri="{0D108BD9-81ED-4DB2-BD59-A6C34878D82A}">
                    <a16:rowId xmlns:a16="http://schemas.microsoft.com/office/drawing/2014/main" val="10001"/>
                  </a:ext>
                </a:extLst>
              </a:tr>
              <a:tr h="731520">
                <a:tc>
                  <a:txBody>
                    <a:bodyPr/>
                    <a:lstStyle/>
                    <a:p>
                      <a:r>
                        <a:rPr lang="en-US" sz="2100" dirty="0">
                          <a:latin typeface="Times New Roman" pitchFamily="18" charset="0"/>
                          <a:cs typeface="Times New Roman" pitchFamily="18" charset="0"/>
                        </a:rPr>
                        <a:t>2.</a:t>
                      </a:r>
                    </a:p>
                  </a:txBody>
                  <a:tcPr marL="121618" marR="121618"/>
                </a:tc>
                <a:tc>
                  <a:txBody>
                    <a:bodyPr/>
                    <a:lstStyle/>
                    <a:p>
                      <a:r>
                        <a:rPr lang="en-US" sz="2100" dirty="0">
                          <a:latin typeface="Times New Roman" pitchFamily="18" charset="0"/>
                          <a:cs typeface="Times New Roman" pitchFamily="18" charset="0"/>
                        </a:rPr>
                        <a:t>Signal representation</a:t>
                      </a:r>
                    </a:p>
                  </a:txBody>
                  <a:tcPr marL="121618" marR="121618"/>
                </a:tc>
                <a:tc>
                  <a:txBody>
                    <a:bodyPr/>
                    <a:lstStyle/>
                    <a:p>
                      <a:r>
                        <a:rPr lang="en-US" sz="2100" dirty="0">
                          <a:latin typeface="Times New Roman" pitchFamily="18" charset="0"/>
                          <a:cs typeface="Times New Roman" pitchFamily="18" charset="0"/>
                        </a:rPr>
                        <a:t>Waveform f(t)</a:t>
                      </a:r>
                    </a:p>
                  </a:txBody>
                  <a:tcPr marL="121618" marR="121618"/>
                </a:tc>
                <a:tc>
                  <a:txBody>
                    <a:bodyPr/>
                    <a:lstStyle/>
                    <a:p>
                      <a:r>
                        <a:rPr lang="en-US" sz="2100" dirty="0">
                          <a:latin typeface="Times New Roman" pitchFamily="18" charset="0"/>
                          <a:cs typeface="Times New Roman" pitchFamily="18" charset="0"/>
                        </a:rPr>
                        <a:t>Transform F(s)</a:t>
                      </a:r>
                    </a:p>
                  </a:txBody>
                  <a:tcPr marL="121618" marR="121618"/>
                </a:tc>
                <a:extLst>
                  <a:ext uri="{0D108BD9-81ED-4DB2-BD59-A6C34878D82A}">
                    <a16:rowId xmlns:a16="http://schemas.microsoft.com/office/drawing/2014/main" val="10002"/>
                  </a:ext>
                </a:extLst>
              </a:tr>
              <a:tr h="731520">
                <a:tc>
                  <a:txBody>
                    <a:bodyPr/>
                    <a:lstStyle/>
                    <a:p>
                      <a:r>
                        <a:rPr lang="en-US" sz="2100" dirty="0">
                          <a:latin typeface="Times New Roman" pitchFamily="18" charset="0"/>
                          <a:cs typeface="Times New Roman" pitchFamily="18" charset="0"/>
                        </a:rPr>
                        <a:t>3.</a:t>
                      </a:r>
                    </a:p>
                  </a:txBody>
                  <a:tcPr marL="121618" marR="121618"/>
                </a:tc>
                <a:tc>
                  <a:txBody>
                    <a:bodyPr/>
                    <a:lstStyle/>
                    <a:p>
                      <a:r>
                        <a:rPr lang="en-US" sz="2100" dirty="0">
                          <a:latin typeface="Times New Roman" pitchFamily="18" charset="0"/>
                          <a:cs typeface="Times New Roman" pitchFamily="18" charset="0"/>
                        </a:rPr>
                        <a:t>Linearity property</a:t>
                      </a:r>
                    </a:p>
                  </a:txBody>
                  <a:tcPr marL="121618" marR="121618"/>
                </a:tc>
                <a:tc>
                  <a:txBody>
                    <a:bodyPr/>
                    <a:lstStyle/>
                    <a:p>
                      <a:r>
                        <a:rPr lang="en-US" sz="2100" dirty="0">
                          <a:latin typeface="Times New Roman" pitchFamily="18" charset="0"/>
                          <a:cs typeface="Times New Roman" pitchFamily="18" charset="0"/>
                        </a:rPr>
                        <a:t>a</a:t>
                      </a:r>
                      <a:r>
                        <a:rPr lang="en-US" sz="2100" baseline="-25000" dirty="0">
                          <a:latin typeface="Times New Roman" pitchFamily="18" charset="0"/>
                          <a:cs typeface="Times New Roman" pitchFamily="18" charset="0"/>
                        </a:rPr>
                        <a:t>1</a:t>
                      </a:r>
                      <a:r>
                        <a:rPr lang="en-US" sz="2100" dirty="0">
                          <a:latin typeface="Times New Roman" pitchFamily="18" charset="0"/>
                          <a:cs typeface="Times New Roman" pitchFamily="18" charset="0"/>
                        </a:rPr>
                        <a:t>f</a:t>
                      </a:r>
                      <a:r>
                        <a:rPr lang="en-US" sz="2100" baseline="-25000" dirty="0">
                          <a:latin typeface="Times New Roman" pitchFamily="18" charset="0"/>
                          <a:cs typeface="Times New Roman" pitchFamily="18" charset="0"/>
                        </a:rPr>
                        <a:t>1</a:t>
                      </a:r>
                      <a:r>
                        <a:rPr lang="en-US" sz="2100" dirty="0">
                          <a:latin typeface="Times New Roman" pitchFamily="18" charset="0"/>
                          <a:cs typeface="Times New Roman" pitchFamily="18" charset="0"/>
                        </a:rPr>
                        <a:t> (t) + a</a:t>
                      </a:r>
                      <a:r>
                        <a:rPr lang="en-US" sz="2100" baseline="-25000" dirty="0">
                          <a:latin typeface="Times New Roman" pitchFamily="18" charset="0"/>
                          <a:cs typeface="Times New Roman" pitchFamily="18" charset="0"/>
                        </a:rPr>
                        <a:t>2</a:t>
                      </a:r>
                      <a:r>
                        <a:rPr lang="en-US" sz="2100" dirty="0">
                          <a:latin typeface="Times New Roman" pitchFamily="18" charset="0"/>
                          <a:cs typeface="Times New Roman" pitchFamily="18" charset="0"/>
                        </a:rPr>
                        <a:t>f</a:t>
                      </a:r>
                      <a:r>
                        <a:rPr lang="en-US" sz="2100" baseline="-25000" dirty="0">
                          <a:latin typeface="Times New Roman" pitchFamily="18" charset="0"/>
                          <a:cs typeface="Times New Roman" pitchFamily="18" charset="0"/>
                        </a:rPr>
                        <a:t>2</a:t>
                      </a:r>
                      <a:r>
                        <a:rPr lang="en-US" sz="2100" dirty="0">
                          <a:latin typeface="Times New Roman" pitchFamily="18" charset="0"/>
                          <a:cs typeface="Times New Roman" pitchFamily="18" charset="0"/>
                        </a:rPr>
                        <a:t>(t)</a:t>
                      </a:r>
                    </a:p>
                  </a:txBody>
                  <a:tcPr marL="121618" marR="121618"/>
                </a:tc>
                <a:tc>
                  <a:txBody>
                    <a:bodyPr/>
                    <a:lstStyle/>
                    <a:p>
                      <a:r>
                        <a:rPr lang="en-US" sz="2100" dirty="0">
                          <a:latin typeface="Times New Roman" pitchFamily="18" charset="0"/>
                          <a:cs typeface="Times New Roman" pitchFamily="18" charset="0"/>
                        </a:rPr>
                        <a:t>a</a:t>
                      </a:r>
                      <a:r>
                        <a:rPr lang="en-US" sz="2100" baseline="-25000" dirty="0">
                          <a:latin typeface="Times New Roman" pitchFamily="18" charset="0"/>
                          <a:cs typeface="Times New Roman" pitchFamily="18" charset="0"/>
                        </a:rPr>
                        <a:t>1</a:t>
                      </a:r>
                      <a:r>
                        <a:rPr lang="en-US" sz="2100" dirty="0">
                          <a:latin typeface="Times New Roman" pitchFamily="18" charset="0"/>
                          <a:cs typeface="Times New Roman" pitchFamily="18" charset="0"/>
                        </a:rPr>
                        <a:t>F</a:t>
                      </a:r>
                      <a:r>
                        <a:rPr lang="en-US" sz="2100" baseline="-25000" dirty="0">
                          <a:latin typeface="Times New Roman" pitchFamily="18" charset="0"/>
                          <a:cs typeface="Times New Roman" pitchFamily="18" charset="0"/>
                        </a:rPr>
                        <a:t>1</a:t>
                      </a:r>
                      <a:r>
                        <a:rPr lang="en-US" sz="2100" dirty="0">
                          <a:latin typeface="Times New Roman" pitchFamily="18" charset="0"/>
                          <a:cs typeface="Times New Roman" pitchFamily="18" charset="0"/>
                        </a:rPr>
                        <a:t>(s) + a</a:t>
                      </a:r>
                      <a:r>
                        <a:rPr lang="en-US" sz="2100" baseline="-25000" dirty="0">
                          <a:latin typeface="Times New Roman" pitchFamily="18" charset="0"/>
                          <a:cs typeface="Times New Roman" pitchFamily="18" charset="0"/>
                        </a:rPr>
                        <a:t>2</a:t>
                      </a:r>
                      <a:r>
                        <a:rPr lang="en-US" sz="2100" dirty="0">
                          <a:latin typeface="Times New Roman" pitchFamily="18" charset="0"/>
                          <a:cs typeface="Times New Roman" pitchFamily="18" charset="0"/>
                        </a:rPr>
                        <a:t>F</a:t>
                      </a:r>
                      <a:r>
                        <a:rPr lang="en-US" sz="2100" baseline="-25000" dirty="0">
                          <a:latin typeface="Times New Roman" pitchFamily="18" charset="0"/>
                          <a:cs typeface="Times New Roman" pitchFamily="18" charset="0"/>
                        </a:rPr>
                        <a:t>2</a:t>
                      </a:r>
                      <a:r>
                        <a:rPr lang="en-US" sz="2100" dirty="0">
                          <a:latin typeface="Times New Roman" pitchFamily="18" charset="0"/>
                          <a:cs typeface="Times New Roman" pitchFamily="18" charset="0"/>
                        </a:rPr>
                        <a:t>(s)</a:t>
                      </a:r>
                    </a:p>
                  </a:txBody>
                  <a:tcPr marL="121618" marR="121618"/>
                </a:tc>
                <a:extLst>
                  <a:ext uri="{0D108BD9-81ED-4DB2-BD59-A6C34878D82A}">
                    <a16:rowId xmlns:a16="http://schemas.microsoft.com/office/drawing/2014/main" val="10003"/>
                  </a:ext>
                </a:extLst>
              </a:tr>
              <a:tr h="731520">
                <a:tc>
                  <a:txBody>
                    <a:bodyPr/>
                    <a:lstStyle/>
                    <a:p>
                      <a:r>
                        <a:rPr lang="en-US" sz="2100" dirty="0">
                          <a:latin typeface="Times New Roman" pitchFamily="18" charset="0"/>
                          <a:cs typeface="Times New Roman" pitchFamily="18" charset="0"/>
                        </a:rPr>
                        <a:t>4.</a:t>
                      </a:r>
                    </a:p>
                  </a:txBody>
                  <a:tcPr marL="121618" marR="121618"/>
                </a:tc>
                <a:tc>
                  <a:txBody>
                    <a:bodyPr/>
                    <a:lstStyle/>
                    <a:p>
                      <a:r>
                        <a:rPr lang="en-US" sz="2100" dirty="0">
                          <a:latin typeface="Times New Roman" pitchFamily="18" charset="0"/>
                          <a:cs typeface="Times New Roman" pitchFamily="18" charset="0"/>
                        </a:rPr>
                        <a:t>Integration</a:t>
                      </a:r>
                      <a:r>
                        <a:rPr lang="en-US" sz="2100" baseline="0" dirty="0">
                          <a:latin typeface="Times New Roman" pitchFamily="18" charset="0"/>
                          <a:cs typeface="Times New Roman" pitchFamily="18" charset="0"/>
                        </a:rPr>
                        <a:t> Property</a:t>
                      </a:r>
                      <a:endParaRPr lang="en-US" sz="2100" dirty="0">
                        <a:latin typeface="Times New Roman" pitchFamily="18" charset="0"/>
                        <a:cs typeface="Times New Roman" pitchFamily="18" charset="0"/>
                      </a:endParaRPr>
                    </a:p>
                  </a:txBody>
                  <a:tcPr marL="121618" marR="121618"/>
                </a:tc>
                <a:tc>
                  <a:txBody>
                    <a:bodyPr/>
                    <a:lstStyle/>
                    <a:p>
                      <a:r>
                        <a:rPr lang="en-US" sz="2100" dirty="0">
                          <a:latin typeface="Times New Roman" pitchFamily="18" charset="0"/>
                          <a:cs typeface="Times New Roman" pitchFamily="18" charset="0"/>
                        </a:rPr>
                        <a:t>∫ f</a:t>
                      </a:r>
                      <a:r>
                        <a:rPr lang="en-US" sz="2100" baseline="-25000" dirty="0">
                          <a:latin typeface="Times New Roman" pitchFamily="18" charset="0"/>
                          <a:cs typeface="Times New Roman" pitchFamily="18" charset="0"/>
                        </a:rPr>
                        <a:t>1</a:t>
                      </a:r>
                      <a:r>
                        <a:rPr lang="en-US" sz="2100" dirty="0">
                          <a:latin typeface="Times New Roman" pitchFamily="18" charset="0"/>
                          <a:cs typeface="Times New Roman" pitchFamily="18" charset="0"/>
                        </a:rPr>
                        <a:t>(t) </a:t>
                      </a:r>
                      <a:r>
                        <a:rPr lang="en-US" sz="2100" dirty="0" err="1">
                          <a:latin typeface="Times New Roman" pitchFamily="18" charset="0"/>
                          <a:cs typeface="Times New Roman" pitchFamily="18" charset="0"/>
                        </a:rPr>
                        <a:t>dt</a:t>
                      </a:r>
                      <a:endParaRPr lang="en-US" sz="2100" dirty="0">
                        <a:latin typeface="Times New Roman" pitchFamily="18" charset="0"/>
                        <a:cs typeface="Times New Roman" pitchFamily="18" charset="0"/>
                      </a:endParaRPr>
                    </a:p>
                  </a:txBody>
                  <a:tcPr marL="121618" marR="121618"/>
                </a:tc>
                <a:tc>
                  <a:txBody>
                    <a:bodyPr/>
                    <a:lstStyle/>
                    <a:p>
                      <a:r>
                        <a:rPr lang="en-US" sz="2100" dirty="0">
                          <a:latin typeface="Times New Roman" pitchFamily="18" charset="0"/>
                          <a:cs typeface="Times New Roman" pitchFamily="18" charset="0"/>
                        </a:rPr>
                        <a:t>F(s) / s</a:t>
                      </a:r>
                    </a:p>
                  </a:txBody>
                  <a:tcPr marL="121618" marR="121618"/>
                </a:tc>
                <a:extLst>
                  <a:ext uri="{0D108BD9-81ED-4DB2-BD59-A6C34878D82A}">
                    <a16:rowId xmlns:a16="http://schemas.microsoft.com/office/drawing/2014/main" val="10004"/>
                  </a:ext>
                </a:extLst>
              </a:tr>
              <a:tr h="741680">
                <a:tc>
                  <a:txBody>
                    <a:bodyPr/>
                    <a:lstStyle/>
                    <a:p>
                      <a:r>
                        <a:rPr lang="en-US" sz="2100" dirty="0">
                          <a:latin typeface="Times New Roman" pitchFamily="18" charset="0"/>
                          <a:cs typeface="Times New Roman" pitchFamily="18" charset="0"/>
                        </a:rPr>
                        <a:t>5.</a:t>
                      </a:r>
                    </a:p>
                  </a:txBody>
                  <a:tcPr marL="121618" marR="121618"/>
                </a:tc>
                <a:tc>
                  <a:txBody>
                    <a:bodyPr/>
                    <a:lstStyle/>
                    <a:p>
                      <a:r>
                        <a:rPr lang="en-US" sz="2100" dirty="0">
                          <a:latin typeface="Times New Roman" pitchFamily="18" charset="0"/>
                          <a:cs typeface="Times New Roman" pitchFamily="18" charset="0"/>
                        </a:rPr>
                        <a:t>Differentiation Property</a:t>
                      </a:r>
                    </a:p>
                  </a:txBody>
                  <a:tcPr marL="121618" marR="121618"/>
                </a:tc>
                <a:tc>
                  <a:txBody>
                    <a:bodyPr/>
                    <a:lstStyle/>
                    <a:p>
                      <a:r>
                        <a:rPr lang="en-US" sz="2100" dirty="0">
                          <a:latin typeface="Times New Roman" pitchFamily="18" charset="0"/>
                          <a:cs typeface="Times New Roman" pitchFamily="18" charset="0"/>
                        </a:rPr>
                        <a:t>d</a:t>
                      </a:r>
                      <a:r>
                        <a:rPr lang="en-US" sz="2100" baseline="0" dirty="0">
                          <a:latin typeface="Times New Roman" pitchFamily="18" charset="0"/>
                          <a:cs typeface="Times New Roman" pitchFamily="18" charset="0"/>
                        </a:rPr>
                        <a:t> </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dt</a:t>
                      </a:r>
                      <a:r>
                        <a:rPr lang="en-US" sz="2100" dirty="0">
                          <a:latin typeface="Times New Roman" pitchFamily="18" charset="0"/>
                          <a:cs typeface="Times New Roman" pitchFamily="18" charset="0"/>
                        </a:rPr>
                        <a:t> [f(t)]</a:t>
                      </a:r>
                    </a:p>
                  </a:txBody>
                  <a:tcPr marL="121618" marR="121618"/>
                </a:tc>
                <a:tc>
                  <a:txBody>
                    <a:bodyPr/>
                    <a:lstStyle/>
                    <a:p>
                      <a:r>
                        <a:rPr lang="en-US" sz="2100" dirty="0" err="1">
                          <a:latin typeface="Times New Roman" pitchFamily="18" charset="0"/>
                          <a:cs typeface="Times New Roman" pitchFamily="18" charset="0"/>
                        </a:rPr>
                        <a:t>sF</a:t>
                      </a:r>
                      <a:r>
                        <a:rPr lang="en-US" sz="2100" dirty="0">
                          <a:latin typeface="Times New Roman" pitchFamily="18" charset="0"/>
                          <a:cs typeface="Times New Roman" pitchFamily="18" charset="0"/>
                        </a:rPr>
                        <a:t>(s) - f′(0</a:t>
                      </a:r>
                      <a:r>
                        <a:rPr lang="en-US" sz="2100" baseline="-25000" dirty="0">
                          <a:latin typeface="Times New Roman" pitchFamily="18" charset="0"/>
                          <a:cs typeface="Times New Roman" pitchFamily="18" charset="0"/>
                        </a:rPr>
                        <a:t>-</a:t>
                      </a:r>
                      <a:r>
                        <a:rPr lang="en-US" sz="2100" dirty="0">
                          <a:latin typeface="Times New Roman" pitchFamily="18" charset="0"/>
                          <a:cs typeface="Times New Roman" pitchFamily="18" charset="0"/>
                        </a:rPr>
                        <a:t>)</a:t>
                      </a:r>
                    </a:p>
                  </a:txBody>
                  <a:tcPr marL="121618" marR="121618"/>
                </a:tc>
                <a:extLst>
                  <a:ext uri="{0D108BD9-81ED-4DB2-BD59-A6C34878D82A}">
                    <a16:rowId xmlns:a16="http://schemas.microsoft.com/office/drawing/2014/main" val="10005"/>
                  </a:ext>
                </a:extLst>
              </a:tr>
              <a:tr h="494147">
                <a:tc rowSpan="2" gridSpan="2">
                  <a:txBody>
                    <a:bodyPr/>
                    <a:lstStyle/>
                    <a:p>
                      <a:endParaRPr lang="en-US" sz="2100" dirty="0">
                        <a:latin typeface="Times New Roman" pitchFamily="18" charset="0"/>
                        <a:cs typeface="Times New Roman" pitchFamily="18" charset="0"/>
                      </a:endParaRPr>
                    </a:p>
                  </a:txBody>
                  <a:tcPr marL="121618" marR="121618"/>
                </a:tc>
                <a:tc rowSpan="2" hMerge="1">
                  <a:txBody>
                    <a:bodyPr/>
                    <a:lstStyle/>
                    <a:p>
                      <a:endParaRPr lang="en-US" sz="2000" dirty="0">
                        <a:latin typeface="Times New Roman" pitchFamily="18" charset="0"/>
                        <a:cs typeface="Times New Roman" pitchFamily="18" charset="0"/>
                      </a:endParaRPr>
                    </a:p>
                  </a:txBody>
                  <a:tcPr/>
                </a:tc>
                <a:tc>
                  <a:txBody>
                    <a:bodyPr/>
                    <a:lstStyle/>
                    <a:p>
                      <a:r>
                        <a:rPr lang="en-US" sz="2100" baseline="0" dirty="0">
                          <a:latin typeface="Times New Roman" pitchFamily="18" charset="0"/>
                          <a:cs typeface="Times New Roman" pitchFamily="18" charset="0"/>
                        </a:rPr>
                        <a:t>d</a:t>
                      </a:r>
                      <a:r>
                        <a:rPr lang="en-US" sz="2100" baseline="30000" dirty="0">
                          <a:latin typeface="Times New Roman" pitchFamily="18" charset="0"/>
                          <a:cs typeface="Times New Roman" pitchFamily="18" charset="0"/>
                        </a:rPr>
                        <a:t>2</a:t>
                      </a:r>
                      <a:r>
                        <a:rPr lang="en-US" sz="2100" baseline="0" dirty="0">
                          <a:latin typeface="Times New Roman" pitchFamily="18" charset="0"/>
                          <a:cs typeface="Times New Roman" pitchFamily="18" charset="0"/>
                        </a:rPr>
                        <a:t>/ dt</a:t>
                      </a:r>
                      <a:r>
                        <a:rPr lang="en-US" sz="2100" baseline="30000" dirty="0">
                          <a:latin typeface="Times New Roman" pitchFamily="18" charset="0"/>
                          <a:cs typeface="Times New Roman" pitchFamily="18" charset="0"/>
                        </a:rPr>
                        <a:t>2</a:t>
                      </a:r>
                      <a:r>
                        <a:rPr lang="en-US" sz="2100" dirty="0">
                          <a:latin typeface="Times New Roman" pitchFamily="18" charset="0"/>
                          <a:cs typeface="Times New Roman" pitchFamily="18" charset="0"/>
                        </a:rPr>
                        <a:t> [f(t)]</a:t>
                      </a:r>
                    </a:p>
                  </a:txBody>
                  <a:tcPr marL="121618" marR="121618"/>
                </a:tc>
                <a:tc>
                  <a:txBody>
                    <a:bodyPr/>
                    <a:lstStyle/>
                    <a:p>
                      <a:r>
                        <a:rPr lang="en-US" sz="2100" dirty="0">
                          <a:latin typeface="Times New Roman" pitchFamily="18" charset="0"/>
                          <a:cs typeface="Times New Roman" pitchFamily="18" charset="0"/>
                        </a:rPr>
                        <a:t>s</a:t>
                      </a:r>
                      <a:r>
                        <a:rPr lang="en-US" sz="2100" baseline="30000" dirty="0">
                          <a:latin typeface="Times New Roman" pitchFamily="18" charset="0"/>
                          <a:cs typeface="Times New Roman" pitchFamily="18" charset="0"/>
                        </a:rPr>
                        <a:t>2</a:t>
                      </a:r>
                      <a:r>
                        <a:rPr lang="en-US" sz="2100" dirty="0">
                          <a:latin typeface="Times New Roman" pitchFamily="18" charset="0"/>
                          <a:cs typeface="Times New Roman" pitchFamily="18" charset="0"/>
                        </a:rPr>
                        <a:t> F(s) –s f(0-) – s f′ (0-) </a:t>
                      </a:r>
                    </a:p>
                  </a:txBody>
                  <a:tcPr marL="121618" marR="121618"/>
                </a:tc>
                <a:extLst>
                  <a:ext uri="{0D108BD9-81ED-4DB2-BD59-A6C34878D82A}">
                    <a16:rowId xmlns:a16="http://schemas.microsoft.com/office/drawing/2014/main" val="10006"/>
                  </a:ext>
                </a:extLst>
              </a:tr>
              <a:tr h="741680">
                <a:tc gridSpan="2" vMerge="1">
                  <a:txBody>
                    <a:bodyPr/>
                    <a:lstStyle/>
                    <a:p>
                      <a:endParaRPr lang="en-US" sz="2000" dirty="0">
                        <a:latin typeface="Times New Roman" pitchFamily="18" charset="0"/>
                        <a:cs typeface="Times New Roman" pitchFamily="18" charset="0"/>
                      </a:endParaRPr>
                    </a:p>
                  </a:txBody>
                  <a:tcPr/>
                </a:tc>
                <a:tc hMerge="1" vMerge="1">
                  <a:txBody>
                    <a:bodyPr/>
                    <a:lstStyle/>
                    <a:p>
                      <a:endParaRPr lang="en-US" sz="2000" dirty="0">
                        <a:latin typeface="Times New Roman" pitchFamily="18" charset="0"/>
                        <a:cs typeface="Times New Roman" pitchFamily="18" charset="0"/>
                      </a:endParaRPr>
                    </a:p>
                  </a:txBody>
                  <a:tcPr/>
                </a:tc>
                <a:tc>
                  <a:txBody>
                    <a:bodyPr/>
                    <a:lstStyle/>
                    <a:p>
                      <a:r>
                        <a:rPr lang="en-US" sz="2100" dirty="0">
                          <a:latin typeface="Times New Roman" pitchFamily="18" charset="0"/>
                          <a:cs typeface="Times New Roman" pitchFamily="18" charset="0"/>
                        </a:rPr>
                        <a:t>d</a:t>
                      </a:r>
                      <a:r>
                        <a:rPr lang="en-US" sz="2100" baseline="30000" dirty="0">
                          <a:latin typeface="Times New Roman" pitchFamily="18" charset="0"/>
                          <a:cs typeface="Times New Roman" pitchFamily="18" charset="0"/>
                        </a:rPr>
                        <a:t>3</a:t>
                      </a:r>
                      <a:r>
                        <a:rPr lang="en-US" sz="2100" dirty="0">
                          <a:latin typeface="Times New Roman" pitchFamily="18" charset="0"/>
                          <a:cs typeface="Times New Roman" pitchFamily="18" charset="0"/>
                        </a:rPr>
                        <a:t> /</a:t>
                      </a:r>
                      <a:r>
                        <a:rPr lang="en-US" sz="2100" baseline="0" dirty="0">
                          <a:latin typeface="Times New Roman" pitchFamily="18" charset="0"/>
                          <a:cs typeface="Times New Roman" pitchFamily="18" charset="0"/>
                        </a:rPr>
                        <a:t> </a:t>
                      </a:r>
                      <a:r>
                        <a:rPr lang="en-US" sz="2100" dirty="0">
                          <a:latin typeface="Times New Roman" pitchFamily="18" charset="0"/>
                          <a:cs typeface="Times New Roman" pitchFamily="18" charset="0"/>
                        </a:rPr>
                        <a:t>dt</a:t>
                      </a:r>
                      <a:r>
                        <a:rPr lang="en-US" sz="2100" baseline="30000" dirty="0">
                          <a:latin typeface="Times New Roman" pitchFamily="18" charset="0"/>
                          <a:cs typeface="Times New Roman" pitchFamily="18" charset="0"/>
                        </a:rPr>
                        <a:t>3</a:t>
                      </a:r>
                      <a:r>
                        <a:rPr lang="en-US" sz="2100" dirty="0">
                          <a:latin typeface="Times New Roman" pitchFamily="18" charset="0"/>
                          <a:cs typeface="Times New Roman" pitchFamily="18" charset="0"/>
                        </a:rPr>
                        <a:t> [f(t)]</a:t>
                      </a:r>
                    </a:p>
                  </a:txBody>
                  <a:tcPr marL="121618" marR="121618"/>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100" dirty="0">
                          <a:latin typeface="Times New Roman" pitchFamily="18" charset="0"/>
                          <a:cs typeface="Times New Roman" pitchFamily="18" charset="0"/>
                        </a:rPr>
                        <a:t>s</a:t>
                      </a:r>
                      <a:r>
                        <a:rPr lang="en-US" sz="2100" baseline="30000" dirty="0">
                          <a:latin typeface="Times New Roman" pitchFamily="18" charset="0"/>
                          <a:cs typeface="Times New Roman" pitchFamily="18" charset="0"/>
                        </a:rPr>
                        <a:t>3</a:t>
                      </a:r>
                      <a:r>
                        <a:rPr lang="en-US" sz="2100" dirty="0">
                          <a:latin typeface="Times New Roman" pitchFamily="18" charset="0"/>
                          <a:cs typeface="Times New Roman" pitchFamily="18" charset="0"/>
                        </a:rPr>
                        <a:t> F(s) –s</a:t>
                      </a:r>
                      <a:r>
                        <a:rPr lang="en-US" sz="2100" baseline="30000" dirty="0">
                          <a:latin typeface="Times New Roman" pitchFamily="18" charset="0"/>
                          <a:cs typeface="Times New Roman" pitchFamily="18" charset="0"/>
                        </a:rPr>
                        <a:t>2</a:t>
                      </a:r>
                      <a:r>
                        <a:rPr lang="en-US" sz="2100" dirty="0">
                          <a:latin typeface="Times New Roman" pitchFamily="18" charset="0"/>
                          <a:cs typeface="Times New Roman" pitchFamily="18" charset="0"/>
                        </a:rPr>
                        <a:t> f(0-) – s f′ (0-) –</a:t>
                      </a:r>
                      <a:r>
                        <a:rPr lang="en-US" sz="2100" baseline="0" dirty="0">
                          <a:latin typeface="Times New Roman" pitchFamily="18" charset="0"/>
                          <a:cs typeface="Times New Roman" pitchFamily="18" charset="0"/>
                        </a:rPr>
                        <a:t> f ′′(0-)</a:t>
                      </a:r>
                      <a:endParaRPr lang="en-US" sz="2100" dirty="0">
                        <a:latin typeface="Times New Roman" pitchFamily="18" charset="0"/>
                        <a:cs typeface="Times New Roman" pitchFamily="18" charset="0"/>
                      </a:endParaRPr>
                    </a:p>
                    <a:p>
                      <a:endParaRPr lang="en-US" sz="2100" dirty="0">
                        <a:latin typeface="Times New Roman" pitchFamily="18" charset="0"/>
                        <a:cs typeface="Times New Roman" pitchFamily="18" charset="0"/>
                      </a:endParaRPr>
                    </a:p>
                  </a:txBody>
                  <a:tcPr marL="121618" marR="121618"/>
                </a:tc>
                <a:extLst>
                  <a:ext uri="{0D108BD9-81ED-4DB2-BD59-A6C34878D82A}">
                    <a16:rowId xmlns:a16="http://schemas.microsoft.com/office/drawing/2014/main" val="10007"/>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003" y="71415"/>
            <a:ext cx="11591833" cy="714380"/>
          </a:xfrm>
        </p:spPr>
        <p:txBody>
          <a:bodyPr>
            <a:normAutofit/>
          </a:bodyPr>
          <a:lstStyle/>
          <a:p>
            <a:r>
              <a:rPr lang="en-IN" sz="2800" dirty="0">
                <a:solidFill>
                  <a:srgbClr val="00B050"/>
                </a:solidFill>
                <a:latin typeface="Times New Roman" pitchFamily="18" charset="0"/>
                <a:cs typeface="Times New Roman" pitchFamily="18" charset="0"/>
              </a:rPr>
              <a:t>INVERSE LAPLACE TRANSFORM</a:t>
            </a:r>
            <a:endParaRPr lang="en-US" sz="2800" dirty="0">
              <a:solidFill>
                <a:srgbClr val="FF0000"/>
              </a:solidFill>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2186F227-248D-4963-99BB-700C4C3FB295}" type="datetime2">
              <a:rPr lang="en-US" smtClean="0"/>
              <a:pPr/>
              <a:t>Monday, June 29, 2026</a:t>
            </a:fld>
            <a:endParaRPr lang="en-US"/>
          </a:p>
        </p:txBody>
      </p:sp>
      <p:sp>
        <p:nvSpPr>
          <p:cNvPr id="5" name="Footer Placeholder 4"/>
          <p:cNvSpPr>
            <a:spLocks noGrp="1"/>
          </p:cNvSpPr>
          <p:nvPr>
            <p:ph type="ftr" sz="quarter" idx="11"/>
          </p:nvPr>
        </p:nvSpPr>
        <p:spPr/>
        <p:txBody>
          <a:bodyPr/>
          <a:lstStyle/>
          <a:p>
            <a:r>
              <a:rPr lang="en-US"/>
              <a:t>syed hasan saeed</a:t>
            </a:r>
          </a:p>
        </p:txBody>
      </p:sp>
      <p:sp>
        <p:nvSpPr>
          <p:cNvPr id="6" name="Slide Number Placeholder 5"/>
          <p:cNvSpPr>
            <a:spLocks noGrp="1"/>
          </p:cNvSpPr>
          <p:nvPr>
            <p:ph type="sldNum" sz="quarter" idx="12"/>
          </p:nvPr>
        </p:nvSpPr>
        <p:spPr/>
        <p:txBody>
          <a:bodyPr/>
          <a:lstStyle/>
          <a:p>
            <a:fld id="{435E54C7-FAA8-46C1-A880-53547F97989D}" type="slidenum">
              <a:rPr lang="en-US" smtClean="0"/>
              <a:pPr/>
              <a:t>17</a:t>
            </a:fld>
            <a:endParaRPr lang="en-US"/>
          </a:p>
        </p:txBody>
      </p:sp>
      <mc:AlternateContent xmlns:mc="http://schemas.openxmlformats.org/markup-compatibility/2006" xmlns:a14="http://schemas.microsoft.com/office/drawing/2010/main">
        <mc:Choice Requires="a14">
          <p:sp>
            <p:nvSpPr>
              <p:cNvPr id="7" name="Content Placeholder 6"/>
              <p:cNvSpPr>
                <a:spLocks noGrp="1"/>
              </p:cNvSpPr>
              <p:nvPr>
                <p:ph idx="1"/>
              </p:nvPr>
            </p:nvSpPr>
            <p:spPr>
              <a:xfrm>
                <a:off x="189988" y="714357"/>
                <a:ext cx="11781863" cy="5643603"/>
              </a:xfrm>
            </p:spPr>
            <p:txBody>
              <a:bodyPr>
                <a:normAutofit/>
              </a:bodyPr>
              <a:lstStyle/>
              <a:p>
                <a:pPr>
                  <a:lnSpc>
                    <a:spcPct val="150000"/>
                  </a:lnSpc>
                  <a:buNone/>
                </a:pPr>
                <a:r>
                  <a:rPr lang="en-US" sz="2200" dirty="0">
                    <a:latin typeface="Times New Roman" pitchFamily="18" charset="0"/>
                    <a:cs typeface="Times New Roman" pitchFamily="18" charset="0"/>
                  </a:rPr>
                  <a:t>Inverse Laplace transform is calculated by partial fraction method. Let F(s) is the Laplace transform of f(t) then the inverse Laplace transform is</a:t>
                </a:r>
              </a:p>
              <a:p>
                <a:pPr>
                  <a:lnSpc>
                    <a:spcPct val="150000"/>
                  </a:lnSpc>
                  <a:buNone/>
                </a:pPr>
                <a:r>
                  <a:rPr lang="en-US" sz="2200" dirty="0">
                    <a:latin typeface="Times New Roman" pitchFamily="18" charset="0"/>
                    <a:cs typeface="Times New Roman" pitchFamily="18" charset="0"/>
                  </a:rPr>
                  <a:t>            f(t) = ℒ </a:t>
                </a:r>
                <a:r>
                  <a:rPr lang="en-US" sz="2200" baseline="30000" dirty="0">
                    <a:latin typeface="Times New Roman" pitchFamily="18" charset="0"/>
                    <a:cs typeface="Times New Roman" pitchFamily="18" charset="0"/>
                  </a:rPr>
                  <a:t>-1</a:t>
                </a:r>
                <a:r>
                  <a:rPr lang="en-US" sz="2200" dirty="0">
                    <a:latin typeface="Times New Roman" pitchFamily="18" charset="0"/>
                    <a:cs typeface="Times New Roman" pitchFamily="18" charset="0"/>
                  </a:rPr>
                  <a:t> </a:t>
                </a:r>
                <a14:m>
                  <m:oMath xmlns:m="http://schemas.openxmlformats.org/officeDocument/2006/math">
                    <m:d>
                      <m:dPr>
                        <m:begChr m:val="["/>
                        <m:endChr m:val="]"/>
                        <m:ctrlPr>
                          <a:rPr lang="en-US" sz="2200" i="1" smtClean="0">
                            <a:latin typeface="Cambria Math" panose="02040503050406030204" pitchFamily="18" charset="0"/>
                            <a:cs typeface="Times New Roman" pitchFamily="18" charset="0"/>
                          </a:rPr>
                        </m:ctrlPr>
                      </m:dPr>
                      <m:e>
                        <m:r>
                          <m:rPr>
                            <m:sty m:val="p"/>
                          </m:rPr>
                          <a:rPr lang="en-US" sz="2200" b="0" i="1" smtClean="0">
                            <a:latin typeface="Cambria Math" panose="02040503050406030204" pitchFamily="18" charset="0"/>
                            <a:cs typeface="Times New Roman" pitchFamily="18" charset="0"/>
                          </a:rPr>
                          <m:t>F</m:t>
                        </m:r>
                        <m:r>
                          <a:rPr lang="en-US" sz="2200" b="0" i="1" smtClean="0">
                            <a:latin typeface="Cambria Math" panose="02040503050406030204" pitchFamily="18" charset="0"/>
                            <a:cs typeface="Times New Roman" pitchFamily="18" charset="0"/>
                          </a:rPr>
                          <m:t>(</m:t>
                        </m:r>
                        <m:r>
                          <m:rPr>
                            <m:sty m:val="p"/>
                          </m:rPr>
                          <a:rPr lang="en-US" sz="2200" b="0" i="1" smtClean="0">
                            <a:latin typeface="Cambria Math" panose="02040503050406030204" pitchFamily="18" charset="0"/>
                            <a:cs typeface="Times New Roman" pitchFamily="18" charset="0"/>
                          </a:rPr>
                          <m:t>s</m:t>
                        </m:r>
                        <m:r>
                          <a:rPr lang="en-US" sz="2200" b="0" i="1" smtClean="0">
                            <a:latin typeface="Cambria Math" panose="02040503050406030204" pitchFamily="18" charset="0"/>
                            <a:cs typeface="Times New Roman" pitchFamily="18" charset="0"/>
                          </a:rPr>
                          <m:t>)</m:t>
                        </m:r>
                      </m:e>
                    </m:d>
                  </m:oMath>
                </a14:m>
                <a:r>
                  <a:rPr lang="en-US" sz="2200" baseline="30000" dirty="0">
                    <a:latin typeface="Times New Roman" pitchFamily="18" charset="0"/>
                    <a:cs typeface="Times New Roman" pitchFamily="18" charset="0"/>
                  </a:rPr>
                  <a:t> </a:t>
                </a:r>
                <a:endParaRPr lang="en-US" sz="2200" dirty="0">
                  <a:latin typeface="Times New Roman" pitchFamily="18" charset="0"/>
                  <a:cs typeface="Times New Roman" pitchFamily="18" charset="0"/>
                </a:endParaRPr>
              </a:p>
              <a:p>
                <a:pPr>
                  <a:lnSpc>
                    <a:spcPct val="150000"/>
                  </a:lnSpc>
                  <a:buNone/>
                </a:pPr>
                <a:r>
                  <a:rPr lang="en-US" sz="2200" dirty="0">
                    <a:latin typeface="Times New Roman" pitchFamily="18" charset="0"/>
                    <a:cs typeface="Times New Roman" pitchFamily="18" charset="0"/>
                  </a:rPr>
                  <a:t>Then F(s) in partial fraction method, is written as  F(s) = </a:t>
                </a:r>
              </a:p>
              <a:p>
                <a:pPr>
                  <a:lnSpc>
                    <a:spcPct val="150000"/>
                  </a:lnSpc>
                  <a:buNone/>
                </a:pPr>
                <a:r>
                  <a:rPr lang="en-US" sz="2000" dirty="0">
                    <a:latin typeface="Times New Roman" pitchFamily="18" charset="0"/>
                    <a:cs typeface="Times New Roman" pitchFamily="18" charset="0"/>
                  </a:rPr>
                  <a:t>Where, N(s) = Numerator polynomial in s</a:t>
                </a:r>
              </a:p>
              <a:p>
                <a:pPr>
                  <a:lnSpc>
                    <a:spcPct val="150000"/>
                  </a:lnSpc>
                  <a:buNone/>
                </a:pPr>
                <a:r>
                  <a:rPr lang="en-US" sz="2000" dirty="0">
                    <a:latin typeface="Times New Roman" pitchFamily="18" charset="0"/>
                    <a:cs typeface="Times New Roman" pitchFamily="18" charset="0"/>
                  </a:rPr>
                  <a:t>            D(s) = Denominator polynomial in s </a:t>
                </a:r>
              </a:p>
              <a:p>
                <a:pPr>
                  <a:lnSpc>
                    <a:spcPct val="150000"/>
                  </a:lnSpc>
                  <a:buNone/>
                </a:pPr>
                <a:r>
                  <a:rPr lang="en-US" sz="2000" dirty="0">
                    <a:latin typeface="Times New Roman" pitchFamily="18" charset="0"/>
                    <a:cs typeface="Times New Roman" pitchFamily="18" charset="0"/>
                  </a:rPr>
                  <a:t>The given function F(s) can be expressed in partial fraction form only when degree of N(s) is less than D(s). Hence if degree of N(s) is equal or higher than D(s) then mathematically divide N(s) by D(s) to express F(s) in quotient and remainder form as </a:t>
                </a:r>
              </a:p>
              <a:p>
                <a:pPr>
                  <a:lnSpc>
                    <a:spcPct val="150000"/>
                  </a:lnSpc>
                  <a:buNone/>
                </a:pPr>
                <a:r>
                  <a:rPr lang="en-US" sz="2000" dirty="0">
                    <a:latin typeface="Times New Roman" pitchFamily="18" charset="0"/>
                    <a:cs typeface="Times New Roman" pitchFamily="18" charset="0"/>
                  </a:rPr>
                  <a:t>           F(s) = Q + F</a:t>
                </a:r>
                <a:r>
                  <a:rPr lang="en-US" sz="2000" baseline="-25000" dirty="0">
                    <a:latin typeface="Times New Roman" pitchFamily="18" charset="0"/>
                    <a:cs typeface="Times New Roman" pitchFamily="18" charset="0"/>
                  </a:rPr>
                  <a:t>1</a:t>
                </a:r>
                <a:r>
                  <a:rPr lang="en-US" sz="2000" dirty="0">
                    <a:latin typeface="Times New Roman" pitchFamily="18" charset="0"/>
                    <a:cs typeface="Times New Roman" pitchFamily="18" charset="0"/>
                  </a:rPr>
                  <a:t>(s)    where Q = Quotient obtained by dividing N(s) by D(s) and F</a:t>
                </a:r>
                <a:r>
                  <a:rPr lang="en-US" sz="2000" baseline="-25000" dirty="0">
                    <a:latin typeface="Times New Roman" pitchFamily="18" charset="0"/>
                    <a:cs typeface="Times New Roman" pitchFamily="18" charset="0"/>
                  </a:rPr>
                  <a:t>1</a:t>
                </a:r>
                <a:r>
                  <a:rPr lang="en-US" sz="2000" dirty="0">
                    <a:latin typeface="Times New Roman" pitchFamily="18" charset="0"/>
                    <a:cs typeface="Times New Roman" pitchFamily="18" charset="0"/>
                  </a:rPr>
                  <a:t>(s) = </a:t>
                </a:r>
              </a:p>
            </p:txBody>
          </p:sp>
        </mc:Choice>
        <mc:Fallback xmlns="">
          <p:sp>
            <p:nvSpPr>
              <p:cNvPr id="7" name="Content Placeholder 6"/>
              <p:cNvSpPr>
                <a:spLocks noGrp="1" noRot="1" noChangeAspect="1" noMove="1" noResize="1" noEditPoints="1" noAdjustHandles="1" noChangeArrowheads="1" noChangeShapeType="1" noTextEdit="1"/>
              </p:cNvSpPr>
              <p:nvPr>
                <p:ph idx="1"/>
              </p:nvPr>
            </p:nvSpPr>
            <p:spPr>
              <a:xfrm>
                <a:off x="189988" y="714357"/>
                <a:ext cx="11781863" cy="5643603"/>
              </a:xfrm>
              <a:blipFill>
                <a:blip r:embed="rId2"/>
                <a:stretch>
                  <a:fillRect l="-673" r="-828"/>
                </a:stretch>
              </a:blipFill>
            </p:spPr>
            <p:txBody>
              <a:bodyPr/>
              <a:lstStyle/>
              <a:p>
                <a:r>
                  <a:rPr lang="en-IN">
                    <a:noFill/>
                  </a:rPr>
                  <a:t> </a:t>
                </a:r>
              </a:p>
            </p:txBody>
          </p:sp>
        </mc:Fallback>
      </mc:AlternateContent>
      <p:graphicFrame>
        <p:nvGraphicFramePr>
          <p:cNvPr id="8" name="Object 7"/>
          <p:cNvGraphicFramePr>
            <a:graphicFrameLocks noChangeAspect="1"/>
          </p:cNvGraphicFramePr>
          <p:nvPr/>
        </p:nvGraphicFramePr>
        <p:xfrm>
          <a:off x="6004908" y="3321051"/>
          <a:ext cx="152023" cy="215900"/>
        </p:xfrm>
        <a:graphic>
          <a:graphicData uri="http://schemas.openxmlformats.org/presentationml/2006/ole">
            <mc:AlternateContent xmlns:mc="http://schemas.openxmlformats.org/markup-compatibility/2006">
              <mc:Choice xmlns:v="urn:schemas-microsoft-com:vml" Requires="v">
                <p:oleObj name="Equation" r:id="rId3" imgW="114120" imgH="215640" progId="Equation.3">
                  <p:embed/>
                </p:oleObj>
              </mc:Choice>
              <mc:Fallback>
                <p:oleObj name="Equation" r:id="rId3" imgW="114120" imgH="215640" progId="Equation.3">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04908" y="3321051"/>
                        <a:ext cx="152023"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9" name="Straight Connector 8">
            <a:extLst>
              <a:ext uri="{FF2B5EF4-FFF2-40B4-BE49-F238E27FC236}">
                <a16:creationId xmlns:a16="http://schemas.microsoft.com/office/drawing/2014/main" id="{B500149C-598C-3BD3-DC54-C61FD9BC3192}"/>
              </a:ext>
            </a:extLst>
          </p:cNvPr>
          <p:cNvCxnSpPr/>
          <p:nvPr/>
        </p:nvCxnSpPr>
        <p:spPr>
          <a:xfrm>
            <a:off x="6679096" y="2683565"/>
            <a:ext cx="626165"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0BB03465-19F9-DB34-3E5B-B9E435A9F01B}"/>
              </a:ext>
            </a:extLst>
          </p:cNvPr>
          <p:cNvSpPr txBox="1"/>
          <p:nvPr/>
        </p:nvSpPr>
        <p:spPr>
          <a:xfrm>
            <a:off x="6708057" y="2252856"/>
            <a:ext cx="686406" cy="430887"/>
          </a:xfrm>
          <a:prstGeom prst="rect">
            <a:avLst/>
          </a:prstGeom>
          <a:noFill/>
        </p:spPr>
        <p:txBody>
          <a:bodyPr wrap="none" rtlCol="0">
            <a:spAutoFit/>
          </a:bodyPr>
          <a:lstStyle/>
          <a:p>
            <a:r>
              <a:rPr lang="en-US" sz="2200" dirty="0">
                <a:latin typeface="Times New Roman" panose="02020603050405020304" pitchFamily="18" charset="0"/>
                <a:cs typeface="Times New Roman" panose="02020603050405020304" pitchFamily="18" charset="0"/>
              </a:rPr>
              <a:t>N(s)</a:t>
            </a:r>
            <a:endParaRPr lang="en-IN" sz="2200"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92FAA901-B64E-EF5D-B335-712BB8A84B1C}"/>
              </a:ext>
            </a:extLst>
          </p:cNvPr>
          <p:cNvSpPr txBox="1"/>
          <p:nvPr/>
        </p:nvSpPr>
        <p:spPr>
          <a:xfrm>
            <a:off x="6708057" y="2675370"/>
            <a:ext cx="686406" cy="430887"/>
          </a:xfrm>
          <a:prstGeom prst="rect">
            <a:avLst/>
          </a:prstGeom>
          <a:noFill/>
        </p:spPr>
        <p:txBody>
          <a:bodyPr wrap="none" rtlCol="0">
            <a:spAutoFit/>
          </a:bodyPr>
          <a:lstStyle/>
          <a:p>
            <a:r>
              <a:rPr lang="en-US" sz="2200" dirty="0">
                <a:latin typeface="Times New Roman" panose="02020603050405020304" pitchFamily="18" charset="0"/>
                <a:cs typeface="Times New Roman" panose="02020603050405020304" pitchFamily="18" charset="0"/>
              </a:rPr>
              <a:t>D(s)</a:t>
            </a:r>
            <a:endParaRPr lang="en-IN" sz="2200"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1FC0B410-F77F-1F5D-B3BE-A074FBC90288}"/>
              </a:ext>
            </a:extLst>
          </p:cNvPr>
          <p:cNvSpPr txBox="1"/>
          <p:nvPr/>
        </p:nvSpPr>
        <p:spPr>
          <a:xfrm>
            <a:off x="9656666" y="5259617"/>
            <a:ext cx="780983" cy="430887"/>
          </a:xfrm>
          <a:prstGeom prst="rect">
            <a:avLst/>
          </a:prstGeom>
          <a:noFill/>
        </p:spPr>
        <p:txBody>
          <a:bodyPr wrap="none" rtlCol="0">
            <a:spAutoFit/>
          </a:bodyPr>
          <a:lstStyle/>
          <a:p>
            <a:r>
              <a:rPr lang="en-US" sz="2200" dirty="0">
                <a:latin typeface="Times New Roman" panose="02020603050405020304" pitchFamily="18" charset="0"/>
                <a:cs typeface="Times New Roman" panose="02020603050405020304" pitchFamily="18" charset="0"/>
              </a:rPr>
              <a:t>N’(s)</a:t>
            </a:r>
            <a:endParaRPr lang="en-IN" sz="2200"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CA0901E3-B8BE-BA9C-D55C-83DE62BEED72}"/>
              </a:ext>
            </a:extLst>
          </p:cNvPr>
          <p:cNvSpPr txBox="1"/>
          <p:nvPr/>
        </p:nvSpPr>
        <p:spPr>
          <a:xfrm>
            <a:off x="9656666" y="5682131"/>
            <a:ext cx="780983" cy="430887"/>
          </a:xfrm>
          <a:prstGeom prst="rect">
            <a:avLst/>
          </a:prstGeom>
          <a:noFill/>
        </p:spPr>
        <p:txBody>
          <a:bodyPr wrap="none" rtlCol="0">
            <a:spAutoFit/>
          </a:bodyPr>
          <a:lstStyle/>
          <a:p>
            <a:r>
              <a:rPr lang="en-US" sz="2200" dirty="0">
                <a:latin typeface="Times New Roman" panose="02020603050405020304" pitchFamily="18" charset="0"/>
                <a:cs typeface="Times New Roman" panose="02020603050405020304" pitchFamily="18" charset="0"/>
              </a:rPr>
              <a:t>D’(s)</a:t>
            </a:r>
            <a:endParaRPr lang="en-IN" sz="2200" dirty="0">
              <a:latin typeface="Times New Roman" panose="02020603050405020304" pitchFamily="18" charset="0"/>
              <a:cs typeface="Times New Roman" panose="02020603050405020304" pitchFamily="18" charset="0"/>
            </a:endParaRPr>
          </a:p>
        </p:txBody>
      </p:sp>
      <p:cxnSp>
        <p:nvCxnSpPr>
          <p:cNvPr id="17" name="Straight Connector 16">
            <a:extLst>
              <a:ext uri="{FF2B5EF4-FFF2-40B4-BE49-F238E27FC236}">
                <a16:creationId xmlns:a16="http://schemas.microsoft.com/office/drawing/2014/main" id="{46ED3E77-53F2-8217-00EC-7AACB92343F7}"/>
              </a:ext>
            </a:extLst>
          </p:cNvPr>
          <p:cNvCxnSpPr/>
          <p:nvPr/>
        </p:nvCxnSpPr>
        <p:spPr>
          <a:xfrm flipV="1">
            <a:off x="9656666" y="5682131"/>
            <a:ext cx="686406"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967F1F55-05AE-12E0-52CB-EB50D3DAF1BA}"/>
              </a:ext>
            </a:extLst>
          </p:cNvPr>
          <p:cNvSpPr txBox="1"/>
          <p:nvPr/>
        </p:nvSpPr>
        <p:spPr>
          <a:xfrm>
            <a:off x="10343072" y="5461301"/>
            <a:ext cx="1651414" cy="430887"/>
          </a:xfrm>
          <a:prstGeom prst="rect">
            <a:avLst/>
          </a:prstGeom>
          <a:noFill/>
        </p:spPr>
        <p:txBody>
          <a:bodyPr wrap="none" rtlCol="0">
            <a:spAutoFit/>
          </a:bodyPr>
          <a:lstStyle/>
          <a:p>
            <a:r>
              <a:rPr lang="en-US" sz="2200" dirty="0">
                <a:latin typeface="Times New Roman" panose="02020603050405020304" pitchFamily="18" charset="0"/>
                <a:cs typeface="Times New Roman" panose="02020603050405020304" pitchFamily="18" charset="0"/>
              </a:rPr>
              <a:t>= Remainder</a:t>
            </a:r>
            <a:endParaRPr lang="en-IN" sz="2200" dirty="0">
              <a:latin typeface="Times New Roman" panose="02020603050405020304" pitchFamily="18" charset="0"/>
              <a:cs typeface="Times New Roman" panose="02020603050405020304" pitchFamily="18" charset="0"/>
            </a:endParaRPr>
          </a:p>
        </p:txBody>
      </p:sp>
      <p:sp>
        <p:nvSpPr>
          <p:cNvPr id="19" name="TextBox 18">
            <a:extLst>
              <a:ext uri="{FF2B5EF4-FFF2-40B4-BE49-F238E27FC236}">
                <a16:creationId xmlns:a16="http://schemas.microsoft.com/office/drawing/2014/main" id="{34242D63-F7EE-49E4-3C5A-575EF92EA555}"/>
              </a:ext>
            </a:extLst>
          </p:cNvPr>
          <p:cNvSpPr txBox="1"/>
          <p:nvPr/>
        </p:nvSpPr>
        <p:spPr>
          <a:xfrm>
            <a:off x="608092" y="6113018"/>
            <a:ext cx="5472827" cy="246221"/>
          </a:xfrm>
          <a:prstGeom prst="rect">
            <a:avLst/>
          </a:prstGeom>
          <a:noFill/>
        </p:spPr>
        <p:txBody>
          <a:bodyPr wrap="square" rtlCol="0">
            <a:spAutoFit/>
          </a:bodyPr>
          <a:lstStyle/>
          <a:p>
            <a:r>
              <a:rPr lang="en-US" sz="1000" dirty="0"/>
              <a:t>Reference: Network Analysis &amp; Synthesis by Uday Bakshi and Ajay Bakshi, Technical Publications Pune</a:t>
            </a:r>
            <a:endParaRPr lang="en-IN"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003" y="71415"/>
            <a:ext cx="11591833" cy="714380"/>
          </a:xfrm>
        </p:spPr>
        <p:txBody>
          <a:bodyPr>
            <a:normAutofit/>
          </a:bodyPr>
          <a:lstStyle/>
          <a:p>
            <a:r>
              <a:rPr lang="en-IN" sz="2800" dirty="0">
                <a:solidFill>
                  <a:srgbClr val="00B050"/>
                </a:solidFill>
                <a:latin typeface="Times New Roman" pitchFamily="18" charset="0"/>
                <a:cs typeface="Times New Roman" pitchFamily="18" charset="0"/>
              </a:rPr>
              <a:t>INVERSE LAPLACE TRANSFORM</a:t>
            </a:r>
            <a:endParaRPr lang="en-US" sz="2800" dirty="0">
              <a:solidFill>
                <a:srgbClr val="FF0000"/>
              </a:solidFill>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2186F227-248D-4963-99BB-700C4C3FB295}" type="datetime2">
              <a:rPr lang="en-US" smtClean="0"/>
              <a:pPr/>
              <a:t>Monday, June 29, 2026</a:t>
            </a:fld>
            <a:endParaRPr lang="en-US"/>
          </a:p>
        </p:txBody>
      </p:sp>
      <p:sp>
        <p:nvSpPr>
          <p:cNvPr id="5" name="Footer Placeholder 4"/>
          <p:cNvSpPr>
            <a:spLocks noGrp="1"/>
          </p:cNvSpPr>
          <p:nvPr>
            <p:ph type="ftr" sz="quarter" idx="11"/>
          </p:nvPr>
        </p:nvSpPr>
        <p:spPr/>
        <p:txBody>
          <a:bodyPr/>
          <a:lstStyle/>
          <a:p>
            <a:r>
              <a:rPr lang="en-US"/>
              <a:t>syed hasan saeed</a:t>
            </a:r>
          </a:p>
        </p:txBody>
      </p:sp>
      <p:sp>
        <p:nvSpPr>
          <p:cNvPr id="6" name="Slide Number Placeholder 5"/>
          <p:cNvSpPr>
            <a:spLocks noGrp="1"/>
          </p:cNvSpPr>
          <p:nvPr>
            <p:ph type="sldNum" sz="quarter" idx="12"/>
          </p:nvPr>
        </p:nvSpPr>
        <p:spPr/>
        <p:txBody>
          <a:bodyPr/>
          <a:lstStyle/>
          <a:p>
            <a:fld id="{435E54C7-FAA8-46C1-A880-53547F97989D}" type="slidenum">
              <a:rPr lang="en-US" smtClean="0"/>
              <a:pPr/>
              <a:t>18</a:t>
            </a:fld>
            <a:endParaRPr lang="en-US"/>
          </a:p>
        </p:txBody>
      </p:sp>
      <p:sp>
        <p:nvSpPr>
          <p:cNvPr id="7" name="Content Placeholder 6"/>
          <p:cNvSpPr>
            <a:spLocks noGrp="1"/>
          </p:cNvSpPr>
          <p:nvPr>
            <p:ph idx="1"/>
          </p:nvPr>
        </p:nvSpPr>
        <p:spPr>
          <a:xfrm>
            <a:off x="189988" y="714357"/>
            <a:ext cx="11781863" cy="5643603"/>
          </a:xfrm>
        </p:spPr>
        <p:txBody>
          <a:bodyPr>
            <a:normAutofit/>
          </a:bodyPr>
          <a:lstStyle/>
          <a:p>
            <a:pPr>
              <a:lnSpc>
                <a:spcPct val="150000"/>
              </a:lnSpc>
              <a:buNone/>
            </a:pPr>
            <a:r>
              <a:rPr lang="en-US" sz="2200" dirty="0">
                <a:latin typeface="Times New Roman" pitchFamily="18" charset="0"/>
                <a:cs typeface="Times New Roman" pitchFamily="18" charset="0"/>
              </a:rPr>
              <a:t>  </a:t>
            </a:r>
          </a:p>
          <a:p>
            <a:pPr>
              <a:lnSpc>
                <a:spcPct val="150000"/>
              </a:lnSpc>
              <a:buNone/>
            </a:pPr>
            <a:endParaRPr lang="en-US" sz="2000" dirty="0">
              <a:solidFill>
                <a:srgbClr val="7030A0"/>
              </a:solidFill>
              <a:latin typeface="Times New Roman" pitchFamily="18" charset="0"/>
              <a:cs typeface="Times New Roman" pitchFamily="18" charset="0"/>
            </a:endParaRPr>
          </a:p>
        </p:txBody>
      </p:sp>
      <p:sp>
        <p:nvSpPr>
          <p:cNvPr id="3" name="TextBox 2">
            <a:extLst>
              <a:ext uri="{FF2B5EF4-FFF2-40B4-BE49-F238E27FC236}">
                <a16:creationId xmlns:a16="http://schemas.microsoft.com/office/drawing/2014/main" id="{34A5718F-AF15-31EB-DD7A-949EE79940C0}"/>
              </a:ext>
            </a:extLst>
          </p:cNvPr>
          <p:cNvSpPr txBox="1"/>
          <p:nvPr/>
        </p:nvSpPr>
        <p:spPr>
          <a:xfrm>
            <a:off x="375919" y="785795"/>
            <a:ext cx="11500916" cy="2062872"/>
          </a:xfrm>
          <a:prstGeom prst="rect">
            <a:avLst/>
          </a:prstGeom>
          <a:noFill/>
        </p:spPr>
        <p:txBody>
          <a:bodyPr wrap="square" rtlCol="0">
            <a:spAutoFit/>
          </a:bodyPr>
          <a:lstStyle/>
          <a:p>
            <a:pPr>
              <a:lnSpc>
                <a:spcPct val="150000"/>
              </a:lnSpc>
            </a:pPr>
            <a:r>
              <a:rPr lang="en-US" sz="2200" dirty="0">
                <a:latin typeface="Times New Roman" panose="02020603050405020304" pitchFamily="18" charset="0"/>
                <a:cs typeface="Times New Roman" panose="02020603050405020304" pitchFamily="18" charset="0"/>
              </a:rPr>
              <a:t>Now in the remainder degree of N’(s) is less than D’(s) and hence F</a:t>
            </a:r>
            <a:r>
              <a:rPr lang="en-US" sz="2200" baseline="-25000" dirty="0">
                <a:latin typeface="Times New Roman" panose="02020603050405020304" pitchFamily="18" charset="0"/>
                <a:cs typeface="Times New Roman" panose="02020603050405020304" pitchFamily="18" charset="0"/>
              </a:rPr>
              <a:t>1</a:t>
            </a:r>
            <a:r>
              <a:rPr lang="en-US" sz="2200" dirty="0">
                <a:latin typeface="Times New Roman" panose="02020603050405020304" pitchFamily="18" charset="0"/>
                <a:cs typeface="Times New Roman" panose="02020603050405020304" pitchFamily="18" charset="0"/>
              </a:rPr>
              <a:t>(s) can be expressed in the partial fraction form and then take inverse Laplace transform.</a:t>
            </a:r>
          </a:p>
          <a:p>
            <a:pPr>
              <a:lnSpc>
                <a:spcPct val="150000"/>
              </a:lnSpc>
            </a:pPr>
            <a:r>
              <a:rPr lang="en-US" sz="2200" dirty="0">
                <a:latin typeface="Times New Roman" panose="02020603050405020304" pitchFamily="18" charset="0"/>
                <a:cs typeface="Times New Roman" panose="02020603050405020304" pitchFamily="18" charset="0"/>
              </a:rPr>
              <a:t>The roots of denominator polynomial D(s) play an important role.</a:t>
            </a:r>
          </a:p>
          <a:p>
            <a:pPr marL="514350" indent="-514350">
              <a:lnSpc>
                <a:spcPct val="150000"/>
              </a:lnSpc>
              <a:buAutoNum type="romanLcParenBoth"/>
            </a:pPr>
            <a:r>
              <a:rPr lang="en-US" sz="2200" b="1" dirty="0">
                <a:latin typeface="Times New Roman" panose="02020603050405020304" pitchFamily="18" charset="0"/>
                <a:cs typeface="Times New Roman" panose="02020603050405020304" pitchFamily="18" charset="0"/>
              </a:rPr>
              <a:t>Simple and Real Roots: </a:t>
            </a:r>
            <a:endParaRPr lang="en-IN" sz="2200" b="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98B1B71F-9277-7F4F-DCBA-FB2ABF45EDF7}"/>
              </a:ext>
            </a:extLst>
          </p:cNvPr>
          <p:cNvSpPr txBox="1"/>
          <p:nvPr/>
        </p:nvSpPr>
        <p:spPr>
          <a:xfrm>
            <a:off x="608092" y="6173978"/>
            <a:ext cx="5472827" cy="246221"/>
          </a:xfrm>
          <a:prstGeom prst="rect">
            <a:avLst/>
          </a:prstGeom>
          <a:noFill/>
        </p:spPr>
        <p:txBody>
          <a:bodyPr wrap="square" rtlCol="0">
            <a:spAutoFit/>
          </a:bodyPr>
          <a:lstStyle/>
          <a:p>
            <a:r>
              <a:rPr lang="en-US" sz="1000" dirty="0"/>
              <a:t>Reference: Network Analysis &amp; Synthesis by Uday Bakshi and Ajay Bakshi, Technical Publications Pune</a:t>
            </a:r>
            <a:endParaRPr lang="en-IN" sz="1000" dirty="0"/>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C1FCDC5A-66C4-16FA-2F50-6DA10181F58A}"/>
                  </a:ext>
                </a:extLst>
              </p:cNvPr>
              <p:cNvSpPr txBox="1"/>
              <p:nvPr/>
            </p:nvSpPr>
            <p:spPr>
              <a:xfrm>
                <a:off x="446547" y="2687362"/>
                <a:ext cx="11268743" cy="3190489"/>
              </a:xfrm>
              <a:prstGeom prst="rect">
                <a:avLst/>
              </a:prstGeom>
              <a:noFill/>
            </p:spPr>
            <p:txBody>
              <a:bodyPr wrap="square" rtlCol="0">
                <a:spAutoFit/>
              </a:bodyPr>
              <a:lstStyle/>
              <a:p>
                <a:pPr>
                  <a:lnSpc>
                    <a:spcPct val="150000"/>
                  </a:lnSpc>
                </a:pPr>
                <a:r>
                  <a:rPr lang="en-US" sz="2200" b="1" dirty="0">
                    <a:latin typeface="Times New Roman" panose="02020603050405020304" pitchFamily="18" charset="0"/>
                    <a:cs typeface="Times New Roman" panose="02020603050405020304" pitchFamily="18" charset="0"/>
                  </a:rPr>
                  <a:t>Example: </a:t>
                </a:r>
                <a:r>
                  <a:rPr lang="en-US" sz="2200" dirty="0">
                    <a:latin typeface="Times New Roman" panose="02020603050405020304" pitchFamily="18" charset="0"/>
                    <a:cs typeface="Times New Roman" panose="02020603050405020304" pitchFamily="18" charset="0"/>
                  </a:rPr>
                  <a:t>Find the inverse Laplace transform of F(s) = </a:t>
                </a:r>
                <a14:m>
                  <m:oMath xmlns:m="http://schemas.openxmlformats.org/officeDocument/2006/math">
                    <m:f>
                      <m:fPr>
                        <m:ctrlPr>
                          <a:rPr lang="en-IN" sz="2400" i="1" smtClean="0">
                            <a:latin typeface="Cambria Math" panose="02040503050406030204" pitchFamily="18" charset="0"/>
                            <a:cs typeface="Times New Roman" panose="02020603050405020304" pitchFamily="18" charset="0"/>
                          </a:rPr>
                        </m:ctrlPr>
                      </m:fPr>
                      <m:num>
                        <m:d>
                          <m:dPr>
                            <m:ctrlPr>
                              <a:rPr lang="en-IN" sz="2400" i="1" smtClean="0">
                                <a:latin typeface="Cambria Math" panose="02040503050406030204" pitchFamily="18" charset="0"/>
                                <a:cs typeface="Times New Roman" panose="02020603050405020304" pitchFamily="18" charset="0"/>
                              </a:rPr>
                            </m:ctrlPr>
                          </m:dPr>
                          <m:e>
                            <m:r>
                              <m:rPr>
                                <m:sty m:val="p"/>
                              </m:rPr>
                              <a:rPr lang="en-US" sz="2400" b="0" i="1" smtClean="0">
                                <a:latin typeface="Cambria Math" panose="02040503050406030204" pitchFamily="18" charset="0"/>
                                <a:cs typeface="Times New Roman" panose="02020603050405020304" pitchFamily="18" charset="0"/>
                              </a:rPr>
                              <m:t>s</m:t>
                            </m:r>
                            <m:r>
                              <a:rPr lang="en-US" sz="2400" b="0" i="1" smtClean="0">
                                <a:latin typeface="Cambria Math" panose="02040503050406030204" pitchFamily="18" charset="0"/>
                                <a:cs typeface="Times New Roman" panose="02020603050405020304" pitchFamily="18" charset="0"/>
                              </a:rPr>
                              <m:t> + 2</m:t>
                            </m:r>
                          </m:e>
                        </m:d>
                      </m:num>
                      <m:den>
                        <m:r>
                          <m:rPr>
                            <m:sty m:val="p"/>
                          </m:rPr>
                          <a:rPr lang="en-US" sz="2400" b="0" i="1" smtClean="0">
                            <a:latin typeface="Cambria Math" panose="02040503050406030204" pitchFamily="18" charset="0"/>
                            <a:cs typeface="Times New Roman" panose="02020603050405020304" pitchFamily="18" charset="0"/>
                          </a:rPr>
                          <m:t>s</m:t>
                        </m:r>
                        <m:r>
                          <a:rPr lang="en-US" sz="2400" b="0" i="1" smtClean="0">
                            <a:latin typeface="Cambria Math" panose="02040503050406030204" pitchFamily="18" charset="0"/>
                            <a:cs typeface="Times New Roman" panose="02020603050405020304" pitchFamily="18" charset="0"/>
                          </a:rPr>
                          <m:t> (</m:t>
                        </m:r>
                        <m:r>
                          <m:rPr>
                            <m:sty m:val="p"/>
                          </m:rPr>
                          <a:rPr lang="en-US" sz="2400" b="0" i="1" smtClean="0">
                            <a:latin typeface="Cambria Math" panose="02040503050406030204" pitchFamily="18" charset="0"/>
                            <a:cs typeface="Times New Roman" panose="02020603050405020304" pitchFamily="18" charset="0"/>
                          </a:rPr>
                          <m:t>s</m:t>
                        </m:r>
                        <m:r>
                          <a:rPr lang="en-US" sz="2400" b="0" i="1" smtClean="0">
                            <a:latin typeface="Cambria Math" panose="02040503050406030204" pitchFamily="18" charset="0"/>
                            <a:cs typeface="Times New Roman" panose="02020603050405020304" pitchFamily="18" charset="0"/>
                          </a:rPr>
                          <m:t> + 3) (</m:t>
                        </m:r>
                        <m:r>
                          <m:rPr>
                            <m:sty m:val="p"/>
                          </m:rPr>
                          <a:rPr lang="en-US" sz="2400" b="0" i="1" smtClean="0">
                            <a:latin typeface="Cambria Math" panose="02040503050406030204" pitchFamily="18" charset="0"/>
                            <a:cs typeface="Times New Roman" panose="02020603050405020304" pitchFamily="18" charset="0"/>
                          </a:rPr>
                          <m:t>s</m:t>
                        </m:r>
                        <m:r>
                          <a:rPr lang="en-US" sz="2400" b="0" i="1" smtClean="0">
                            <a:latin typeface="Cambria Math" panose="02040503050406030204" pitchFamily="18" charset="0"/>
                            <a:cs typeface="Times New Roman" panose="02020603050405020304" pitchFamily="18" charset="0"/>
                          </a:rPr>
                          <m:t> + 4)</m:t>
                        </m:r>
                      </m:den>
                    </m:f>
                  </m:oMath>
                </a14:m>
                <a:r>
                  <a:rPr lang="en-IN" sz="2400" dirty="0">
                    <a:latin typeface="Times New Roman" panose="02020603050405020304" pitchFamily="18" charset="0"/>
                    <a:cs typeface="Times New Roman" panose="02020603050405020304" pitchFamily="18" charset="0"/>
                  </a:rPr>
                  <a:t> </a:t>
                </a:r>
              </a:p>
              <a:p>
                <a:pPr>
                  <a:lnSpc>
                    <a:spcPct val="150000"/>
                  </a:lnSpc>
                </a:pPr>
                <a:r>
                  <a:rPr lang="en-IN" sz="2200" b="1" dirty="0">
                    <a:latin typeface="Times New Roman" panose="02020603050405020304" pitchFamily="18" charset="0"/>
                    <a:cs typeface="Times New Roman" panose="02020603050405020304" pitchFamily="18" charset="0"/>
                  </a:rPr>
                  <a:t>Solution: </a:t>
                </a:r>
                <a:r>
                  <a:rPr lang="en-IN" sz="2200" dirty="0">
                    <a:latin typeface="Times New Roman" panose="02020603050405020304" pitchFamily="18" charset="0"/>
                    <a:cs typeface="Times New Roman" panose="02020603050405020304" pitchFamily="18" charset="0"/>
                  </a:rPr>
                  <a:t>The degree of numerator is less than denominator, hence</a:t>
                </a:r>
              </a:p>
              <a:p>
                <a:pPr>
                  <a:lnSpc>
                    <a:spcPct val="150000"/>
                  </a:lnSpc>
                </a:pPr>
                <a:r>
                  <a:rPr lang="en-IN" sz="2200" dirty="0">
                    <a:latin typeface="Times New Roman" panose="02020603050405020304" pitchFamily="18" charset="0"/>
                    <a:cs typeface="Times New Roman" panose="02020603050405020304" pitchFamily="18" charset="0"/>
                  </a:rPr>
                  <a:t>F(s) = </a:t>
                </a:r>
                <a14:m>
                  <m:oMath xmlns:m="http://schemas.openxmlformats.org/officeDocument/2006/math">
                    <m:f>
                      <m:fPr>
                        <m:ctrlPr>
                          <a:rPr lang="en-IN" sz="2400" i="1" smtClean="0">
                            <a:latin typeface="Cambria Math" panose="02040503050406030204" pitchFamily="18" charset="0"/>
                            <a:cs typeface="Times New Roman" panose="02020603050405020304" pitchFamily="18" charset="0"/>
                          </a:rPr>
                        </m:ctrlPr>
                      </m:fPr>
                      <m:num>
                        <m:sSub>
                          <m:sSubPr>
                            <m:ctrlPr>
                              <a:rPr lang="en-IN" sz="2400" i="1" smtClean="0">
                                <a:latin typeface="Cambria Math" panose="02040503050406030204" pitchFamily="18" charset="0"/>
                                <a:cs typeface="Times New Roman" panose="02020603050405020304" pitchFamily="18" charset="0"/>
                              </a:rPr>
                            </m:ctrlPr>
                          </m:sSubPr>
                          <m:e>
                            <m:r>
                              <m:rPr>
                                <m:sty m:val="p"/>
                              </m:rPr>
                              <a:rPr lang="en-US" sz="2400" b="0" i="1" smtClean="0">
                                <a:latin typeface="Cambria Math" panose="02040503050406030204" pitchFamily="18" charset="0"/>
                                <a:cs typeface="Times New Roman" panose="02020603050405020304" pitchFamily="18" charset="0"/>
                              </a:rPr>
                              <m:t>K</m:t>
                            </m:r>
                          </m:e>
                          <m:sub>
                            <m:r>
                              <a:rPr lang="en-US" sz="2400" b="0" i="1" smtClean="0">
                                <a:latin typeface="Cambria Math" panose="02040503050406030204" pitchFamily="18" charset="0"/>
                                <a:cs typeface="Times New Roman" panose="02020603050405020304" pitchFamily="18" charset="0"/>
                              </a:rPr>
                              <m:t>1</m:t>
                            </m:r>
                          </m:sub>
                        </m:sSub>
                      </m:num>
                      <m:den>
                        <m:r>
                          <m:rPr>
                            <m:sty m:val="p"/>
                          </m:rPr>
                          <a:rPr lang="en-US" sz="2400" b="0" i="1" smtClean="0">
                            <a:latin typeface="Cambria Math" panose="02040503050406030204" pitchFamily="18" charset="0"/>
                            <a:cs typeface="Times New Roman" panose="02020603050405020304" pitchFamily="18" charset="0"/>
                          </a:rPr>
                          <m:t>s</m:t>
                        </m:r>
                      </m:den>
                    </m:f>
                  </m:oMath>
                </a14:m>
                <a:r>
                  <a:rPr lang="en-IN" sz="2400" dirty="0">
                    <a:latin typeface="Times New Roman" panose="02020603050405020304" pitchFamily="18" charset="0"/>
                    <a:cs typeface="Times New Roman" panose="02020603050405020304" pitchFamily="18" charset="0"/>
                  </a:rPr>
                  <a:t> + </a:t>
                </a:r>
                <a14:m>
                  <m:oMath xmlns:m="http://schemas.openxmlformats.org/officeDocument/2006/math">
                    <m:f>
                      <m:fPr>
                        <m:ctrlPr>
                          <a:rPr lang="en-IN" sz="2400" i="1" smtClean="0">
                            <a:latin typeface="Cambria Math" panose="02040503050406030204" pitchFamily="18" charset="0"/>
                            <a:cs typeface="Times New Roman" panose="02020603050405020304" pitchFamily="18" charset="0"/>
                          </a:rPr>
                        </m:ctrlPr>
                      </m:fPr>
                      <m:num>
                        <m:sSub>
                          <m:sSubPr>
                            <m:ctrlPr>
                              <a:rPr lang="en-IN" sz="2400" i="1" smtClean="0">
                                <a:latin typeface="Cambria Math" panose="02040503050406030204" pitchFamily="18" charset="0"/>
                                <a:cs typeface="Times New Roman" panose="02020603050405020304" pitchFamily="18" charset="0"/>
                              </a:rPr>
                            </m:ctrlPr>
                          </m:sSubPr>
                          <m:e>
                            <m:r>
                              <m:rPr>
                                <m:sty m:val="p"/>
                              </m:rPr>
                              <a:rPr lang="en-US" sz="2400" b="0" i="1" smtClean="0">
                                <a:latin typeface="Cambria Math" panose="02040503050406030204" pitchFamily="18" charset="0"/>
                                <a:cs typeface="Times New Roman" panose="02020603050405020304" pitchFamily="18" charset="0"/>
                              </a:rPr>
                              <m:t>k</m:t>
                            </m:r>
                          </m:e>
                          <m:sub>
                            <m:r>
                              <a:rPr lang="en-US" sz="2400" b="0" i="1" smtClean="0">
                                <a:latin typeface="Cambria Math" panose="02040503050406030204" pitchFamily="18" charset="0"/>
                                <a:cs typeface="Times New Roman" panose="02020603050405020304" pitchFamily="18" charset="0"/>
                              </a:rPr>
                              <m:t>2</m:t>
                            </m:r>
                          </m:sub>
                        </m:sSub>
                      </m:num>
                      <m:den>
                        <m:r>
                          <a:rPr lang="en-US" sz="2400" b="0" i="1" smtClean="0">
                            <a:latin typeface="Cambria Math" panose="02040503050406030204" pitchFamily="18" charset="0"/>
                            <a:cs typeface="Times New Roman" panose="02020603050405020304" pitchFamily="18" charset="0"/>
                          </a:rPr>
                          <m:t>(</m:t>
                        </m:r>
                        <m:r>
                          <m:rPr>
                            <m:sty m:val="p"/>
                          </m:rPr>
                          <a:rPr lang="en-US" sz="2400" b="0" i="1" smtClean="0">
                            <a:latin typeface="Cambria Math" panose="02040503050406030204" pitchFamily="18" charset="0"/>
                            <a:cs typeface="Times New Roman" panose="02020603050405020304" pitchFamily="18" charset="0"/>
                          </a:rPr>
                          <m:t>s</m:t>
                        </m:r>
                        <m:r>
                          <a:rPr lang="en-US" sz="2400" b="0" i="1" smtClean="0">
                            <a:latin typeface="Cambria Math" panose="02040503050406030204" pitchFamily="18" charset="0"/>
                            <a:cs typeface="Times New Roman" panose="02020603050405020304" pitchFamily="18" charset="0"/>
                          </a:rPr>
                          <m:t> + 3)</m:t>
                        </m:r>
                      </m:den>
                    </m:f>
                  </m:oMath>
                </a14:m>
                <a:r>
                  <a:rPr lang="en-IN" sz="2400" dirty="0">
                    <a:latin typeface="Times New Roman" panose="02020603050405020304" pitchFamily="18" charset="0"/>
                    <a:cs typeface="Times New Roman" panose="02020603050405020304" pitchFamily="18" charset="0"/>
                  </a:rPr>
                  <a:t> + </a:t>
                </a:r>
                <a14:m>
                  <m:oMath xmlns:m="http://schemas.openxmlformats.org/officeDocument/2006/math">
                    <m:f>
                      <m:fPr>
                        <m:ctrlPr>
                          <a:rPr lang="en-IN" sz="2400" i="1" smtClean="0">
                            <a:latin typeface="Cambria Math" panose="02040503050406030204" pitchFamily="18" charset="0"/>
                            <a:cs typeface="Times New Roman" panose="02020603050405020304" pitchFamily="18" charset="0"/>
                          </a:rPr>
                        </m:ctrlPr>
                      </m:fPr>
                      <m:num>
                        <m:sSub>
                          <m:sSubPr>
                            <m:ctrlPr>
                              <a:rPr lang="en-IN" sz="2400" i="1" smtClean="0">
                                <a:latin typeface="Cambria Math" panose="02040503050406030204" pitchFamily="18" charset="0"/>
                                <a:cs typeface="Times New Roman" panose="02020603050405020304" pitchFamily="18" charset="0"/>
                              </a:rPr>
                            </m:ctrlPr>
                          </m:sSubPr>
                          <m:e>
                            <m:r>
                              <m:rPr>
                                <m:sty m:val="p"/>
                              </m:rPr>
                              <a:rPr lang="en-US" sz="2400" b="0" i="1" smtClean="0">
                                <a:latin typeface="Cambria Math" panose="02040503050406030204" pitchFamily="18" charset="0"/>
                                <a:cs typeface="Times New Roman" panose="02020603050405020304" pitchFamily="18" charset="0"/>
                              </a:rPr>
                              <m:t>K</m:t>
                            </m:r>
                          </m:e>
                          <m:sub>
                            <m:r>
                              <a:rPr lang="en-US" sz="2400" b="0" i="1" smtClean="0">
                                <a:latin typeface="Cambria Math" panose="02040503050406030204" pitchFamily="18" charset="0"/>
                                <a:cs typeface="Times New Roman" panose="02020603050405020304" pitchFamily="18" charset="0"/>
                              </a:rPr>
                              <m:t>3</m:t>
                            </m:r>
                          </m:sub>
                        </m:sSub>
                      </m:num>
                      <m:den>
                        <m:r>
                          <a:rPr lang="en-US" sz="2400" b="0" i="1" smtClean="0">
                            <a:latin typeface="Cambria Math" panose="02040503050406030204" pitchFamily="18" charset="0"/>
                            <a:cs typeface="Times New Roman" panose="02020603050405020304" pitchFamily="18" charset="0"/>
                          </a:rPr>
                          <m:t>(</m:t>
                        </m:r>
                        <m:r>
                          <m:rPr>
                            <m:sty m:val="p"/>
                          </m:rPr>
                          <a:rPr lang="en-US" sz="2400" b="0" i="1" smtClean="0">
                            <a:latin typeface="Cambria Math" panose="02040503050406030204" pitchFamily="18" charset="0"/>
                            <a:cs typeface="Times New Roman" panose="02020603050405020304" pitchFamily="18" charset="0"/>
                          </a:rPr>
                          <m:t>s</m:t>
                        </m:r>
                        <m:r>
                          <a:rPr lang="en-US" sz="2400" b="0" i="1" smtClean="0">
                            <a:latin typeface="Cambria Math" panose="02040503050406030204" pitchFamily="18" charset="0"/>
                            <a:cs typeface="Times New Roman" panose="02020603050405020304" pitchFamily="18" charset="0"/>
                          </a:rPr>
                          <m:t> + 4)</m:t>
                        </m:r>
                      </m:den>
                    </m:f>
                  </m:oMath>
                </a14:m>
                <a:endParaRPr lang="en-IN" sz="2400" dirty="0">
                  <a:latin typeface="Times New Roman" panose="02020603050405020304" pitchFamily="18" charset="0"/>
                  <a:cs typeface="Times New Roman" panose="02020603050405020304" pitchFamily="18" charset="0"/>
                </a:endParaRPr>
              </a:p>
              <a:p>
                <a:pPr>
                  <a:lnSpc>
                    <a:spcPct val="150000"/>
                  </a:lnSpc>
                </a:pPr>
                <a:r>
                  <a:rPr lang="en-IN" sz="2200" dirty="0">
                    <a:latin typeface="Times New Roman" panose="02020603050405020304" pitchFamily="18" charset="0"/>
                    <a:cs typeface="Times New Roman" panose="02020603050405020304" pitchFamily="18" charset="0"/>
                  </a:rPr>
                  <a:t>K</a:t>
                </a:r>
                <a:r>
                  <a:rPr lang="en-IN" sz="2200" baseline="-25000" dirty="0">
                    <a:latin typeface="Times New Roman" panose="02020603050405020304" pitchFamily="18" charset="0"/>
                    <a:cs typeface="Times New Roman" panose="02020603050405020304" pitchFamily="18" charset="0"/>
                  </a:rPr>
                  <a:t>1</a:t>
                </a:r>
                <a:r>
                  <a:rPr lang="en-IN" sz="2200" dirty="0">
                    <a:latin typeface="Times New Roman" panose="02020603050405020304" pitchFamily="18" charset="0"/>
                    <a:cs typeface="Times New Roman" panose="02020603050405020304" pitchFamily="18" charset="0"/>
                  </a:rPr>
                  <a:t> = s . F(s)|</a:t>
                </a:r>
                <a:r>
                  <a:rPr lang="en-IN" sz="2200" baseline="-25000" dirty="0">
                    <a:latin typeface="Times New Roman" panose="02020603050405020304" pitchFamily="18" charset="0"/>
                    <a:cs typeface="Times New Roman" panose="02020603050405020304" pitchFamily="18" charset="0"/>
                  </a:rPr>
                  <a:t>= 0 </a:t>
                </a:r>
                <a:r>
                  <a:rPr lang="en-IN" sz="2200" dirty="0">
                    <a:latin typeface="Times New Roman" panose="02020603050405020304" pitchFamily="18" charset="0"/>
                    <a:cs typeface="Times New Roman" panose="02020603050405020304" pitchFamily="18" charset="0"/>
                  </a:rPr>
                  <a:t>= s . </a:t>
                </a:r>
                <a14:m>
                  <m:oMath xmlns:m="http://schemas.openxmlformats.org/officeDocument/2006/math">
                    <m:f>
                      <m:fPr>
                        <m:ctrlPr>
                          <a:rPr lang="en-IN" sz="2400" i="1" smtClean="0">
                            <a:latin typeface="Cambria Math" panose="02040503050406030204" pitchFamily="18" charset="0"/>
                            <a:cs typeface="Times New Roman" panose="02020603050405020304" pitchFamily="18" charset="0"/>
                          </a:rPr>
                        </m:ctrlPr>
                      </m:fPr>
                      <m:num>
                        <m:r>
                          <a:rPr lang="en-US" sz="2400" b="0" i="1" smtClean="0">
                            <a:latin typeface="Cambria Math" panose="02040503050406030204" pitchFamily="18" charset="0"/>
                            <a:cs typeface="Times New Roman" panose="02020603050405020304" pitchFamily="18" charset="0"/>
                          </a:rPr>
                          <m:t>(</m:t>
                        </m:r>
                        <m:r>
                          <m:rPr>
                            <m:sty m:val="p"/>
                          </m:rPr>
                          <a:rPr lang="en-US" sz="2400" b="0" i="1" smtClean="0">
                            <a:latin typeface="Cambria Math" panose="02040503050406030204" pitchFamily="18" charset="0"/>
                            <a:cs typeface="Times New Roman" panose="02020603050405020304" pitchFamily="18" charset="0"/>
                          </a:rPr>
                          <m:t>s</m:t>
                        </m:r>
                        <m:r>
                          <a:rPr lang="en-US" sz="2400" b="0" i="1" smtClean="0">
                            <a:latin typeface="Cambria Math" panose="02040503050406030204" pitchFamily="18" charset="0"/>
                            <a:cs typeface="Times New Roman" panose="02020603050405020304" pitchFamily="18" charset="0"/>
                          </a:rPr>
                          <m:t> + 2)</m:t>
                        </m:r>
                      </m:num>
                      <m:den>
                        <m:r>
                          <m:rPr>
                            <m:sty m:val="p"/>
                          </m:rPr>
                          <a:rPr lang="en-US" sz="2400" b="0" i="1" smtClean="0">
                            <a:latin typeface="Cambria Math" panose="02040503050406030204" pitchFamily="18" charset="0"/>
                            <a:cs typeface="Times New Roman" panose="02020603050405020304" pitchFamily="18" charset="0"/>
                          </a:rPr>
                          <m:t>s</m:t>
                        </m:r>
                        <m:r>
                          <a:rPr lang="en-US" sz="2400" b="0" i="1" smtClean="0">
                            <a:latin typeface="Cambria Math" panose="02040503050406030204" pitchFamily="18" charset="0"/>
                            <a:cs typeface="Times New Roman" panose="02020603050405020304" pitchFamily="18" charset="0"/>
                          </a:rPr>
                          <m:t> (</m:t>
                        </m:r>
                        <m:r>
                          <m:rPr>
                            <m:sty m:val="p"/>
                          </m:rPr>
                          <a:rPr lang="en-US" sz="2400" b="0" i="1" smtClean="0">
                            <a:latin typeface="Cambria Math" panose="02040503050406030204" pitchFamily="18" charset="0"/>
                            <a:cs typeface="Times New Roman" panose="02020603050405020304" pitchFamily="18" charset="0"/>
                          </a:rPr>
                          <m:t>s</m:t>
                        </m:r>
                        <m:r>
                          <a:rPr lang="en-US" sz="2400" b="0" i="1" smtClean="0">
                            <a:latin typeface="Cambria Math" panose="02040503050406030204" pitchFamily="18" charset="0"/>
                            <a:cs typeface="Times New Roman" panose="02020603050405020304" pitchFamily="18" charset="0"/>
                          </a:rPr>
                          <m:t> + 3) (</m:t>
                        </m:r>
                        <m:r>
                          <m:rPr>
                            <m:sty m:val="p"/>
                          </m:rPr>
                          <a:rPr lang="en-US" sz="2400" b="0" i="1" smtClean="0">
                            <a:latin typeface="Cambria Math" panose="02040503050406030204" pitchFamily="18" charset="0"/>
                            <a:cs typeface="Times New Roman" panose="02020603050405020304" pitchFamily="18" charset="0"/>
                          </a:rPr>
                          <m:t>s</m:t>
                        </m:r>
                        <m:r>
                          <a:rPr lang="en-US" sz="2400" b="0" i="1" smtClean="0">
                            <a:latin typeface="Cambria Math" panose="02040503050406030204" pitchFamily="18" charset="0"/>
                            <a:cs typeface="Times New Roman" panose="02020603050405020304" pitchFamily="18" charset="0"/>
                          </a:rPr>
                          <m:t> + 4)</m:t>
                        </m:r>
                      </m:den>
                    </m:f>
                  </m:oMath>
                </a14:m>
                <a:r>
                  <a:rPr lang="en-IN" sz="2400" dirty="0">
                    <a:latin typeface="Times New Roman" panose="02020603050405020304" pitchFamily="18" charset="0"/>
                    <a:cs typeface="Times New Roman" panose="02020603050405020304" pitchFamily="18" charset="0"/>
                  </a:rPr>
                  <a:t>|</a:t>
                </a:r>
                <a:r>
                  <a:rPr lang="en-IN" sz="2400" baseline="-25000" dirty="0">
                    <a:latin typeface="Times New Roman" panose="02020603050405020304" pitchFamily="18" charset="0"/>
                    <a:cs typeface="Times New Roman" panose="02020603050405020304" pitchFamily="18" charset="0"/>
                  </a:rPr>
                  <a:t>=0 </a:t>
                </a:r>
                <a:r>
                  <a:rPr lang="en-IN" sz="2400" dirty="0">
                    <a:latin typeface="Times New Roman" panose="02020603050405020304" pitchFamily="18" charset="0"/>
                    <a:cs typeface="Times New Roman" panose="02020603050405020304" pitchFamily="18" charset="0"/>
                  </a:rPr>
                  <a:t> </a:t>
                </a:r>
                <a:r>
                  <a:rPr lang="en-IN" sz="2200" dirty="0">
                    <a:latin typeface="Times New Roman" panose="02020603050405020304" pitchFamily="18" charset="0"/>
                    <a:cs typeface="Times New Roman" panose="02020603050405020304" pitchFamily="18" charset="0"/>
                  </a:rPr>
                  <a:t>= </a:t>
                </a:r>
                <a14:m>
                  <m:oMath xmlns:m="http://schemas.openxmlformats.org/officeDocument/2006/math">
                    <m:f>
                      <m:fPr>
                        <m:ctrlPr>
                          <a:rPr lang="en-IN" sz="2400" i="1" smtClean="0">
                            <a:latin typeface="Cambria Math" panose="02040503050406030204" pitchFamily="18" charset="0"/>
                            <a:cs typeface="Times New Roman" panose="02020603050405020304" pitchFamily="18" charset="0"/>
                          </a:rPr>
                        </m:ctrlPr>
                      </m:fPr>
                      <m:num>
                        <m:r>
                          <a:rPr lang="en-US" sz="2400" b="0" i="1" smtClean="0">
                            <a:latin typeface="Cambria Math" panose="02040503050406030204" pitchFamily="18" charset="0"/>
                            <a:cs typeface="Times New Roman" panose="02020603050405020304" pitchFamily="18" charset="0"/>
                          </a:rPr>
                          <m:t>2</m:t>
                        </m:r>
                      </m:num>
                      <m:den>
                        <m:r>
                          <a:rPr lang="en-US" sz="2400" b="0" i="1" smtClean="0">
                            <a:latin typeface="Cambria Math" panose="02040503050406030204" pitchFamily="18" charset="0"/>
                            <a:cs typeface="Times New Roman" panose="02020603050405020304" pitchFamily="18" charset="0"/>
                          </a:rPr>
                          <m:t>3 ∗ 4</m:t>
                        </m:r>
                      </m:den>
                    </m:f>
                  </m:oMath>
                </a14:m>
                <a:r>
                  <a:rPr lang="en-IN" sz="2400" dirty="0">
                    <a:latin typeface="Times New Roman" panose="02020603050405020304" pitchFamily="18" charset="0"/>
                    <a:cs typeface="Times New Roman" panose="02020603050405020304" pitchFamily="18" charset="0"/>
                  </a:rPr>
                  <a:t> </a:t>
                </a:r>
                <a:r>
                  <a:rPr lang="en-IN" sz="2200" dirty="0">
                    <a:latin typeface="Times New Roman" panose="02020603050405020304" pitchFamily="18" charset="0"/>
                    <a:cs typeface="Times New Roman" panose="02020603050405020304" pitchFamily="18" charset="0"/>
                  </a:rPr>
                  <a:t>= 1/6</a:t>
                </a:r>
                <a:r>
                  <a:rPr lang="en-IN" sz="2200" baseline="-25000" dirty="0">
                    <a:latin typeface="Times New Roman" panose="02020603050405020304" pitchFamily="18" charset="0"/>
                    <a:cs typeface="Times New Roman" panose="02020603050405020304" pitchFamily="18" charset="0"/>
                  </a:rPr>
                  <a:t> </a:t>
                </a:r>
              </a:p>
            </p:txBody>
          </p:sp>
        </mc:Choice>
        <mc:Fallback xmlns="">
          <p:sp>
            <p:nvSpPr>
              <p:cNvPr id="10" name="TextBox 9">
                <a:extLst>
                  <a:ext uri="{FF2B5EF4-FFF2-40B4-BE49-F238E27FC236}">
                    <a16:creationId xmlns:a16="http://schemas.microsoft.com/office/drawing/2014/main" id="{C1FCDC5A-66C4-16FA-2F50-6DA10181F58A}"/>
                  </a:ext>
                </a:extLst>
              </p:cNvPr>
              <p:cNvSpPr txBox="1">
                <a:spLocks noRot="1" noChangeAspect="1" noMove="1" noResize="1" noEditPoints="1" noAdjustHandles="1" noChangeArrowheads="1" noChangeShapeType="1" noTextEdit="1"/>
              </p:cNvSpPr>
              <p:nvPr/>
            </p:nvSpPr>
            <p:spPr>
              <a:xfrm>
                <a:off x="446547" y="2687362"/>
                <a:ext cx="11268743" cy="3190489"/>
              </a:xfrm>
              <a:prstGeom prst="rect">
                <a:avLst/>
              </a:prstGeom>
              <a:blipFill>
                <a:blip r:embed="rId2"/>
                <a:stretch>
                  <a:fillRect l="-703"/>
                </a:stretch>
              </a:blipFill>
            </p:spPr>
            <p:txBody>
              <a:bodyPr/>
              <a:lstStyle/>
              <a:p>
                <a:r>
                  <a:rPr lang="en-IN">
                    <a:noFill/>
                  </a:rPr>
                  <a:t> </a:t>
                </a:r>
              </a:p>
            </p:txBody>
          </p:sp>
        </mc:Fallback>
      </mc:AlternateContent>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003" y="71415"/>
            <a:ext cx="11591833" cy="714380"/>
          </a:xfrm>
        </p:spPr>
        <p:txBody>
          <a:bodyPr>
            <a:normAutofit/>
          </a:bodyPr>
          <a:lstStyle/>
          <a:p>
            <a:r>
              <a:rPr lang="en-IN" sz="2800" dirty="0">
                <a:solidFill>
                  <a:srgbClr val="00B050"/>
                </a:solidFill>
                <a:latin typeface="Times New Roman" pitchFamily="18" charset="0"/>
                <a:cs typeface="Times New Roman" pitchFamily="18" charset="0"/>
              </a:rPr>
              <a:t>INVERSE LAPLACE TRANSFORM</a:t>
            </a:r>
            <a:endParaRPr lang="en-US" sz="2800" dirty="0">
              <a:solidFill>
                <a:srgbClr val="FF0000"/>
              </a:solidFill>
              <a:latin typeface="Times New Roman" pitchFamily="18" charset="0"/>
              <a:cs typeface="Times New Roman" pitchFamily="18" charset="0"/>
            </a:endParaRPr>
          </a:p>
        </p:txBody>
      </p:sp>
      <p:sp>
        <p:nvSpPr>
          <p:cNvPr id="14" name="TextBox 13">
            <a:extLst>
              <a:ext uri="{FF2B5EF4-FFF2-40B4-BE49-F238E27FC236}">
                <a16:creationId xmlns:a16="http://schemas.microsoft.com/office/drawing/2014/main" id="{751A0A9E-0611-FE44-2D65-9E8795CB2BDB}"/>
              </a:ext>
            </a:extLst>
          </p:cNvPr>
          <p:cNvSpPr txBox="1"/>
          <p:nvPr/>
        </p:nvSpPr>
        <p:spPr>
          <a:xfrm>
            <a:off x="608092" y="6113018"/>
            <a:ext cx="5472827" cy="246221"/>
          </a:xfrm>
          <a:prstGeom prst="rect">
            <a:avLst/>
          </a:prstGeom>
          <a:noFill/>
        </p:spPr>
        <p:txBody>
          <a:bodyPr wrap="square" rtlCol="0">
            <a:spAutoFit/>
          </a:bodyPr>
          <a:lstStyle/>
          <a:p>
            <a:r>
              <a:rPr lang="en-US" sz="1000" dirty="0"/>
              <a:t>Reference: Network Analysis &amp; Synthesis by Uday Bakshi and Ajay Bakshi, Technical Publications Pune</a:t>
            </a:r>
            <a:endParaRPr lang="en-IN" sz="1000" dirty="0"/>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E49C1AB3-FB63-90DE-A8E0-3C025F9088DA}"/>
                  </a:ext>
                </a:extLst>
              </p:cNvPr>
              <p:cNvSpPr txBox="1"/>
              <p:nvPr/>
            </p:nvSpPr>
            <p:spPr>
              <a:xfrm>
                <a:off x="285003" y="944217"/>
                <a:ext cx="11591833" cy="640496"/>
              </a:xfrm>
              <a:prstGeom prst="rect">
                <a:avLst/>
              </a:prstGeom>
              <a:noFill/>
            </p:spPr>
            <p:txBody>
              <a:bodyPr wrap="square" rtlCol="0">
                <a:spAutoFit/>
              </a:bodyPr>
              <a:lstStyle/>
              <a:p>
                <a:r>
                  <a:rPr lang="en-US" sz="2200" dirty="0">
                    <a:latin typeface="Times New Roman" panose="02020603050405020304" pitchFamily="18" charset="0"/>
                    <a:cs typeface="Times New Roman" panose="02020603050405020304" pitchFamily="18" charset="0"/>
                  </a:rPr>
                  <a:t>K</a:t>
                </a:r>
                <a:r>
                  <a:rPr lang="en-US" sz="2200" baseline="-25000" dirty="0">
                    <a:latin typeface="Times New Roman" panose="02020603050405020304" pitchFamily="18" charset="0"/>
                    <a:cs typeface="Times New Roman" panose="02020603050405020304" pitchFamily="18" charset="0"/>
                  </a:rPr>
                  <a:t>2</a:t>
                </a:r>
                <a:r>
                  <a:rPr lang="en-US" sz="2200" dirty="0">
                    <a:latin typeface="Times New Roman" panose="02020603050405020304" pitchFamily="18" charset="0"/>
                    <a:cs typeface="Times New Roman" panose="02020603050405020304" pitchFamily="18" charset="0"/>
                  </a:rPr>
                  <a:t> = (s + 3) . F(s)|</a:t>
                </a:r>
                <a:r>
                  <a:rPr lang="en-US" sz="2200" baseline="-25000" dirty="0">
                    <a:latin typeface="Times New Roman" panose="02020603050405020304" pitchFamily="18" charset="0"/>
                    <a:cs typeface="Times New Roman" panose="02020603050405020304" pitchFamily="18" charset="0"/>
                  </a:rPr>
                  <a:t>s = -3 </a:t>
                </a:r>
                <a:r>
                  <a:rPr lang="en-US" sz="2200" dirty="0">
                    <a:latin typeface="Times New Roman" panose="02020603050405020304" pitchFamily="18" charset="0"/>
                    <a:cs typeface="Times New Roman" panose="02020603050405020304" pitchFamily="18" charset="0"/>
                  </a:rPr>
                  <a:t>= (s + 3) . </a:t>
                </a:r>
                <a14:m>
                  <m:oMath xmlns:m="http://schemas.openxmlformats.org/officeDocument/2006/math">
                    <m:f>
                      <m:fPr>
                        <m:ctrlPr>
                          <a:rPr lang="en-IN" sz="2200" i="1">
                            <a:latin typeface="Cambria Math" panose="02040503050406030204" pitchFamily="18" charset="0"/>
                            <a:cs typeface="Times New Roman" panose="02020603050405020304" pitchFamily="18" charset="0"/>
                          </a:rPr>
                        </m:ctrlPr>
                      </m:fPr>
                      <m:num>
                        <m:d>
                          <m:dPr>
                            <m:ctrlPr>
                              <a:rPr lang="en-IN" sz="2200" i="1">
                                <a:latin typeface="Cambria Math" panose="02040503050406030204" pitchFamily="18" charset="0"/>
                                <a:cs typeface="Times New Roman" panose="02020603050405020304" pitchFamily="18" charset="0"/>
                              </a:rPr>
                            </m:ctrlPr>
                          </m:dPr>
                          <m:e>
                            <m:r>
                              <m:rPr>
                                <m:sty m:val="p"/>
                              </m:rPr>
                              <a:rPr lang="en-US" sz="2200" i="1">
                                <a:latin typeface="Cambria Math" panose="02040503050406030204" pitchFamily="18" charset="0"/>
                                <a:cs typeface="Times New Roman" panose="02020603050405020304" pitchFamily="18" charset="0"/>
                              </a:rPr>
                              <m:t>s</m:t>
                            </m:r>
                            <m:r>
                              <a:rPr lang="en-US" sz="2200" i="1">
                                <a:latin typeface="Cambria Math" panose="02040503050406030204" pitchFamily="18" charset="0"/>
                                <a:cs typeface="Times New Roman" panose="02020603050405020304" pitchFamily="18" charset="0"/>
                              </a:rPr>
                              <m:t> + 2</m:t>
                            </m:r>
                          </m:e>
                        </m:d>
                      </m:num>
                      <m:den>
                        <m:r>
                          <m:rPr>
                            <m:sty m:val="p"/>
                          </m:rPr>
                          <a:rPr lang="en-US" sz="2200" i="1">
                            <a:latin typeface="Cambria Math" panose="02040503050406030204" pitchFamily="18" charset="0"/>
                            <a:cs typeface="Times New Roman" panose="02020603050405020304" pitchFamily="18" charset="0"/>
                          </a:rPr>
                          <m:t>s</m:t>
                        </m:r>
                        <m:r>
                          <a:rPr lang="en-US" sz="2200" i="1">
                            <a:latin typeface="Cambria Math" panose="02040503050406030204" pitchFamily="18" charset="0"/>
                            <a:cs typeface="Times New Roman" panose="02020603050405020304" pitchFamily="18" charset="0"/>
                          </a:rPr>
                          <m:t> (</m:t>
                        </m:r>
                        <m:r>
                          <m:rPr>
                            <m:sty m:val="p"/>
                          </m:rPr>
                          <a:rPr lang="en-US" sz="2200" i="1">
                            <a:latin typeface="Cambria Math" panose="02040503050406030204" pitchFamily="18" charset="0"/>
                            <a:cs typeface="Times New Roman" panose="02020603050405020304" pitchFamily="18" charset="0"/>
                          </a:rPr>
                          <m:t>s</m:t>
                        </m:r>
                        <m:r>
                          <a:rPr lang="en-US" sz="2200" i="1">
                            <a:latin typeface="Cambria Math" panose="02040503050406030204" pitchFamily="18" charset="0"/>
                            <a:cs typeface="Times New Roman" panose="02020603050405020304" pitchFamily="18" charset="0"/>
                          </a:rPr>
                          <m:t> + 3) (</m:t>
                        </m:r>
                        <m:r>
                          <m:rPr>
                            <m:sty m:val="p"/>
                          </m:rPr>
                          <a:rPr lang="en-US" sz="2200" i="1">
                            <a:latin typeface="Cambria Math" panose="02040503050406030204" pitchFamily="18" charset="0"/>
                            <a:cs typeface="Times New Roman" panose="02020603050405020304" pitchFamily="18" charset="0"/>
                          </a:rPr>
                          <m:t>s</m:t>
                        </m:r>
                        <m:r>
                          <a:rPr lang="en-US" sz="2200" i="1">
                            <a:latin typeface="Cambria Math" panose="02040503050406030204" pitchFamily="18" charset="0"/>
                            <a:cs typeface="Times New Roman" panose="02020603050405020304" pitchFamily="18" charset="0"/>
                          </a:rPr>
                          <m:t> + 4)</m:t>
                        </m:r>
                      </m:den>
                    </m:f>
                  </m:oMath>
                </a14:m>
                <a:endParaRPr lang="en-IN" sz="2200" baseline="-25000" dirty="0">
                  <a:latin typeface="Times New Roman" panose="02020603050405020304" pitchFamily="18" charset="0"/>
                  <a:cs typeface="Times New Roman" panose="02020603050405020304" pitchFamily="18" charset="0"/>
                </a:endParaRPr>
              </a:p>
            </p:txBody>
          </p:sp>
        </mc:Choice>
        <mc:Fallback xmlns="">
          <p:sp>
            <p:nvSpPr>
              <p:cNvPr id="15" name="TextBox 14">
                <a:extLst>
                  <a:ext uri="{FF2B5EF4-FFF2-40B4-BE49-F238E27FC236}">
                    <a16:creationId xmlns:a16="http://schemas.microsoft.com/office/drawing/2014/main" id="{E49C1AB3-FB63-90DE-A8E0-3C025F9088DA}"/>
                  </a:ext>
                </a:extLst>
              </p:cNvPr>
              <p:cNvSpPr txBox="1">
                <a:spLocks noRot="1" noChangeAspect="1" noMove="1" noResize="1" noEditPoints="1" noAdjustHandles="1" noChangeArrowheads="1" noChangeShapeType="1" noTextEdit="1"/>
              </p:cNvSpPr>
              <p:nvPr/>
            </p:nvSpPr>
            <p:spPr>
              <a:xfrm>
                <a:off x="285003" y="944217"/>
                <a:ext cx="11591833" cy="640496"/>
              </a:xfrm>
              <a:prstGeom prst="rect">
                <a:avLst/>
              </a:prstGeom>
              <a:blipFill>
                <a:blip r:embed="rId2"/>
                <a:stretch>
                  <a:fillRect l="-684"/>
                </a:stretch>
              </a:blipFill>
            </p:spPr>
            <p:txBody>
              <a:bodyPr/>
              <a:lstStyle/>
              <a:p>
                <a:r>
                  <a:rPr lang="en-IN">
                    <a:noFill/>
                  </a:rPr>
                  <a:t> </a:t>
                </a:r>
              </a:p>
            </p:txBody>
          </p:sp>
        </mc:Fallback>
      </mc:AlternateContent>
      <p:cxnSp>
        <p:nvCxnSpPr>
          <p:cNvPr id="17" name="Straight Connector 16">
            <a:extLst>
              <a:ext uri="{FF2B5EF4-FFF2-40B4-BE49-F238E27FC236}">
                <a16:creationId xmlns:a16="http://schemas.microsoft.com/office/drawing/2014/main" id="{054B4AC8-8BFF-2A4B-859B-780DFAA34825}"/>
              </a:ext>
            </a:extLst>
          </p:cNvPr>
          <p:cNvCxnSpPr/>
          <p:nvPr/>
        </p:nvCxnSpPr>
        <p:spPr>
          <a:xfrm>
            <a:off x="5565913" y="1055743"/>
            <a:ext cx="0" cy="496956"/>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8304770E-6AF8-D977-9938-03FDCCA72150}"/>
              </a:ext>
            </a:extLst>
          </p:cNvPr>
          <p:cNvSpPr txBox="1"/>
          <p:nvPr/>
        </p:nvSpPr>
        <p:spPr>
          <a:xfrm>
            <a:off x="5536096" y="1295854"/>
            <a:ext cx="755374" cy="338554"/>
          </a:xfrm>
          <a:prstGeom prst="rect">
            <a:avLst/>
          </a:prstGeom>
          <a:noFill/>
        </p:spPr>
        <p:txBody>
          <a:bodyPr wrap="square" rtlCol="0">
            <a:spAutoFit/>
          </a:bodyPr>
          <a:lstStyle/>
          <a:p>
            <a:r>
              <a:rPr lang="en-US" sz="1600" dirty="0"/>
              <a:t>s = -3</a:t>
            </a:r>
            <a:endParaRPr lang="en-IN" sz="1600" dirty="0"/>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EC732661-66A9-87EE-AE82-42817312BF71}"/>
                  </a:ext>
                </a:extLst>
              </p:cNvPr>
              <p:cNvSpPr txBox="1"/>
              <p:nvPr/>
            </p:nvSpPr>
            <p:spPr>
              <a:xfrm>
                <a:off x="285002" y="1792810"/>
                <a:ext cx="11591833" cy="640496"/>
              </a:xfrm>
              <a:prstGeom prst="rect">
                <a:avLst/>
              </a:prstGeom>
              <a:noFill/>
            </p:spPr>
            <p:txBody>
              <a:bodyPr wrap="square" rtlCol="0">
                <a:spAutoFit/>
              </a:bodyPr>
              <a:lstStyle/>
              <a:p>
                <a:r>
                  <a:rPr lang="en-US" sz="2200" dirty="0">
                    <a:latin typeface="Times New Roman" panose="02020603050405020304" pitchFamily="18" charset="0"/>
                    <a:cs typeface="Times New Roman" panose="02020603050405020304" pitchFamily="18" charset="0"/>
                  </a:rPr>
                  <a:t>K</a:t>
                </a:r>
                <a:r>
                  <a:rPr lang="en-US" sz="2200" baseline="-25000" dirty="0">
                    <a:latin typeface="Times New Roman" panose="02020603050405020304" pitchFamily="18" charset="0"/>
                    <a:cs typeface="Times New Roman" panose="02020603050405020304" pitchFamily="18" charset="0"/>
                  </a:rPr>
                  <a:t>3</a:t>
                </a:r>
                <a:r>
                  <a:rPr lang="en-US" sz="2200" dirty="0">
                    <a:latin typeface="Times New Roman" panose="02020603050405020304" pitchFamily="18" charset="0"/>
                    <a:cs typeface="Times New Roman" panose="02020603050405020304" pitchFamily="18" charset="0"/>
                  </a:rPr>
                  <a:t> = (s + 4) . F(s)|</a:t>
                </a:r>
                <a:r>
                  <a:rPr lang="en-US" sz="2200" baseline="-25000" dirty="0">
                    <a:latin typeface="Times New Roman" panose="02020603050405020304" pitchFamily="18" charset="0"/>
                    <a:cs typeface="Times New Roman" panose="02020603050405020304" pitchFamily="18" charset="0"/>
                  </a:rPr>
                  <a:t>s = -4 </a:t>
                </a:r>
                <a:r>
                  <a:rPr lang="en-US" sz="2200" dirty="0">
                    <a:latin typeface="Times New Roman" panose="02020603050405020304" pitchFamily="18" charset="0"/>
                    <a:cs typeface="Times New Roman" panose="02020603050405020304" pitchFamily="18" charset="0"/>
                  </a:rPr>
                  <a:t>= (s + 4) . </a:t>
                </a:r>
                <a14:m>
                  <m:oMath xmlns:m="http://schemas.openxmlformats.org/officeDocument/2006/math">
                    <m:f>
                      <m:fPr>
                        <m:ctrlPr>
                          <a:rPr lang="en-IN" sz="2200" i="1">
                            <a:latin typeface="Cambria Math" panose="02040503050406030204" pitchFamily="18" charset="0"/>
                            <a:cs typeface="Times New Roman" panose="02020603050405020304" pitchFamily="18" charset="0"/>
                          </a:rPr>
                        </m:ctrlPr>
                      </m:fPr>
                      <m:num>
                        <m:d>
                          <m:dPr>
                            <m:ctrlPr>
                              <a:rPr lang="en-IN" sz="2200" i="1">
                                <a:latin typeface="Cambria Math" panose="02040503050406030204" pitchFamily="18" charset="0"/>
                                <a:cs typeface="Times New Roman" panose="02020603050405020304" pitchFamily="18" charset="0"/>
                              </a:rPr>
                            </m:ctrlPr>
                          </m:dPr>
                          <m:e>
                            <m:r>
                              <m:rPr>
                                <m:sty m:val="p"/>
                              </m:rPr>
                              <a:rPr lang="en-US" sz="2200" i="1">
                                <a:latin typeface="Cambria Math" panose="02040503050406030204" pitchFamily="18" charset="0"/>
                                <a:cs typeface="Times New Roman" panose="02020603050405020304" pitchFamily="18" charset="0"/>
                              </a:rPr>
                              <m:t>s</m:t>
                            </m:r>
                            <m:r>
                              <a:rPr lang="en-US" sz="2200" i="1">
                                <a:latin typeface="Cambria Math" panose="02040503050406030204" pitchFamily="18" charset="0"/>
                                <a:cs typeface="Times New Roman" panose="02020603050405020304" pitchFamily="18" charset="0"/>
                              </a:rPr>
                              <m:t> + 2</m:t>
                            </m:r>
                          </m:e>
                        </m:d>
                      </m:num>
                      <m:den>
                        <m:r>
                          <m:rPr>
                            <m:sty m:val="p"/>
                          </m:rPr>
                          <a:rPr lang="en-US" sz="2200" i="1">
                            <a:latin typeface="Cambria Math" panose="02040503050406030204" pitchFamily="18" charset="0"/>
                            <a:cs typeface="Times New Roman" panose="02020603050405020304" pitchFamily="18" charset="0"/>
                          </a:rPr>
                          <m:t>s</m:t>
                        </m:r>
                        <m:r>
                          <a:rPr lang="en-US" sz="2200" i="1">
                            <a:latin typeface="Cambria Math" panose="02040503050406030204" pitchFamily="18" charset="0"/>
                            <a:cs typeface="Times New Roman" panose="02020603050405020304" pitchFamily="18" charset="0"/>
                          </a:rPr>
                          <m:t> (</m:t>
                        </m:r>
                        <m:r>
                          <m:rPr>
                            <m:sty m:val="p"/>
                          </m:rPr>
                          <a:rPr lang="en-US" sz="2200" i="1">
                            <a:latin typeface="Cambria Math" panose="02040503050406030204" pitchFamily="18" charset="0"/>
                            <a:cs typeface="Times New Roman" panose="02020603050405020304" pitchFamily="18" charset="0"/>
                          </a:rPr>
                          <m:t>s</m:t>
                        </m:r>
                        <m:r>
                          <a:rPr lang="en-US" sz="2200" i="1">
                            <a:latin typeface="Cambria Math" panose="02040503050406030204" pitchFamily="18" charset="0"/>
                            <a:cs typeface="Times New Roman" panose="02020603050405020304" pitchFamily="18" charset="0"/>
                          </a:rPr>
                          <m:t> + 3) (</m:t>
                        </m:r>
                        <m:r>
                          <m:rPr>
                            <m:sty m:val="p"/>
                          </m:rPr>
                          <a:rPr lang="en-US" sz="2200" i="1">
                            <a:latin typeface="Cambria Math" panose="02040503050406030204" pitchFamily="18" charset="0"/>
                            <a:cs typeface="Times New Roman" panose="02020603050405020304" pitchFamily="18" charset="0"/>
                          </a:rPr>
                          <m:t>s</m:t>
                        </m:r>
                        <m:r>
                          <a:rPr lang="en-US" sz="2200" i="1">
                            <a:latin typeface="Cambria Math" panose="02040503050406030204" pitchFamily="18" charset="0"/>
                            <a:cs typeface="Times New Roman" panose="02020603050405020304" pitchFamily="18" charset="0"/>
                          </a:rPr>
                          <m:t> + 4)</m:t>
                        </m:r>
                      </m:den>
                    </m:f>
                  </m:oMath>
                </a14:m>
                <a:endParaRPr lang="en-IN" sz="2200" baseline="-25000" dirty="0">
                  <a:latin typeface="Times New Roman" panose="02020603050405020304" pitchFamily="18" charset="0"/>
                  <a:cs typeface="Times New Roman" panose="02020603050405020304" pitchFamily="18" charset="0"/>
                </a:endParaRPr>
              </a:p>
            </p:txBody>
          </p:sp>
        </mc:Choice>
        <mc:Fallback xmlns="">
          <p:sp>
            <p:nvSpPr>
              <p:cNvPr id="20" name="TextBox 19">
                <a:extLst>
                  <a:ext uri="{FF2B5EF4-FFF2-40B4-BE49-F238E27FC236}">
                    <a16:creationId xmlns:a16="http://schemas.microsoft.com/office/drawing/2014/main" id="{EC732661-66A9-87EE-AE82-42817312BF71}"/>
                  </a:ext>
                </a:extLst>
              </p:cNvPr>
              <p:cNvSpPr txBox="1">
                <a:spLocks noRot="1" noChangeAspect="1" noMove="1" noResize="1" noEditPoints="1" noAdjustHandles="1" noChangeArrowheads="1" noChangeShapeType="1" noTextEdit="1"/>
              </p:cNvSpPr>
              <p:nvPr/>
            </p:nvSpPr>
            <p:spPr>
              <a:xfrm>
                <a:off x="285002" y="1792810"/>
                <a:ext cx="11591833" cy="640496"/>
              </a:xfrm>
              <a:prstGeom prst="rect">
                <a:avLst/>
              </a:prstGeom>
              <a:blipFill>
                <a:blip r:embed="rId3"/>
                <a:stretch>
                  <a:fillRect l="-684" b="-952"/>
                </a:stretch>
              </a:blipFill>
            </p:spPr>
            <p:txBody>
              <a:bodyPr/>
              <a:lstStyle/>
              <a:p>
                <a:r>
                  <a:rPr lang="en-IN">
                    <a:noFill/>
                  </a:rPr>
                  <a:t> </a:t>
                </a:r>
              </a:p>
            </p:txBody>
          </p:sp>
        </mc:Fallback>
      </mc:AlternateContent>
      <p:sp>
        <p:nvSpPr>
          <p:cNvPr id="21" name="TextBox 20">
            <a:extLst>
              <a:ext uri="{FF2B5EF4-FFF2-40B4-BE49-F238E27FC236}">
                <a16:creationId xmlns:a16="http://schemas.microsoft.com/office/drawing/2014/main" id="{F39DAD12-26E4-CE35-FDB1-BA7038908827}"/>
              </a:ext>
            </a:extLst>
          </p:cNvPr>
          <p:cNvSpPr txBox="1"/>
          <p:nvPr/>
        </p:nvSpPr>
        <p:spPr>
          <a:xfrm>
            <a:off x="5589104" y="2094752"/>
            <a:ext cx="755374" cy="338554"/>
          </a:xfrm>
          <a:prstGeom prst="rect">
            <a:avLst/>
          </a:prstGeom>
          <a:noFill/>
        </p:spPr>
        <p:txBody>
          <a:bodyPr wrap="square" rtlCol="0">
            <a:spAutoFit/>
          </a:bodyPr>
          <a:lstStyle/>
          <a:p>
            <a:r>
              <a:rPr lang="en-US" sz="1600" dirty="0"/>
              <a:t>s = -4</a:t>
            </a:r>
            <a:endParaRPr lang="en-IN" sz="1600" dirty="0"/>
          </a:p>
        </p:txBody>
      </p:sp>
      <p:cxnSp>
        <p:nvCxnSpPr>
          <p:cNvPr id="22" name="Straight Connector 21">
            <a:extLst>
              <a:ext uri="{FF2B5EF4-FFF2-40B4-BE49-F238E27FC236}">
                <a16:creationId xmlns:a16="http://schemas.microsoft.com/office/drawing/2014/main" id="{F62AE25D-E9C2-59FE-A789-AC9E11BF934F}"/>
              </a:ext>
            </a:extLst>
          </p:cNvPr>
          <p:cNvCxnSpPr/>
          <p:nvPr/>
        </p:nvCxnSpPr>
        <p:spPr>
          <a:xfrm>
            <a:off x="5589104" y="1864580"/>
            <a:ext cx="0" cy="496956"/>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2074A774-A629-2104-808A-0C1B95AD8D25}"/>
              </a:ext>
            </a:extLst>
          </p:cNvPr>
          <p:cNvSpPr txBox="1"/>
          <p:nvPr/>
        </p:nvSpPr>
        <p:spPr>
          <a:xfrm>
            <a:off x="6589643" y="1055743"/>
            <a:ext cx="1331843" cy="430887"/>
          </a:xfrm>
          <a:prstGeom prst="rect">
            <a:avLst/>
          </a:prstGeom>
          <a:noFill/>
        </p:spPr>
        <p:txBody>
          <a:bodyPr wrap="square" rtlCol="0">
            <a:spAutoFit/>
          </a:bodyPr>
          <a:lstStyle/>
          <a:p>
            <a:r>
              <a:rPr lang="en-US" sz="2200" dirty="0">
                <a:latin typeface="Times New Roman" panose="02020603050405020304" pitchFamily="18" charset="0"/>
                <a:cs typeface="Times New Roman" panose="02020603050405020304" pitchFamily="18" charset="0"/>
              </a:rPr>
              <a:t>K</a:t>
            </a:r>
            <a:r>
              <a:rPr lang="en-US" sz="2200" baseline="-25000" dirty="0">
                <a:latin typeface="Times New Roman" panose="02020603050405020304" pitchFamily="18" charset="0"/>
                <a:cs typeface="Times New Roman" panose="02020603050405020304" pitchFamily="18" charset="0"/>
              </a:rPr>
              <a:t>2</a:t>
            </a:r>
            <a:r>
              <a:rPr lang="en-US" sz="2200" dirty="0">
                <a:latin typeface="Times New Roman" panose="02020603050405020304" pitchFamily="18" charset="0"/>
                <a:cs typeface="Times New Roman" panose="02020603050405020304" pitchFamily="18" charset="0"/>
              </a:rPr>
              <a:t> = 1/3</a:t>
            </a:r>
            <a:endParaRPr lang="en-IN" sz="2200" dirty="0">
              <a:latin typeface="Times New Roman" panose="02020603050405020304" pitchFamily="18" charset="0"/>
              <a:cs typeface="Times New Roman" panose="02020603050405020304" pitchFamily="18" charset="0"/>
            </a:endParaRPr>
          </a:p>
        </p:txBody>
      </p:sp>
      <p:sp>
        <p:nvSpPr>
          <p:cNvPr id="24" name="TextBox 23">
            <a:extLst>
              <a:ext uri="{FF2B5EF4-FFF2-40B4-BE49-F238E27FC236}">
                <a16:creationId xmlns:a16="http://schemas.microsoft.com/office/drawing/2014/main" id="{B6309DA1-FC67-A87D-9A5E-5D813CE4AD0E}"/>
              </a:ext>
            </a:extLst>
          </p:cNvPr>
          <p:cNvSpPr txBox="1"/>
          <p:nvPr/>
        </p:nvSpPr>
        <p:spPr>
          <a:xfrm>
            <a:off x="6572735" y="1930649"/>
            <a:ext cx="1331843" cy="430887"/>
          </a:xfrm>
          <a:prstGeom prst="rect">
            <a:avLst/>
          </a:prstGeom>
          <a:noFill/>
        </p:spPr>
        <p:txBody>
          <a:bodyPr wrap="square" rtlCol="0">
            <a:spAutoFit/>
          </a:bodyPr>
          <a:lstStyle/>
          <a:p>
            <a:r>
              <a:rPr lang="en-US" sz="2200" dirty="0">
                <a:latin typeface="Times New Roman" panose="02020603050405020304" pitchFamily="18" charset="0"/>
                <a:cs typeface="Times New Roman" panose="02020603050405020304" pitchFamily="18" charset="0"/>
              </a:rPr>
              <a:t>K</a:t>
            </a:r>
            <a:r>
              <a:rPr lang="en-US" sz="2200" baseline="-25000" dirty="0">
                <a:latin typeface="Times New Roman" panose="02020603050405020304" pitchFamily="18" charset="0"/>
                <a:cs typeface="Times New Roman" panose="02020603050405020304" pitchFamily="18" charset="0"/>
              </a:rPr>
              <a:t>3</a:t>
            </a:r>
            <a:r>
              <a:rPr lang="en-US" sz="2200" dirty="0">
                <a:latin typeface="Times New Roman" panose="02020603050405020304" pitchFamily="18" charset="0"/>
                <a:cs typeface="Times New Roman" panose="02020603050405020304" pitchFamily="18" charset="0"/>
              </a:rPr>
              <a:t> = -1/2</a:t>
            </a:r>
            <a:endParaRPr lang="en-IN" sz="22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0FA65D41-3643-2C83-C5F8-B5626302EB73}"/>
                  </a:ext>
                </a:extLst>
              </p:cNvPr>
              <p:cNvSpPr txBox="1"/>
              <p:nvPr/>
            </p:nvSpPr>
            <p:spPr>
              <a:xfrm>
                <a:off x="608092" y="2782957"/>
                <a:ext cx="11090265" cy="2179956"/>
              </a:xfrm>
              <a:prstGeom prst="rect">
                <a:avLst/>
              </a:prstGeom>
              <a:noFill/>
            </p:spPr>
            <p:txBody>
              <a:bodyPr wrap="square" rtlCol="0">
                <a:spAutoFit/>
              </a:bodyPr>
              <a:lstStyle/>
              <a:p>
                <a:pPr>
                  <a:lnSpc>
                    <a:spcPct val="150000"/>
                  </a:lnSpc>
                </a:pPr>
                <a:r>
                  <a:rPr lang="en-US" sz="2200" dirty="0">
                    <a:latin typeface="Times New Roman" panose="02020603050405020304" pitchFamily="18" charset="0"/>
                    <a:cs typeface="Times New Roman" panose="02020603050405020304" pitchFamily="18" charset="0"/>
                  </a:rPr>
                  <a:t>F(s) = </a:t>
                </a:r>
                <a14:m>
                  <m:oMath xmlns:m="http://schemas.openxmlformats.org/officeDocument/2006/math">
                    <m:f>
                      <m:fPr>
                        <m:ctrlPr>
                          <a:rPr lang="en-IN" sz="2400" i="1" smtClean="0">
                            <a:latin typeface="Cambria Math" panose="02040503050406030204" pitchFamily="18" charset="0"/>
                          </a:rPr>
                        </m:ctrlPr>
                      </m:fPr>
                      <m:num>
                        <m:r>
                          <a:rPr lang="en-US" sz="2400" b="0" i="1" smtClean="0">
                            <a:latin typeface="Cambria Math" panose="02040503050406030204" pitchFamily="18" charset="0"/>
                          </a:rPr>
                          <m:t>1/6</m:t>
                        </m:r>
                      </m:num>
                      <m:den>
                        <m:r>
                          <m:rPr>
                            <m:sty m:val="p"/>
                          </m:rPr>
                          <a:rPr lang="en-US" sz="2400" b="0" i="1" smtClean="0">
                            <a:latin typeface="Cambria Math" panose="02040503050406030204" pitchFamily="18" charset="0"/>
                          </a:rPr>
                          <m:t>s</m:t>
                        </m:r>
                      </m:den>
                    </m:f>
                  </m:oMath>
                </a14:m>
                <a:r>
                  <a:rPr lang="en-IN" sz="2400" dirty="0">
                    <a:latin typeface="Times New Roman" panose="02020603050405020304" pitchFamily="18" charset="0"/>
                    <a:cs typeface="Times New Roman" panose="02020603050405020304" pitchFamily="18" charset="0"/>
                  </a:rPr>
                  <a:t> + </a:t>
                </a:r>
                <a14:m>
                  <m:oMath xmlns:m="http://schemas.openxmlformats.org/officeDocument/2006/math">
                    <m:f>
                      <m:fPr>
                        <m:ctrlPr>
                          <a:rPr lang="en-IN" sz="2400" i="1" smtClean="0">
                            <a:latin typeface="Cambria Math" panose="02040503050406030204" pitchFamily="18" charset="0"/>
                          </a:rPr>
                        </m:ctrlPr>
                      </m:fPr>
                      <m:num>
                        <m:r>
                          <a:rPr lang="en-US" sz="2400" b="0" i="1" smtClean="0">
                            <a:latin typeface="Cambria Math" panose="02040503050406030204" pitchFamily="18" charset="0"/>
                          </a:rPr>
                          <m:t>1/3</m:t>
                        </m:r>
                      </m:num>
                      <m:den>
                        <m:r>
                          <a:rPr lang="en-US" sz="2400" b="0" i="1" smtClean="0">
                            <a:latin typeface="Cambria Math" panose="02040503050406030204" pitchFamily="18" charset="0"/>
                          </a:rPr>
                          <m:t>(</m:t>
                        </m:r>
                        <m:r>
                          <m:rPr>
                            <m:sty m:val="p"/>
                          </m:rPr>
                          <a:rPr lang="en-US" sz="2400" b="0" i="1" smtClean="0">
                            <a:latin typeface="Cambria Math" panose="02040503050406030204" pitchFamily="18" charset="0"/>
                          </a:rPr>
                          <m:t>s</m:t>
                        </m:r>
                        <m:r>
                          <a:rPr lang="en-US" sz="2400" b="0" i="1" smtClean="0">
                            <a:latin typeface="Cambria Math" panose="02040503050406030204" pitchFamily="18" charset="0"/>
                          </a:rPr>
                          <m:t> + 3)</m:t>
                        </m:r>
                      </m:den>
                    </m:f>
                  </m:oMath>
                </a14:m>
                <a:r>
                  <a:rPr lang="en-IN" sz="2400" dirty="0">
                    <a:latin typeface="Times New Roman" panose="02020603050405020304" pitchFamily="18" charset="0"/>
                    <a:cs typeface="Times New Roman" panose="02020603050405020304" pitchFamily="18" charset="0"/>
                  </a:rPr>
                  <a:t> - </a:t>
                </a:r>
                <a14:m>
                  <m:oMath xmlns:m="http://schemas.openxmlformats.org/officeDocument/2006/math">
                    <m:f>
                      <m:fPr>
                        <m:ctrlPr>
                          <a:rPr lang="en-IN" sz="2400" i="1" smtClean="0">
                            <a:latin typeface="Cambria Math" panose="02040503050406030204" pitchFamily="18" charset="0"/>
                          </a:rPr>
                        </m:ctrlPr>
                      </m:fPr>
                      <m:num>
                        <m:r>
                          <a:rPr lang="en-US" sz="2400" b="0" i="1" smtClean="0">
                            <a:latin typeface="Cambria Math" panose="02040503050406030204" pitchFamily="18" charset="0"/>
                          </a:rPr>
                          <m:t>1/2</m:t>
                        </m:r>
                      </m:num>
                      <m:den>
                        <m:r>
                          <a:rPr lang="en-US" sz="2400" b="0" i="1" smtClean="0">
                            <a:latin typeface="Cambria Math" panose="02040503050406030204" pitchFamily="18" charset="0"/>
                          </a:rPr>
                          <m:t>(</m:t>
                        </m:r>
                        <m:r>
                          <m:rPr>
                            <m:sty m:val="p"/>
                          </m:rPr>
                          <a:rPr lang="en-US" sz="2400" b="0" i="1" smtClean="0">
                            <a:latin typeface="Cambria Math" panose="02040503050406030204" pitchFamily="18" charset="0"/>
                          </a:rPr>
                          <m:t>s</m:t>
                        </m:r>
                        <m:r>
                          <a:rPr lang="en-US" sz="2400" b="0" i="1" smtClean="0">
                            <a:latin typeface="Cambria Math" panose="02040503050406030204" pitchFamily="18" charset="0"/>
                          </a:rPr>
                          <m:t> + 4)</m:t>
                        </m:r>
                      </m:den>
                    </m:f>
                  </m:oMath>
                </a14:m>
                <a:r>
                  <a:rPr lang="en-IN" sz="2200" dirty="0">
                    <a:latin typeface="Times New Roman" panose="02020603050405020304" pitchFamily="18" charset="0"/>
                    <a:cs typeface="Times New Roman" panose="02020603050405020304" pitchFamily="18" charset="0"/>
                  </a:rPr>
                  <a:t>    </a:t>
                </a:r>
              </a:p>
              <a:p>
                <a:pPr>
                  <a:lnSpc>
                    <a:spcPct val="150000"/>
                  </a:lnSpc>
                </a:pPr>
                <a:r>
                  <a:rPr lang="en-IN" sz="2200" dirty="0">
                    <a:latin typeface="Times New Roman" panose="02020603050405020304" pitchFamily="18" charset="0"/>
                    <a:cs typeface="Times New Roman" panose="02020603050405020304" pitchFamily="18" charset="0"/>
                  </a:rPr>
                  <a:t>Taking inverse Laplace transform</a:t>
                </a:r>
              </a:p>
              <a:p>
                <a:pPr>
                  <a:lnSpc>
                    <a:spcPct val="150000"/>
                  </a:lnSpc>
                </a:pPr>
                <a:r>
                  <a:rPr lang="en-IN" sz="2200" dirty="0">
                    <a:latin typeface="Times New Roman" panose="02020603050405020304" pitchFamily="18" charset="0"/>
                    <a:cs typeface="Times New Roman" panose="02020603050405020304" pitchFamily="18" charset="0"/>
                  </a:rPr>
                  <a:t>f(t) = </a:t>
                </a:r>
                <a14:m>
                  <m:oMath xmlns:m="http://schemas.openxmlformats.org/officeDocument/2006/math">
                    <m:f>
                      <m:fPr>
                        <m:ctrlPr>
                          <a:rPr lang="en-IN" sz="2400" i="1" smtClean="0">
                            <a:latin typeface="Cambria Math" panose="02040503050406030204" pitchFamily="18" charset="0"/>
                            <a:cs typeface="Times New Roman" panose="02020603050405020304" pitchFamily="18" charset="0"/>
                          </a:rPr>
                        </m:ctrlPr>
                      </m:fPr>
                      <m:num>
                        <m:r>
                          <a:rPr lang="en-US" sz="2400" b="0" i="1" smtClean="0">
                            <a:latin typeface="Cambria Math" panose="02040503050406030204" pitchFamily="18" charset="0"/>
                            <a:cs typeface="Times New Roman" panose="02020603050405020304" pitchFamily="18" charset="0"/>
                          </a:rPr>
                          <m:t>1</m:t>
                        </m:r>
                      </m:num>
                      <m:den>
                        <m:r>
                          <a:rPr lang="en-US" sz="2400" b="0" i="1" smtClean="0">
                            <a:latin typeface="Cambria Math" panose="02040503050406030204" pitchFamily="18" charset="0"/>
                            <a:cs typeface="Times New Roman" panose="02020603050405020304" pitchFamily="18" charset="0"/>
                          </a:rPr>
                          <m:t>6</m:t>
                        </m:r>
                      </m:den>
                    </m:f>
                  </m:oMath>
                </a14:m>
                <a:r>
                  <a:rPr lang="en-IN" sz="2400" dirty="0">
                    <a:latin typeface="Times New Roman" panose="02020603050405020304" pitchFamily="18" charset="0"/>
                    <a:cs typeface="Times New Roman" panose="02020603050405020304" pitchFamily="18" charset="0"/>
                  </a:rPr>
                  <a:t> + </a:t>
                </a:r>
                <a14:m>
                  <m:oMath xmlns:m="http://schemas.openxmlformats.org/officeDocument/2006/math">
                    <m:f>
                      <m:fPr>
                        <m:ctrlPr>
                          <a:rPr lang="en-IN" sz="2400" i="1" smtClean="0">
                            <a:latin typeface="Cambria Math" panose="02040503050406030204" pitchFamily="18" charset="0"/>
                            <a:cs typeface="Times New Roman" panose="02020603050405020304" pitchFamily="18" charset="0"/>
                          </a:rPr>
                        </m:ctrlPr>
                      </m:fPr>
                      <m:num>
                        <m:r>
                          <a:rPr lang="en-US" sz="2400" b="0" i="1" smtClean="0">
                            <a:latin typeface="Cambria Math" panose="02040503050406030204" pitchFamily="18" charset="0"/>
                            <a:cs typeface="Times New Roman" panose="02020603050405020304" pitchFamily="18" charset="0"/>
                          </a:rPr>
                          <m:t>1</m:t>
                        </m:r>
                      </m:num>
                      <m:den>
                        <m:r>
                          <a:rPr lang="en-US" sz="2400" b="0" i="1" smtClean="0">
                            <a:latin typeface="Cambria Math" panose="02040503050406030204" pitchFamily="18" charset="0"/>
                            <a:cs typeface="Times New Roman" panose="02020603050405020304" pitchFamily="18" charset="0"/>
                          </a:rPr>
                          <m:t>3</m:t>
                        </m:r>
                      </m:den>
                    </m:f>
                    <m:sSup>
                      <m:sSupPr>
                        <m:ctrlPr>
                          <a:rPr lang="en-IN" sz="2400" i="1" smtClean="0">
                            <a:latin typeface="Cambria Math" panose="02040503050406030204" pitchFamily="18" charset="0"/>
                            <a:cs typeface="Times New Roman" panose="02020603050405020304" pitchFamily="18" charset="0"/>
                          </a:rPr>
                        </m:ctrlPr>
                      </m:sSupPr>
                      <m:e>
                        <m:r>
                          <m:rPr>
                            <m:sty m:val="p"/>
                          </m:rPr>
                          <a:rPr lang="en-US" sz="2400" b="0" i="1" smtClean="0">
                            <a:latin typeface="Cambria Math" panose="02040503050406030204" pitchFamily="18" charset="0"/>
                            <a:cs typeface="Times New Roman" panose="02020603050405020304" pitchFamily="18" charset="0"/>
                          </a:rPr>
                          <m:t>e</m:t>
                        </m:r>
                      </m:e>
                      <m:sup>
                        <m:r>
                          <a:rPr lang="en-US" sz="2400" b="0" i="1" smtClean="0">
                            <a:latin typeface="Cambria Math" panose="02040503050406030204" pitchFamily="18" charset="0"/>
                            <a:cs typeface="Times New Roman" panose="02020603050405020304" pitchFamily="18" charset="0"/>
                          </a:rPr>
                          <m:t>−3</m:t>
                        </m:r>
                        <m:r>
                          <m:rPr>
                            <m:sty m:val="p"/>
                          </m:rPr>
                          <a:rPr lang="en-US" sz="2400" b="0" i="1" smtClean="0">
                            <a:latin typeface="Cambria Math" panose="02040503050406030204" pitchFamily="18" charset="0"/>
                            <a:cs typeface="Times New Roman" panose="02020603050405020304" pitchFamily="18" charset="0"/>
                          </a:rPr>
                          <m:t>t</m:t>
                        </m:r>
                      </m:sup>
                    </m:sSup>
                  </m:oMath>
                </a14:m>
                <a:r>
                  <a:rPr lang="en-IN" sz="2400" dirty="0">
                    <a:latin typeface="Times New Roman" panose="02020603050405020304" pitchFamily="18" charset="0"/>
                    <a:cs typeface="Times New Roman" panose="02020603050405020304" pitchFamily="18" charset="0"/>
                  </a:rPr>
                  <a:t> - </a:t>
                </a:r>
                <a14:m>
                  <m:oMath xmlns:m="http://schemas.openxmlformats.org/officeDocument/2006/math">
                    <m:f>
                      <m:fPr>
                        <m:ctrlPr>
                          <a:rPr lang="en-IN" sz="2400" i="1" smtClean="0">
                            <a:latin typeface="Cambria Math" panose="02040503050406030204" pitchFamily="18" charset="0"/>
                            <a:cs typeface="Times New Roman" panose="02020603050405020304" pitchFamily="18" charset="0"/>
                          </a:rPr>
                        </m:ctrlPr>
                      </m:fPr>
                      <m:num>
                        <m:r>
                          <a:rPr lang="en-US" sz="2400" b="0" i="1" smtClean="0">
                            <a:latin typeface="Cambria Math" panose="02040503050406030204" pitchFamily="18" charset="0"/>
                            <a:cs typeface="Times New Roman" panose="02020603050405020304" pitchFamily="18" charset="0"/>
                          </a:rPr>
                          <m:t>1</m:t>
                        </m:r>
                      </m:num>
                      <m:den>
                        <m:r>
                          <a:rPr lang="en-US" sz="2400" b="0" i="1" smtClean="0">
                            <a:latin typeface="Cambria Math" panose="02040503050406030204" pitchFamily="18" charset="0"/>
                            <a:cs typeface="Times New Roman" panose="02020603050405020304" pitchFamily="18" charset="0"/>
                          </a:rPr>
                          <m:t>2</m:t>
                        </m:r>
                      </m:den>
                    </m:f>
                    <m:sSup>
                      <m:sSupPr>
                        <m:ctrlPr>
                          <a:rPr lang="en-IN" sz="2400" i="1" smtClean="0">
                            <a:latin typeface="Cambria Math" panose="02040503050406030204" pitchFamily="18" charset="0"/>
                            <a:cs typeface="Times New Roman" panose="02020603050405020304" pitchFamily="18" charset="0"/>
                          </a:rPr>
                        </m:ctrlPr>
                      </m:sSupPr>
                      <m:e>
                        <m:r>
                          <m:rPr>
                            <m:sty m:val="p"/>
                          </m:rPr>
                          <a:rPr lang="en-US" sz="2400" b="0" i="1" smtClean="0">
                            <a:latin typeface="Cambria Math" panose="02040503050406030204" pitchFamily="18" charset="0"/>
                            <a:cs typeface="Times New Roman" panose="02020603050405020304" pitchFamily="18" charset="0"/>
                          </a:rPr>
                          <m:t>e</m:t>
                        </m:r>
                      </m:e>
                      <m:sup>
                        <m:r>
                          <a:rPr lang="en-US" sz="2400" b="0" i="1" smtClean="0">
                            <a:latin typeface="Cambria Math" panose="02040503050406030204" pitchFamily="18" charset="0"/>
                            <a:cs typeface="Times New Roman" panose="02020603050405020304" pitchFamily="18" charset="0"/>
                          </a:rPr>
                          <m:t>−4</m:t>
                        </m:r>
                        <m:r>
                          <m:rPr>
                            <m:sty m:val="p"/>
                          </m:rPr>
                          <a:rPr lang="en-US" sz="2400" b="0" i="1" smtClean="0">
                            <a:latin typeface="Cambria Math" panose="02040503050406030204" pitchFamily="18" charset="0"/>
                            <a:cs typeface="Times New Roman" panose="02020603050405020304" pitchFamily="18" charset="0"/>
                          </a:rPr>
                          <m:t>t</m:t>
                        </m:r>
                      </m:sup>
                    </m:sSup>
                  </m:oMath>
                </a14:m>
                <a:endParaRPr lang="en-IN" sz="2200" dirty="0">
                  <a:latin typeface="Times New Roman" panose="02020603050405020304" pitchFamily="18" charset="0"/>
                  <a:cs typeface="Times New Roman" panose="02020603050405020304" pitchFamily="18" charset="0"/>
                </a:endParaRPr>
              </a:p>
            </p:txBody>
          </p:sp>
        </mc:Choice>
        <mc:Fallback xmlns="">
          <p:sp>
            <p:nvSpPr>
              <p:cNvPr id="25" name="TextBox 24">
                <a:extLst>
                  <a:ext uri="{FF2B5EF4-FFF2-40B4-BE49-F238E27FC236}">
                    <a16:creationId xmlns:a16="http://schemas.microsoft.com/office/drawing/2014/main" id="{0FA65D41-3643-2C83-C5F8-B5626302EB73}"/>
                  </a:ext>
                </a:extLst>
              </p:cNvPr>
              <p:cNvSpPr txBox="1">
                <a:spLocks noRot="1" noChangeAspect="1" noMove="1" noResize="1" noEditPoints="1" noAdjustHandles="1" noChangeArrowheads="1" noChangeShapeType="1" noTextEdit="1"/>
              </p:cNvSpPr>
              <p:nvPr/>
            </p:nvSpPr>
            <p:spPr>
              <a:xfrm>
                <a:off x="608092" y="2782957"/>
                <a:ext cx="11090265" cy="2179956"/>
              </a:xfrm>
              <a:prstGeom prst="rect">
                <a:avLst/>
              </a:prstGeom>
              <a:blipFill>
                <a:blip r:embed="rId4"/>
                <a:stretch>
                  <a:fillRect l="-715" b="-2801"/>
                </a:stretch>
              </a:blipFill>
            </p:spPr>
            <p:txBody>
              <a:bodyPr/>
              <a:lstStyle/>
              <a:p>
                <a:r>
                  <a:rPr lang="en-IN">
                    <a:noFill/>
                  </a:rPr>
                  <a:t> </a:t>
                </a:r>
              </a:p>
            </p:txBody>
          </p:sp>
        </mc:Fallback>
      </mc:AlternateContent>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3B1474-C29C-C601-F801-7E14F7D1B3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A0718E-091B-3720-9E82-55030B8D04EC}"/>
              </a:ext>
            </a:extLst>
          </p:cNvPr>
          <p:cNvSpPr>
            <a:spLocks noGrp="1"/>
          </p:cNvSpPr>
          <p:nvPr>
            <p:ph type="title"/>
          </p:nvPr>
        </p:nvSpPr>
        <p:spPr>
          <a:xfrm>
            <a:off x="285003" y="71415"/>
            <a:ext cx="11591833" cy="714380"/>
          </a:xfrm>
        </p:spPr>
        <p:txBody>
          <a:bodyPr>
            <a:normAutofit/>
          </a:bodyPr>
          <a:lstStyle/>
          <a:p>
            <a:r>
              <a:rPr lang="en-IN" sz="2800" dirty="0">
                <a:solidFill>
                  <a:srgbClr val="00B050"/>
                </a:solidFill>
                <a:latin typeface="Times New Roman" pitchFamily="18" charset="0"/>
                <a:cs typeface="Times New Roman" pitchFamily="18" charset="0"/>
              </a:rPr>
              <a:t>INVERSE LAPLACE TRANSFORM</a:t>
            </a:r>
            <a:endParaRPr lang="en-US" sz="2800" dirty="0">
              <a:solidFill>
                <a:srgbClr val="FF0000"/>
              </a:solidFill>
              <a:latin typeface="Times New Roman" pitchFamily="18" charset="0"/>
              <a:cs typeface="Times New Roman" pitchFamily="18" charset="0"/>
            </a:endParaRPr>
          </a:p>
        </p:txBody>
      </p:sp>
      <p:sp>
        <p:nvSpPr>
          <p:cNvPr id="14" name="TextBox 13">
            <a:extLst>
              <a:ext uri="{FF2B5EF4-FFF2-40B4-BE49-F238E27FC236}">
                <a16:creationId xmlns:a16="http://schemas.microsoft.com/office/drawing/2014/main" id="{496F3B77-269F-04BA-5CA0-D702790B00F5}"/>
              </a:ext>
            </a:extLst>
          </p:cNvPr>
          <p:cNvSpPr txBox="1"/>
          <p:nvPr/>
        </p:nvSpPr>
        <p:spPr>
          <a:xfrm>
            <a:off x="608092" y="6113018"/>
            <a:ext cx="5472827" cy="246221"/>
          </a:xfrm>
          <a:prstGeom prst="rect">
            <a:avLst/>
          </a:prstGeom>
          <a:noFill/>
        </p:spPr>
        <p:txBody>
          <a:bodyPr wrap="square" rtlCol="0">
            <a:spAutoFit/>
          </a:bodyPr>
          <a:lstStyle/>
          <a:p>
            <a:r>
              <a:rPr lang="en-US" sz="1000" dirty="0"/>
              <a:t>Reference: Network Analysis &amp; Synthesis by Uday Bakshi and Ajay Bakshi, Technical Publications Pune</a:t>
            </a:r>
            <a:endParaRPr lang="en-IN" sz="1000" dirty="0"/>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40DD704B-CC49-85CB-2D5B-9D23C53F2A28}"/>
                  </a:ext>
                </a:extLst>
              </p:cNvPr>
              <p:cNvSpPr txBox="1"/>
              <p:nvPr/>
            </p:nvSpPr>
            <p:spPr>
              <a:xfrm>
                <a:off x="383969" y="864704"/>
                <a:ext cx="11393902" cy="4749890"/>
              </a:xfrm>
              <a:prstGeom prst="rect">
                <a:avLst/>
              </a:prstGeom>
              <a:noFill/>
            </p:spPr>
            <p:txBody>
              <a:bodyPr wrap="square" rtlCol="0">
                <a:spAutoFit/>
              </a:bodyPr>
              <a:lstStyle/>
              <a:p>
                <a:pPr>
                  <a:lnSpc>
                    <a:spcPct val="150000"/>
                  </a:lnSpc>
                </a:pPr>
                <a:r>
                  <a:rPr lang="en-US" sz="2200" b="1" dirty="0">
                    <a:latin typeface="Times New Roman" panose="02020603050405020304" pitchFamily="18" charset="0"/>
                    <a:cs typeface="Times New Roman" panose="02020603050405020304" pitchFamily="18" charset="0"/>
                  </a:rPr>
                  <a:t>Multiple Roots: </a:t>
                </a:r>
                <a:r>
                  <a:rPr lang="en-US" sz="2200" dirty="0">
                    <a:latin typeface="Times New Roman" panose="02020603050405020304" pitchFamily="18" charset="0"/>
                    <a:cs typeface="Times New Roman" panose="02020603050405020304" pitchFamily="18" charset="0"/>
                  </a:rPr>
                  <a:t>Obtain the inverse Laplace transform of</a:t>
                </a:r>
              </a:p>
              <a:p>
                <a:pPr>
                  <a:lnSpc>
                    <a:spcPct val="150000"/>
                  </a:lnSpc>
                </a:pPr>
                <a:r>
                  <a:rPr lang="en-IN" sz="2200" dirty="0">
                    <a:latin typeface="Times New Roman" panose="02020603050405020304" pitchFamily="18" charset="0"/>
                    <a:cs typeface="Times New Roman" panose="02020603050405020304" pitchFamily="18" charset="0"/>
                  </a:rPr>
                  <a:t>F(s) = </a:t>
                </a:r>
                <a14:m>
                  <m:oMath xmlns:m="http://schemas.openxmlformats.org/officeDocument/2006/math">
                    <m:f>
                      <m:fPr>
                        <m:ctrlPr>
                          <a:rPr lang="en-IN" sz="2400" i="1" smtClean="0">
                            <a:latin typeface="Cambria Math" panose="02040503050406030204" pitchFamily="18" charset="0"/>
                            <a:cs typeface="Times New Roman" panose="02020603050405020304" pitchFamily="18" charset="0"/>
                          </a:rPr>
                        </m:ctrlPr>
                      </m:fPr>
                      <m:num>
                        <m:r>
                          <a:rPr lang="en-US" sz="2400" b="0" i="0" smtClean="0">
                            <a:latin typeface="Cambria Math" panose="02040503050406030204" pitchFamily="18" charset="0"/>
                            <a:cs typeface="Times New Roman" panose="02020603050405020304" pitchFamily="18" charset="0"/>
                          </a:rPr>
                          <m:t>(</m:t>
                        </m:r>
                        <m:r>
                          <m:rPr>
                            <m:sty m:val="p"/>
                          </m:rPr>
                          <a:rPr lang="en-US" sz="2400" b="0" i="0" smtClean="0">
                            <a:latin typeface="Cambria Math" panose="02040503050406030204" pitchFamily="18" charset="0"/>
                            <a:cs typeface="Times New Roman" panose="02020603050405020304" pitchFamily="18" charset="0"/>
                          </a:rPr>
                          <m:t>s</m:t>
                        </m:r>
                        <m:r>
                          <a:rPr lang="en-US" sz="2400" b="0" i="0" smtClean="0">
                            <a:latin typeface="Cambria Math" panose="02040503050406030204" pitchFamily="18" charset="0"/>
                            <a:cs typeface="Times New Roman" panose="02020603050405020304" pitchFamily="18" charset="0"/>
                          </a:rPr>
                          <m:t> + 2)</m:t>
                        </m:r>
                      </m:num>
                      <m:den>
                        <m:r>
                          <m:rPr>
                            <m:sty m:val="p"/>
                          </m:rPr>
                          <a:rPr lang="en-US" sz="2400" b="0" i="0" smtClean="0">
                            <a:latin typeface="Cambria Math" panose="02040503050406030204" pitchFamily="18" charset="0"/>
                            <a:cs typeface="Times New Roman" panose="02020603050405020304" pitchFamily="18" charset="0"/>
                          </a:rPr>
                          <m:t>s</m:t>
                        </m:r>
                        <m:r>
                          <a:rPr lang="en-US" sz="2400" b="0" i="0" smtClean="0">
                            <a:latin typeface="Cambria Math" panose="02040503050406030204" pitchFamily="18" charset="0"/>
                            <a:cs typeface="Times New Roman" panose="02020603050405020304" pitchFamily="18" charset="0"/>
                          </a:rPr>
                          <m:t> </m:t>
                        </m:r>
                        <m:sSup>
                          <m:sSupPr>
                            <m:ctrlPr>
                              <a:rPr lang="en-IN" sz="2400" b="0" i="1" smtClean="0">
                                <a:latin typeface="Cambria Math" panose="02040503050406030204" pitchFamily="18" charset="0"/>
                                <a:cs typeface="Times New Roman" panose="02020603050405020304" pitchFamily="18" charset="0"/>
                              </a:rPr>
                            </m:ctrlPr>
                          </m:sSupPr>
                          <m:e>
                            <m:r>
                              <a:rPr lang="en-US" sz="2400" b="0" i="0" smtClean="0">
                                <a:latin typeface="Cambria Math" panose="02040503050406030204" pitchFamily="18" charset="0"/>
                                <a:cs typeface="Times New Roman" panose="02020603050405020304" pitchFamily="18" charset="0"/>
                              </a:rPr>
                              <m:t>(</m:t>
                            </m:r>
                            <m:r>
                              <m:rPr>
                                <m:sty m:val="p"/>
                              </m:rPr>
                              <a:rPr lang="en-US" sz="2400" b="0" i="0" smtClean="0">
                                <a:latin typeface="Cambria Math" panose="02040503050406030204" pitchFamily="18" charset="0"/>
                                <a:cs typeface="Times New Roman" panose="02020603050405020304" pitchFamily="18" charset="0"/>
                              </a:rPr>
                              <m:t>s</m:t>
                            </m:r>
                            <m:r>
                              <a:rPr lang="en-US" sz="2400" b="0" i="0" smtClean="0">
                                <a:latin typeface="Cambria Math" panose="02040503050406030204" pitchFamily="18" charset="0"/>
                                <a:cs typeface="Times New Roman" panose="02020603050405020304" pitchFamily="18" charset="0"/>
                              </a:rPr>
                              <m:t> + 1)</m:t>
                            </m:r>
                          </m:e>
                          <m:sup>
                            <m:r>
                              <a:rPr lang="en-US" sz="2400" b="0" i="0" smtClean="0">
                                <a:latin typeface="Cambria Math" panose="02040503050406030204" pitchFamily="18" charset="0"/>
                                <a:cs typeface="Times New Roman" panose="02020603050405020304" pitchFamily="18" charset="0"/>
                              </a:rPr>
                              <m:t>3</m:t>
                            </m:r>
                          </m:sup>
                        </m:sSup>
                      </m:den>
                    </m:f>
                  </m:oMath>
                </a14:m>
                <a:endParaRPr lang="en-IN" sz="2200" dirty="0">
                  <a:latin typeface="Times New Roman" panose="02020603050405020304" pitchFamily="18" charset="0"/>
                  <a:cs typeface="Times New Roman" panose="02020603050405020304" pitchFamily="18" charset="0"/>
                </a:endParaRPr>
              </a:p>
              <a:p>
                <a:pPr>
                  <a:lnSpc>
                    <a:spcPct val="150000"/>
                  </a:lnSpc>
                </a:pPr>
                <a:r>
                  <a:rPr lang="en-IN" sz="2200" dirty="0">
                    <a:latin typeface="Times New Roman" panose="02020603050405020304" pitchFamily="18" charset="0"/>
                    <a:cs typeface="Times New Roman" panose="02020603050405020304" pitchFamily="18" charset="0"/>
                  </a:rPr>
                  <a:t>Solution: The F(s) can be expressed as</a:t>
                </a:r>
              </a:p>
              <a:p>
                <a:pPr>
                  <a:lnSpc>
                    <a:spcPct val="150000"/>
                  </a:lnSpc>
                </a:pPr>
                <a:r>
                  <a:rPr lang="en-IN" sz="2200" dirty="0">
                    <a:latin typeface="Times New Roman" panose="02020603050405020304" pitchFamily="18" charset="0"/>
                    <a:cs typeface="Times New Roman" panose="02020603050405020304" pitchFamily="18" charset="0"/>
                  </a:rPr>
                  <a:t>F(s) = </a:t>
                </a:r>
                <a14:m>
                  <m:oMath xmlns:m="http://schemas.openxmlformats.org/officeDocument/2006/math">
                    <m:f>
                      <m:fPr>
                        <m:ctrlPr>
                          <a:rPr lang="en-IN" sz="2400" i="1" smtClean="0">
                            <a:latin typeface="Cambria Math" panose="02040503050406030204" pitchFamily="18" charset="0"/>
                            <a:cs typeface="Times New Roman" panose="02020603050405020304" pitchFamily="18" charset="0"/>
                          </a:rPr>
                        </m:ctrlPr>
                      </m:fPr>
                      <m:num>
                        <m:sSub>
                          <m:sSubPr>
                            <m:ctrlPr>
                              <a:rPr lang="en-IN" sz="2400" i="1" smtClean="0">
                                <a:latin typeface="Cambria Math" panose="02040503050406030204" pitchFamily="18" charset="0"/>
                                <a:cs typeface="Times New Roman" panose="02020603050405020304" pitchFamily="18" charset="0"/>
                              </a:rPr>
                            </m:ctrlPr>
                          </m:sSubPr>
                          <m:e>
                            <m:r>
                              <m:rPr>
                                <m:sty m:val="p"/>
                              </m:rPr>
                              <a:rPr lang="en-US" sz="2400" b="0" i="1" smtClean="0">
                                <a:latin typeface="Cambria Math" panose="02040503050406030204" pitchFamily="18" charset="0"/>
                                <a:cs typeface="Times New Roman" panose="02020603050405020304" pitchFamily="18" charset="0"/>
                              </a:rPr>
                              <m:t>K</m:t>
                            </m:r>
                          </m:e>
                          <m:sub>
                            <m:r>
                              <a:rPr lang="en-US" sz="2400" b="0" i="1" smtClean="0">
                                <a:latin typeface="Cambria Math" panose="02040503050406030204" pitchFamily="18" charset="0"/>
                                <a:cs typeface="Times New Roman" panose="02020603050405020304" pitchFamily="18" charset="0"/>
                              </a:rPr>
                              <m:t>0</m:t>
                            </m:r>
                          </m:sub>
                        </m:sSub>
                      </m:num>
                      <m:den>
                        <m:sSup>
                          <m:sSupPr>
                            <m:ctrlPr>
                              <a:rPr lang="en-IN" sz="2400" i="1" smtClean="0">
                                <a:latin typeface="Cambria Math" panose="02040503050406030204" pitchFamily="18" charset="0"/>
                                <a:cs typeface="Times New Roman" panose="02020603050405020304" pitchFamily="18" charset="0"/>
                              </a:rPr>
                            </m:ctrlPr>
                          </m:sSupPr>
                          <m:e>
                            <m:r>
                              <a:rPr lang="en-US" sz="2400" b="0" i="1" smtClean="0">
                                <a:latin typeface="Cambria Math" panose="02040503050406030204" pitchFamily="18" charset="0"/>
                                <a:cs typeface="Times New Roman" panose="02020603050405020304" pitchFamily="18" charset="0"/>
                              </a:rPr>
                              <m:t>(</m:t>
                            </m:r>
                            <m:r>
                              <m:rPr>
                                <m:sty m:val="p"/>
                              </m:rPr>
                              <a:rPr lang="en-US" sz="2400" b="0" i="1" smtClean="0">
                                <a:latin typeface="Cambria Math" panose="02040503050406030204" pitchFamily="18" charset="0"/>
                                <a:cs typeface="Times New Roman" panose="02020603050405020304" pitchFamily="18" charset="0"/>
                              </a:rPr>
                              <m:t>s</m:t>
                            </m:r>
                            <m:r>
                              <a:rPr lang="en-US" sz="2400" b="0" i="1" smtClean="0">
                                <a:latin typeface="Cambria Math" panose="02040503050406030204" pitchFamily="18" charset="0"/>
                                <a:cs typeface="Times New Roman" panose="02020603050405020304" pitchFamily="18" charset="0"/>
                              </a:rPr>
                              <m:t> + 1)</m:t>
                            </m:r>
                          </m:e>
                          <m:sup>
                            <m:r>
                              <a:rPr lang="en-US" sz="2400" b="0" i="1" smtClean="0">
                                <a:latin typeface="Cambria Math" panose="02040503050406030204" pitchFamily="18" charset="0"/>
                                <a:cs typeface="Times New Roman" panose="02020603050405020304" pitchFamily="18" charset="0"/>
                              </a:rPr>
                              <m:t>3</m:t>
                            </m:r>
                          </m:sup>
                        </m:sSup>
                      </m:den>
                    </m:f>
                  </m:oMath>
                </a14:m>
                <a:r>
                  <a:rPr lang="en-IN" sz="2400" dirty="0">
                    <a:latin typeface="Times New Roman" panose="02020603050405020304" pitchFamily="18" charset="0"/>
                    <a:cs typeface="Times New Roman" panose="02020603050405020304" pitchFamily="18" charset="0"/>
                  </a:rPr>
                  <a:t> + </a:t>
                </a:r>
                <a14:m>
                  <m:oMath xmlns:m="http://schemas.openxmlformats.org/officeDocument/2006/math">
                    <m:f>
                      <m:fPr>
                        <m:ctrlPr>
                          <a:rPr lang="en-IN" sz="2400" i="1" smtClean="0">
                            <a:latin typeface="Cambria Math" panose="02040503050406030204" pitchFamily="18" charset="0"/>
                            <a:cs typeface="Times New Roman" panose="02020603050405020304" pitchFamily="18" charset="0"/>
                          </a:rPr>
                        </m:ctrlPr>
                      </m:fPr>
                      <m:num>
                        <m:sSub>
                          <m:sSubPr>
                            <m:ctrlPr>
                              <a:rPr lang="en-IN" sz="2400" i="1" smtClean="0">
                                <a:latin typeface="Cambria Math" panose="02040503050406030204" pitchFamily="18" charset="0"/>
                                <a:cs typeface="Times New Roman" panose="02020603050405020304" pitchFamily="18" charset="0"/>
                              </a:rPr>
                            </m:ctrlPr>
                          </m:sSubPr>
                          <m:e>
                            <m:r>
                              <m:rPr>
                                <m:sty m:val="p"/>
                              </m:rPr>
                              <a:rPr lang="en-US" sz="2400" b="0" i="1" smtClean="0">
                                <a:latin typeface="Cambria Math" panose="02040503050406030204" pitchFamily="18" charset="0"/>
                                <a:cs typeface="Times New Roman" panose="02020603050405020304" pitchFamily="18" charset="0"/>
                              </a:rPr>
                              <m:t>K</m:t>
                            </m:r>
                          </m:e>
                          <m:sub>
                            <m:r>
                              <a:rPr lang="en-US" sz="2400" b="0" i="1" smtClean="0">
                                <a:latin typeface="Cambria Math" panose="02040503050406030204" pitchFamily="18" charset="0"/>
                                <a:cs typeface="Times New Roman" panose="02020603050405020304" pitchFamily="18" charset="0"/>
                              </a:rPr>
                              <m:t>1</m:t>
                            </m:r>
                          </m:sub>
                        </m:sSub>
                      </m:num>
                      <m:den>
                        <m:sSup>
                          <m:sSupPr>
                            <m:ctrlPr>
                              <a:rPr lang="en-IN" sz="2400" i="1" smtClean="0">
                                <a:latin typeface="Cambria Math" panose="02040503050406030204" pitchFamily="18" charset="0"/>
                                <a:cs typeface="Times New Roman" panose="02020603050405020304" pitchFamily="18" charset="0"/>
                              </a:rPr>
                            </m:ctrlPr>
                          </m:sSupPr>
                          <m:e>
                            <m:r>
                              <a:rPr lang="en-US" sz="2400" b="0" i="1" smtClean="0">
                                <a:latin typeface="Cambria Math" panose="02040503050406030204" pitchFamily="18" charset="0"/>
                                <a:cs typeface="Times New Roman" panose="02020603050405020304" pitchFamily="18" charset="0"/>
                              </a:rPr>
                              <m:t>(</m:t>
                            </m:r>
                            <m:r>
                              <m:rPr>
                                <m:sty m:val="p"/>
                              </m:rPr>
                              <a:rPr lang="en-US" sz="2400" b="0" i="1" smtClean="0">
                                <a:latin typeface="Cambria Math" panose="02040503050406030204" pitchFamily="18" charset="0"/>
                                <a:cs typeface="Times New Roman" panose="02020603050405020304" pitchFamily="18" charset="0"/>
                              </a:rPr>
                              <m:t>s</m:t>
                            </m:r>
                            <m:r>
                              <a:rPr lang="en-US" sz="2400" b="0" i="1" smtClean="0">
                                <a:latin typeface="Cambria Math" panose="02040503050406030204" pitchFamily="18" charset="0"/>
                                <a:cs typeface="Times New Roman" panose="02020603050405020304" pitchFamily="18" charset="0"/>
                              </a:rPr>
                              <m:t> + 1)</m:t>
                            </m:r>
                          </m:e>
                          <m:sup>
                            <m:r>
                              <a:rPr lang="en-US" sz="2400" b="0" i="1" smtClean="0">
                                <a:latin typeface="Cambria Math" panose="02040503050406030204" pitchFamily="18" charset="0"/>
                                <a:cs typeface="Times New Roman" panose="02020603050405020304" pitchFamily="18" charset="0"/>
                              </a:rPr>
                              <m:t>2</m:t>
                            </m:r>
                          </m:sup>
                        </m:sSup>
                      </m:den>
                    </m:f>
                  </m:oMath>
                </a14:m>
                <a:r>
                  <a:rPr lang="en-IN" sz="2400" dirty="0">
                    <a:latin typeface="Times New Roman" panose="02020603050405020304" pitchFamily="18" charset="0"/>
                    <a:cs typeface="Times New Roman" panose="02020603050405020304" pitchFamily="18" charset="0"/>
                  </a:rPr>
                  <a:t> + </a:t>
                </a:r>
                <a14:m>
                  <m:oMath xmlns:m="http://schemas.openxmlformats.org/officeDocument/2006/math">
                    <m:f>
                      <m:fPr>
                        <m:ctrlPr>
                          <a:rPr lang="en-IN" sz="2400" i="1" smtClean="0">
                            <a:latin typeface="Cambria Math" panose="02040503050406030204" pitchFamily="18" charset="0"/>
                            <a:cs typeface="Times New Roman" panose="02020603050405020304" pitchFamily="18" charset="0"/>
                          </a:rPr>
                        </m:ctrlPr>
                      </m:fPr>
                      <m:num>
                        <m:sSub>
                          <m:sSubPr>
                            <m:ctrlPr>
                              <a:rPr lang="en-IN" sz="2400" i="1" smtClean="0">
                                <a:latin typeface="Cambria Math" panose="02040503050406030204" pitchFamily="18" charset="0"/>
                                <a:cs typeface="Times New Roman" panose="02020603050405020304" pitchFamily="18" charset="0"/>
                              </a:rPr>
                            </m:ctrlPr>
                          </m:sSubPr>
                          <m:e>
                            <m:r>
                              <m:rPr>
                                <m:sty m:val="p"/>
                              </m:rPr>
                              <a:rPr lang="en-US" sz="2400" b="0" i="1" smtClean="0">
                                <a:latin typeface="Cambria Math" panose="02040503050406030204" pitchFamily="18" charset="0"/>
                                <a:cs typeface="Times New Roman" panose="02020603050405020304" pitchFamily="18" charset="0"/>
                              </a:rPr>
                              <m:t>K</m:t>
                            </m:r>
                          </m:e>
                          <m:sub>
                            <m:r>
                              <a:rPr lang="en-US" sz="2400" b="0" i="1" smtClean="0">
                                <a:latin typeface="Cambria Math" panose="02040503050406030204" pitchFamily="18" charset="0"/>
                                <a:cs typeface="Times New Roman" panose="02020603050405020304" pitchFamily="18" charset="0"/>
                              </a:rPr>
                              <m:t>2</m:t>
                            </m:r>
                          </m:sub>
                        </m:sSub>
                      </m:num>
                      <m:den>
                        <m:r>
                          <a:rPr lang="en-US" sz="2400" b="0" i="1" smtClean="0">
                            <a:latin typeface="Cambria Math" panose="02040503050406030204" pitchFamily="18" charset="0"/>
                            <a:cs typeface="Times New Roman" panose="02020603050405020304" pitchFamily="18" charset="0"/>
                          </a:rPr>
                          <m:t>(</m:t>
                        </m:r>
                        <m:r>
                          <m:rPr>
                            <m:sty m:val="p"/>
                          </m:rPr>
                          <a:rPr lang="en-US" sz="2400" b="0" i="1" smtClean="0">
                            <a:latin typeface="Cambria Math" panose="02040503050406030204" pitchFamily="18" charset="0"/>
                            <a:cs typeface="Times New Roman" panose="02020603050405020304" pitchFamily="18" charset="0"/>
                          </a:rPr>
                          <m:t>s</m:t>
                        </m:r>
                        <m:r>
                          <a:rPr lang="en-US" sz="2400" b="0" i="1" smtClean="0">
                            <a:latin typeface="Cambria Math" panose="02040503050406030204" pitchFamily="18" charset="0"/>
                            <a:cs typeface="Times New Roman" panose="02020603050405020304" pitchFamily="18" charset="0"/>
                          </a:rPr>
                          <m:t> + 1)</m:t>
                        </m:r>
                      </m:den>
                    </m:f>
                  </m:oMath>
                </a14:m>
                <a:r>
                  <a:rPr lang="en-IN" sz="2400" dirty="0">
                    <a:latin typeface="Times New Roman" panose="02020603050405020304" pitchFamily="18" charset="0"/>
                    <a:cs typeface="Times New Roman" panose="02020603050405020304" pitchFamily="18" charset="0"/>
                  </a:rPr>
                  <a:t> + </a:t>
                </a:r>
                <a14:m>
                  <m:oMath xmlns:m="http://schemas.openxmlformats.org/officeDocument/2006/math">
                    <m:f>
                      <m:fPr>
                        <m:ctrlPr>
                          <a:rPr lang="en-IN" sz="2400" i="1" smtClean="0">
                            <a:latin typeface="Cambria Math" panose="02040503050406030204" pitchFamily="18" charset="0"/>
                            <a:cs typeface="Times New Roman" panose="02020603050405020304" pitchFamily="18" charset="0"/>
                          </a:rPr>
                        </m:ctrlPr>
                      </m:fPr>
                      <m:num>
                        <m:sSub>
                          <m:sSubPr>
                            <m:ctrlPr>
                              <a:rPr lang="en-IN" sz="2400" i="1" smtClean="0">
                                <a:latin typeface="Cambria Math" panose="02040503050406030204" pitchFamily="18" charset="0"/>
                                <a:cs typeface="Times New Roman" panose="02020603050405020304" pitchFamily="18" charset="0"/>
                              </a:rPr>
                            </m:ctrlPr>
                          </m:sSubPr>
                          <m:e>
                            <m:r>
                              <m:rPr>
                                <m:sty m:val="p"/>
                              </m:rPr>
                              <a:rPr lang="en-US" sz="2400" b="0" i="1" smtClean="0">
                                <a:latin typeface="Cambria Math" panose="02040503050406030204" pitchFamily="18" charset="0"/>
                                <a:cs typeface="Times New Roman" panose="02020603050405020304" pitchFamily="18" charset="0"/>
                              </a:rPr>
                              <m:t>K</m:t>
                            </m:r>
                          </m:e>
                          <m:sub>
                            <m:r>
                              <a:rPr lang="en-US" sz="2400" b="0" i="1" smtClean="0">
                                <a:latin typeface="Cambria Math" panose="02040503050406030204" pitchFamily="18" charset="0"/>
                                <a:cs typeface="Times New Roman" panose="02020603050405020304" pitchFamily="18" charset="0"/>
                              </a:rPr>
                              <m:t>3</m:t>
                            </m:r>
                          </m:sub>
                        </m:sSub>
                      </m:num>
                      <m:den>
                        <m:r>
                          <m:rPr>
                            <m:sty m:val="p"/>
                          </m:rPr>
                          <a:rPr lang="en-US" sz="2400" b="0" i="1" smtClean="0">
                            <a:latin typeface="Cambria Math" panose="02040503050406030204" pitchFamily="18" charset="0"/>
                            <a:cs typeface="Times New Roman" panose="02020603050405020304" pitchFamily="18" charset="0"/>
                          </a:rPr>
                          <m:t>s</m:t>
                        </m:r>
                      </m:den>
                    </m:f>
                  </m:oMath>
                </a14:m>
                <a:endParaRPr lang="en-IN" sz="2200" dirty="0">
                  <a:latin typeface="Times New Roman" panose="02020603050405020304" pitchFamily="18" charset="0"/>
                  <a:cs typeface="Times New Roman" panose="02020603050405020304" pitchFamily="18" charset="0"/>
                </a:endParaRPr>
              </a:p>
              <a:p>
                <a:pPr>
                  <a:lnSpc>
                    <a:spcPct val="150000"/>
                  </a:lnSpc>
                </a:pPr>
                <a:r>
                  <a:rPr lang="en-IN" sz="2200" dirty="0">
                    <a:latin typeface="Times New Roman" panose="02020603050405020304" pitchFamily="18" charset="0"/>
                    <a:cs typeface="Times New Roman" panose="02020603050405020304" pitchFamily="18" charset="0"/>
                  </a:rPr>
                  <a:t>L.C.M of right hand side</a:t>
                </a:r>
              </a:p>
              <a:p>
                <a:pPr>
                  <a:lnSpc>
                    <a:spcPct val="150000"/>
                  </a:lnSpc>
                </a:pPr>
                <a14:m>
                  <m:oMath xmlns:m="http://schemas.openxmlformats.org/officeDocument/2006/math">
                    <m:f>
                      <m:fPr>
                        <m:ctrlPr>
                          <a:rPr lang="en-IN" sz="2400" i="1" smtClean="0">
                            <a:latin typeface="Cambria Math" panose="02040503050406030204" pitchFamily="18" charset="0"/>
                            <a:cs typeface="Times New Roman" panose="02020603050405020304" pitchFamily="18" charset="0"/>
                          </a:rPr>
                        </m:ctrlPr>
                      </m:fPr>
                      <m:num>
                        <m:r>
                          <a:rPr lang="en-US" sz="2400" b="0" i="0" smtClean="0">
                            <a:latin typeface="Cambria Math" panose="02040503050406030204" pitchFamily="18" charset="0"/>
                            <a:cs typeface="Times New Roman" panose="02020603050405020304" pitchFamily="18" charset="0"/>
                          </a:rPr>
                          <m:t>(</m:t>
                        </m:r>
                        <m:r>
                          <m:rPr>
                            <m:sty m:val="p"/>
                          </m:rPr>
                          <a:rPr lang="en-US" sz="2400" b="0" i="0" smtClean="0">
                            <a:latin typeface="Cambria Math" panose="02040503050406030204" pitchFamily="18" charset="0"/>
                            <a:cs typeface="Times New Roman" panose="02020603050405020304" pitchFamily="18" charset="0"/>
                          </a:rPr>
                          <m:t>s</m:t>
                        </m:r>
                        <m:r>
                          <a:rPr lang="en-US" sz="2400" b="0" i="0" smtClean="0">
                            <a:latin typeface="Cambria Math" panose="02040503050406030204" pitchFamily="18" charset="0"/>
                            <a:cs typeface="Times New Roman" panose="02020603050405020304" pitchFamily="18" charset="0"/>
                          </a:rPr>
                          <m:t> − 2)</m:t>
                        </m:r>
                      </m:num>
                      <m:den>
                        <m:r>
                          <m:rPr>
                            <m:sty m:val="p"/>
                          </m:rPr>
                          <a:rPr lang="en-US" sz="2400" b="0" i="0" smtClean="0">
                            <a:latin typeface="Cambria Math" panose="02040503050406030204" pitchFamily="18" charset="0"/>
                            <a:cs typeface="Times New Roman" panose="02020603050405020304" pitchFamily="18" charset="0"/>
                          </a:rPr>
                          <m:t>s</m:t>
                        </m:r>
                        <m:sSup>
                          <m:sSupPr>
                            <m:ctrlPr>
                              <a:rPr lang="en-US" sz="2400" b="0" i="1" smtClean="0">
                                <a:latin typeface="Cambria Math" panose="02040503050406030204" pitchFamily="18" charset="0"/>
                                <a:cs typeface="Times New Roman" panose="02020603050405020304" pitchFamily="18" charset="0"/>
                              </a:rPr>
                            </m:ctrlPr>
                          </m:sSupPr>
                          <m:e>
                            <m:r>
                              <a:rPr lang="en-US" sz="2400" b="0" i="1" smtClean="0">
                                <a:latin typeface="Cambria Math" panose="02040503050406030204" pitchFamily="18" charset="0"/>
                                <a:cs typeface="Times New Roman" panose="02020603050405020304" pitchFamily="18" charset="0"/>
                              </a:rPr>
                              <m:t>(</m:t>
                            </m:r>
                            <m:r>
                              <m:rPr>
                                <m:sty m:val="p"/>
                              </m:rPr>
                              <a:rPr lang="en-US" sz="2400" b="0" i="1" smtClean="0">
                                <a:latin typeface="Cambria Math" panose="02040503050406030204" pitchFamily="18" charset="0"/>
                                <a:cs typeface="Times New Roman" panose="02020603050405020304" pitchFamily="18" charset="0"/>
                              </a:rPr>
                              <m:t>s</m:t>
                            </m:r>
                            <m:r>
                              <a:rPr lang="en-US" sz="2400" b="0" i="1" smtClean="0">
                                <a:latin typeface="Cambria Math" panose="02040503050406030204" pitchFamily="18" charset="0"/>
                                <a:cs typeface="Times New Roman" panose="02020603050405020304" pitchFamily="18" charset="0"/>
                              </a:rPr>
                              <m:t>+1)</m:t>
                            </m:r>
                          </m:e>
                          <m:sup>
                            <m:r>
                              <a:rPr lang="en-US" sz="2400" b="0" i="1" smtClean="0">
                                <a:latin typeface="Cambria Math" panose="02040503050406030204" pitchFamily="18" charset="0"/>
                                <a:cs typeface="Times New Roman" panose="02020603050405020304" pitchFamily="18" charset="0"/>
                              </a:rPr>
                              <m:t>3</m:t>
                            </m:r>
                          </m:sup>
                        </m:sSup>
                        <m:r>
                          <a:rPr lang="en-US" sz="2400" b="0" i="0" smtClean="0">
                            <a:latin typeface="Cambria Math" panose="02040503050406030204" pitchFamily="18" charset="0"/>
                            <a:cs typeface="Times New Roman" panose="02020603050405020304" pitchFamily="18" charset="0"/>
                          </a:rPr>
                          <m:t> </m:t>
                        </m:r>
                      </m:den>
                    </m:f>
                  </m:oMath>
                </a14:m>
                <a:r>
                  <a:rPr lang="en-IN" sz="2400" dirty="0">
                    <a:latin typeface="Times New Roman" panose="02020603050405020304" pitchFamily="18" charset="0"/>
                    <a:cs typeface="Times New Roman" panose="02020603050405020304" pitchFamily="18" charset="0"/>
                  </a:rPr>
                  <a:t> = </a:t>
                </a:r>
                <a14:m>
                  <m:oMath xmlns:m="http://schemas.openxmlformats.org/officeDocument/2006/math">
                    <m:f>
                      <m:fPr>
                        <m:ctrlPr>
                          <a:rPr lang="en-IN" sz="2400" i="1" smtClean="0">
                            <a:latin typeface="Cambria Math" panose="02040503050406030204" pitchFamily="18" charset="0"/>
                            <a:cs typeface="Times New Roman" panose="02020603050405020304" pitchFamily="18" charset="0"/>
                          </a:rPr>
                        </m:ctrlPr>
                      </m:fPr>
                      <m:num>
                        <m:sSub>
                          <m:sSubPr>
                            <m:ctrlPr>
                              <a:rPr lang="en-IN" sz="2400" i="1" smtClean="0">
                                <a:latin typeface="Cambria Math" panose="02040503050406030204" pitchFamily="18" charset="0"/>
                                <a:cs typeface="Times New Roman" panose="02020603050405020304" pitchFamily="18" charset="0"/>
                              </a:rPr>
                            </m:ctrlPr>
                          </m:sSubPr>
                          <m:e>
                            <m:r>
                              <m:rPr>
                                <m:sty m:val="p"/>
                              </m:rPr>
                              <a:rPr lang="en-US" sz="2400" b="0" i="1" smtClean="0">
                                <a:latin typeface="Cambria Math" panose="02040503050406030204" pitchFamily="18" charset="0"/>
                                <a:cs typeface="Times New Roman" panose="02020603050405020304" pitchFamily="18" charset="0"/>
                              </a:rPr>
                              <m:t>K</m:t>
                            </m:r>
                          </m:e>
                          <m:sub>
                            <m:r>
                              <a:rPr lang="en-US" sz="2400" b="0" i="1" smtClean="0">
                                <a:latin typeface="Cambria Math" panose="02040503050406030204" pitchFamily="18" charset="0"/>
                                <a:cs typeface="Times New Roman" panose="02020603050405020304" pitchFamily="18" charset="0"/>
                              </a:rPr>
                              <m:t>0</m:t>
                            </m:r>
                          </m:sub>
                        </m:sSub>
                        <m:r>
                          <a:rPr lang="en-US" sz="2400" b="0" i="1" smtClean="0">
                            <a:latin typeface="Cambria Math" panose="02040503050406030204" pitchFamily="18" charset="0"/>
                            <a:cs typeface="Times New Roman" panose="02020603050405020304" pitchFamily="18" charset="0"/>
                          </a:rPr>
                          <m:t> (</m:t>
                        </m:r>
                        <m:r>
                          <m:rPr>
                            <m:sty m:val="p"/>
                          </m:rPr>
                          <a:rPr lang="en-US" sz="2400" b="0" i="1" smtClean="0">
                            <a:latin typeface="Cambria Math" panose="02040503050406030204" pitchFamily="18" charset="0"/>
                            <a:cs typeface="Times New Roman" panose="02020603050405020304" pitchFamily="18" charset="0"/>
                          </a:rPr>
                          <m:t>s</m:t>
                        </m:r>
                        <m:r>
                          <a:rPr lang="en-US" sz="2400" b="0" i="1" smtClean="0">
                            <a:latin typeface="Cambria Math" panose="02040503050406030204" pitchFamily="18" charset="0"/>
                            <a:cs typeface="Times New Roman" panose="02020603050405020304" pitchFamily="18" charset="0"/>
                          </a:rPr>
                          <m:t>) + </m:t>
                        </m:r>
                        <m:sSub>
                          <m:sSubPr>
                            <m:ctrlPr>
                              <a:rPr lang="en-IN" sz="2400" b="0" i="1" smtClean="0">
                                <a:latin typeface="Cambria Math" panose="02040503050406030204" pitchFamily="18" charset="0"/>
                                <a:cs typeface="Times New Roman" panose="02020603050405020304" pitchFamily="18" charset="0"/>
                              </a:rPr>
                            </m:ctrlPr>
                          </m:sSubPr>
                          <m:e>
                            <m:r>
                              <m:rPr>
                                <m:sty m:val="p"/>
                              </m:rPr>
                              <a:rPr lang="en-US" sz="2400" b="0" i="1" smtClean="0">
                                <a:latin typeface="Cambria Math" panose="02040503050406030204" pitchFamily="18" charset="0"/>
                                <a:cs typeface="Times New Roman" panose="02020603050405020304" pitchFamily="18" charset="0"/>
                              </a:rPr>
                              <m:t>K</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m:t>
                        </m:r>
                        <m:r>
                          <m:rPr>
                            <m:sty m:val="p"/>
                          </m:rPr>
                          <a:rPr lang="en-US" sz="2400" b="0" i="1" smtClean="0">
                            <a:latin typeface="Cambria Math" panose="02040503050406030204" pitchFamily="18" charset="0"/>
                            <a:cs typeface="Times New Roman" panose="02020603050405020304" pitchFamily="18" charset="0"/>
                          </a:rPr>
                          <m:t>s</m:t>
                        </m:r>
                        <m:r>
                          <a:rPr lang="en-US" sz="2400" b="0" i="1" smtClean="0">
                            <a:latin typeface="Cambria Math" panose="02040503050406030204" pitchFamily="18" charset="0"/>
                            <a:cs typeface="Times New Roman" panose="02020603050405020304" pitchFamily="18" charset="0"/>
                          </a:rPr>
                          <m:t>+1) </m:t>
                        </m:r>
                        <m:r>
                          <m:rPr>
                            <m:sty m:val="p"/>
                          </m:rPr>
                          <a:rPr lang="en-US" sz="2400" b="0" i="1" smtClean="0">
                            <a:latin typeface="Cambria Math" panose="02040503050406030204" pitchFamily="18" charset="0"/>
                            <a:cs typeface="Times New Roman" panose="02020603050405020304" pitchFamily="18" charset="0"/>
                          </a:rPr>
                          <m:t>s</m:t>
                        </m:r>
                        <m:r>
                          <a:rPr lang="en-US" sz="2400" b="0" i="1" smtClean="0">
                            <a:latin typeface="Cambria Math" panose="02040503050406030204" pitchFamily="18" charset="0"/>
                            <a:cs typeface="Times New Roman" panose="02020603050405020304" pitchFamily="18" charset="0"/>
                          </a:rPr>
                          <m:t> + </m:t>
                        </m:r>
                        <m:sSub>
                          <m:sSubPr>
                            <m:ctrlPr>
                              <a:rPr lang="en-IN" sz="2400" b="0" i="1" smtClean="0">
                                <a:latin typeface="Cambria Math" panose="02040503050406030204" pitchFamily="18" charset="0"/>
                                <a:cs typeface="Times New Roman" panose="02020603050405020304" pitchFamily="18" charset="0"/>
                              </a:rPr>
                            </m:ctrlPr>
                          </m:sSubPr>
                          <m:e>
                            <m:r>
                              <m:rPr>
                                <m:sty m:val="p"/>
                              </m:rPr>
                              <a:rPr lang="en-US" sz="2400" b="0" i="1" smtClean="0">
                                <a:latin typeface="Cambria Math" panose="02040503050406030204" pitchFamily="18" charset="0"/>
                                <a:cs typeface="Times New Roman" panose="02020603050405020304" pitchFamily="18" charset="0"/>
                              </a:rPr>
                              <m:t>K</m:t>
                            </m:r>
                          </m:e>
                          <m:sub>
                            <m:r>
                              <a:rPr lang="en-US" sz="2400" b="0" i="1" smtClean="0">
                                <a:latin typeface="Cambria Math" panose="02040503050406030204" pitchFamily="18" charset="0"/>
                                <a:cs typeface="Times New Roman" panose="02020603050405020304" pitchFamily="18" charset="0"/>
                              </a:rPr>
                              <m:t>2</m:t>
                            </m:r>
                          </m:sub>
                        </m:sSub>
                        <m:sSup>
                          <m:sSupPr>
                            <m:ctrlPr>
                              <a:rPr lang="en-IN" sz="2400" b="0" i="1" smtClean="0">
                                <a:latin typeface="Cambria Math" panose="02040503050406030204" pitchFamily="18" charset="0"/>
                                <a:cs typeface="Times New Roman" panose="02020603050405020304" pitchFamily="18" charset="0"/>
                              </a:rPr>
                            </m:ctrlPr>
                          </m:sSupPr>
                          <m:e>
                            <m:r>
                              <a:rPr lang="en-US" sz="2400" b="0" i="1" smtClean="0">
                                <a:latin typeface="Cambria Math" panose="02040503050406030204" pitchFamily="18" charset="0"/>
                                <a:cs typeface="Times New Roman" panose="02020603050405020304" pitchFamily="18" charset="0"/>
                              </a:rPr>
                              <m:t>(</m:t>
                            </m:r>
                            <m:r>
                              <m:rPr>
                                <m:sty m:val="p"/>
                              </m:rPr>
                              <a:rPr lang="en-US" sz="2400" b="0" i="1" smtClean="0">
                                <a:latin typeface="Cambria Math" panose="02040503050406030204" pitchFamily="18" charset="0"/>
                                <a:cs typeface="Times New Roman" panose="02020603050405020304" pitchFamily="18" charset="0"/>
                              </a:rPr>
                              <m:t>s</m:t>
                            </m:r>
                            <m:r>
                              <a:rPr lang="en-US" sz="2400" b="0" i="1" smtClean="0">
                                <a:latin typeface="Cambria Math" panose="02040503050406030204" pitchFamily="18" charset="0"/>
                                <a:cs typeface="Times New Roman" panose="02020603050405020304" pitchFamily="18" charset="0"/>
                              </a:rPr>
                              <m:t>+1)</m:t>
                            </m:r>
                          </m:e>
                          <m:sup>
                            <m:r>
                              <a:rPr lang="en-US" sz="2400" b="0" i="1" smtClean="0">
                                <a:latin typeface="Cambria Math" panose="02040503050406030204" pitchFamily="18" charset="0"/>
                                <a:cs typeface="Times New Roman" panose="02020603050405020304" pitchFamily="18" charset="0"/>
                              </a:rPr>
                              <m:t>2</m:t>
                            </m:r>
                          </m:sup>
                        </m:sSup>
                        <m:r>
                          <m:rPr>
                            <m:sty m:val="p"/>
                          </m:rPr>
                          <a:rPr lang="en-US" sz="2400" b="0" i="1" smtClean="0">
                            <a:latin typeface="Cambria Math" panose="02040503050406030204" pitchFamily="18" charset="0"/>
                            <a:cs typeface="Times New Roman" panose="02020603050405020304" pitchFamily="18" charset="0"/>
                          </a:rPr>
                          <m:t>s</m:t>
                        </m:r>
                        <m:r>
                          <a:rPr lang="en-US" sz="2400" b="0" i="1" smtClean="0">
                            <a:latin typeface="Cambria Math" panose="02040503050406030204" pitchFamily="18" charset="0"/>
                            <a:cs typeface="Times New Roman" panose="02020603050405020304" pitchFamily="18" charset="0"/>
                          </a:rPr>
                          <m:t> + </m:t>
                        </m:r>
                        <m:sSub>
                          <m:sSubPr>
                            <m:ctrlPr>
                              <a:rPr lang="en-IN" sz="2400" b="0" i="1" smtClean="0">
                                <a:latin typeface="Cambria Math" panose="02040503050406030204" pitchFamily="18" charset="0"/>
                                <a:cs typeface="Times New Roman" panose="02020603050405020304" pitchFamily="18" charset="0"/>
                              </a:rPr>
                            </m:ctrlPr>
                          </m:sSubPr>
                          <m:e>
                            <m:r>
                              <m:rPr>
                                <m:sty m:val="p"/>
                              </m:rPr>
                              <a:rPr lang="en-US" sz="2400" b="0" i="1" smtClean="0">
                                <a:latin typeface="Cambria Math" panose="02040503050406030204" pitchFamily="18" charset="0"/>
                                <a:cs typeface="Times New Roman" panose="02020603050405020304" pitchFamily="18" charset="0"/>
                              </a:rPr>
                              <m:t>K</m:t>
                            </m:r>
                          </m:e>
                          <m:sub>
                            <m:r>
                              <a:rPr lang="en-US" sz="2400" b="0" i="1" smtClean="0">
                                <a:latin typeface="Cambria Math" panose="02040503050406030204" pitchFamily="18" charset="0"/>
                                <a:cs typeface="Times New Roman" panose="02020603050405020304" pitchFamily="18" charset="0"/>
                              </a:rPr>
                              <m:t>3</m:t>
                            </m:r>
                          </m:sub>
                        </m:sSub>
                        <m:sSup>
                          <m:sSupPr>
                            <m:ctrlPr>
                              <a:rPr lang="en-IN" sz="2400" b="0" i="1" smtClean="0">
                                <a:latin typeface="Cambria Math" panose="02040503050406030204" pitchFamily="18" charset="0"/>
                                <a:cs typeface="Times New Roman" panose="02020603050405020304" pitchFamily="18" charset="0"/>
                              </a:rPr>
                            </m:ctrlPr>
                          </m:sSupPr>
                          <m:e>
                            <m:r>
                              <a:rPr lang="en-US" sz="2400" b="0" i="1" smtClean="0">
                                <a:latin typeface="Cambria Math" panose="02040503050406030204" pitchFamily="18" charset="0"/>
                                <a:cs typeface="Times New Roman" panose="02020603050405020304" pitchFamily="18" charset="0"/>
                              </a:rPr>
                              <m:t>(</m:t>
                            </m:r>
                            <m:r>
                              <m:rPr>
                                <m:sty m:val="p"/>
                              </m:rPr>
                              <a:rPr lang="en-US" sz="2400" b="0" i="1" smtClean="0">
                                <a:latin typeface="Cambria Math" panose="02040503050406030204" pitchFamily="18" charset="0"/>
                                <a:cs typeface="Times New Roman" panose="02020603050405020304" pitchFamily="18" charset="0"/>
                              </a:rPr>
                              <m:t>s</m:t>
                            </m:r>
                            <m:r>
                              <a:rPr lang="en-US" sz="2400" b="0" i="1" smtClean="0">
                                <a:latin typeface="Cambria Math" panose="02040503050406030204" pitchFamily="18" charset="0"/>
                                <a:cs typeface="Times New Roman" panose="02020603050405020304" pitchFamily="18" charset="0"/>
                              </a:rPr>
                              <m:t>+1)</m:t>
                            </m:r>
                          </m:e>
                          <m:sup>
                            <m:r>
                              <a:rPr lang="en-US" sz="2400" b="0" i="1" smtClean="0">
                                <a:latin typeface="Cambria Math" panose="02040503050406030204" pitchFamily="18" charset="0"/>
                                <a:cs typeface="Times New Roman" panose="02020603050405020304" pitchFamily="18" charset="0"/>
                              </a:rPr>
                              <m:t>3</m:t>
                            </m:r>
                          </m:sup>
                        </m:sSup>
                      </m:num>
                      <m:den>
                        <m:r>
                          <m:rPr>
                            <m:sty m:val="p"/>
                          </m:rPr>
                          <a:rPr lang="en-US" sz="2400" b="0" i="1" smtClean="0">
                            <a:latin typeface="Cambria Math" panose="02040503050406030204" pitchFamily="18" charset="0"/>
                            <a:cs typeface="Times New Roman" panose="02020603050405020304" pitchFamily="18" charset="0"/>
                          </a:rPr>
                          <m:t>s</m:t>
                        </m:r>
                        <m:sSup>
                          <m:sSupPr>
                            <m:ctrlPr>
                              <a:rPr lang="en-IN" sz="2400" b="0" i="1" smtClean="0">
                                <a:latin typeface="Cambria Math" panose="02040503050406030204" pitchFamily="18" charset="0"/>
                                <a:cs typeface="Times New Roman" panose="02020603050405020304" pitchFamily="18" charset="0"/>
                              </a:rPr>
                            </m:ctrlPr>
                          </m:sSupPr>
                          <m:e>
                            <m:r>
                              <a:rPr lang="en-US" sz="2400" b="0" i="1" smtClean="0">
                                <a:latin typeface="Cambria Math" panose="02040503050406030204" pitchFamily="18" charset="0"/>
                                <a:cs typeface="Times New Roman" panose="02020603050405020304" pitchFamily="18" charset="0"/>
                              </a:rPr>
                              <m:t>(</m:t>
                            </m:r>
                            <m:r>
                              <m:rPr>
                                <m:sty m:val="p"/>
                              </m:rPr>
                              <a:rPr lang="en-US" sz="2400" b="0" i="1" smtClean="0">
                                <a:latin typeface="Cambria Math" panose="02040503050406030204" pitchFamily="18" charset="0"/>
                                <a:cs typeface="Times New Roman" panose="02020603050405020304" pitchFamily="18" charset="0"/>
                              </a:rPr>
                              <m:t>s</m:t>
                            </m:r>
                            <m:r>
                              <a:rPr lang="en-US" sz="2400" b="0" i="1" smtClean="0">
                                <a:latin typeface="Cambria Math" panose="02040503050406030204" pitchFamily="18" charset="0"/>
                                <a:cs typeface="Times New Roman" panose="02020603050405020304" pitchFamily="18" charset="0"/>
                              </a:rPr>
                              <m:t>+1)</m:t>
                            </m:r>
                          </m:e>
                          <m:sup>
                            <m:r>
                              <a:rPr lang="en-US" sz="2400" b="0" i="1" smtClean="0">
                                <a:latin typeface="Cambria Math" panose="02040503050406030204" pitchFamily="18" charset="0"/>
                                <a:cs typeface="Times New Roman" panose="02020603050405020304" pitchFamily="18" charset="0"/>
                              </a:rPr>
                              <m:t>3</m:t>
                            </m:r>
                          </m:sup>
                        </m:sSup>
                      </m:den>
                    </m:f>
                  </m:oMath>
                </a14:m>
                <a:endParaRPr lang="en-IN" sz="2200" dirty="0">
                  <a:latin typeface="Times New Roman" panose="02020603050405020304" pitchFamily="18" charset="0"/>
                  <a:cs typeface="Times New Roman" panose="02020603050405020304" pitchFamily="18" charset="0"/>
                </a:endParaRPr>
              </a:p>
              <a:p>
                <a:pPr>
                  <a:lnSpc>
                    <a:spcPct val="150000"/>
                  </a:lnSpc>
                </a:pPr>
                <a:r>
                  <a:rPr lang="en-IN" sz="2200" dirty="0">
                    <a:latin typeface="Times New Roman" panose="02020603050405020304" pitchFamily="18" charset="0"/>
                    <a:cs typeface="Times New Roman" panose="02020603050405020304" pitchFamily="18" charset="0"/>
                  </a:rPr>
                  <a:t>(s – 2) = </a:t>
                </a:r>
                <a14:m>
                  <m:oMath xmlns:m="http://schemas.openxmlformats.org/officeDocument/2006/math">
                    <m:sSub>
                      <m:sSubPr>
                        <m:ctrlPr>
                          <a:rPr lang="en-IN" sz="2200" i="1" smtClean="0">
                            <a:latin typeface="Cambria Math" panose="02040503050406030204" pitchFamily="18" charset="0"/>
                            <a:cs typeface="Times New Roman" panose="02020603050405020304" pitchFamily="18" charset="0"/>
                          </a:rPr>
                        </m:ctrlPr>
                      </m:sSubPr>
                      <m:e>
                        <m:r>
                          <m:rPr>
                            <m:sty m:val="p"/>
                          </m:rPr>
                          <a:rPr lang="en-US" sz="2200" b="0" i="1" smtClean="0">
                            <a:latin typeface="Cambria Math" panose="02040503050406030204" pitchFamily="18" charset="0"/>
                            <a:cs typeface="Times New Roman" panose="02020603050405020304" pitchFamily="18" charset="0"/>
                          </a:rPr>
                          <m:t>K</m:t>
                        </m:r>
                      </m:e>
                      <m:sub>
                        <m:r>
                          <a:rPr lang="en-US" sz="2200" b="0" i="1" smtClean="0">
                            <a:latin typeface="Cambria Math" panose="02040503050406030204" pitchFamily="18" charset="0"/>
                            <a:cs typeface="Times New Roman" panose="02020603050405020304" pitchFamily="18" charset="0"/>
                          </a:rPr>
                          <m:t>0</m:t>
                        </m:r>
                      </m:sub>
                    </m:sSub>
                  </m:oMath>
                </a14:m>
                <a:r>
                  <a:rPr lang="en-IN" sz="2200" dirty="0">
                    <a:latin typeface="Times New Roman" panose="02020603050405020304" pitchFamily="18" charset="0"/>
                    <a:cs typeface="Times New Roman" panose="02020603050405020304" pitchFamily="18" charset="0"/>
                  </a:rPr>
                  <a:t>s + </a:t>
                </a:r>
                <a14:m>
                  <m:oMath xmlns:m="http://schemas.openxmlformats.org/officeDocument/2006/math">
                    <m:sSub>
                      <m:sSubPr>
                        <m:ctrlPr>
                          <a:rPr lang="en-IN" sz="2200" i="1" smtClean="0">
                            <a:latin typeface="Cambria Math" panose="02040503050406030204" pitchFamily="18" charset="0"/>
                            <a:cs typeface="Times New Roman" panose="02020603050405020304" pitchFamily="18" charset="0"/>
                          </a:rPr>
                        </m:ctrlPr>
                      </m:sSubPr>
                      <m:e>
                        <m:r>
                          <m:rPr>
                            <m:sty m:val="p"/>
                          </m:rPr>
                          <a:rPr lang="en-US" sz="2200" b="0" i="1" smtClean="0">
                            <a:latin typeface="Cambria Math" panose="02040503050406030204" pitchFamily="18" charset="0"/>
                            <a:cs typeface="Times New Roman" panose="02020603050405020304" pitchFamily="18" charset="0"/>
                          </a:rPr>
                          <m:t>K</m:t>
                        </m:r>
                      </m:e>
                      <m:sub>
                        <m:r>
                          <a:rPr lang="en-US" sz="2200" b="0" i="1" smtClean="0">
                            <a:latin typeface="Cambria Math" panose="02040503050406030204" pitchFamily="18" charset="0"/>
                            <a:cs typeface="Times New Roman" panose="02020603050405020304" pitchFamily="18" charset="0"/>
                          </a:rPr>
                          <m:t>1</m:t>
                        </m:r>
                      </m:sub>
                    </m:sSub>
                    <m:sSup>
                      <m:sSupPr>
                        <m:ctrlPr>
                          <a:rPr lang="en-IN" sz="2200" i="1" smtClean="0">
                            <a:latin typeface="Cambria Math" panose="02040503050406030204" pitchFamily="18" charset="0"/>
                            <a:cs typeface="Times New Roman" panose="02020603050405020304" pitchFamily="18" charset="0"/>
                          </a:rPr>
                        </m:ctrlPr>
                      </m:sSupPr>
                      <m:e>
                        <m:r>
                          <m:rPr>
                            <m:sty m:val="p"/>
                          </m:rPr>
                          <a:rPr lang="en-US" sz="2200" b="0" i="1" smtClean="0">
                            <a:latin typeface="Cambria Math" panose="02040503050406030204" pitchFamily="18" charset="0"/>
                            <a:cs typeface="Times New Roman" panose="02020603050405020304" pitchFamily="18" charset="0"/>
                          </a:rPr>
                          <m:t>s</m:t>
                        </m:r>
                      </m:e>
                      <m:sup>
                        <m:r>
                          <a:rPr lang="en-US" sz="2200" b="0" i="1" smtClean="0">
                            <a:latin typeface="Cambria Math" panose="02040503050406030204" pitchFamily="18" charset="0"/>
                            <a:cs typeface="Times New Roman" panose="02020603050405020304" pitchFamily="18" charset="0"/>
                          </a:rPr>
                          <m:t>2</m:t>
                        </m:r>
                      </m:sup>
                    </m:sSup>
                    <m:r>
                      <a:rPr lang="en-US" sz="2200" b="0" i="0" smtClean="0">
                        <a:latin typeface="Cambria Math" panose="02040503050406030204" pitchFamily="18" charset="0"/>
                        <a:cs typeface="Times New Roman" panose="02020603050405020304" pitchFamily="18" charset="0"/>
                      </a:rPr>
                      <m:t> + </m:t>
                    </m:r>
                    <m:sSub>
                      <m:sSubPr>
                        <m:ctrlPr>
                          <a:rPr lang="en-IN" sz="2200" b="0" i="1" smtClean="0">
                            <a:latin typeface="Cambria Math" panose="02040503050406030204" pitchFamily="18" charset="0"/>
                            <a:cs typeface="Times New Roman" panose="02020603050405020304" pitchFamily="18" charset="0"/>
                          </a:rPr>
                        </m:ctrlPr>
                      </m:sSubPr>
                      <m:e>
                        <m:r>
                          <m:rPr>
                            <m:sty m:val="p"/>
                          </m:rPr>
                          <a:rPr lang="en-US" sz="2200" b="0" i="1" smtClean="0">
                            <a:latin typeface="Cambria Math" panose="02040503050406030204" pitchFamily="18" charset="0"/>
                            <a:cs typeface="Times New Roman" panose="02020603050405020304" pitchFamily="18" charset="0"/>
                          </a:rPr>
                          <m:t>K</m:t>
                        </m:r>
                      </m:e>
                      <m:sub>
                        <m:r>
                          <a:rPr lang="en-US" sz="2200" b="0" i="1" smtClean="0">
                            <a:latin typeface="Cambria Math" panose="02040503050406030204" pitchFamily="18" charset="0"/>
                            <a:cs typeface="Times New Roman" panose="02020603050405020304" pitchFamily="18" charset="0"/>
                          </a:rPr>
                          <m:t>1</m:t>
                        </m:r>
                      </m:sub>
                    </m:sSub>
                  </m:oMath>
                </a14:m>
                <a:r>
                  <a:rPr lang="en-IN" sz="2200" dirty="0">
                    <a:latin typeface="Times New Roman" panose="02020603050405020304" pitchFamily="18" charset="0"/>
                    <a:cs typeface="Times New Roman" panose="02020603050405020304" pitchFamily="18" charset="0"/>
                  </a:rPr>
                  <a:t>s + </a:t>
                </a:r>
                <a14:m>
                  <m:oMath xmlns:m="http://schemas.openxmlformats.org/officeDocument/2006/math">
                    <m:sSub>
                      <m:sSubPr>
                        <m:ctrlPr>
                          <a:rPr lang="en-IN" sz="2200" i="1" smtClean="0">
                            <a:latin typeface="Cambria Math" panose="02040503050406030204" pitchFamily="18" charset="0"/>
                            <a:cs typeface="Times New Roman" panose="02020603050405020304" pitchFamily="18" charset="0"/>
                          </a:rPr>
                        </m:ctrlPr>
                      </m:sSubPr>
                      <m:e>
                        <m:r>
                          <m:rPr>
                            <m:sty m:val="p"/>
                          </m:rPr>
                          <a:rPr lang="en-US" sz="2200" b="0" i="1" smtClean="0">
                            <a:latin typeface="Cambria Math" panose="02040503050406030204" pitchFamily="18" charset="0"/>
                            <a:cs typeface="Times New Roman" panose="02020603050405020304" pitchFamily="18" charset="0"/>
                          </a:rPr>
                          <m:t>K</m:t>
                        </m:r>
                      </m:e>
                      <m:sub>
                        <m:r>
                          <a:rPr lang="en-US" sz="2200" b="0" i="1" smtClean="0">
                            <a:latin typeface="Cambria Math" panose="02040503050406030204" pitchFamily="18" charset="0"/>
                            <a:cs typeface="Times New Roman" panose="02020603050405020304" pitchFamily="18" charset="0"/>
                          </a:rPr>
                          <m:t>2</m:t>
                        </m:r>
                      </m:sub>
                    </m:sSub>
                    <m:sSup>
                      <m:sSupPr>
                        <m:ctrlPr>
                          <a:rPr lang="en-IN" sz="2200" i="1" smtClean="0">
                            <a:latin typeface="Cambria Math" panose="02040503050406030204" pitchFamily="18" charset="0"/>
                            <a:cs typeface="Times New Roman" panose="02020603050405020304" pitchFamily="18" charset="0"/>
                          </a:rPr>
                        </m:ctrlPr>
                      </m:sSupPr>
                      <m:e>
                        <m:r>
                          <m:rPr>
                            <m:sty m:val="p"/>
                          </m:rPr>
                          <a:rPr lang="en-US" sz="2200" b="0" i="1" smtClean="0">
                            <a:latin typeface="Cambria Math" panose="02040503050406030204" pitchFamily="18" charset="0"/>
                            <a:cs typeface="Times New Roman" panose="02020603050405020304" pitchFamily="18" charset="0"/>
                          </a:rPr>
                          <m:t>s</m:t>
                        </m:r>
                      </m:e>
                      <m:sup>
                        <m:r>
                          <a:rPr lang="en-US" sz="2200" b="0" i="1" smtClean="0">
                            <a:latin typeface="Cambria Math" panose="02040503050406030204" pitchFamily="18" charset="0"/>
                            <a:cs typeface="Times New Roman" panose="02020603050405020304" pitchFamily="18" charset="0"/>
                          </a:rPr>
                          <m:t>3</m:t>
                        </m:r>
                      </m:sup>
                    </m:sSup>
                    <m:r>
                      <a:rPr lang="en-US" sz="2200" b="0" i="0" smtClean="0">
                        <a:latin typeface="Cambria Math" panose="02040503050406030204" pitchFamily="18" charset="0"/>
                        <a:cs typeface="Times New Roman" panose="02020603050405020304" pitchFamily="18" charset="0"/>
                      </a:rPr>
                      <m:t> + 2</m:t>
                    </m:r>
                    <m:sSub>
                      <m:sSubPr>
                        <m:ctrlPr>
                          <a:rPr lang="en-IN" sz="2200" b="0" i="1" smtClean="0">
                            <a:latin typeface="Cambria Math" panose="02040503050406030204" pitchFamily="18" charset="0"/>
                            <a:cs typeface="Times New Roman" panose="02020603050405020304" pitchFamily="18" charset="0"/>
                          </a:rPr>
                        </m:ctrlPr>
                      </m:sSubPr>
                      <m:e>
                        <m:r>
                          <m:rPr>
                            <m:sty m:val="p"/>
                          </m:rPr>
                          <a:rPr lang="en-US" sz="2200" b="0" i="1" smtClean="0">
                            <a:latin typeface="Cambria Math" panose="02040503050406030204" pitchFamily="18" charset="0"/>
                            <a:cs typeface="Times New Roman" panose="02020603050405020304" pitchFamily="18" charset="0"/>
                          </a:rPr>
                          <m:t>K</m:t>
                        </m:r>
                      </m:e>
                      <m:sub>
                        <m:r>
                          <a:rPr lang="en-US" sz="2200" b="0" i="1" smtClean="0">
                            <a:latin typeface="Cambria Math" panose="02040503050406030204" pitchFamily="18" charset="0"/>
                            <a:cs typeface="Times New Roman" panose="02020603050405020304" pitchFamily="18" charset="0"/>
                          </a:rPr>
                          <m:t>2</m:t>
                        </m:r>
                      </m:sub>
                    </m:sSub>
                    <m:sSup>
                      <m:sSupPr>
                        <m:ctrlPr>
                          <a:rPr lang="en-IN" sz="2200" b="0" i="1" smtClean="0">
                            <a:latin typeface="Cambria Math" panose="02040503050406030204" pitchFamily="18" charset="0"/>
                            <a:cs typeface="Times New Roman" panose="02020603050405020304" pitchFamily="18" charset="0"/>
                          </a:rPr>
                        </m:ctrlPr>
                      </m:sSupPr>
                      <m:e>
                        <m:r>
                          <m:rPr>
                            <m:sty m:val="p"/>
                          </m:rPr>
                          <a:rPr lang="en-US" sz="2200" b="0" i="1" smtClean="0">
                            <a:latin typeface="Cambria Math" panose="02040503050406030204" pitchFamily="18" charset="0"/>
                            <a:cs typeface="Times New Roman" panose="02020603050405020304" pitchFamily="18" charset="0"/>
                          </a:rPr>
                          <m:t>s</m:t>
                        </m:r>
                      </m:e>
                      <m:sup>
                        <m:r>
                          <a:rPr lang="en-US" sz="2200" b="0" i="1" smtClean="0">
                            <a:latin typeface="Cambria Math" panose="02040503050406030204" pitchFamily="18" charset="0"/>
                            <a:cs typeface="Times New Roman" panose="02020603050405020304" pitchFamily="18" charset="0"/>
                          </a:rPr>
                          <m:t>2</m:t>
                        </m:r>
                      </m:sup>
                    </m:sSup>
                    <m:r>
                      <a:rPr lang="en-US" sz="2200" b="0" i="0" smtClean="0">
                        <a:latin typeface="Cambria Math" panose="02040503050406030204" pitchFamily="18" charset="0"/>
                        <a:cs typeface="Times New Roman" panose="02020603050405020304" pitchFamily="18" charset="0"/>
                      </a:rPr>
                      <m:t> + </m:t>
                    </m:r>
                    <m:sSub>
                      <m:sSubPr>
                        <m:ctrlPr>
                          <a:rPr lang="en-IN" sz="2200" b="0" i="1" smtClean="0">
                            <a:latin typeface="Cambria Math" panose="02040503050406030204" pitchFamily="18" charset="0"/>
                            <a:cs typeface="Times New Roman" panose="02020603050405020304" pitchFamily="18" charset="0"/>
                          </a:rPr>
                        </m:ctrlPr>
                      </m:sSubPr>
                      <m:e>
                        <m:r>
                          <m:rPr>
                            <m:sty m:val="p"/>
                          </m:rPr>
                          <a:rPr lang="en-US" sz="2200" b="0" i="1" smtClean="0">
                            <a:latin typeface="Cambria Math" panose="02040503050406030204" pitchFamily="18" charset="0"/>
                            <a:cs typeface="Times New Roman" panose="02020603050405020304" pitchFamily="18" charset="0"/>
                          </a:rPr>
                          <m:t>K</m:t>
                        </m:r>
                      </m:e>
                      <m:sub>
                        <m:r>
                          <a:rPr lang="en-US" sz="2200" b="0" i="1" smtClean="0">
                            <a:latin typeface="Cambria Math" panose="02040503050406030204" pitchFamily="18" charset="0"/>
                            <a:cs typeface="Times New Roman" panose="02020603050405020304" pitchFamily="18" charset="0"/>
                          </a:rPr>
                          <m:t>2</m:t>
                        </m:r>
                      </m:sub>
                    </m:sSub>
                  </m:oMath>
                </a14:m>
                <a:r>
                  <a:rPr lang="en-IN" sz="2200" dirty="0">
                    <a:latin typeface="Times New Roman" panose="02020603050405020304" pitchFamily="18" charset="0"/>
                    <a:cs typeface="Times New Roman" panose="02020603050405020304" pitchFamily="18" charset="0"/>
                  </a:rPr>
                  <a:t>s + </a:t>
                </a:r>
                <a14:m>
                  <m:oMath xmlns:m="http://schemas.openxmlformats.org/officeDocument/2006/math">
                    <m:sSub>
                      <m:sSubPr>
                        <m:ctrlPr>
                          <a:rPr lang="en-IN" sz="2200" i="1" smtClean="0">
                            <a:latin typeface="Cambria Math" panose="02040503050406030204" pitchFamily="18" charset="0"/>
                            <a:cs typeface="Times New Roman" panose="02020603050405020304" pitchFamily="18" charset="0"/>
                          </a:rPr>
                        </m:ctrlPr>
                      </m:sSubPr>
                      <m:e>
                        <m:r>
                          <m:rPr>
                            <m:sty m:val="p"/>
                          </m:rPr>
                          <a:rPr lang="en-US" sz="2200" b="0" i="1" smtClean="0">
                            <a:latin typeface="Cambria Math" panose="02040503050406030204" pitchFamily="18" charset="0"/>
                            <a:cs typeface="Times New Roman" panose="02020603050405020304" pitchFamily="18" charset="0"/>
                          </a:rPr>
                          <m:t>K</m:t>
                        </m:r>
                      </m:e>
                      <m:sub>
                        <m:r>
                          <a:rPr lang="en-US" sz="2200" b="0" i="1" smtClean="0">
                            <a:latin typeface="Cambria Math" panose="02040503050406030204" pitchFamily="18" charset="0"/>
                            <a:cs typeface="Times New Roman" panose="02020603050405020304" pitchFamily="18" charset="0"/>
                          </a:rPr>
                          <m:t>3</m:t>
                        </m:r>
                      </m:sub>
                    </m:sSub>
                    <m:sSup>
                      <m:sSupPr>
                        <m:ctrlPr>
                          <a:rPr lang="en-IN" sz="2200" i="1" smtClean="0">
                            <a:latin typeface="Cambria Math" panose="02040503050406030204" pitchFamily="18" charset="0"/>
                            <a:cs typeface="Times New Roman" panose="02020603050405020304" pitchFamily="18" charset="0"/>
                          </a:rPr>
                        </m:ctrlPr>
                      </m:sSupPr>
                      <m:e>
                        <m:r>
                          <m:rPr>
                            <m:sty m:val="p"/>
                          </m:rPr>
                          <a:rPr lang="en-US" sz="2200" b="0" i="1" smtClean="0">
                            <a:latin typeface="Cambria Math" panose="02040503050406030204" pitchFamily="18" charset="0"/>
                            <a:cs typeface="Times New Roman" panose="02020603050405020304" pitchFamily="18" charset="0"/>
                          </a:rPr>
                          <m:t>s</m:t>
                        </m:r>
                      </m:e>
                      <m:sup>
                        <m:r>
                          <a:rPr lang="en-US" sz="2200" b="0" i="1" smtClean="0">
                            <a:latin typeface="Cambria Math" panose="02040503050406030204" pitchFamily="18" charset="0"/>
                            <a:cs typeface="Times New Roman" panose="02020603050405020304" pitchFamily="18" charset="0"/>
                          </a:rPr>
                          <m:t>3</m:t>
                        </m:r>
                      </m:sup>
                    </m:sSup>
                  </m:oMath>
                </a14:m>
                <a:r>
                  <a:rPr lang="en-IN" sz="2200" dirty="0">
                    <a:latin typeface="Times New Roman" panose="02020603050405020304" pitchFamily="18" charset="0"/>
                    <a:cs typeface="Times New Roman" panose="02020603050405020304" pitchFamily="18" charset="0"/>
                  </a:rPr>
                  <a:t> + 3 </a:t>
                </a:r>
                <a14:m>
                  <m:oMath xmlns:m="http://schemas.openxmlformats.org/officeDocument/2006/math">
                    <m:sSub>
                      <m:sSubPr>
                        <m:ctrlPr>
                          <a:rPr lang="en-IN" sz="2200" i="1" smtClean="0">
                            <a:latin typeface="Cambria Math" panose="02040503050406030204" pitchFamily="18" charset="0"/>
                            <a:cs typeface="Times New Roman" panose="02020603050405020304" pitchFamily="18" charset="0"/>
                          </a:rPr>
                        </m:ctrlPr>
                      </m:sSubPr>
                      <m:e>
                        <m:r>
                          <m:rPr>
                            <m:sty m:val="p"/>
                          </m:rPr>
                          <a:rPr lang="en-IN" sz="2200" b="0" i="1" smtClean="0">
                            <a:latin typeface="Cambria Math" panose="02040503050406030204" pitchFamily="18" charset="0"/>
                            <a:cs typeface="Times New Roman" panose="02020603050405020304" pitchFamily="18" charset="0"/>
                          </a:rPr>
                          <m:t>K</m:t>
                        </m:r>
                      </m:e>
                      <m:sub>
                        <m:r>
                          <a:rPr lang="en-US" sz="2200" b="0" i="1" smtClean="0">
                            <a:latin typeface="Cambria Math" panose="02040503050406030204" pitchFamily="18" charset="0"/>
                            <a:cs typeface="Times New Roman" panose="02020603050405020304" pitchFamily="18" charset="0"/>
                          </a:rPr>
                          <m:t>3</m:t>
                        </m:r>
                      </m:sub>
                    </m:sSub>
                    <m:sSup>
                      <m:sSupPr>
                        <m:ctrlPr>
                          <a:rPr lang="en-IN" sz="2200" i="1" smtClean="0">
                            <a:latin typeface="Cambria Math" panose="02040503050406030204" pitchFamily="18" charset="0"/>
                            <a:cs typeface="Times New Roman" panose="02020603050405020304" pitchFamily="18" charset="0"/>
                          </a:rPr>
                        </m:ctrlPr>
                      </m:sSupPr>
                      <m:e>
                        <m:r>
                          <m:rPr>
                            <m:sty m:val="p"/>
                          </m:rPr>
                          <a:rPr lang="en-US" sz="2200" b="0" i="1" smtClean="0">
                            <a:latin typeface="Cambria Math" panose="02040503050406030204" pitchFamily="18" charset="0"/>
                            <a:cs typeface="Times New Roman" panose="02020603050405020304" pitchFamily="18" charset="0"/>
                          </a:rPr>
                          <m:t>s</m:t>
                        </m:r>
                      </m:e>
                      <m:sup>
                        <m:r>
                          <a:rPr lang="en-US" sz="2200" b="0" i="1" smtClean="0">
                            <a:latin typeface="Cambria Math" panose="02040503050406030204" pitchFamily="18" charset="0"/>
                            <a:cs typeface="Times New Roman" panose="02020603050405020304" pitchFamily="18" charset="0"/>
                          </a:rPr>
                          <m:t>2</m:t>
                        </m:r>
                      </m:sup>
                    </m:sSup>
                  </m:oMath>
                </a14:m>
                <a:r>
                  <a:rPr lang="en-IN" sz="2200" dirty="0">
                    <a:latin typeface="Times New Roman" panose="02020603050405020304" pitchFamily="18" charset="0"/>
                    <a:cs typeface="Times New Roman" panose="02020603050405020304" pitchFamily="18" charset="0"/>
                  </a:rPr>
                  <a:t> + 3</a:t>
                </a:r>
                <a14:m>
                  <m:oMath xmlns:m="http://schemas.openxmlformats.org/officeDocument/2006/math">
                    <m:sSub>
                      <m:sSubPr>
                        <m:ctrlPr>
                          <a:rPr lang="en-IN" sz="2200" i="1" smtClean="0">
                            <a:latin typeface="Cambria Math" panose="02040503050406030204" pitchFamily="18" charset="0"/>
                            <a:cs typeface="Times New Roman" panose="02020603050405020304" pitchFamily="18" charset="0"/>
                          </a:rPr>
                        </m:ctrlPr>
                      </m:sSubPr>
                      <m:e>
                        <m:r>
                          <m:rPr>
                            <m:sty m:val="p"/>
                          </m:rPr>
                          <a:rPr lang="en-US" sz="2200" b="0" i="1" smtClean="0">
                            <a:latin typeface="Cambria Math" panose="02040503050406030204" pitchFamily="18" charset="0"/>
                            <a:cs typeface="Times New Roman" panose="02020603050405020304" pitchFamily="18" charset="0"/>
                          </a:rPr>
                          <m:t>K</m:t>
                        </m:r>
                      </m:e>
                      <m:sub>
                        <m:r>
                          <a:rPr lang="en-US" sz="2200" b="0" i="1" smtClean="0">
                            <a:latin typeface="Cambria Math" panose="02040503050406030204" pitchFamily="18" charset="0"/>
                            <a:cs typeface="Times New Roman" panose="02020603050405020304" pitchFamily="18" charset="0"/>
                          </a:rPr>
                          <m:t>3</m:t>
                        </m:r>
                      </m:sub>
                    </m:sSub>
                  </m:oMath>
                </a14:m>
                <a:r>
                  <a:rPr lang="en-IN" sz="2200" dirty="0">
                    <a:latin typeface="Times New Roman" panose="02020603050405020304" pitchFamily="18" charset="0"/>
                    <a:cs typeface="Times New Roman" panose="02020603050405020304" pitchFamily="18" charset="0"/>
                  </a:rPr>
                  <a:t>s + </a:t>
                </a:r>
                <a14:m>
                  <m:oMath xmlns:m="http://schemas.openxmlformats.org/officeDocument/2006/math">
                    <m:sSub>
                      <m:sSubPr>
                        <m:ctrlPr>
                          <a:rPr lang="en-IN" sz="2200" i="1" smtClean="0">
                            <a:latin typeface="Cambria Math" panose="02040503050406030204" pitchFamily="18" charset="0"/>
                            <a:cs typeface="Times New Roman" panose="02020603050405020304" pitchFamily="18" charset="0"/>
                          </a:rPr>
                        </m:ctrlPr>
                      </m:sSubPr>
                      <m:e>
                        <m:r>
                          <m:rPr>
                            <m:sty m:val="p"/>
                          </m:rPr>
                          <a:rPr lang="en-US" sz="2200" b="0" i="1" smtClean="0">
                            <a:latin typeface="Cambria Math" panose="02040503050406030204" pitchFamily="18" charset="0"/>
                            <a:cs typeface="Times New Roman" panose="02020603050405020304" pitchFamily="18" charset="0"/>
                          </a:rPr>
                          <m:t>K</m:t>
                        </m:r>
                      </m:e>
                      <m:sub>
                        <m:r>
                          <a:rPr lang="en-US" sz="2200" b="0" i="1" smtClean="0">
                            <a:latin typeface="Cambria Math" panose="02040503050406030204" pitchFamily="18" charset="0"/>
                            <a:cs typeface="Times New Roman" panose="02020603050405020304" pitchFamily="18" charset="0"/>
                          </a:rPr>
                          <m:t>3</m:t>
                        </m:r>
                      </m:sub>
                    </m:sSub>
                  </m:oMath>
                </a14:m>
                <a:endParaRPr lang="en-IN" sz="2200" dirty="0">
                  <a:latin typeface="Times New Roman" panose="02020603050405020304" pitchFamily="18" charset="0"/>
                  <a:cs typeface="Times New Roman" panose="02020603050405020304" pitchFamily="18" charset="0"/>
                </a:endParaRPr>
              </a:p>
            </p:txBody>
          </p:sp>
        </mc:Choice>
        <mc:Fallback xmlns="">
          <p:sp>
            <p:nvSpPr>
              <p:cNvPr id="3" name="TextBox 2">
                <a:extLst>
                  <a:ext uri="{FF2B5EF4-FFF2-40B4-BE49-F238E27FC236}">
                    <a16:creationId xmlns:a16="http://schemas.microsoft.com/office/drawing/2014/main" id="{40DD704B-CC49-85CB-2D5B-9D23C53F2A28}"/>
                  </a:ext>
                </a:extLst>
              </p:cNvPr>
              <p:cNvSpPr txBox="1">
                <a:spLocks noRot="1" noChangeAspect="1" noMove="1" noResize="1" noEditPoints="1" noAdjustHandles="1" noChangeArrowheads="1" noChangeShapeType="1" noTextEdit="1"/>
              </p:cNvSpPr>
              <p:nvPr/>
            </p:nvSpPr>
            <p:spPr>
              <a:xfrm>
                <a:off x="383969" y="864704"/>
                <a:ext cx="11393902" cy="4749890"/>
              </a:xfrm>
              <a:prstGeom prst="rect">
                <a:avLst/>
              </a:prstGeom>
              <a:blipFill>
                <a:blip r:embed="rId2"/>
                <a:stretch>
                  <a:fillRect l="-696" b="-1669"/>
                </a:stretch>
              </a:blipFill>
            </p:spPr>
            <p:txBody>
              <a:bodyPr/>
              <a:lstStyle/>
              <a:p>
                <a:r>
                  <a:rPr lang="en-IN">
                    <a:noFill/>
                  </a:rPr>
                  <a:t> </a:t>
                </a:r>
              </a:p>
            </p:txBody>
          </p:sp>
        </mc:Fallback>
      </mc:AlternateContent>
    </p:spTree>
    <p:extLst>
      <p:ext uri="{BB962C8B-B14F-4D97-AF65-F5344CB8AC3E}">
        <p14:creationId xmlns:p14="http://schemas.microsoft.com/office/powerpoint/2010/main" val="18292868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30322C-3FC5-0E60-C32B-D8A088B93D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735365-A2FC-A5D7-1F4D-29E96FA3B66D}"/>
              </a:ext>
            </a:extLst>
          </p:cNvPr>
          <p:cNvSpPr>
            <a:spLocks noGrp="1"/>
          </p:cNvSpPr>
          <p:nvPr>
            <p:ph type="title"/>
          </p:nvPr>
        </p:nvSpPr>
        <p:spPr>
          <a:xfrm>
            <a:off x="285003" y="71415"/>
            <a:ext cx="11591833" cy="714380"/>
          </a:xfrm>
        </p:spPr>
        <p:txBody>
          <a:bodyPr>
            <a:normAutofit/>
          </a:bodyPr>
          <a:lstStyle/>
          <a:p>
            <a:r>
              <a:rPr lang="en-IN" sz="2800" dirty="0">
                <a:solidFill>
                  <a:srgbClr val="00B050"/>
                </a:solidFill>
                <a:latin typeface="Times New Roman" pitchFamily="18" charset="0"/>
                <a:cs typeface="Times New Roman" pitchFamily="18" charset="0"/>
              </a:rPr>
              <a:t>LAPLACE TRANSFORM</a:t>
            </a:r>
            <a:endParaRPr lang="en-US" sz="2800" dirty="0">
              <a:solidFill>
                <a:srgbClr val="FF0000"/>
              </a:solidFill>
              <a:latin typeface="Times New Roman" pitchFamily="18" charset="0"/>
              <a:cs typeface="Times New Roman" pitchFamily="18" charset="0"/>
            </a:endParaRPr>
          </a:p>
        </p:txBody>
      </p:sp>
      <p:sp>
        <p:nvSpPr>
          <p:cNvPr id="14" name="TextBox 13">
            <a:extLst>
              <a:ext uri="{FF2B5EF4-FFF2-40B4-BE49-F238E27FC236}">
                <a16:creationId xmlns:a16="http://schemas.microsoft.com/office/drawing/2014/main" id="{D547133C-77FB-EAFB-6751-7A570DD08DBE}"/>
              </a:ext>
            </a:extLst>
          </p:cNvPr>
          <p:cNvSpPr txBox="1"/>
          <p:nvPr/>
        </p:nvSpPr>
        <p:spPr>
          <a:xfrm>
            <a:off x="608092" y="6113018"/>
            <a:ext cx="5472827" cy="246221"/>
          </a:xfrm>
          <a:prstGeom prst="rect">
            <a:avLst/>
          </a:prstGeom>
          <a:noFill/>
        </p:spPr>
        <p:txBody>
          <a:bodyPr wrap="square" rtlCol="0">
            <a:spAutoFit/>
          </a:bodyPr>
          <a:lstStyle/>
          <a:p>
            <a:r>
              <a:rPr lang="en-US" sz="1000" dirty="0"/>
              <a:t>Reference: Network Analysis &amp; Synthesis by Uday Bakshi and Ajay Bakshi, Technical Publications Pune</a:t>
            </a:r>
            <a:endParaRPr lang="en-IN" sz="1000" dirty="0"/>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9EAAE9E4-5F5C-5FCC-9B66-FC46EC8386D0}"/>
                  </a:ext>
                </a:extLst>
              </p:cNvPr>
              <p:cNvSpPr txBox="1"/>
              <p:nvPr/>
            </p:nvSpPr>
            <p:spPr>
              <a:xfrm>
                <a:off x="375858" y="785795"/>
                <a:ext cx="11410122" cy="5230471"/>
              </a:xfrm>
              <a:prstGeom prst="rect">
                <a:avLst/>
              </a:prstGeom>
              <a:noFill/>
            </p:spPr>
            <p:txBody>
              <a:bodyPr wrap="square" rtlCol="0">
                <a:spAutoFit/>
              </a:bodyPr>
              <a:lstStyle/>
              <a:p>
                <a:pPr>
                  <a:lnSpc>
                    <a:spcPct val="150000"/>
                  </a:lnSpc>
                </a:pPr>
                <a:r>
                  <a:rPr lang="en-US" sz="2200" dirty="0">
                    <a:latin typeface="Times New Roman" panose="02020603050405020304" pitchFamily="18" charset="0"/>
                    <a:cs typeface="Times New Roman" panose="02020603050405020304" pitchFamily="18" charset="0"/>
                  </a:rPr>
                  <a:t>Comparing the coefficients of various power of s on both side</a:t>
                </a:r>
              </a:p>
              <a:p>
                <a:pPr>
                  <a:lnSpc>
                    <a:spcPct val="150000"/>
                  </a:lnSpc>
                </a:pPr>
                <a:r>
                  <a:rPr lang="en-IN" sz="2200" dirty="0">
                    <a:latin typeface="Times New Roman" panose="02020603050405020304" pitchFamily="18" charset="0"/>
                    <a:cs typeface="Times New Roman" panose="02020603050405020304" pitchFamily="18" charset="0"/>
                  </a:rPr>
                  <a:t>For s</a:t>
                </a:r>
                <a:r>
                  <a:rPr lang="en-IN" sz="2200" baseline="30000" dirty="0">
                    <a:latin typeface="Times New Roman" panose="02020603050405020304" pitchFamily="18" charset="0"/>
                    <a:cs typeface="Times New Roman" panose="02020603050405020304" pitchFamily="18" charset="0"/>
                  </a:rPr>
                  <a:t>3</a:t>
                </a:r>
                <a:r>
                  <a:rPr lang="en-IN" sz="2200" dirty="0">
                    <a:latin typeface="Times New Roman" panose="02020603050405020304" pitchFamily="18" charset="0"/>
                    <a:cs typeface="Times New Roman" panose="02020603050405020304" pitchFamily="18" charset="0"/>
                  </a:rPr>
                  <a:t>,      K</a:t>
                </a:r>
                <a:r>
                  <a:rPr lang="en-IN" sz="2200" baseline="-25000" dirty="0">
                    <a:latin typeface="Times New Roman" panose="02020603050405020304" pitchFamily="18" charset="0"/>
                    <a:cs typeface="Times New Roman" panose="02020603050405020304" pitchFamily="18" charset="0"/>
                  </a:rPr>
                  <a:t>2</a:t>
                </a:r>
                <a:r>
                  <a:rPr lang="en-IN" sz="2200" dirty="0">
                    <a:latin typeface="Times New Roman" panose="02020603050405020304" pitchFamily="18" charset="0"/>
                    <a:cs typeface="Times New Roman" panose="02020603050405020304" pitchFamily="18" charset="0"/>
                  </a:rPr>
                  <a:t> + K</a:t>
                </a:r>
                <a:r>
                  <a:rPr lang="en-IN" sz="2200" baseline="-25000" dirty="0">
                    <a:latin typeface="Times New Roman" panose="02020603050405020304" pitchFamily="18" charset="0"/>
                    <a:cs typeface="Times New Roman" panose="02020603050405020304" pitchFamily="18" charset="0"/>
                  </a:rPr>
                  <a:t>3</a:t>
                </a:r>
                <a:r>
                  <a:rPr lang="en-IN" sz="2200" dirty="0">
                    <a:latin typeface="Times New Roman" panose="02020603050405020304" pitchFamily="18" charset="0"/>
                    <a:cs typeface="Times New Roman" panose="02020603050405020304" pitchFamily="18" charset="0"/>
                  </a:rPr>
                  <a:t> = 0</a:t>
                </a:r>
              </a:p>
              <a:p>
                <a:pPr>
                  <a:lnSpc>
                    <a:spcPct val="150000"/>
                  </a:lnSpc>
                </a:pPr>
                <a:r>
                  <a:rPr lang="en-IN" sz="2200" dirty="0">
                    <a:latin typeface="Times New Roman" panose="02020603050405020304" pitchFamily="18" charset="0"/>
                    <a:cs typeface="Times New Roman" panose="02020603050405020304" pitchFamily="18" charset="0"/>
                  </a:rPr>
                  <a:t>For s</a:t>
                </a:r>
                <a:r>
                  <a:rPr lang="en-IN" sz="2200" baseline="30000" dirty="0">
                    <a:latin typeface="Times New Roman" panose="02020603050405020304" pitchFamily="18" charset="0"/>
                    <a:cs typeface="Times New Roman" panose="02020603050405020304" pitchFamily="18" charset="0"/>
                  </a:rPr>
                  <a:t>2</a:t>
                </a:r>
                <a:r>
                  <a:rPr lang="en-IN" sz="2200" dirty="0">
                    <a:latin typeface="Times New Roman" panose="02020603050405020304" pitchFamily="18" charset="0"/>
                    <a:cs typeface="Times New Roman" panose="02020603050405020304" pitchFamily="18" charset="0"/>
                  </a:rPr>
                  <a:t>,     K</a:t>
                </a:r>
                <a:r>
                  <a:rPr lang="en-IN" sz="2200" baseline="-25000" dirty="0">
                    <a:latin typeface="Times New Roman" panose="02020603050405020304" pitchFamily="18" charset="0"/>
                    <a:cs typeface="Times New Roman" panose="02020603050405020304" pitchFamily="18" charset="0"/>
                  </a:rPr>
                  <a:t>1</a:t>
                </a:r>
                <a:r>
                  <a:rPr lang="en-IN" sz="2200" dirty="0">
                    <a:latin typeface="Times New Roman" panose="02020603050405020304" pitchFamily="18" charset="0"/>
                    <a:cs typeface="Times New Roman" panose="02020603050405020304" pitchFamily="18" charset="0"/>
                  </a:rPr>
                  <a:t> + 2K</a:t>
                </a:r>
                <a:r>
                  <a:rPr lang="en-IN" sz="2200" baseline="-25000" dirty="0">
                    <a:latin typeface="Times New Roman" panose="02020603050405020304" pitchFamily="18" charset="0"/>
                    <a:cs typeface="Times New Roman" panose="02020603050405020304" pitchFamily="18" charset="0"/>
                  </a:rPr>
                  <a:t>2</a:t>
                </a:r>
                <a:r>
                  <a:rPr lang="en-IN" sz="2200" dirty="0">
                    <a:latin typeface="Times New Roman" panose="02020603050405020304" pitchFamily="18" charset="0"/>
                    <a:cs typeface="Times New Roman" panose="02020603050405020304" pitchFamily="18" charset="0"/>
                  </a:rPr>
                  <a:t> + 3K</a:t>
                </a:r>
                <a:r>
                  <a:rPr lang="en-IN" sz="2200" baseline="-25000" dirty="0">
                    <a:latin typeface="Times New Roman" panose="02020603050405020304" pitchFamily="18" charset="0"/>
                    <a:cs typeface="Times New Roman" panose="02020603050405020304" pitchFamily="18" charset="0"/>
                  </a:rPr>
                  <a:t>3</a:t>
                </a:r>
                <a:r>
                  <a:rPr lang="en-IN" sz="2200" dirty="0">
                    <a:latin typeface="Times New Roman" panose="02020603050405020304" pitchFamily="18" charset="0"/>
                    <a:cs typeface="Times New Roman" panose="02020603050405020304" pitchFamily="18" charset="0"/>
                  </a:rPr>
                  <a:t> = 0</a:t>
                </a:r>
              </a:p>
              <a:p>
                <a:pPr>
                  <a:lnSpc>
                    <a:spcPct val="150000"/>
                  </a:lnSpc>
                </a:pPr>
                <a:r>
                  <a:rPr lang="en-IN" sz="2200" dirty="0">
                    <a:latin typeface="Times New Roman" panose="02020603050405020304" pitchFamily="18" charset="0"/>
                    <a:cs typeface="Times New Roman" panose="02020603050405020304" pitchFamily="18" charset="0"/>
                  </a:rPr>
                  <a:t>For s</a:t>
                </a:r>
                <a:r>
                  <a:rPr lang="en-IN" sz="2200" baseline="30000" dirty="0">
                    <a:latin typeface="Times New Roman" panose="02020603050405020304" pitchFamily="18" charset="0"/>
                    <a:cs typeface="Times New Roman" panose="02020603050405020304" pitchFamily="18" charset="0"/>
                  </a:rPr>
                  <a:t>1</a:t>
                </a:r>
                <a:r>
                  <a:rPr lang="en-IN" sz="2200" dirty="0">
                    <a:latin typeface="Times New Roman" panose="02020603050405020304" pitchFamily="18" charset="0"/>
                    <a:cs typeface="Times New Roman" panose="02020603050405020304" pitchFamily="18" charset="0"/>
                  </a:rPr>
                  <a:t>,      K</a:t>
                </a:r>
                <a:r>
                  <a:rPr lang="en-IN" sz="2200" baseline="-25000" dirty="0">
                    <a:latin typeface="Times New Roman" panose="02020603050405020304" pitchFamily="18" charset="0"/>
                    <a:cs typeface="Times New Roman" panose="02020603050405020304" pitchFamily="18" charset="0"/>
                  </a:rPr>
                  <a:t>0</a:t>
                </a:r>
                <a:r>
                  <a:rPr lang="en-IN" sz="2200" dirty="0">
                    <a:latin typeface="Times New Roman" panose="02020603050405020304" pitchFamily="18" charset="0"/>
                    <a:cs typeface="Times New Roman" panose="02020603050405020304" pitchFamily="18" charset="0"/>
                  </a:rPr>
                  <a:t> + K</a:t>
                </a:r>
                <a:r>
                  <a:rPr lang="en-IN" sz="2200" baseline="-25000" dirty="0">
                    <a:latin typeface="Times New Roman" panose="02020603050405020304" pitchFamily="18" charset="0"/>
                    <a:cs typeface="Times New Roman" panose="02020603050405020304" pitchFamily="18" charset="0"/>
                  </a:rPr>
                  <a:t>1</a:t>
                </a:r>
                <a:r>
                  <a:rPr lang="en-IN" sz="2200" dirty="0">
                    <a:latin typeface="Times New Roman" panose="02020603050405020304" pitchFamily="18" charset="0"/>
                    <a:cs typeface="Times New Roman" panose="02020603050405020304" pitchFamily="18" charset="0"/>
                  </a:rPr>
                  <a:t> + K</a:t>
                </a:r>
                <a:r>
                  <a:rPr lang="en-IN" sz="2200" baseline="-25000" dirty="0">
                    <a:latin typeface="Times New Roman" panose="02020603050405020304" pitchFamily="18" charset="0"/>
                    <a:cs typeface="Times New Roman" panose="02020603050405020304" pitchFamily="18" charset="0"/>
                  </a:rPr>
                  <a:t>2</a:t>
                </a:r>
                <a:r>
                  <a:rPr lang="en-IN" sz="2200" dirty="0">
                    <a:latin typeface="Times New Roman" panose="02020603050405020304" pitchFamily="18" charset="0"/>
                    <a:cs typeface="Times New Roman" panose="02020603050405020304" pitchFamily="18" charset="0"/>
                  </a:rPr>
                  <a:t> + 3K</a:t>
                </a:r>
                <a:r>
                  <a:rPr lang="en-IN" sz="2200" baseline="-25000" dirty="0">
                    <a:latin typeface="Times New Roman" panose="02020603050405020304" pitchFamily="18" charset="0"/>
                    <a:cs typeface="Times New Roman" panose="02020603050405020304" pitchFamily="18" charset="0"/>
                  </a:rPr>
                  <a:t>3</a:t>
                </a:r>
                <a:r>
                  <a:rPr lang="en-IN" sz="2200" dirty="0">
                    <a:latin typeface="Times New Roman" panose="02020603050405020304" pitchFamily="18" charset="0"/>
                    <a:cs typeface="Times New Roman" panose="02020603050405020304" pitchFamily="18" charset="0"/>
                  </a:rPr>
                  <a:t> = 1</a:t>
                </a:r>
              </a:p>
              <a:p>
                <a:pPr>
                  <a:lnSpc>
                    <a:spcPct val="150000"/>
                  </a:lnSpc>
                </a:pPr>
                <a:r>
                  <a:rPr lang="en-IN" sz="2200" dirty="0">
                    <a:latin typeface="Times New Roman" panose="02020603050405020304" pitchFamily="18" charset="0"/>
                    <a:cs typeface="Times New Roman" panose="02020603050405020304" pitchFamily="18" charset="0"/>
                  </a:rPr>
                  <a:t>For s</a:t>
                </a:r>
                <a:r>
                  <a:rPr lang="en-IN" sz="2200" baseline="30000" dirty="0">
                    <a:latin typeface="Times New Roman" panose="02020603050405020304" pitchFamily="18" charset="0"/>
                    <a:cs typeface="Times New Roman" panose="02020603050405020304" pitchFamily="18" charset="0"/>
                  </a:rPr>
                  <a:t>0</a:t>
                </a:r>
                <a:r>
                  <a:rPr lang="en-IN" sz="2200" dirty="0">
                    <a:latin typeface="Times New Roman" panose="02020603050405020304" pitchFamily="18" charset="0"/>
                    <a:cs typeface="Times New Roman" panose="02020603050405020304" pitchFamily="18" charset="0"/>
                  </a:rPr>
                  <a:t>,          K</a:t>
                </a:r>
                <a:r>
                  <a:rPr lang="en-IN" sz="2200" baseline="-25000" dirty="0">
                    <a:latin typeface="Times New Roman" panose="02020603050405020304" pitchFamily="18" charset="0"/>
                    <a:cs typeface="Times New Roman" panose="02020603050405020304" pitchFamily="18" charset="0"/>
                  </a:rPr>
                  <a:t>3</a:t>
                </a:r>
                <a:r>
                  <a:rPr lang="en-IN" sz="2200" dirty="0">
                    <a:latin typeface="Times New Roman" panose="02020603050405020304" pitchFamily="18" charset="0"/>
                    <a:cs typeface="Times New Roman" panose="02020603050405020304" pitchFamily="18" charset="0"/>
                  </a:rPr>
                  <a:t> = -2</a:t>
                </a:r>
              </a:p>
              <a:p>
                <a:pPr>
                  <a:lnSpc>
                    <a:spcPct val="150000"/>
                  </a:lnSpc>
                </a:pPr>
                <a:r>
                  <a:rPr lang="en-IN" sz="2200" dirty="0">
                    <a:latin typeface="Times New Roman" panose="02020603050405020304" pitchFamily="18" charset="0"/>
                    <a:cs typeface="Times New Roman" panose="02020603050405020304" pitchFamily="18" charset="0"/>
                  </a:rPr>
                  <a:t>Solve for K</a:t>
                </a:r>
              </a:p>
              <a:p>
                <a:pPr>
                  <a:lnSpc>
                    <a:spcPct val="150000"/>
                  </a:lnSpc>
                </a:pPr>
                <a:r>
                  <a:rPr lang="en-IN" sz="2200" dirty="0">
                    <a:latin typeface="Times New Roman" panose="02020603050405020304" pitchFamily="18" charset="0"/>
                    <a:cs typeface="Times New Roman" panose="02020603050405020304" pitchFamily="18" charset="0"/>
                  </a:rPr>
                  <a:t>K</a:t>
                </a:r>
                <a:r>
                  <a:rPr lang="en-IN" sz="2200" baseline="-25000" dirty="0">
                    <a:latin typeface="Times New Roman" panose="02020603050405020304" pitchFamily="18" charset="0"/>
                    <a:cs typeface="Times New Roman" panose="02020603050405020304" pitchFamily="18" charset="0"/>
                  </a:rPr>
                  <a:t>2</a:t>
                </a:r>
                <a:r>
                  <a:rPr lang="en-IN" sz="2200" dirty="0">
                    <a:latin typeface="Times New Roman" panose="02020603050405020304" pitchFamily="18" charset="0"/>
                    <a:cs typeface="Times New Roman" panose="02020603050405020304" pitchFamily="18" charset="0"/>
                  </a:rPr>
                  <a:t> = 2, K</a:t>
                </a:r>
                <a:r>
                  <a:rPr lang="en-IN" sz="2200" baseline="-25000" dirty="0">
                    <a:latin typeface="Times New Roman" panose="02020603050405020304" pitchFamily="18" charset="0"/>
                    <a:cs typeface="Times New Roman" panose="02020603050405020304" pitchFamily="18" charset="0"/>
                  </a:rPr>
                  <a:t>1</a:t>
                </a:r>
                <a:r>
                  <a:rPr lang="en-IN" sz="2200" dirty="0">
                    <a:latin typeface="Times New Roman" panose="02020603050405020304" pitchFamily="18" charset="0"/>
                    <a:cs typeface="Times New Roman" panose="02020603050405020304" pitchFamily="18" charset="0"/>
                  </a:rPr>
                  <a:t> = 2 and K</a:t>
                </a:r>
                <a:r>
                  <a:rPr lang="en-IN" sz="2200" baseline="-25000" dirty="0">
                    <a:latin typeface="Times New Roman" panose="02020603050405020304" pitchFamily="18" charset="0"/>
                    <a:cs typeface="Times New Roman" panose="02020603050405020304" pitchFamily="18" charset="0"/>
                  </a:rPr>
                  <a:t>o</a:t>
                </a:r>
                <a:r>
                  <a:rPr lang="en-IN" sz="2200" dirty="0">
                    <a:latin typeface="Times New Roman" panose="02020603050405020304" pitchFamily="18" charset="0"/>
                    <a:cs typeface="Times New Roman" panose="02020603050405020304" pitchFamily="18" charset="0"/>
                  </a:rPr>
                  <a:t> = 3 </a:t>
                </a:r>
              </a:p>
              <a:p>
                <a:pPr>
                  <a:lnSpc>
                    <a:spcPct val="150000"/>
                  </a:lnSpc>
                </a:pPr>
                <a:r>
                  <a:rPr lang="en-IN" sz="2200" dirty="0">
                    <a:latin typeface="Times New Roman" panose="02020603050405020304" pitchFamily="18" charset="0"/>
                    <a:cs typeface="Times New Roman" panose="02020603050405020304" pitchFamily="18" charset="0"/>
                  </a:rPr>
                  <a:t>F(s) = </a:t>
                </a:r>
                <a14:m>
                  <m:oMath xmlns:m="http://schemas.openxmlformats.org/officeDocument/2006/math">
                    <m:f>
                      <m:fPr>
                        <m:ctrlPr>
                          <a:rPr lang="en-IN" sz="2200" i="1" smtClean="0">
                            <a:latin typeface="Cambria Math" panose="02040503050406030204" pitchFamily="18" charset="0"/>
                            <a:cs typeface="Times New Roman" panose="02020603050405020304" pitchFamily="18" charset="0"/>
                          </a:rPr>
                        </m:ctrlPr>
                      </m:fPr>
                      <m:num>
                        <m:r>
                          <a:rPr lang="en-US" sz="2200" b="0" i="1" smtClean="0">
                            <a:latin typeface="Cambria Math" panose="02040503050406030204" pitchFamily="18" charset="0"/>
                            <a:cs typeface="Times New Roman" panose="02020603050405020304" pitchFamily="18" charset="0"/>
                          </a:rPr>
                          <m:t>3</m:t>
                        </m:r>
                      </m:num>
                      <m:den>
                        <m:sSup>
                          <m:sSupPr>
                            <m:ctrlPr>
                              <a:rPr lang="en-IN" sz="2200" i="1" smtClean="0">
                                <a:latin typeface="Cambria Math" panose="02040503050406030204" pitchFamily="18" charset="0"/>
                                <a:cs typeface="Times New Roman" panose="02020603050405020304" pitchFamily="18" charset="0"/>
                              </a:rPr>
                            </m:ctrlPr>
                          </m:sSupPr>
                          <m:e>
                            <m:r>
                              <a:rPr lang="en-US" sz="2200" b="0" i="1" smtClean="0">
                                <a:latin typeface="Cambria Math" panose="02040503050406030204" pitchFamily="18" charset="0"/>
                                <a:cs typeface="Times New Roman" panose="02020603050405020304" pitchFamily="18" charset="0"/>
                              </a:rPr>
                              <m:t>(</m:t>
                            </m:r>
                            <m:r>
                              <m:rPr>
                                <m:sty m:val="p"/>
                              </m:rPr>
                              <a:rPr lang="en-US" sz="2200" b="0" i="1" smtClean="0">
                                <a:latin typeface="Cambria Math" panose="02040503050406030204" pitchFamily="18" charset="0"/>
                                <a:cs typeface="Times New Roman" panose="02020603050405020304" pitchFamily="18" charset="0"/>
                              </a:rPr>
                              <m:t>s</m:t>
                            </m:r>
                            <m:r>
                              <a:rPr lang="en-US" sz="2200" b="0" i="1" smtClean="0">
                                <a:latin typeface="Cambria Math" panose="02040503050406030204" pitchFamily="18" charset="0"/>
                                <a:cs typeface="Times New Roman" panose="02020603050405020304" pitchFamily="18" charset="0"/>
                              </a:rPr>
                              <m:t>+1)</m:t>
                            </m:r>
                          </m:e>
                          <m:sup>
                            <m:r>
                              <a:rPr lang="en-US" sz="2200" b="0" i="1" smtClean="0">
                                <a:latin typeface="Cambria Math" panose="02040503050406030204" pitchFamily="18" charset="0"/>
                                <a:cs typeface="Times New Roman" panose="02020603050405020304" pitchFamily="18" charset="0"/>
                              </a:rPr>
                              <m:t>3</m:t>
                            </m:r>
                          </m:sup>
                        </m:sSup>
                      </m:den>
                    </m:f>
                  </m:oMath>
                </a14:m>
                <a:r>
                  <a:rPr lang="en-IN" sz="2200" dirty="0">
                    <a:latin typeface="Times New Roman" panose="02020603050405020304" pitchFamily="18" charset="0"/>
                    <a:cs typeface="Times New Roman" panose="02020603050405020304" pitchFamily="18" charset="0"/>
                  </a:rPr>
                  <a:t> + </a:t>
                </a:r>
                <a14:m>
                  <m:oMath xmlns:m="http://schemas.openxmlformats.org/officeDocument/2006/math">
                    <m:f>
                      <m:fPr>
                        <m:ctrlPr>
                          <a:rPr lang="en-IN" sz="2200" i="1" smtClean="0">
                            <a:latin typeface="Cambria Math" panose="02040503050406030204" pitchFamily="18" charset="0"/>
                            <a:cs typeface="Times New Roman" panose="02020603050405020304" pitchFamily="18" charset="0"/>
                          </a:rPr>
                        </m:ctrlPr>
                      </m:fPr>
                      <m:num>
                        <m:r>
                          <a:rPr lang="en-US" sz="2200" b="0" i="1" smtClean="0">
                            <a:latin typeface="Cambria Math" panose="02040503050406030204" pitchFamily="18" charset="0"/>
                            <a:cs typeface="Times New Roman" panose="02020603050405020304" pitchFamily="18" charset="0"/>
                          </a:rPr>
                          <m:t>2</m:t>
                        </m:r>
                      </m:num>
                      <m:den>
                        <m:sSup>
                          <m:sSupPr>
                            <m:ctrlPr>
                              <a:rPr lang="en-IN" sz="2200" i="1">
                                <a:latin typeface="Cambria Math" panose="02040503050406030204" pitchFamily="18" charset="0"/>
                                <a:cs typeface="Times New Roman" panose="02020603050405020304" pitchFamily="18" charset="0"/>
                              </a:rPr>
                            </m:ctrlPr>
                          </m:sSupPr>
                          <m:e>
                            <m:r>
                              <a:rPr lang="en-US" sz="2200" i="1">
                                <a:latin typeface="Cambria Math" panose="02040503050406030204" pitchFamily="18" charset="0"/>
                                <a:cs typeface="Times New Roman" panose="02020603050405020304" pitchFamily="18" charset="0"/>
                              </a:rPr>
                              <m:t>(</m:t>
                            </m:r>
                            <m:r>
                              <m:rPr>
                                <m:sty m:val="p"/>
                              </m:rPr>
                              <a:rPr lang="en-US" sz="2200" i="1">
                                <a:latin typeface="Cambria Math" panose="02040503050406030204" pitchFamily="18" charset="0"/>
                                <a:cs typeface="Times New Roman" panose="02020603050405020304" pitchFamily="18" charset="0"/>
                              </a:rPr>
                              <m:t>s</m:t>
                            </m:r>
                            <m:r>
                              <a:rPr lang="en-US" sz="2200" i="1">
                                <a:latin typeface="Cambria Math" panose="02040503050406030204" pitchFamily="18" charset="0"/>
                                <a:cs typeface="Times New Roman" panose="02020603050405020304" pitchFamily="18" charset="0"/>
                              </a:rPr>
                              <m:t>+1)</m:t>
                            </m:r>
                          </m:e>
                          <m:sup>
                            <m:r>
                              <a:rPr lang="en-US" sz="2200" b="0" i="1" smtClean="0">
                                <a:latin typeface="Cambria Math" panose="02040503050406030204" pitchFamily="18" charset="0"/>
                                <a:cs typeface="Times New Roman" panose="02020603050405020304" pitchFamily="18" charset="0"/>
                              </a:rPr>
                              <m:t>2</m:t>
                            </m:r>
                          </m:sup>
                        </m:sSup>
                      </m:den>
                    </m:f>
                  </m:oMath>
                </a14:m>
                <a:r>
                  <a:rPr lang="en-IN" sz="2200" dirty="0">
                    <a:latin typeface="Times New Roman" panose="02020603050405020304" pitchFamily="18" charset="0"/>
                    <a:cs typeface="Times New Roman" panose="02020603050405020304" pitchFamily="18" charset="0"/>
                  </a:rPr>
                  <a:t> + </a:t>
                </a:r>
                <a14:m>
                  <m:oMath xmlns:m="http://schemas.openxmlformats.org/officeDocument/2006/math">
                    <m:f>
                      <m:fPr>
                        <m:ctrlPr>
                          <a:rPr lang="en-IN" sz="2200" i="1">
                            <a:latin typeface="Cambria Math" panose="02040503050406030204" pitchFamily="18" charset="0"/>
                            <a:cs typeface="Times New Roman" panose="02020603050405020304" pitchFamily="18" charset="0"/>
                          </a:rPr>
                        </m:ctrlPr>
                      </m:fPr>
                      <m:num>
                        <m:r>
                          <a:rPr lang="en-US" sz="2200" i="1">
                            <a:latin typeface="Cambria Math" panose="02040503050406030204" pitchFamily="18" charset="0"/>
                            <a:cs typeface="Times New Roman" panose="02020603050405020304" pitchFamily="18" charset="0"/>
                          </a:rPr>
                          <m:t>2</m:t>
                        </m:r>
                      </m:num>
                      <m:den>
                        <m:r>
                          <a:rPr lang="en-US" sz="2200" b="0" i="1" smtClean="0">
                            <a:latin typeface="Cambria Math" panose="02040503050406030204" pitchFamily="18" charset="0"/>
                            <a:cs typeface="Times New Roman" panose="02020603050405020304" pitchFamily="18" charset="0"/>
                          </a:rPr>
                          <m:t>(</m:t>
                        </m:r>
                        <m:r>
                          <m:rPr>
                            <m:sty m:val="p"/>
                          </m:rPr>
                          <a:rPr lang="en-US" sz="2200" b="0" i="1" smtClean="0">
                            <a:latin typeface="Cambria Math" panose="02040503050406030204" pitchFamily="18" charset="0"/>
                            <a:cs typeface="Times New Roman" panose="02020603050405020304" pitchFamily="18" charset="0"/>
                          </a:rPr>
                          <m:t>s</m:t>
                        </m:r>
                        <m:r>
                          <a:rPr lang="en-US" sz="2200" b="0" i="1" smtClean="0">
                            <a:latin typeface="Cambria Math" panose="02040503050406030204" pitchFamily="18" charset="0"/>
                            <a:cs typeface="Times New Roman" panose="02020603050405020304" pitchFamily="18" charset="0"/>
                          </a:rPr>
                          <m:t>+1)</m:t>
                        </m:r>
                      </m:den>
                    </m:f>
                  </m:oMath>
                </a14:m>
                <a:r>
                  <a:rPr lang="en-IN" sz="2200" dirty="0">
                    <a:latin typeface="Times New Roman" panose="02020603050405020304" pitchFamily="18" charset="0"/>
                    <a:cs typeface="Times New Roman" panose="02020603050405020304" pitchFamily="18" charset="0"/>
                  </a:rPr>
                  <a:t> - </a:t>
                </a:r>
                <a14:m>
                  <m:oMath xmlns:m="http://schemas.openxmlformats.org/officeDocument/2006/math">
                    <m:f>
                      <m:fPr>
                        <m:ctrlPr>
                          <a:rPr lang="en-IN" sz="2200" i="1" smtClean="0">
                            <a:latin typeface="Cambria Math" panose="02040503050406030204" pitchFamily="18" charset="0"/>
                            <a:cs typeface="Times New Roman" panose="02020603050405020304" pitchFamily="18" charset="0"/>
                          </a:rPr>
                        </m:ctrlPr>
                      </m:fPr>
                      <m:num>
                        <m:r>
                          <a:rPr lang="en-US" sz="2200" b="0" i="1" smtClean="0">
                            <a:latin typeface="Cambria Math" panose="02040503050406030204" pitchFamily="18" charset="0"/>
                            <a:cs typeface="Times New Roman" panose="02020603050405020304" pitchFamily="18" charset="0"/>
                          </a:rPr>
                          <m:t>2</m:t>
                        </m:r>
                      </m:num>
                      <m:den>
                        <m:r>
                          <m:rPr>
                            <m:sty m:val="p"/>
                          </m:rPr>
                          <a:rPr lang="en-US" sz="2200" b="0" i="1" smtClean="0">
                            <a:latin typeface="Cambria Math" panose="02040503050406030204" pitchFamily="18" charset="0"/>
                            <a:cs typeface="Times New Roman" panose="02020603050405020304" pitchFamily="18" charset="0"/>
                          </a:rPr>
                          <m:t>s</m:t>
                        </m:r>
                      </m:den>
                    </m:f>
                  </m:oMath>
                </a14:m>
                <a:endParaRPr lang="en-IN" sz="2200" dirty="0">
                  <a:latin typeface="Times New Roman" panose="02020603050405020304" pitchFamily="18" charset="0"/>
                  <a:cs typeface="Times New Roman" panose="02020603050405020304" pitchFamily="18" charset="0"/>
                </a:endParaRPr>
              </a:p>
              <a:p>
                <a:pPr>
                  <a:lnSpc>
                    <a:spcPct val="150000"/>
                  </a:lnSpc>
                </a:pPr>
                <a:r>
                  <a:rPr lang="en-IN" sz="2200" dirty="0">
                    <a:latin typeface="Times New Roman" panose="02020603050405020304" pitchFamily="18" charset="0"/>
                    <a:cs typeface="Times New Roman" panose="02020603050405020304" pitchFamily="18" charset="0"/>
                  </a:rPr>
                  <a:t>Now </a:t>
                </a:r>
                <a:r>
                  <a:rPr lang="en-IN" sz="2400" dirty="0">
                    <a:latin typeface="Times New Roman" panose="02020603050405020304" pitchFamily="18" charset="0"/>
                    <a:cs typeface="Times New Roman" panose="02020603050405020304" pitchFamily="18" charset="0"/>
                  </a:rPr>
                  <a:t>ℒ </a:t>
                </a:r>
                <a14:m>
                  <m:oMath xmlns:m="http://schemas.openxmlformats.org/officeDocument/2006/math">
                    <m:d>
                      <m:dPr>
                        <m:begChr m:val="["/>
                        <m:endChr m:val="]"/>
                        <m:ctrlPr>
                          <a:rPr lang="en-IN" sz="2400" i="1" smtClean="0">
                            <a:latin typeface="Cambria Math" panose="02040503050406030204" pitchFamily="18" charset="0"/>
                            <a:cs typeface="Times New Roman" panose="02020603050405020304" pitchFamily="18" charset="0"/>
                          </a:rPr>
                        </m:ctrlPr>
                      </m:dPr>
                      <m:e>
                        <m:sSup>
                          <m:sSupPr>
                            <m:ctrlPr>
                              <a:rPr lang="en-IN" sz="2400" i="1" smtClean="0">
                                <a:latin typeface="Cambria Math" panose="02040503050406030204" pitchFamily="18" charset="0"/>
                                <a:cs typeface="Times New Roman" panose="02020603050405020304" pitchFamily="18" charset="0"/>
                              </a:rPr>
                            </m:ctrlPr>
                          </m:sSupPr>
                          <m:e>
                            <m:r>
                              <m:rPr>
                                <m:sty m:val="p"/>
                              </m:rPr>
                              <a:rPr lang="en-US" sz="2400" b="0" i="1" smtClean="0">
                                <a:latin typeface="Cambria Math" panose="02040503050406030204" pitchFamily="18" charset="0"/>
                                <a:cs typeface="Times New Roman" panose="02020603050405020304" pitchFamily="18" charset="0"/>
                              </a:rPr>
                              <m:t>e</m:t>
                            </m:r>
                          </m:e>
                          <m:sup>
                            <m:r>
                              <a:rPr lang="en-US" sz="2400" b="0" i="1" smtClean="0">
                                <a:latin typeface="Cambria Math" panose="02040503050406030204" pitchFamily="18" charset="0"/>
                                <a:cs typeface="Times New Roman" panose="02020603050405020304" pitchFamily="18" charset="0"/>
                              </a:rPr>
                              <m:t>−</m:t>
                            </m:r>
                            <m:r>
                              <m:rPr>
                                <m:sty m:val="p"/>
                              </m:rPr>
                              <a:rPr lang="en-US" sz="2400" b="0" i="1" smtClean="0">
                                <a:latin typeface="Cambria Math" panose="02040503050406030204" pitchFamily="18" charset="0"/>
                                <a:cs typeface="Times New Roman" panose="02020603050405020304" pitchFamily="18" charset="0"/>
                              </a:rPr>
                              <m:t>at</m:t>
                            </m:r>
                          </m:sup>
                        </m:sSup>
                        <m:r>
                          <a:rPr lang="en-US" sz="2400" b="0" i="1" smtClean="0">
                            <a:latin typeface="Cambria Math" panose="02040503050406030204" pitchFamily="18" charset="0"/>
                            <a:cs typeface="Times New Roman" panose="02020603050405020304" pitchFamily="18" charset="0"/>
                          </a:rPr>
                          <m:t> </m:t>
                        </m:r>
                        <m:sSup>
                          <m:sSupPr>
                            <m:ctrlPr>
                              <a:rPr lang="en-IN" sz="2400" b="0" i="1" smtClean="0">
                                <a:latin typeface="Cambria Math" panose="02040503050406030204" pitchFamily="18" charset="0"/>
                                <a:cs typeface="Times New Roman" panose="02020603050405020304" pitchFamily="18" charset="0"/>
                              </a:rPr>
                            </m:ctrlPr>
                          </m:sSupPr>
                          <m:e>
                            <m:r>
                              <m:rPr>
                                <m:sty m:val="p"/>
                              </m:rPr>
                              <a:rPr lang="en-US" sz="2400" b="0" i="1" smtClean="0">
                                <a:latin typeface="Cambria Math" panose="02040503050406030204" pitchFamily="18" charset="0"/>
                                <a:cs typeface="Times New Roman" panose="02020603050405020304" pitchFamily="18" charset="0"/>
                              </a:rPr>
                              <m:t>t</m:t>
                            </m:r>
                          </m:e>
                          <m:sup>
                            <m:r>
                              <m:rPr>
                                <m:sty m:val="p"/>
                              </m:rPr>
                              <a:rPr lang="en-US" sz="2400" b="0" i="1" smtClean="0">
                                <a:latin typeface="Cambria Math" panose="02040503050406030204" pitchFamily="18" charset="0"/>
                                <a:cs typeface="Times New Roman" panose="02020603050405020304" pitchFamily="18" charset="0"/>
                              </a:rPr>
                              <m:t>n</m:t>
                            </m:r>
                          </m:sup>
                        </m:sSup>
                      </m:e>
                    </m:d>
                  </m:oMath>
                </a14:m>
                <a:r>
                  <a:rPr lang="en-IN" sz="2400" dirty="0">
                    <a:latin typeface="Times New Roman" panose="02020603050405020304" pitchFamily="18" charset="0"/>
                    <a:cs typeface="Times New Roman" panose="02020603050405020304" pitchFamily="18" charset="0"/>
                  </a:rPr>
                  <a:t> = </a:t>
                </a:r>
                <a14:m>
                  <m:oMath xmlns:m="http://schemas.openxmlformats.org/officeDocument/2006/math">
                    <m:f>
                      <m:fPr>
                        <m:ctrlPr>
                          <a:rPr lang="en-IN" sz="2400" i="1" smtClean="0">
                            <a:latin typeface="Cambria Math" panose="02040503050406030204" pitchFamily="18" charset="0"/>
                            <a:cs typeface="Times New Roman" panose="02020603050405020304" pitchFamily="18" charset="0"/>
                          </a:rPr>
                        </m:ctrlPr>
                      </m:fPr>
                      <m:num>
                        <m:r>
                          <m:rPr>
                            <m:sty m:val="p"/>
                          </m:rPr>
                          <a:rPr lang="en-US" sz="2400" b="0" i="1" smtClean="0">
                            <a:latin typeface="Cambria Math" panose="02040503050406030204" pitchFamily="18" charset="0"/>
                            <a:cs typeface="Times New Roman" panose="02020603050405020304" pitchFamily="18" charset="0"/>
                          </a:rPr>
                          <m:t>n</m:t>
                        </m:r>
                        <m:r>
                          <a:rPr lang="en-US" sz="2400" b="0" i="1" smtClean="0">
                            <a:latin typeface="Cambria Math" panose="02040503050406030204" pitchFamily="18" charset="0"/>
                            <a:cs typeface="Times New Roman" panose="02020603050405020304" pitchFamily="18" charset="0"/>
                          </a:rPr>
                          <m:t>!</m:t>
                        </m:r>
                      </m:num>
                      <m:den>
                        <m:sSup>
                          <m:sSupPr>
                            <m:ctrlPr>
                              <a:rPr lang="en-IN" sz="2400" i="1" smtClean="0">
                                <a:latin typeface="Cambria Math" panose="02040503050406030204" pitchFamily="18" charset="0"/>
                                <a:cs typeface="Times New Roman" panose="02020603050405020304" pitchFamily="18" charset="0"/>
                              </a:rPr>
                            </m:ctrlPr>
                          </m:sSupPr>
                          <m:e>
                            <m:r>
                              <a:rPr lang="en-US" sz="2400" b="0" i="1" smtClean="0">
                                <a:latin typeface="Cambria Math" panose="02040503050406030204" pitchFamily="18" charset="0"/>
                                <a:cs typeface="Times New Roman" panose="02020603050405020304" pitchFamily="18" charset="0"/>
                              </a:rPr>
                              <m:t>(</m:t>
                            </m:r>
                            <m:r>
                              <m:rPr>
                                <m:sty m:val="p"/>
                              </m:rPr>
                              <a:rPr lang="en-US" sz="2400" b="0" i="1" smtClean="0">
                                <a:latin typeface="Cambria Math" panose="02040503050406030204" pitchFamily="18" charset="0"/>
                                <a:cs typeface="Times New Roman" panose="02020603050405020304" pitchFamily="18" charset="0"/>
                              </a:rPr>
                              <m:t>s</m:t>
                            </m:r>
                            <m:r>
                              <a:rPr lang="en-US" sz="2400" b="0" i="1" smtClean="0">
                                <a:latin typeface="Cambria Math" panose="02040503050406030204" pitchFamily="18" charset="0"/>
                                <a:cs typeface="Times New Roman" panose="02020603050405020304" pitchFamily="18" charset="0"/>
                              </a:rPr>
                              <m:t>+</m:t>
                            </m:r>
                            <m:r>
                              <m:rPr>
                                <m:sty m:val="p"/>
                              </m:rPr>
                              <a:rPr lang="en-US" sz="2400" b="0" i="1" smtClean="0">
                                <a:latin typeface="Cambria Math" panose="02040503050406030204" pitchFamily="18" charset="0"/>
                                <a:cs typeface="Times New Roman" panose="02020603050405020304" pitchFamily="18" charset="0"/>
                              </a:rPr>
                              <m:t>a</m:t>
                            </m:r>
                            <m:r>
                              <a:rPr lang="en-US" sz="2400" b="0" i="1" smtClean="0">
                                <a:latin typeface="Cambria Math" panose="02040503050406030204" pitchFamily="18" charset="0"/>
                                <a:cs typeface="Times New Roman" panose="02020603050405020304" pitchFamily="18" charset="0"/>
                              </a:rPr>
                              <m:t>)</m:t>
                            </m:r>
                          </m:e>
                          <m:sup>
                            <m:r>
                              <m:rPr>
                                <m:sty m:val="p"/>
                              </m:rPr>
                              <a:rPr lang="en-US" sz="2400" b="0" i="1" smtClean="0">
                                <a:latin typeface="Cambria Math" panose="02040503050406030204" pitchFamily="18" charset="0"/>
                                <a:cs typeface="Times New Roman" panose="02020603050405020304" pitchFamily="18" charset="0"/>
                              </a:rPr>
                              <m:t>n</m:t>
                            </m:r>
                            <m:r>
                              <a:rPr lang="en-US" sz="2400" b="0" i="1" smtClean="0">
                                <a:latin typeface="Cambria Math" panose="02040503050406030204" pitchFamily="18" charset="0"/>
                                <a:cs typeface="Times New Roman" panose="02020603050405020304" pitchFamily="18" charset="0"/>
                              </a:rPr>
                              <m:t>+1</m:t>
                            </m:r>
                          </m:sup>
                        </m:sSup>
                      </m:den>
                    </m:f>
                  </m:oMath>
                </a14:m>
                <a:endParaRPr lang="en-IN" sz="2400" dirty="0">
                  <a:latin typeface="Times New Roman" panose="02020603050405020304" pitchFamily="18" charset="0"/>
                  <a:cs typeface="Times New Roman" panose="02020603050405020304" pitchFamily="18" charset="0"/>
                </a:endParaRPr>
              </a:p>
            </p:txBody>
          </p:sp>
        </mc:Choice>
        <mc:Fallback xmlns="">
          <p:sp>
            <p:nvSpPr>
              <p:cNvPr id="3" name="TextBox 2">
                <a:extLst>
                  <a:ext uri="{FF2B5EF4-FFF2-40B4-BE49-F238E27FC236}">
                    <a16:creationId xmlns:a16="http://schemas.microsoft.com/office/drawing/2014/main" id="{9EAAE9E4-5F5C-5FCC-9B66-FC46EC8386D0}"/>
                  </a:ext>
                </a:extLst>
              </p:cNvPr>
              <p:cNvSpPr txBox="1">
                <a:spLocks noRot="1" noChangeAspect="1" noMove="1" noResize="1" noEditPoints="1" noAdjustHandles="1" noChangeArrowheads="1" noChangeShapeType="1" noTextEdit="1"/>
              </p:cNvSpPr>
              <p:nvPr/>
            </p:nvSpPr>
            <p:spPr>
              <a:xfrm>
                <a:off x="375858" y="785795"/>
                <a:ext cx="11410122" cy="5230471"/>
              </a:xfrm>
              <a:prstGeom prst="rect">
                <a:avLst/>
              </a:prstGeom>
              <a:blipFill>
                <a:blip r:embed="rId2"/>
                <a:stretch>
                  <a:fillRect l="-695"/>
                </a:stretch>
              </a:blipFill>
            </p:spPr>
            <p:txBody>
              <a:bodyPr/>
              <a:lstStyle/>
              <a:p>
                <a:r>
                  <a:rPr lang="en-IN">
                    <a:noFill/>
                  </a:rPr>
                  <a:t> </a:t>
                </a:r>
              </a:p>
            </p:txBody>
          </p:sp>
        </mc:Fallback>
      </mc:AlternateContent>
    </p:spTree>
    <p:extLst>
      <p:ext uri="{BB962C8B-B14F-4D97-AF65-F5344CB8AC3E}">
        <p14:creationId xmlns:p14="http://schemas.microsoft.com/office/powerpoint/2010/main" val="11491476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324998-3F53-55A6-7100-F9107F6442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BEC018-1A4C-E607-895C-03D2CBEA9BD7}"/>
              </a:ext>
            </a:extLst>
          </p:cNvPr>
          <p:cNvSpPr>
            <a:spLocks noGrp="1"/>
          </p:cNvSpPr>
          <p:nvPr>
            <p:ph type="title"/>
          </p:nvPr>
        </p:nvSpPr>
        <p:spPr>
          <a:xfrm>
            <a:off x="285003" y="71415"/>
            <a:ext cx="11591833" cy="714380"/>
          </a:xfrm>
        </p:spPr>
        <p:txBody>
          <a:bodyPr>
            <a:normAutofit/>
          </a:bodyPr>
          <a:lstStyle/>
          <a:p>
            <a:r>
              <a:rPr lang="en-IN" sz="2800" dirty="0">
                <a:solidFill>
                  <a:srgbClr val="00B050"/>
                </a:solidFill>
                <a:latin typeface="Times New Roman" pitchFamily="18" charset="0"/>
                <a:cs typeface="Times New Roman" pitchFamily="18" charset="0"/>
              </a:rPr>
              <a:t>LAPLACE TRANSFORM</a:t>
            </a:r>
            <a:endParaRPr lang="en-US" sz="2800" dirty="0">
              <a:solidFill>
                <a:srgbClr val="FF0000"/>
              </a:solidFill>
              <a:latin typeface="Times New Roman" pitchFamily="18" charset="0"/>
              <a:cs typeface="Times New Roman" pitchFamily="18" charset="0"/>
            </a:endParaRPr>
          </a:p>
        </p:txBody>
      </p:sp>
      <p:sp>
        <p:nvSpPr>
          <p:cNvPr id="14" name="TextBox 13">
            <a:extLst>
              <a:ext uri="{FF2B5EF4-FFF2-40B4-BE49-F238E27FC236}">
                <a16:creationId xmlns:a16="http://schemas.microsoft.com/office/drawing/2014/main" id="{A33D1402-57C9-FF27-DDB9-E5D5D6603358}"/>
              </a:ext>
            </a:extLst>
          </p:cNvPr>
          <p:cNvSpPr txBox="1"/>
          <p:nvPr/>
        </p:nvSpPr>
        <p:spPr>
          <a:xfrm>
            <a:off x="608092" y="6113018"/>
            <a:ext cx="5472827" cy="246221"/>
          </a:xfrm>
          <a:prstGeom prst="rect">
            <a:avLst/>
          </a:prstGeom>
          <a:noFill/>
        </p:spPr>
        <p:txBody>
          <a:bodyPr wrap="square" rtlCol="0">
            <a:spAutoFit/>
          </a:bodyPr>
          <a:lstStyle/>
          <a:p>
            <a:r>
              <a:rPr lang="en-US" sz="1000" dirty="0"/>
              <a:t>Reference: Network Analysis &amp; Synthesis by Uday Bakshi and Ajay Bakshi, Technical Publications Pune</a:t>
            </a:r>
            <a:endParaRPr lang="en-IN" sz="1000" dirty="0"/>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0A4DC80F-FDC4-CE04-A3DE-D3FB5930EA98}"/>
                  </a:ext>
                </a:extLst>
              </p:cNvPr>
              <p:cNvSpPr txBox="1"/>
              <p:nvPr/>
            </p:nvSpPr>
            <p:spPr>
              <a:xfrm>
                <a:off x="375858" y="785795"/>
                <a:ext cx="11410122" cy="3335593"/>
              </a:xfrm>
              <a:prstGeom prst="rect">
                <a:avLst/>
              </a:prstGeom>
              <a:noFill/>
            </p:spPr>
            <p:txBody>
              <a:bodyPr wrap="square" rtlCol="0">
                <a:spAutoFit/>
              </a:bodyPr>
              <a:lstStyle/>
              <a:p>
                <a:pPr>
                  <a:lnSpc>
                    <a:spcPct val="150000"/>
                  </a:lnSpc>
                </a:pPr>
                <a:r>
                  <a:rPr lang="en-IN" sz="2200" dirty="0">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ℒ </a:t>
                </a:r>
                <a:r>
                  <a:rPr lang="en-IN" sz="2400" baseline="30000" dirty="0">
                    <a:latin typeface="Times New Roman" panose="02020603050405020304" pitchFamily="18" charset="0"/>
                    <a:cs typeface="Times New Roman" panose="02020603050405020304" pitchFamily="18" charset="0"/>
                  </a:rPr>
                  <a:t>-1</a:t>
                </a:r>
                <a14:m>
                  <m:oMath xmlns:m="http://schemas.openxmlformats.org/officeDocument/2006/math">
                    <m:d>
                      <m:dPr>
                        <m:begChr m:val="["/>
                        <m:endChr m:val="]"/>
                        <m:ctrlPr>
                          <a:rPr lang="en-IN" sz="2400" i="1" smtClean="0">
                            <a:latin typeface="Cambria Math" panose="02040503050406030204" pitchFamily="18" charset="0"/>
                            <a:cs typeface="Times New Roman" panose="02020603050405020304" pitchFamily="18" charset="0"/>
                          </a:rPr>
                        </m:ctrlPr>
                      </m:dPr>
                      <m:e>
                        <m:f>
                          <m:fPr>
                            <m:ctrlPr>
                              <a:rPr lang="en-US" sz="2400" i="1" smtClean="0">
                                <a:latin typeface="Cambria Math" panose="02040503050406030204" pitchFamily="18" charset="0"/>
                                <a:cs typeface="Times New Roman" panose="02020603050405020304" pitchFamily="18" charset="0"/>
                              </a:rPr>
                            </m:ctrlPr>
                          </m:fPr>
                          <m:num>
                            <m:r>
                              <a:rPr lang="en-US" sz="2400" b="0" i="1" smtClean="0">
                                <a:latin typeface="Cambria Math" panose="02040503050406030204" pitchFamily="18" charset="0"/>
                                <a:cs typeface="Times New Roman" panose="02020603050405020304" pitchFamily="18" charset="0"/>
                              </a:rPr>
                              <m:t>1</m:t>
                            </m:r>
                          </m:num>
                          <m:den>
                            <m:sSup>
                              <m:sSupPr>
                                <m:ctrlPr>
                                  <a:rPr lang="en-US" sz="2400" i="1" smtClean="0">
                                    <a:latin typeface="Cambria Math" panose="02040503050406030204" pitchFamily="18" charset="0"/>
                                    <a:cs typeface="Times New Roman" panose="02020603050405020304" pitchFamily="18" charset="0"/>
                                  </a:rPr>
                                </m:ctrlPr>
                              </m:sSupPr>
                              <m:e>
                                <m:r>
                                  <a:rPr lang="en-US" sz="2400" b="0" i="1" smtClean="0">
                                    <a:latin typeface="Cambria Math" panose="02040503050406030204" pitchFamily="18" charset="0"/>
                                    <a:cs typeface="Times New Roman" panose="02020603050405020304" pitchFamily="18" charset="0"/>
                                  </a:rPr>
                                  <m:t>(</m:t>
                                </m:r>
                                <m:r>
                                  <m:rPr>
                                    <m:sty m:val="p"/>
                                  </m:rPr>
                                  <a:rPr lang="en-US" sz="2400" b="0" i="1" smtClean="0">
                                    <a:latin typeface="Cambria Math" panose="02040503050406030204" pitchFamily="18" charset="0"/>
                                    <a:cs typeface="Times New Roman" panose="02020603050405020304" pitchFamily="18" charset="0"/>
                                  </a:rPr>
                                  <m:t>s</m:t>
                                </m:r>
                                <m:r>
                                  <a:rPr lang="en-US" sz="2400" b="0" i="1" smtClean="0">
                                    <a:latin typeface="Cambria Math" panose="02040503050406030204" pitchFamily="18" charset="0"/>
                                    <a:cs typeface="Times New Roman" panose="02020603050405020304" pitchFamily="18" charset="0"/>
                                  </a:rPr>
                                  <m:t>+</m:t>
                                </m:r>
                                <m:r>
                                  <m:rPr>
                                    <m:sty m:val="p"/>
                                  </m:rPr>
                                  <a:rPr lang="en-US" sz="2400" b="0" i="1" smtClean="0">
                                    <a:latin typeface="Cambria Math" panose="02040503050406030204" pitchFamily="18" charset="0"/>
                                    <a:cs typeface="Times New Roman" panose="02020603050405020304" pitchFamily="18" charset="0"/>
                                  </a:rPr>
                                  <m:t>a</m:t>
                                </m:r>
                                <m:r>
                                  <a:rPr lang="en-US" sz="2400" b="0" i="1" smtClean="0">
                                    <a:latin typeface="Cambria Math" panose="02040503050406030204" pitchFamily="18" charset="0"/>
                                    <a:cs typeface="Times New Roman" panose="02020603050405020304" pitchFamily="18" charset="0"/>
                                  </a:rPr>
                                  <m:t>)</m:t>
                                </m:r>
                              </m:e>
                              <m:sup>
                                <m:r>
                                  <m:rPr>
                                    <m:sty m:val="p"/>
                                  </m:rPr>
                                  <a:rPr lang="en-US" sz="2400" b="0" i="1" smtClean="0">
                                    <a:latin typeface="Cambria Math" panose="02040503050406030204" pitchFamily="18" charset="0"/>
                                    <a:cs typeface="Times New Roman" panose="02020603050405020304" pitchFamily="18" charset="0"/>
                                  </a:rPr>
                                  <m:t>n</m:t>
                                </m:r>
                                <m:r>
                                  <a:rPr lang="en-US" sz="2400" b="0" i="1" smtClean="0">
                                    <a:latin typeface="Cambria Math" panose="02040503050406030204" pitchFamily="18" charset="0"/>
                                    <a:cs typeface="Times New Roman" panose="02020603050405020304" pitchFamily="18" charset="0"/>
                                  </a:rPr>
                                  <m:t>+1</m:t>
                                </m:r>
                              </m:sup>
                            </m:sSup>
                          </m:den>
                        </m:f>
                      </m:e>
                    </m:d>
                  </m:oMath>
                </a14:m>
                <a:r>
                  <a:rPr lang="en-IN" sz="2400" dirty="0">
                    <a:latin typeface="Times New Roman" panose="02020603050405020304" pitchFamily="18" charset="0"/>
                    <a:cs typeface="Times New Roman" panose="02020603050405020304" pitchFamily="18" charset="0"/>
                  </a:rPr>
                  <a:t> = </a:t>
                </a:r>
                <a14:m>
                  <m:oMath xmlns:m="http://schemas.openxmlformats.org/officeDocument/2006/math">
                    <m:f>
                      <m:fPr>
                        <m:ctrlPr>
                          <a:rPr lang="en-IN" sz="2400" i="1" smtClean="0">
                            <a:latin typeface="Cambria Math" panose="02040503050406030204" pitchFamily="18" charset="0"/>
                            <a:cs typeface="Times New Roman" panose="02020603050405020304" pitchFamily="18" charset="0"/>
                          </a:rPr>
                        </m:ctrlPr>
                      </m:fPr>
                      <m:num>
                        <m:sSup>
                          <m:sSupPr>
                            <m:ctrlPr>
                              <a:rPr lang="en-US" sz="2400" i="1" smtClean="0">
                                <a:latin typeface="Cambria Math" panose="02040503050406030204" pitchFamily="18" charset="0"/>
                                <a:cs typeface="Times New Roman" panose="02020603050405020304" pitchFamily="18" charset="0"/>
                              </a:rPr>
                            </m:ctrlPr>
                          </m:sSupPr>
                          <m:e>
                            <m:r>
                              <m:rPr>
                                <m:sty m:val="p"/>
                              </m:rPr>
                              <a:rPr lang="en-US" sz="2400" b="0" i="1" smtClean="0">
                                <a:latin typeface="Cambria Math" panose="02040503050406030204" pitchFamily="18" charset="0"/>
                                <a:cs typeface="Times New Roman" panose="02020603050405020304" pitchFamily="18" charset="0"/>
                              </a:rPr>
                              <m:t>e</m:t>
                            </m:r>
                          </m:e>
                          <m:sup>
                            <m:r>
                              <a:rPr lang="en-US" sz="2400" b="0" i="1" smtClean="0">
                                <a:latin typeface="Cambria Math" panose="02040503050406030204" pitchFamily="18" charset="0"/>
                                <a:cs typeface="Times New Roman" panose="02020603050405020304" pitchFamily="18" charset="0"/>
                              </a:rPr>
                              <m:t>−</m:t>
                            </m:r>
                            <m:r>
                              <m:rPr>
                                <m:sty m:val="p"/>
                              </m:rPr>
                              <a:rPr lang="en-US" sz="2400" b="0" i="1" smtClean="0">
                                <a:latin typeface="Cambria Math" panose="02040503050406030204" pitchFamily="18" charset="0"/>
                                <a:cs typeface="Times New Roman" panose="02020603050405020304" pitchFamily="18" charset="0"/>
                              </a:rPr>
                              <m:t>at</m:t>
                            </m:r>
                          </m:sup>
                        </m:sSup>
                        <m:r>
                          <a:rPr lang="en-US" sz="2400" b="0" i="1" smtClean="0">
                            <a:latin typeface="Cambria Math" panose="02040503050406030204" pitchFamily="18" charset="0"/>
                            <a:cs typeface="Times New Roman" panose="02020603050405020304" pitchFamily="18" charset="0"/>
                          </a:rPr>
                          <m:t> </m:t>
                        </m:r>
                        <m:sSup>
                          <m:sSupPr>
                            <m:ctrlPr>
                              <a:rPr lang="en-US" sz="2400" b="0" i="1" smtClean="0">
                                <a:latin typeface="Cambria Math" panose="02040503050406030204" pitchFamily="18" charset="0"/>
                                <a:cs typeface="Times New Roman" panose="02020603050405020304" pitchFamily="18" charset="0"/>
                              </a:rPr>
                            </m:ctrlPr>
                          </m:sSupPr>
                          <m:e>
                            <m:r>
                              <m:rPr>
                                <m:sty m:val="p"/>
                              </m:rPr>
                              <a:rPr lang="en-US" sz="2400" b="0" i="1" smtClean="0">
                                <a:latin typeface="Cambria Math" panose="02040503050406030204" pitchFamily="18" charset="0"/>
                                <a:cs typeface="Times New Roman" panose="02020603050405020304" pitchFamily="18" charset="0"/>
                              </a:rPr>
                              <m:t>t</m:t>
                            </m:r>
                          </m:e>
                          <m:sup>
                            <m:r>
                              <m:rPr>
                                <m:sty m:val="p"/>
                              </m:rPr>
                              <a:rPr lang="en-US" sz="2400" b="0" i="1" smtClean="0">
                                <a:latin typeface="Cambria Math" panose="02040503050406030204" pitchFamily="18" charset="0"/>
                                <a:cs typeface="Times New Roman" panose="02020603050405020304" pitchFamily="18" charset="0"/>
                              </a:rPr>
                              <m:t>n</m:t>
                            </m:r>
                          </m:sup>
                        </m:sSup>
                      </m:num>
                      <m:den>
                        <m:r>
                          <m:rPr>
                            <m:sty m:val="p"/>
                          </m:rPr>
                          <a:rPr lang="en-US" sz="2400" b="0" i="1" smtClean="0">
                            <a:latin typeface="Cambria Math" panose="02040503050406030204" pitchFamily="18" charset="0"/>
                            <a:cs typeface="Times New Roman" panose="02020603050405020304" pitchFamily="18" charset="0"/>
                          </a:rPr>
                          <m:t>n</m:t>
                        </m:r>
                        <m:r>
                          <a:rPr lang="en-US" sz="2400" b="0" i="1" smtClean="0">
                            <a:latin typeface="Cambria Math" panose="02040503050406030204" pitchFamily="18" charset="0"/>
                            <a:cs typeface="Times New Roman" panose="02020603050405020304" pitchFamily="18" charset="0"/>
                          </a:rPr>
                          <m:t>!</m:t>
                        </m:r>
                      </m:den>
                    </m:f>
                  </m:oMath>
                </a14:m>
                <a:endParaRPr lang="en-IN" sz="2400" dirty="0">
                  <a:latin typeface="Times New Roman" panose="02020603050405020304" pitchFamily="18" charset="0"/>
                  <a:cs typeface="Times New Roman" panose="02020603050405020304" pitchFamily="18" charset="0"/>
                </a:endParaRPr>
              </a:p>
              <a:p>
                <a:pPr>
                  <a:lnSpc>
                    <a:spcPct val="150000"/>
                  </a:lnSpc>
                </a:pPr>
                <a:r>
                  <a:rPr lang="en-IN" sz="2200" dirty="0">
                    <a:latin typeface="Times New Roman" panose="02020603050405020304" pitchFamily="18" charset="0"/>
                    <a:cs typeface="Times New Roman" panose="02020603050405020304" pitchFamily="18" charset="0"/>
                  </a:rPr>
                  <a:t>F(s) = </a:t>
                </a:r>
                <a:r>
                  <a:rPr lang="en-IN" sz="2400" dirty="0">
                    <a:latin typeface="Times New Roman" panose="02020603050405020304" pitchFamily="18" charset="0"/>
                    <a:cs typeface="Times New Roman" panose="02020603050405020304" pitchFamily="18" charset="0"/>
                  </a:rPr>
                  <a:t>3 . </a:t>
                </a:r>
                <a14:m>
                  <m:oMath xmlns:m="http://schemas.openxmlformats.org/officeDocument/2006/math">
                    <m:f>
                      <m:fPr>
                        <m:ctrlPr>
                          <a:rPr lang="en-IN" sz="2400" i="1" smtClean="0">
                            <a:latin typeface="Cambria Math" panose="02040503050406030204" pitchFamily="18" charset="0"/>
                            <a:cs typeface="Times New Roman" panose="02020603050405020304" pitchFamily="18" charset="0"/>
                          </a:rPr>
                        </m:ctrlPr>
                      </m:fPr>
                      <m:num>
                        <m:r>
                          <a:rPr lang="en-US" sz="2400" b="0" i="1" smtClean="0">
                            <a:latin typeface="Cambria Math" panose="02040503050406030204" pitchFamily="18" charset="0"/>
                            <a:cs typeface="Times New Roman" panose="02020603050405020304" pitchFamily="18" charset="0"/>
                          </a:rPr>
                          <m:t>1</m:t>
                        </m:r>
                      </m:num>
                      <m:den>
                        <m:sSup>
                          <m:sSupPr>
                            <m:ctrlPr>
                              <a:rPr lang="en-IN" sz="2400" i="1" smtClean="0">
                                <a:latin typeface="Cambria Math" panose="02040503050406030204" pitchFamily="18" charset="0"/>
                                <a:cs typeface="Times New Roman" panose="02020603050405020304" pitchFamily="18" charset="0"/>
                              </a:rPr>
                            </m:ctrlPr>
                          </m:sSupPr>
                          <m:e>
                            <m:r>
                              <a:rPr lang="en-US" sz="2400" b="0" i="1" smtClean="0">
                                <a:latin typeface="Cambria Math" panose="02040503050406030204" pitchFamily="18" charset="0"/>
                                <a:cs typeface="Times New Roman" panose="02020603050405020304" pitchFamily="18" charset="0"/>
                              </a:rPr>
                              <m:t>(</m:t>
                            </m:r>
                            <m:r>
                              <m:rPr>
                                <m:sty m:val="p"/>
                              </m:rPr>
                              <a:rPr lang="en-US" sz="2400" b="0" i="1" smtClean="0">
                                <a:latin typeface="Cambria Math" panose="02040503050406030204" pitchFamily="18" charset="0"/>
                                <a:cs typeface="Times New Roman" panose="02020603050405020304" pitchFamily="18" charset="0"/>
                              </a:rPr>
                              <m:t>s</m:t>
                            </m:r>
                            <m:r>
                              <a:rPr lang="en-US" sz="2400" b="0" i="1" smtClean="0">
                                <a:latin typeface="Cambria Math" panose="02040503050406030204" pitchFamily="18" charset="0"/>
                                <a:cs typeface="Times New Roman" panose="02020603050405020304" pitchFamily="18" charset="0"/>
                              </a:rPr>
                              <m:t> +1)</m:t>
                            </m:r>
                          </m:e>
                          <m:sup>
                            <m:r>
                              <a:rPr lang="en-US" sz="2400" b="0" i="1" smtClean="0">
                                <a:latin typeface="Cambria Math" panose="02040503050406030204" pitchFamily="18" charset="0"/>
                                <a:cs typeface="Times New Roman" panose="02020603050405020304" pitchFamily="18" charset="0"/>
                              </a:rPr>
                              <m:t>3</m:t>
                            </m:r>
                          </m:sup>
                        </m:sSup>
                      </m:den>
                    </m:f>
                  </m:oMath>
                </a14:m>
                <a:r>
                  <a:rPr lang="en-IN" sz="2400" dirty="0">
                    <a:latin typeface="Times New Roman" panose="02020603050405020304" pitchFamily="18" charset="0"/>
                    <a:cs typeface="Times New Roman" panose="02020603050405020304" pitchFamily="18" charset="0"/>
                  </a:rPr>
                  <a:t> + 2 . </a:t>
                </a:r>
                <a14:m>
                  <m:oMath xmlns:m="http://schemas.openxmlformats.org/officeDocument/2006/math">
                    <m:f>
                      <m:fPr>
                        <m:ctrlPr>
                          <a:rPr lang="en-IN" sz="2400" i="1" smtClean="0">
                            <a:latin typeface="Cambria Math" panose="02040503050406030204" pitchFamily="18" charset="0"/>
                            <a:cs typeface="Times New Roman" panose="02020603050405020304" pitchFamily="18" charset="0"/>
                          </a:rPr>
                        </m:ctrlPr>
                      </m:fPr>
                      <m:num>
                        <m:r>
                          <a:rPr lang="en-US" sz="2400" b="0" i="1" smtClean="0">
                            <a:latin typeface="Cambria Math" panose="02040503050406030204" pitchFamily="18" charset="0"/>
                            <a:cs typeface="Times New Roman" panose="02020603050405020304" pitchFamily="18" charset="0"/>
                          </a:rPr>
                          <m:t>1</m:t>
                        </m:r>
                      </m:num>
                      <m:den>
                        <m:sSup>
                          <m:sSupPr>
                            <m:ctrlPr>
                              <a:rPr lang="en-IN" sz="2400" i="1" smtClean="0">
                                <a:latin typeface="Cambria Math" panose="02040503050406030204" pitchFamily="18" charset="0"/>
                                <a:cs typeface="Times New Roman" panose="02020603050405020304" pitchFamily="18" charset="0"/>
                              </a:rPr>
                            </m:ctrlPr>
                          </m:sSupPr>
                          <m:e>
                            <m:r>
                              <a:rPr lang="en-US" sz="2400" b="0" i="1" smtClean="0">
                                <a:latin typeface="Cambria Math" panose="02040503050406030204" pitchFamily="18" charset="0"/>
                                <a:cs typeface="Times New Roman" panose="02020603050405020304" pitchFamily="18" charset="0"/>
                              </a:rPr>
                              <m:t>(</m:t>
                            </m:r>
                            <m:r>
                              <m:rPr>
                                <m:sty m:val="p"/>
                              </m:rPr>
                              <a:rPr lang="en-US" sz="2400" b="0" i="1" smtClean="0">
                                <a:latin typeface="Cambria Math" panose="02040503050406030204" pitchFamily="18" charset="0"/>
                                <a:cs typeface="Times New Roman" panose="02020603050405020304" pitchFamily="18" charset="0"/>
                              </a:rPr>
                              <m:t>s</m:t>
                            </m:r>
                            <m:r>
                              <a:rPr lang="en-US" sz="2400" b="0" i="1" smtClean="0">
                                <a:latin typeface="Cambria Math" panose="02040503050406030204" pitchFamily="18" charset="0"/>
                                <a:cs typeface="Times New Roman" panose="02020603050405020304" pitchFamily="18" charset="0"/>
                              </a:rPr>
                              <m:t> +1)</m:t>
                            </m:r>
                          </m:e>
                          <m:sup>
                            <m:r>
                              <a:rPr lang="en-US" sz="2400" b="0" i="1" smtClean="0">
                                <a:latin typeface="Cambria Math" panose="02040503050406030204" pitchFamily="18" charset="0"/>
                                <a:cs typeface="Times New Roman" panose="02020603050405020304" pitchFamily="18" charset="0"/>
                              </a:rPr>
                              <m:t>2</m:t>
                            </m:r>
                          </m:sup>
                        </m:sSup>
                      </m:den>
                    </m:f>
                  </m:oMath>
                </a14:m>
                <a:r>
                  <a:rPr lang="en-IN" sz="2400" dirty="0">
                    <a:latin typeface="Times New Roman" panose="02020603050405020304" pitchFamily="18" charset="0"/>
                    <a:cs typeface="Times New Roman" panose="02020603050405020304" pitchFamily="18" charset="0"/>
                  </a:rPr>
                  <a:t> + 2. </a:t>
                </a:r>
                <a14:m>
                  <m:oMath xmlns:m="http://schemas.openxmlformats.org/officeDocument/2006/math">
                    <m:f>
                      <m:fPr>
                        <m:ctrlPr>
                          <a:rPr lang="en-IN" sz="2400" i="1" smtClean="0">
                            <a:latin typeface="Cambria Math" panose="02040503050406030204" pitchFamily="18" charset="0"/>
                            <a:cs typeface="Times New Roman" panose="02020603050405020304" pitchFamily="18" charset="0"/>
                          </a:rPr>
                        </m:ctrlPr>
                      </m:fPr>
                      <m:num>
                        <m:r>
                          <a:rPr lang="en-US" sz="2400" b="0" i="1" smtClean="0">
                            <a:latin typeface="Cambria Math" panose="02040503050406030204" pitchFamily="18" charset="0"/>
                            <a:cs typeface="Times New Roman" panose="02020603050405020304" pitchFamily="18" charset="0"/>
                          </a:rPr>
                          <m:t>1</m:t>
                        </m:r>
                      </m:num>
                      <m:den>
                        <m:r>
                          <a:rPr lang="en-US" sz="2400" b="0" i="1" smtClean="0">
                            <a:latin typeface="Cambria Math" panose="02040503050406030204" pitchFamily="18" charset="0"/>
                            <a:cs typeface="Times New Roman" panose="02020603050405020304" pitchFamily="18" charset="0"/>
                          </a:rPr>
                          <m:t>(</m:t>
                        </m:r>
                        <m:r>
                          <m:rPr>
                            <m:sty m:val="p"/>
                          </m:rPr>
                          <a:rPr lang="en-US" sz="2400" b="0" i="1" smtClean="0">
                            <a:latin typeface="Cambria Math" panose="02040503050406030204" pitchFamily="18" charset="0"/>
                            <a:cs typeface="Times New Roman" panose="02020603050405020304" pitchFamily="18" charset="0"/>
                          </a:rPr>
                          <m:t>s</m:t>
                        </m:r>
                        <m:r>
                          <a:rPr lang="en-US" sz="2400" b="0" i="1" smtClean="0">
                            <a:latin typeface="Cambria Math" panose="02040503050406030204" pitchFamily="18" charset="0"/>
                            <a:cs typeface="Times New Roman" panose="02020603050405020304" pitchFamily="18" charset="0"/>
                          </a:rPr>
                          <m:t>+1)</m:t>
                        </m:r>
                      </m:den>
                    </m:f>
                  </m:oMath>
                </a14:m>
                <a:r>
                  <a:rPr lang="en-IN" sz="2400" dirty="0">
                    <a:latin typeface="Times New Roman" panose="02020603050405020304" pitchFamily="18" charset="0"/>
                    <a:cs typeface="Times New Roman" panose="02020603050405020304" pitchFamily="18" charset="0"/>
                  </a:rPr>
                  <a:t> - 2 </a:t>
                </a:r>
                <a14:m>
                  <m:oMath xmlns:m="http://schemas.openxmlformats.org/officeDocument/2006/math">
                    <m:f>
                      <m:fPr>
                        <m:ctrlPr>
                          <a:rPr lang="en-IN" sz="2400" i="1" smtClean="0">
                            <a:latin typeface="Cambria Math" panose="02040503050406030204" pitchFamily="18" charset="0"/>
                            <a:cs typeface="Times New Roman" panose="02020603050405020304" pitchFamily="18" charset="0"/>
                          </a:rPr>
                        </m:ctrlPr>
                      </m:fPr>
                      <m:num>
                        <m:r>
                          <a:rPr lang="en-US" sz="2400" b="0" i="1" smtClean="0">
                            <a:latin typeface="Cambria Math" panose="02040503050406030204" pitchFamily="18" charset="0"/>
                            <a:cs typeface="Times New Roman" panose="02020603050405020304" pitchFamily="18" charset="0"/>
                          </a:rPr>
                          <m:t>1</m:t>
                        </m:r>
                      </m:num>
                      <m:den>
                        <m:r>
                          <m:rPr>
                            <m:sty m:val="p"/>
                          </m:rPr>
                          <a:rPr lang="en-US" sz="2400" b="0" i="1" smtClean="0">
                            <a:latin typeface="Cambria Math" panose="02040503050406030204" pitchFamily="18" charset="0"/>
                            <a:cs typeface="Times New Roman" panose="02020603050405020304" pitchFamily="18" charset="0"/>
                          </a:rPr>
                          <m:t>s</m:t>
                        </m:r>
                      </m:den>
                    </m:f>
                    <m:r>
                      <a:rPr lang="en-US" sz="2400" b="0" i="1" smtClean="0">
                        <a:latin typeface="Cambria Math" panose="02040503050406030204" pitchFamily="18" charset="0"/>
                        <a:cs typeface="Times New Roman" panose="02020603050405020304" pitchFamily="18" charset="0"/>
                      </a:rPr>
                      <m:t> </m:t>
                    </m:r>
                  </m:oMath>
                </a14:m>
                <a:endParaRPr lang="en-US" sz="2400" b="0" dirty="0">
                  <a:latin typeface="Times New Roman" panose="02020603050405020304" pitchFamily="18" charset="0"/>
                  <a:cs typeface="Times New Roman" panose="02020603050405020304" pitchFamily="18" charset="0"/>
                </a:endParaRPr>
              </a:p>
              <a:p>
                <a:pPr>
                  <a:lnSpc>
                    <a:spcPct val="150000"/>
                  </a:lnSpc>
                </a:pPr>
                <a:r>
                  <a:rPr lang="en-IN" sz="2200" dirty="0">
                    <a:latin typeface="Times New Roman" panose="02020603050405020304" pitchFamily="18" charset="0"/>
                    <a:cs typeface="Times New Roman" panose="02020603050405020304" pitchFamily="18" charset="0"/>
                  </a:rPr>
                  <a:t>f(t) = </a:t>
                </a:r>
                <a:r>
                  <a:rPr lang="en-IN" sz="2400" dirty="0">
                    <a:latin typeface="Times New Roman" panose="02020603050405020304" pitchFamily="18" charset="0"/>
                    <a:cs typeface="Times New Roman" panose="02020603050405020304" pitchFamily="18" charset="0"/>
                  </a:rPr>
                  <a:t>ℒ </a:t>
                </a:r>
                <a:r>
                  <a:rPr lang="en-IN" sz="2400" baseline="30000" dirty="0">
                    <a:latin typeface="Times New Roman" panose="02020603050405020304" pitchFamily="18" charset="0"/>
                    <a:cs typeface="Times New Roman" panose="02020603050405020304" pitchFamily="18" charset="0"/>
                  </a:rPr>
                  <a:t>-1</a:t>
                </a:r>
                <a:r>
                  <a:rPr lang="en-IN" sz="2400" dirty="0">
                    <a:latin typeface="Times New Roman" panose="02020603050405020304" pitchFamily="18" charset="0"/>
                    <a:cs typeface="Times New Roman" panose="02020603050405020304" pitchFamily="18" charset="0"/>
                  </a:rPr>
                  <a:t> F(s) = </a:t>
                </a:r>
                <a14:m>
                  <m:oMath xmlns:m="http://schemas.openxmlformats.org/officeDocument/2006/math">
                    <m:f>
                      <m:fPr>
                        <m:ctrlPr>
                          <a:rPr lang="en-IN" sz="2400" i="1" smtClean="0">
                            <a:latin typeface="Cambria Math" panose="02040503050406030204" pitchFamily="18" charset="0"/>
                            <a:cs typeface="Times New Roman" panose="02020603050405020304" pitchFamily="18" charset="0"/>
                          </a:rPr>
                        </m:ctrlPr>
                      </m:fPr>
                      <m:num>
                        <m:r>
                          <a:rPr lang="en-US" sz="2400" b="0" i="1" smtClean="0">
                            <a:latin typeface="Cambria Math" panose="02040503050406030204" pitchFamily="18" charset="0"/>
                            <a:cs typeface="Times New Roman" panose="02020603050405020304" pitchFamily="18" charset="0"/>
                          </a:rPr>
                          <m:t>3</m:t>
                        </m:r>
                      </m:num>
                      <m:den>
                        <m:r>
                          <a:rPr lang="en-US" sz="2400" b="0" i="1" smtClean="0">
                            <a:latin typeface="Cambria Math" panose="02040503050406030204" pitchFamily="18" charset="0"/>
                            <a:cs typeface="Times New Roman" panose="02020603050405020304" pitchFamily="18" charset="0"/>
                          </a:rPr>
                          <m:t>2!</m:t>
                        </m:r>
                      </m:den>
                    </m:f>
                    <m:sSup>
                      <m:sSupPr>
                        <m:ctrlPr>
                          <a:rPr lang="en-IN" sz="2400" i="1" smtClean="0">
                            <a:latin typeface="Cambria Math" panose="02040503050406030204" pitchFamily="18" charset="0"/>
                            <a:cs typeface="Times New Roman" panose="02020603050405020304" pitchFamily="18" charset="0"/>
                          </a:rPr>
                        </m:ctrlPr>
                      </m:sSupPr>
                      <m:e>
                        <m:r>
                          <m:rPr>
                            <m:sty m:val="p"/>
                          </m:rPr>
                          <a:rPr lang="en-US" sz="2400" b="0" i="1" smtClean="0">
                            <a:latin typeface="Cambria Math" panose="02040503050406030204" pitchFamily="18" charset="0"/>
                            <a:cs typeface="Times New Roman" panose="02020603050405020304" pitchFamily="18" charset="0"/>
                          </a:rPr>
                          <m:t>e</m:t>
                        </m:r>
                      </m:e>
                      <m:sup>
                        <m:r>
                          <a:rPr lang="en-US" sz="2400" b="0" i="1" smtClean="0">
                            <a:latin typeface="Cambria Math" panose="02040503050406030204" pitchFamily="18" charset="0"/>
                            <a:cs typeface="Times New Roman" panose="02020603050405020304" pitchFamily="18" charset="0"/>
                          </a:rPr>
                          <m:t>−</m:t>
                        </m:r>
                        <m:r>
                          <m:rPr>
                            <m:sty m:val="p"/>
                          </m:rPr>
                          <a:rPr lang="en-US" sz="2400" b="0" i="1" smtClean="0">
                            <a:latin typeface="Cambria Math" panose="02040503050406030204" pitchFamily="18" charset="0"/>
                            <a:cs typeface="Times New Roman" panose="02020603050405020304" pitchFamily="18" charset="0"/>
                          </a:rPr>
                          <m:t>t</m:t>
                        </m:r>
                      </m:sup>
                    </m:sSup>
                  </m:oMath>
                </a14:m>
                <a:r>
                  <a:rPr lang="en-IN" sz="2400" baseline="30000" dirty="0">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 . t</a:t>
                </a:r>
                <a:r>
                  <a:rPr lang="en-IN" sz="2400" baseline="30000" dirty="0">
                    <a:latin typeface="Times New Roman" panose="02020603050405020304" pitchFamily="18" charset="0"/>
                    <a:cs typeface="Times New Roman" panose="02020603050405020304" pitchFamily="18" charset="0"/>
                  </a:rPr>
                  <a:t>2</a:t>
                </a:r>
                <a:r>
                  <a:rPr lang="en-IN" sz="2400" dirty="0">
                    <a:latin typeface="Times New Roman" panose="02020603050405020304" pitchFamily="18" charset="0"/>
                    <a:cs typeface="Times New Roman" panose="02020603050405020304" pitchFamily="18" charset="0"/>
                  </a:rPr>
                  <a:t> +</a:t>
                </a:r>
                <a14:m>
                  <m:oMath xmlns:m="http://schemas.openxmlformats.org/officeDocument/2006/math">
                    <m:f>
                      <m:fPr>
                        <m:ctrlPr>
                          <a:rPr lang="en-IN" sz="2400" i="1" smtClean="0">
                            <a:latin typeface="Cambria Math" panose="02040503050406030204" pitchFamily="18" charset="0"/>
                            <a:cs typeface="Times New Roman" panose="02020603050405020304" pitchFamily="18" charset="0"/>
                          </a:rPr>
                        </m:ctrlPr>
                      </m:fPr>
                      <m:num>
                        <m:r>
                          <a:rPr lang="en-US" sz="2400" b="0" i="1" smtClean="0">
                            <a:latin typeface="Cambria Math" panose="02040503050406030204" pitchFamily="18" charset="0"/>
                            <a:cs typeface="Times New Roman" panose="02020603050405020304" pitchFamily="18" charset="0"/>
                          </a:rPr>
                          <m:t>2</m:t>
                        </m:r>
                      </m:num>
                      <m:den>
                        <m:r>
                          <a:rPr lang="en-US" sz="2400" b="0" i="1" smtClean="0">
                            <a:latin typeface="Cambria Math" panose="02040503050406030204" pitchFamily="18" charset="0"/>
                            <a:cs typeface="Times New Roman" panose="02020603050405020304" pitchFamily="18" charset="0"/>
                          </a:rPr>
                          <m:t>1!</m:t>
                        </m:r>
                      </m:den>
                    </m:f>
                  </m:oMath>
                </a14:m>
                <a:r>
                  <a:rPr lang="en-IN" sz="2400" baseline="30000" dirty="0">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 </a:t>
                </a:r>
                <a14:m>
                  <m:oMath xmlns:m="http://schemas.openxmlformats.org/officeDocument/2006/math">
                    <m:sSup>
                      <m:sSupPr>
                        <m:ctrlPr>
                          <a:rPr lang="en-IN" sz="2400" i="1" dirty="0" smtClean="0">
                            <a:latin typeface="Cambria Math" panose="02040503050406030204" pitchFamily="18" charset="0"/>
                            <a:cs typeface="Times New Roman" panose="02020603050405020304" pitchFamily="18" charset="0"/>
                          </a:rPr>
                        </m:ctrlPr>
                      </m:sSupPr>
                      <m:e>
                        <m:r>
                          <m:rPr>
                            <m:sty m:val="p"/>
                          </m:rPr>
                          <a:rPr lang="en-US" sz="2400" b="0" i="1" dirty="0" smtClean="0">
                            <a:latin typeface="Cambria Math" panose="02040503050406030204" pitchFamily="18" charset="0"/>
                            <a:cs typeface="Times New Roman" panose="02020603050405020304" pitchFamily="18" charset="0"/>
                          </a:rPr>
                          <m:t>e</m:t>
                        </m:r>
                      </m:e>
                      <m:sup>
                        <m:r>
                          <a:rPr lang="en-US" sz="2400" b="0" i="1" dirty="0" smtClean="0">
                            <a:latin typeface="Cambria Math" panose="02040503050406030204" pitchFamily="18" charset="0"/>
                            <a:cs typeface="Times New Roman" panose="02020603050405020304" pitchFamily="18" charset="0"/>
                          </a:rPr>
                          <m:t>−</m:t>
                        </m:r>
                        <m:r>
                          <m:rPr>
                            <m:sty m:val="p"/>
                          </m:rPr>
                          <a:rPr lang="en-US" sz="2400" b="0" i="1" dirty="0" smtClean="0">
                            <a:latin typeface="Cambria Math" panose="02040503050406030204" pitchFamily="18" charset="0"/>
                            <a:cs typeface="Times New Roman" panose="02020603050405020304" pitchFamily="18" charset="0"/>
                          </a:rPr>
                          <m:t>t</m:t>
                        </m:r>
                      </m:sup>
                    </m:sSup>
                  </m:oMath>
                </a14:m>
                <a:r>
                  <a:rPr lang="en-IN" sz="2400" dirty="0">
                    <a:latin typeface="Times New Roman" panose="02020603050405020304" pitchFamily="18" charset="0"/>
                    <a:cs typeface="Times New Roman" panose="02020603050405020304" pitchFamily="18" charset="0"/>
                  </a:rPr>
                  <a:t> . t + 2</a:t>
                </a:r>
                <a14:m>
                  <m:oMath xmlns:m="http://schemas.openxmlformats.org/officeDocument/2006/math">
                    <m:sSup>
                      <m:sSupPr>
                        <m:ctrlPr>
                          <a:rPr lang="en-IN" sz="2400" i="1" smtClean="0">
                            <a:latin typeface="Cambria Math" panose="02040503050406030204" pitchFamily="18" charset="0"/>
                            <a:cs typeface="Times New Roman" panose="02020603050405020304" pitchFamily="18" charset="0"/>
                          </a:rPr>
                        </m:ctrlPr>
                      </m:sSupPr>
                      <m:e>
                        <m:r>
                          <m:rPr>
                            <m:sty m:val="p"/>
                          </m:rPr>
                          <a:rPr lang="en-US" sz="2400" b="0" i="1" smtClean="0">
                            <a:latin typeface="Cambria Math" panose="02040503050406030204" pitchFamily="18" charset="0"/>
                            <a:cs typeface="Times New Roman" panose="02020603050405020304" pitchFamily="18" charset="0"/>
                          </a:rPr>
                          <m:t>e</m:t>
                        </m:r>
                      </m:e>
                      <m:sup>
                        <m:r>
                          <a:rPr lang="en-US" sz="2400" b="0" i="1" smtClean="0">
                            <a:latin typeface="Cambria Math" panose="02040503050406030204" pitchFamily="18" charset="0"/>
                            <a:cs typeface="Times New Roman" panose="02020603050405020304" pitchFamily="18" charset="0"/>
                          </a:rPr>
                          <m:t>−</m:t>
                        </m:r>
                        <m:r>
                          <m:rPr>
                            <m:sty m:val="p"/>
                          </m:rPr>
                          <a:rPr lang="en-US" sz="2400" b="0" i="1" smtClean="0">
                            <a:latin typeface="Cambria Math" panose="02040503050406030204" pitchFamily="18" charset="0"/>
                            <a:cs typeface="Times New Roman" panose="02020603050405020304" pitchFamily="18" charset="0"/>
                          </a:rPr>
                          <m:t>t</m:t>
                        </m:r>
                      </m:sup>
                    </m:sSup>
                  </m:oMath>
                </a14:m>
                <a:r>
                  <a:rPr lang="en-IN" sz="2400" dirty="0">
                    <a:latin typeface="Times New Roman" panose="02020603050405020304" pitchFamily="18" charset="0"/>
                    <a:cs typeface="Times New Roman" panose="02020603050405020304" pitchFamily="18" charset="0"/>
                  </a:rPr>
                  <a:t> - 2</a:t>
                </a:r>
              </a:p>
              <a:p>
                <a:pPr>
                  <a:lnSpc>
                    <a:spcPct val="150000"/>
                  </a:lnSpc>
                </a:pPr>
                <a:r>
                  <a:rPr lang="en-IN" sz="2200" dirty="0">
                    <a:latin typeface="Times New Roman" panose="02020603050405020304" pitchFamily="18" charset="0"/>
                    <a:cs typeface="Times New Roman" panose="02020603050405020304" pitchFamily="18" charset="0"/>
                  </a:rPr>
                  <a:t>⸫ f(t) = </a:t>
                </a:r>
                <a14:m>
                  <m:oMath xmlns:m="http://schemas.openxmlformats.org/officeDocument/2006/math">
                    <m:f>
                      <m:fPr>
                        <m:ctrlPr>
                          <a:rPr lang="en-IN" sz="2400" i="1" smtClean="0">
                            <a:latin typeface="Cambria Math" panose="02040503050406030204" pitchFamily="18" charset="0"/>
                            <a:cs typeface="Times New Roman" panose="02020603050405020304" pitchFamily="18" charset="0"/>
                          </a:rPr>
                        </m:ctrlPr>
                      </m:fPr>
                      <m:num>
                        <m:r>
                          <a:rPr lang="en-US" sz="2400" b="0" i="1" smtClean="0">
                            <a:latin typeface="Cambria Math" panose="02040503050406030204" pitchFamily="18" charset="0"/>
                            <a:cs typeface="Times New Roman" panose="02020603050405020304" pitchFamily="18" charset="0"/>
                          </a:rPr>
                          <m:t>3</m:t>
                        </m:r>
                      </m:num>
                      <m:den>
                        <m:r>
                          <a:rPr lang="en-US" sz="2400" b="0" i="1" smtClean="0">
                            <a:latin typeface="Cambria Math" panose="02040503050406030204" pitchFamily="18" charset="0"/>
                            <a:cs typeface="Times New Roman" panose="02020603050405020304" pitchFamily="18" charset="0"/>
                          </a:rPr>
                          <m:t>2</m:t>
                        </m:r>
                      </m:den>
                    </m:f>
                    <m:sSup>
                      <m:sSupPr>
                        <m:ctrlPr>
                          <a:rPr lang="en-IN" sz="2400" i="1" smtClean="0">
                            <a:latin typeface="Cambria Math" panose="02040503050406030204" pitchFamily="18" charset="0"/>
                            <a:cs typeface="Times New Roman" panose="02020603050405020304" pitchFamily="18" charset="0"/>
                          </a:rPr>
                        </m:ctrlPr>
                      </m:sSupPr>
                      <m:e>
                        <m:r>
                          <m:rPr>
                            <m:sty m:val="p"/>
                          </m:rPr>
                          <a:rPr lang="en-US" sz="2400" b="0" i="1" smtClean="0">
                            <a:latin typeface="Cambria Math" panose="02040503050406030204" pitchFamily="18" charset="0"/>
                            <a:cs typeface="Times New Roman" panose="02020603050405020304" pitchFamily="18" charset="0"/>
                          </a:rPr>
                          <m:t>t</m:t>
                        </m:r>
                      </m:e>
                      <m:sup>
                        <m:r>
                          <a:rPr lang="en-US" sz="2400" b="0" i="1" smtClean="0">
                            <a:latin typeface="Cambria Math" panose="02040503050406030204" pitchFamily="18" charset="0"/>
                            <a:cs typeface="Times New Roman" panose="02020603050405020304" pitchFamily="18" charset="0"/>
                          </a:rPr>
                          <m:t>2</m:t>
                        </m:r>
                      </m:sup>
                    </m:sSup>
                    <m:sSup>
                      <m:sSupPr>
                        <m:ctrlPr>
                          <a:rPr lang="en-IN" sz="2400" i="1" smtClean="0">
                            <a:latin typeface="Cambria Math" panose="02040503050406030204" pitchFamily="18" charset="0"/>
                            <a:cs typeface="Times New Roman" panose="02020603050405020304" pitchFamily="18" charset="0"/>
                          </a:rPr>
                        </m:ctrlPr>
                      </m:sSupPr>
                      <m:e>
                        <m:r>
                          <m:rPr>
                            <m:sty m:val="p"/>
                          </m:rPr>
                          <a:rPr lang="en-US" sz="2400" b="0" i="1" smtClean="0">
                            <a:latin typeface="Cambria Math" panose="02040503050406030204" pitchFamily="18" charset="0"/>
                            <a:cs typeface="Times New Roman" panose="02020603050405020304" pitchFamily="18" charset="0"/>
                          </a:rPr>
                          <m:t>e</m:t>
                        </m:r>
                      </m:e>
                      <m:sup>
                        <m:r>
                          <a:rPr lang="en-US" sz="2400" b="0" i="1" smtClean="0">
                            <a:latin typeface="Cambria Math" panose="02040503050406030204" pitchFamily="18" charset="0"/>
                            <a:cs typeface="Times New Roman" panose="02020603050405020304" pitchFamily="18" charset="0"/>
                          </a:rPr>
                          <m:t>−</m:t>
                        </m:r>
                        <m:r>
                          <m:rPr>
                            <m:sty m:val="p"/>
                          </m:rPr>
                          <a:rPr lang="en-US" sz="2400" b="0" i="1" smtClean="0">
                            <a:latin typeface="Cambria Math" panose="02040503050406030204" pitchFamily="18" charset="0"/>
                            <a:cs typeface="Times New Roman" panose="02020603050405020304" pitchFamily="18" charset="0"/>
                          </a:rPr>
                          <m:t>t</m:t>
                        </m:r>
                      </m:sup>
                    </m:sSup>
                  </m:oMath>
                </a14:m>
                <a:r>
                  <a:rPr lang="en-IN" sz="2400" dirty="0">
                    <a:latin typeface="Times New Roman" panose="02020603050405020304" pitchFamily="18" charset="0"/>
                    <a:cs typeface="Times New Roman" panose="02020603050405020304" pitchFamily="18" charset="0"/>
                  </a:rPr>
                  <a:t> + 2 t </a:t>
                </a:r>
                <a14:m>
                  <m:oMath xmlns:m="http://schemas.openxmlformats.org/officeDocument/2006/math">
                    <m:sSup>
                      <m:sSupPr>
                        <m:ctrlPr>
                          <a:rPr lang="en-IN" sz="2400" i="1" smtClean="0">
                            <a:latin typeface="Cambria Math" panose="02040503050406030204" pitchFamily="18" charset="0"/>
                            <a:cs typeface="Times New Roman" panose="02020603050405020304" pitchFamily="18" charset="0"/>
                          </a:rPr>
                        </m:ctrlPr>
                      </m:sSupPr>
                      <m:e>
                        <m:r>
                          <m:rPr>
                            <m:sty m:val="p"/>
                          </m:rPr>
                          <a:rPr lang="en-US" sz="2400" b="0" i="1" smtClean="0">
                            <a:latin typeface="Cambria Math" panose="02040503050406030204" pitchFamily="18" charset="0"/>
                            <a:cs typeface="Times New Roman" panose="02020603050405020304" pitchFamily="18" charset="0"/>
                          </a:rPr>
                          <m:t>e</m:t>
                        </m:r>
                      </m:e>
                      <m:sup>
                        <m:r>
                          <a:rPr lang="en-US" sz="2400" b="0" i="1" smtClean="0">
                            <a:latin typeface="Cambria Math" panose="02040503050406030204" pitchFamily="18" charset="0"/>
                            <a:cs typeface="Times New Roman" panose="02020603050405020304" pitchFamily="18" charset="0"/>
                          </a:rPr>
                          <m:t>−</m:t>
                        </m:r>
                        <m:r>
                          <m:rPr>
                            <m:sty m:val="p"/>
                          </m:rPr>
                          <a:rPr lang="en-US" sz="2400" b="0" i="1" smtClean="0">
                            <a:latin typeface="Cambria Math" panose="02040503050406030204" pitchFamily="18" charset="0"/>
                            <a:cs typeface="Times New Roman" panose="02020603050405020304" pitchFamily="18" charset="0"/>
                          </a:rPr>
                          <m:t>t</m:t>
                        </m:r>
                      </m:sup>
                    </m:sSup>
                  </m:oMath>
                </a14:m>
                <a:r>
                  <a:rPr lang="en-IN" sz="2400" dirty="0">
                    <a:latin typeface="Times New Roman" panose="02020603050405020304" pitchFamily="18" charset="0"/>
                    <a:cs typeface="Times New Roman" panose="02020603050405020304" pitchFamily="18" charset="0"/>
                  </a:rPr>
                  <a:t> + t </a:t>
                </a:r>
                <a14:m>
                  <m:oMath xmlns:m="http://schemas.openxmlformats.org/officeDocument/2006/math">
                    <m:sSup>
                      <m:sSupPr>
                        <m:ctrlPr>
                          <a:rPr lang="en-IN" sz="2400" i="1">
                            <a:latin typeface="Cambria Math" panose="02040503050406030204" pitchFamily="18" charset="0"/>
                            <a:cs typeface="Times New Roman" panose="02020603050405020304" pitchFamily="18" charset="0"/>
                          </a:rPr>
                        </m:ctrlPr>
                      </m:sSupPr>
                      <m:e>
                        <m:r>
                          <m:rPr>
                            <m:sty m:val="p"/>
                          </m:rPr>
                          <a:rPr lang="en-US" sz="2400" i="1">
                            <a:latin typeface="Cambria Math" panose="02040503050406030204" pitchFamily="18" charset="0"/>
                            <a:cs typeface="Times New Roman" panose="02020603050405020304" pitchFamily="18" charset="0"/>
                          </a:rPr>
                          <m:t>e</m:t>
                        </m:r>
                      </m:e>
                      <m:sup>
                        <m:r>
                          <a:rPr lang="en-US" sz="2400" i="1">
                            <a:latin typeface="Cambria Math" panose="02040503050406030204" pitchFamily="18" charset="0"/>
                            <a:cs typeface="Times New Roman" panose="02020603050405020304" pitchFamily="18" charset="0"/>
                          </a:rPr>
                          <m:t>−</m:t>
                        </m:r>
                        <m:r>
                          <m:rPr>
                            <m:sty m:val="p"/>
                          </m:rPr>
                          <a:rPr lang="en-US" sz="2400" i="1">
                            <a:latin typeface="Cambria Math" panose="02040503050406030204" pitchFamily="18" charset="0"/>
                            <a:cs typeface="Times New Roman" panose="02020603050405020304" pitchFamily="18" charset="0"/>
                          </a:rPr>
                          <m:t>t</m:t>
                        </m:r>
                      </m:sup>
                    </m:sSup>
                    <m:r>
                      <a:rPr lang="en-US" sz="2400" b="0" i="1" smtClean="0">
                        <a:latin typeface="Cambria Math" panose="02040503050406030204" pitchFamily="18" charset="0"/>
                        <a:cs typeface="Times New Roman" panose="02020603050405020304" pitchFamily="18" charset="0"/>
                      </a:rPr>
                      <m:t> − 2</m:t>
                    </m:r>
                  </m:oMath>
                </a14:m>
                <a:endParaRPr lang="en-IN" sz="2200" dirty="0">
                  <a:latin typeface="Times New Roman" panose="02020603050405020304" pitchFamily="18" charset="0"/>
                  <a:cs typeface="Times New Roman" panose="02020603050405020304" pitchFamily="18" charset="0"/>
                </a:endParaRPr>
              </a:p>
            </p:txBody>
          </p:sp>
        </mc:Choice>
        <mc:Fallback xmlns="">
          <p:sp>
            <p:nvSpPr>
              <p:cNvPr id="3" name="TextBox 2">
                <a:extLst>
                  <a:ext uri="{FF2B5EF4-FFF2-40B4-BE49-F238E27FC236}">
                    <a16:creationId xmlns:a16="http://schemas.microsoft.com/office/drawing/2014/main" id="{0A4DC80F-FDC4-CE04-A3DE-D3FB5930EA98}"/>
                  </a:ext>
                </a:extLst>
              </p:cNvPr>
              <p:cNvSpPr txBox="1">
                <a:spLocks noRot="1" noChangeAspect="1" noMove="1" noResize="1" noEditPoints="1" noAdjustHandles="1" noChangeArrowheads="1" noChangeShapeType="1" noTextEdit="1"/>
              </p:cNvSpPr>
              <p:nvPr/>
            </p:nvSpPr>
            <p:spPr>
              <a:xfrm>
                <a:off x="375858" y="785795"/>
                <a:ext cx="11410122" cy="3335593"/>
              </a:xfrm>
              <a:prstGeom prst="rect">
                <a:avLst/>
              </a:prstGeom>
              <a:blipFill>
                <a:blip r:embed="rId2"/>
                <a:stretch>
                  <a:fillRect l="-695" b="-914"/>
                </a:stretch>
              </a:blipFill>
            </p:spPr>
            <p:txBody>
              <a:bodyPr/>
              <a:lstStyle/>
              <a:p>
                <a:r>
                  <a:rPr lang="en-IN">
                    <a:noFill/>
                  </a:rPr>
                  <a:t> </a:t>
                </a:r>
              </a:p>
            </p:txBody>
          </p:sp>
        </mc:Fallback>
      </mc:AlternateContent>
    </p:spTree>
    <p:extLst>
      <p:ext uri="{BB962C8B-B14F-4D97-AF65-F5344CB8AC3E}">
        <p14:creationId xmlns:p14="http://schemas.microsoft.com/office/powerpoint/2010/main" val="24018351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A5FD83-DD77-F3F1-5417-9D4DF2A118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39CD54-BE0D-99FB-E994-47D2A009A8EB}"/>
              </a:ext>
            </a:extLst>
          </p:cNvPr>
          <p:cNvSpPr>
            <a:spLocks noGrp="1"/>
          </p:cNvSpPr>
          <p:nvPr>
            <p:ph type="title"/>
          </p:nvPr>
        </p:nvSpPr>
        <p:spPr>
          <a:xfrm>
            <a:off x="285003" y="71415"/>
            <a:ext cx="11591833" cy="714380"/>
          </a:xfrm>
        </p:spPr>
        <p:txBody>
          <a:bodyPr>
            <a:normAutofit/>
          </a:bodyPr>
          <a:lstStyle/>
          <a:p>
            <a:r>
              <a:rPr lang="en-IN" sz="2800" dirty="0">
                <a:solidFill>
                  <a:srgbClr val="00B050"/>
                </a:solidFill>
                <a:latin typeface="Times New Roman" pitchFamily="18" charset="0"/>
                <a:cs typeface="Times New Roman" pitchFamily="18" charset="0"/>
              </a:rPr>
              <a:t>LAPLACE TRANSFORM</a:t>
            </a:r>
            <a:endParaRPr lang="en-US" sz="2800" dirty="0">
              <a:solidFill>
                <a:srgbClr val="FF0000"/>
              </a:solidFill>
              <a:latin typeface="Times New Roman" pitchFamily="18" charset="0"/>
              <a:cs typeface="Times New Roman" pitchFamily="18" charset="0"/>
            </a:endParaRPr>
          </a:p>
        </p:txBody>
      </p:sp>
      <p:sp>
        <p:nvSpPr>
          <p:cNvPr id="14" name="TextBox 13">
            <a:extLst>
              <a:ext uri="{FF2B5EF4-FFF2-40B4-BE49-F238E27FC236}">
                <a16:creationId xmlns:a16="http://schemas.microsoft.com/office/drawing/2014/main" id="{92E33A35-0A5D-CAD1-FA04-3E576593FDDF}"/>
              </a:ext>
            </a:extLst>
          </p:cNvPr>
          <p:cNvSpPr txBox="1"/>
          <p:nvPr/>
        </p:nvSpPr>
        <p:spPr>
          <a:xfrm>
            <a:off x="608092" y="6113018"/>
            <a:ext cx="5472827" cy="246221"/>
          </a:xfrm>
          <a:prstGeom prst="rect">
            <a:avLst/>
          </a:prstGeom>
          <a:noFill/>
        </p:spPr>
        <p:txBody>
          <a:bodyPr wrap="square" rtlCol="0">
            <a:spAutoFit/>
          </a:bodyPr>
          <a:lstStyle/>
          <a:p>
            <a:r>
              <a:rPr lang="en-US" sz="1000" dirty="0"/>
              <a:t>Reference: Network Analysis &amp; Synthesis by Uday Bakshi and Ajay Bakshi, Technical Publications Pune</a:t>
            </a:r>
            <a:endParaRPr lang="en-IN" sz="1000" dirty="0"/>
          </a:p>
        </p:txBody>
      </p:sp>
    </p:spTree>
    <p:extLst>
      <p:ext uri="{BB962C8B-B14F-4D97-AF65-F5344CB8AC3E}">
        <p14:creationId xmlns:p14="http://schemas.microsoft.com/office/powerpoint/2010/main" val="942146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4305C-8CAB-CB66-4100-43BBE20A5A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524234-ACB1-D929-AD7D-F19831ED5180}"/>
              </a:ext>
            </a:extLst>
          </p:cNvPr>
          <p:cNvSpPr>
            <a:spLocks noGrp="1"/>
          </p:cNvSpPr>
          <p:nvPr>
            <p:ph type="title"/>
          </p:nvPr>
        </p:nvSpPr>
        <p:spPr>
          <a:xfrm>
            <a:off x="285003" y="71415"/>
            <a:ext cx="11591833" cy="714380"/>
          </a:xfrm>
        </p:spPr>
        <p:txBody>
          <a:bodyPr>
            <a:normAutofit/>
          </a:bodyPr>
          <a:lstStyle/>
          <a:p>
            <a:r>
              <a:rPr lang="en-IN" sz="2800" dirty="0">
                <a:solidFill>
                  <a:srgbClr val="00B050"/>
                </a:solidFill>
                <a:latin typeface="Times New Roman" pitchFamily="18" charset="0"/>
                <a:cs typeface="Times New Roman" pitchFamily="18" charset="0"/>
              </a:rPr>
              <a:t>LAPLACE TRANSFORM</a:t>
            </a:r>
            <a:endParaRPr lang="en-US" sz="2800" dirty="0">
              <a:solidFill>
                <a:srgbClr val="FF0000"/>
              </a:solidFill>
              <a:latin typeface="Times New Roman" pitchFamily="18" charset="0"/>
              <a:cs typeface="Times New Roman" pitchFamily="18" charset="0"/>
            </a:endParaRPr>
          </a:p>
        </p:txBody>
      </p:sp>
      <p:sp>
        <p:nvSpPr>
          <p:cNvPr id="14" name="TextBox 13">
            <a:extLst>
              <a:ext uri="{FF2B5EF4-FFF2-40B4-BE49-F238E27FC236}">
                <a16:creationId xmlns:a16="http://schemas.microsoft.com/office/drawing/2014/main" id="{0A117E23-4C22-CF1E-8351-EA7F80E80A1F}"/>
              </a:ext>
            </a:extLst>
          </p:cNvPr>
          <p:cNvSpPr txBox="1"/>
          <p:nvPr/>
        </p:nvSpPr>
        <p:spPr>
          <a:xfrm>
            <a:off x="608092" y="6113018"/>
            <a:ext cx="5472827" cy="246221"/>
          </a:xfrm>
          <a:prstGeom prst="rect">
            <a:avLst/>
          </a:prstGeom>
          <a:noFill/>
        </p:spPr>
        <p:txBody>
          <a:bodyPr wrap="square" rtlCol="0">
            <a:spAutoFit/>
          </a:bodyPr>
          <a:lstStyle/>
          <a:p>
            <a:r>
              <a:rPr lang="en-US" sz="1000" dirty="0"/>
              <a:t>Reference: Network Analysis &amp; Synthesis by Uday Bakshi and Ajay Bakshi, Technical Publications Pune</a:t>
            </a:r>
            <a:endParaRPr lang="en-IN" sz="1000" dirty="0"/>
          </a:p>
        </p:txBody>
      </p:sp>
    </p:spTree>
    <p:extLst>
      <p:ext uri="{BB962C8B-B14F-4D97-AF65-F5344CB8AC3E}">
        <p14:creationId xmlns:p14="http://schemas.microsoft.com/office/powerpoint/2010/main" val="1173717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E5580-8EBE-9BBA-043D-45FF2B9CBB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13BB92-E23D-27E9-0F96-0FEA659A32B0}"/>
              </a:ext>
            </a:extLst>
          </p:cNvPr>
          <p:cNvSpPr>
            <a:spLocks noGrp="1"/>
          </p:cNvSpPr>
          <p:nvPr>
            <p:ph type="title"/>
          </p:nvPr>
        </p:nvSpPr>
        <p:spPr>
          <a:xfrm>
            <a:off x="285003" y="71415"/>
            <a:ext cx="11591833" cy="714380"/>
          </a:xfrm>
        </p:spPr>
        <p:txBody>
          <a:bodyPr>
            <a:normAutofit/>
          </a:bodyPr>
          <a:lstStyle/>
          <a:p>
            <a:r>
              <a:rPr lang="en-IN" sz="2800" dirty="0">
                <a:solidFill>
                  <a:srgbClr val="00B050"/>
                </a:solidFill>
                <a:latin typeface="Times New Roman" pitchFamily="18" charset="0"/>
                <a:cs typeface="Times New Roman" pitchFamily="18" charset="0"/>
              </a:rPr>
              <a:t>LAPLACE TRANSFORM</a:t>
            </a:r>
            <a:endParaRPr lang="en-US" sz="2800" dirty="0">
              <a:solidFill>
                <a:srgbClr val="FF0000"/>
              </a:solidFill>
              <a:latin typeface="Times New Roman" pitchFamily="18" charset="0"/>
              <a:cs typeface="Times New Roman" pitchFamily="18" charset="0"/>
            </a:endParaRPr>
          </a:p>
        </p:txBody>
      </p:sp>
      <p:sp>
        <p:nvSpPr>
          <p:cNvPr id="14" name="TextBox 13">
            <a:extLst>
              <a:ext uri="{FF2B5EF4-FFF2-40B4-BE49-F238E27FC236}">
                <a16:creationId xmlns:a16="http://schemas.microsoft.com/office/drawing/2014/main" id="{B2F86ADF-C079-5D33-4FEC-076B433714E4}"/>
              </a:ext>
            </a:extLst>
          </p:cNvPr>
          <p:cNvSpPr txBox="1"/>
          <p:nvPr/>
        </p:nvSpPr>
        <p:spPr>
          <a:xfrm>
            <a:off x="608092" y="6113018"/>
            <a:ext cx="5472827" cy="246221"/>
          </a:xfrm>
          <a:prstGeom prst="rect">
            <a:avLst/>
          </a:prstGeom>
          <a:noFill/>
        </p:spPr>
        <p:txBody>
          <a:bodyPr wrap="square" rtlCol="0">
            <a:spAutoFit/>
          </a:bodyPr>
          <a:lstStyle/>
          <a:p>
            <a:r>
              <a:rPr lang="en-US" sz="1000" dirty="0"/>
              <a:t>Reference: Network Analysis &amp; Synthesis by Uday Bakshi and Ajay Bakshi, Technical Publications Pune</a:t>
            </a:r>
            <a:endParaRPr lang="en-IN" sz="1000" dirty="0"/>
          </a:p>
        </p:txBody>
      </p:sp>
    </p:spTree>
    <p:extLst>
      <p:ext uri="{BB962C8B-B14F-4D97-AF65-F5344CB8AC3E}">
        <p14:creationId xmlns:p14="http://schemas.microsoft.com/office/powerpoint/2010/main" val="307940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003" y="357166"/>
            <a:ext cx="11591833" cy="5929355"/>
          </a:xfrm>
        </p:spPr>
        <p:txBody>
          <a:bodyPr>
            <a:normAutofit/>
          </a:bodyPr>
          <a:lstStyle/>
          <a:p>
            <a:pPr>
              <a:buNone/>
            </a:pPr>
            <a:r>
              <a:rPr lang="en-IN" dirty="0">
                <a:latin typeface="Times New Roman" pitchFamily="18" charset="0"/>
                <a:cs typeface="Times New Roman" pitchFamily="18" charset="0"/>
              </a:rPr>
              <a:t>       </a:t>
            </a:r>
          </a:p>
          <a:p>
            <a:pPr>
              <a:buNone/>
            </a:pPr>
            <a:endParaRPr lang="en-IN" dirty="0">
              <a:latin typeface="Times New Roman" pitchFamily="18" charset="0"/>
              <a:cs typeface="Times New Roman" pitchFamily="18" charset="0"/>
            </a:endParaRPr>
          </a:p>
          <a:p>
            <a:pPr algn="ctr">
              <a:buNone/>
            </a:pPr>
            <a:r>
              <a:rPr lang="en-IN" sz="3600" dirty="0">
                <a:solidFill>
                  <a:srgbClr val="FF0000"/>
                </a:solidFill>
                <a:latin typeface="Times New Roman" pitchFamily="18" charset="0"/>
                <a:cs typeface="Times New Roman" pitchFamily="18" charset="0"/>
              </a:rPr>
              <a:t>      </a:t>
            </a:r>
          </a:p>
          <a:p>
            <a:pPr algn="ctr">
              <a:buNone/>
            </a:pPr>
            <a:r>
              <a:rPr lang="en-IN" sz="3600" dirty="0">
                <a:solidFill>
                  <a:srgbClr val="FF0000"/>
                </a:solidFill>
                <a:latin typeface="Times New Roman" pitchFamily="18" charset="0"/>
                <a:cs typeface="Times New Roman" pitchFamily="18" charset="0"/>
              </a:rPr>
              <a:t>THANK YOU</a:t>
            </a:r>
          </a:p>
          <a:p>
            <a:pPr algn="ctr">
              <a:buNone/>
            </a:pPr>
            <a:endParaRPr lang="en-IN" dirty="0">
              <a:latin typeface="Times New Roman" pitchFamily="18" charset="0"/>
              <a:cs typeface="Times New Roman" pitchFamily="18" charset="0"/>
            </a:endParaRPr>
          </a:p>
          <a:p>
            <a:pPr algn="ctr">
              <a:buNone/>
            </a:pPr>
            <a:endParaRPr lang="en-IN" dirty="0">
              <a:latin typeface="Times New Roman" pitchFamily="18" charset="0"/>
              <a:cs typeface="Times New Roman" pitchFamily="18" charset="0"/>
            </a:endParaRPr>
          </a:p>
          <a:p>
            <a:pPr>
              <a:buNone/>
            </a:pPr>
            <a:r>
              <a:rPr lang="en-US" sz="2200" dirty="0">
                <a:latin typeface="Times New Roman" pitchFamily="18" charset="0"/>
                <a:cs typeface="Times New Roman" pitchFamily="18" charset="0"/>
                <a:hlinkClick r:id="rId2"/>
              </a:rPr>
              <a:t>shasansaeed@yolasite.com</a:t>
            </a:r>
            <a:endParaRPr lang="en-US" sz="2200" dirty="0">
              <a:latin typeface="Times New Roman" pitchFamily="18" charset="0"/>
              <a:cs typeface="Times New Roman" pitchFamily="18" charset="0"/>
            </a:endParaRPr>
          </a:p>
          <a:p>
            <a:pPr>
              <a:buNone/>
            </a:pPr>
            <a:r>
              <a:rPr lang="en-IN" sz="2200" dirty="0">
                <a:latin typeface="Times New Roman" pitchFamily="18" charset="0"/>
                <a:cs typeface="Times New Roman" pitchFamily="18" charset="0"/>
                <a:hlinkClick r:id="rId3"/>
              </a:rPr>
              <a:t>hasansaeed872726549.wordpress.com</a:t>
            </a:r>
          </a:p>
          <a:p>
            <a:pPr algn="ctr">
              <a:buNone/>
            </a:pPr>
            <a:endParaRPr lang="en-IN" dirty="0">
              <a:latin typeface="Times New Roman" pitchFamily="18" charset="0"/>
              <a:cs typeface="Times New Roman" pitchFamily="18" charset="0"/>
            </a:endParaRPr>
          </a:p>
          <a:p>
            <a:pPr algn="ctr">
              <a:buNone/>
            </a:pPr>
            <a:endParaRPr lang="en-IN" dirty="0">
              <a:latin typeface="Times New Roman" pitchFamily="18" charset="0"/>
              <a:cs typeface="Times New Roman" pitchFamily="18" charset="0"/>
            </a:endParaRPr>
          </a:p>
          <a:p>
            <a:pPr algn="ctr">
              <a:buNone/>
            </a:pPr>
            <a:endParaRPr lang="en-US"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2186F227-248D-4963-99BB-700C4C3FB295}" type="datetime2">
              <a:rPr lang="en-US" smtClean="0"/>
              <a:pPr/>
              <a:t>Monday, June 29, 2026</a:t>
            </a:fld>
            <a:endParaRPr lang="en-US"/>
          </a:p>
        </p:txBody>
      </p:sp>
      <p:sp>
        <p:nvSpPr>
          <p:cNvPr id="5" name="Footer Placeholder 4"/>
          <p:cNvSpPr>
            <a:spLocks noGrp="1"/>
          </p:cNvSpPr>
          <p:nvPr>
            <p:ph type="ftr" sz="quarter" idx="11"/>
          </p:nvPr>
        </p:nvSpPr>
        <p:spPr/>
        <p:txBody>
          <a:bodyPr/>
          <a:lstStyle/>
          <a:p>
            <a:r>
              <a:rPr lang="en-US"/>
              <a:t>syed hasan saeed</a:t>
            </a:r>
          </a:p>
        </p:txBody>
      </p:sp>
      <p:sp>
        <p:nvSpPr>
          <p:cNvPr id="6" name="Slide Number Placeholder 5"/>
          <p:cNvSpPr>
            <a:spLocks noGrp="1"/>
          </p:cNvSpPr>
          <p:nvPr>
            <p:ph type="sldNum" sz="quarter" idx="12"/>
          </p:nvPr>
        </p:nvSpPr>
        <p:spPr/>
        <p:txBody>
          <a:bodyPr/>
          <a:lstStyle/>
          <a:p>
            <a:fld id="{435E54C7-FAA8-46C1-A880-53547F97989D}" type="slidenum">
              <a:rPr lang="en-US" smtClean="0"/>
              <a:pPr/>
              <a:t>26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4394</TotalTime>
  <Words>2024</Words>
  <Application>Microsoft Office PowerPoint</Application>
  <PresentationFormat>Custom</PresentationFormat>
  <Paragraphs>270</Paragraphs>
  <Slides>26</Slides>
  <Notes>0</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2</vt:i4>
      </vt:variant>
      <vt:variant>
        <vt:lpstr>Slide Titles</vt:lpstr>
      </vt:variant>
      <vt:variant>
        <vt:i4>26</vt:i4>
      </vt:variant>
    </vt:vector>
  </HeadingPairs>
  <TitlesOfParts>
    <vt:vector size="34" baseType="lpstr">
      <vt:lpstr>Arial</vt:lpstr>
      <vt:lpstr>Calibri</vt:lpstr>
      <vt:lpstr>Cambria Math</vt:lpstr>
      <vt:lpstr>Times New Roman</vt:lpstr>
      <vt:lpstr>Wingdings</vt:lpstr>
      <vt:lpstr>Office Theme</vt:lpstr>
      <vt:lpstr>Equation</vt:lpstr>
      <vt:lpstr>Microsoft Equation 3.0</vt:lpstr>
      <vt:lpstr>         CIRCUIT THEORY    LAPLACE TRANSFORM</vt:lpstr>
      <vt:lpstr>PowerPoint Presentation</vt:lpstr>
      <vt:lpstr>PowerPoint Presentation</vt:lpstr>
      <vt:lpstr>LAPLACE TRANSFORM</vt:lpstr>
      <vt:lpstr>LAPLACE TRANSFORM</vt:lpstr>
      <vt:lpstr>LAPLACE TRANSFORM</vt:lpstr>
      <vt:lpstr>LAPLACE TRANSFORM</vt:lpstr>
      <vt:lpstr>LAPLACE TRANSFORM</vt:lpstr>
      <vt:lpstr>LAPLACE TRANSFORM</vt:lpstr>
      <vt:lpstr>LAPLACE TRANSFORM</vt:lpstr>
      <vt:lpstr>LAPLACE TRANSFORM</vt:lpstr>
      <vt:lpstr>LAPLACE TRANSFORM</vt:lpstr>
      <vt:lpstr>LAPLACE TRANSFORM</vt:lpstr>
      <vt:lpstr>LAPLACE TRANSFORM</vt:lpstr>
      <vt:lpstr>LAPLACE TRANSFORM</vt:lpstr>
      <vt:lpstr>LAPLACE TRANSFORM</vt:lpstr>
      <vt:lpstr>INVERSE LAPLACE TRANSFORM</vt:lpstr>
      <vt:lpstr>INVERSE LAPLACE TRANSFORM</vt:lpstr>
      <vt:lpstr>INVERSE LAPLACE TRANSFORM</vt:lpstr>
      <vt:lpstr>INVERSE LAPLACE TRANSFORM</vt:lpstr>
      <vt:lpstr>LAPLACE TRANSFORM</vt:lpstr>
      <vt:lpstr>LAPLACE TRANSFORM</vt:lpstr>
      <vt:lpstr>LAPLACE TRANSFORM</vt:lpstr>
      <vt:lpstr>LAPLACE TRANSFORM</vt:lpstr>
      <vt:lpstr>LAPLACE TRANSFORM</vt:lpstr>
      <vt:lpstr>PowerPoint Presentation</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SHS</dc:creator>
  <cp:lastModifiedBy>hasansaeedcontrol@gmail.com</cp:lastModifiedBy>
  <cp:revision>569</cp:revision>
  <dcterms:created xsi:type="dcterms:W3CDTF">2019-07-24T02:14:50Z</dcterms:created>
  <dcterms:modified xsi:type="dcterms:W3CDTF">2026-06-29T10:24:21Z</dcterms:modified>
</cp:coreProperties>
</file>