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2" y="84"/>
      </p:cViewPr>
      <p:guideLst>
        <p:guide orient="horz" pos="2880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06671-B673-44D7-BD76-37957B0E5C3E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1DDB2-88C0-485F-9ABB-926A946F62F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1DDB2-88C0-485F-9ABB-926A946F62F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89549" y="272287"/>
            <a:ext cx="660972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441" y="1577340"/>
            <a:ext cx="53021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7245" y="1577340"/>
            <a:ext cx="53021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6039" y="2559837"/>
            <a:ext cx="697674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chemeClr val="hlink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8107" y="1188467"/>
            <a:ext cx="1157261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16976" y="6373470"/>
            <a:ext cx="3153858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441" y="6377940"/>
            <a:ext cx="28034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99498" y="6464985"/>
            <a:ext cx="308953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yedhasansaeed.gnomio.com/" TargetMode="External"/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hasansaeed.yolasit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789549" y="272287"/>
            <a:ext cx="660972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195" algn="ctr">
              <a:lnSpc>
                <a:spcPct val="100000"/>
              </a:lnSpc>
              <a:spcBef>
                <a:spcPts val="95"/>
              </a:spcBef>
            </a:pPr>
            <a:r>
              <a:rPr lang="en-US" u="none" spc="-5" dirty="0"/>
              <a:t>     </a:t>
            </a:r>
            <a:r>
              <a:rPr u="none" spc="-5"/>
              <a:t>BASIC </a:t>
            </a:r>
            <a:r>
              <a:rPr u="none" spc="-5" dirty="0"/>
              <a:t>DEFINITIONS &amp;</a:t>
            </a:r>
            <a:r>
              <a:rPr u="none" spc="10" dirty="0"/>
              <a:t> </a:t>
            </a:r>
            <a:r>
              <a:rPr u="none" spc="-65" dirty="0"/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6534" y="3190114"/>
            <a:ext cx="553321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  <a:latin typeface="Times New Roman"/>
                <a:cs typeface="Times New Roman"/>
              </a:rPr>
              <a:t>Syed Hasan</a:t>
            </a:r>
            <a:r>
              <a:rPr sz="4400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0000"/>
                </a:solidFill>
                <a:latin typeface="Times New Roman"/>
                <a:cs typeface="Times New Roman"/>
              </a:rPr>
              <a:t>Saeed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8F63B5-F079-AFD7-C1C6-889BA3B8A399}"/>
              </a:ext>
            </a:extLst>
          </p:cNvPr>
          <p:cNvSpPr txBox="1">
            <a:spLocks/>
          </p:cNvSpPr>
          <p:nvPr/>
        </p:nvSpPr>
        <p:spPr>
          <a:xfrm>
            <a:off x="-14726" y="5334000"/>
            <a:ext cx="11782531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      Declaration : The content of the presentation has been created for academic use / non-commercial use with fair dealing.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680" y="609600"/>
            <a:ext cx="11047816" cy="21109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45134" indent="-342900">
              <a:lnSpc>
                <a:spcPct val="150000"/>
              </a:lnSpc>
              <a:spcBef>
                <a:spcPts val="95"/>
              </a:spcBef>
            </a:pPr>
            <a:r>
              <a:rPr sz="2200" b="1" spc="-30" dirty="0">
                <a:latin typeface="Times New Roman"/>
                <a:cs typeface="Times New Roman"/>
              </a:rPr>
              <a:t>CURRENT: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movement </a:t>
            </a:r>
            <a:r>
              <a:rPr sz="2200" spc="-5" dirty="0">
                <a:latin typeface="Times New Roman"/>
                <a:cs typeface="Times New Roman"/>
              </a:rPr>
              <a:t>of electric </a:t>
            </a:r>
            <a:r>
              <a:rPr sz="2200" spc="-10" dirty="0">
                <a:latin typeface="Times New Roman"/>
                <a:cs typeface="Times New Roman"/>
              </a:rPr>
              <a:t>charge </a:t>
            </a:r>
            <a:r>
              <a:rPr sz="2200" spc="-5" dirty="0">
                <a:latin typeface="Times New Roman"/>
                <a:cs typeface="Times New Roman"/>
              </a:rPr>
              <a:t>along a definite path is  known 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current.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S.I. Unit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current is </a:t>
            </a:r>
            <a:r>
              <a:rPr sz="2200" spc="-10" dirty="0">
                <a:latin typeface="Times New Roman"/>
                <a:cs typeface="Times New Roman"/>
              </a:rPr>
              <a:t>Ampere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(A)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525"/>
              </a:spcBef>
            </a:pPr>
            <a:r>
              <a:rPr sz="2200" b="1" spc="-90" dirty="0">
                <a:latin typeface="Times New Roman"/>
                <a:cs typeface="Times New Roman"/>
              </a:rPr>
              <a:t>VOLT: </a:t>
            </a:r>
            <a:r>
              <a:rPr sz="2200" spc="-5" dirty="0">
                <a:latin typeface="Times New Roman"/>
                <a:cs typeface="Times New Roman"/>
              </a:rPr>
              <a:t>If 1 joule of work is required to </a:t>
            </a:r>
            <a:r>
              <a:rPr sz="2200" dirty="0">
                <a:latin typeface="Times New Roman"/>
                <a:cs typeface="Times New Roman"/>
              </a:rPr>
              <a:t>put </a:t>
            </a:r>
            <a:r>
              <a:rPr sz="2200" spc="-5" dirty="0">
                <a:latin typeface="Times New Roman"/>
                <a:cs typeface="Times New Roman"/>
              </a:rPr>
              <a:t>1 coulomb of </a:t>
            </a:r>
            <a:r>
              <a:rPr sz="2200" spc="-10" dirty="0">
                <a:latin typeface="Times New Roman"/>
                <a:cs typeface="Times New Roman"/>
              </a:rPr>
              <a:t>charge </a:t>
            </a:r>
            <a:r>
              <a:rPr sz="2200" dirty="0">
                <a:latin typeface="Times New Roman"/>
                <a:cs typeface="Times New Roman"/>
              </a:rPr>
              <a:t>on </a:t>
            </a:r>
            <a:r>
              <a:rPr sz="2200" spc="-5" dirty="0">
                <a:latin typeface="Times New Roman"/>
                <a:cs typeface="Times New Roman"/>
              </a:rPr>
              <a:t>a  </a:t>
            </a:r>
            <a:r>
              <a:rPr sz="2200" spc="-10" dirty="0">
                <a:latin typeface="Times New Roman"/>
                <a:cs typeface="Times New Roman"/>
              </a:rPr>
              <a:t>charged </a:t>
            </a:r>
            <a:r>
              <a:rPr sz="2200" spc="-30" dirty="0">
                <a:latin typeface="Times New Roman"/>
                <a:cs typeface="Times New Roman"/>
              </a:rPr>
              <a:t>body, </a:t>
            </a:r>
            <a:r>
              <a:rPr sz="2200" spc="-5" dirty="0">
                <a:latin typeface="Times New Roman"/>
                <a:cs typeface="Times New Roman"/>
              </a:rPr>
              <a:t>the body is said to have a potential of 1 </a:t>
            </a:r>
            <a:r>
              <a:rPr sz="2200" spc="-80" dirty="0">
                <a:latin typeface="Times New Roman"/>
                <a:cs typeface="Times New Roman"/>
              </a:rPr>
              <a:t>VOLT. </a:t>
            </a:r>
            <a:r>
              <a:rPr sz="2200" spc="-5" dirty="0">
                <a:latin typeface="Times New Roman"/>
                <a:cs typeface="Times New Roman"/>
              </a:rPr>
              <a:t>Consider  the following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diagram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8472" y="218948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>
                <a:solidFill>
                  <a:srgbClr val="000000"/>
                </a:solidFill>
              </a:rPr>
              <a:t>BASIC DEFINITIONS &amp;</a:t>
            </a:r>
            <a:r>
              <a:rPr u="none" spc="10">
                <a:solidFill>
                  <a:srgbClr val="000000"/>
                </a:solidFill>
              </a:rPr>
              <a:t> </a:t>
            </a:r>
            <a:r>
              <a:rPr u="none" spc="-65">
                <a:solidFill>
                  <a:srgbClr val="000000"/>
                </a:solidFill>
              </a:rPr>
              <a:t>LAWS</a:t>
            </a:r>
            <a:endParaRPr u="none" spc="-65" dirty="0">
              <a:solidFill>
                <a:srgbClr val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6107" y="3124961"/>
            <a:ext cx="137971" cy="990600"/>
          </a:xfrm>
          <a:custGeom>
            <a:avLst/>
            <a:gdLst/>
            <a:ahLst/>
            <a:cxnLst/>
            <a:rect l="l" t="t" r="r" b="b"/>
            <a:pathLst>
              <a:path w="103504" h="990600">
                <a:moveTo>
                  <a:pt x="51802" y="25152"/>
                </a:moveTo>
                <a:lnTo>
                  <a:pt x="45440" y="36031"/>
                </a:lnTo>
                <a:lnTo>
                  <a:pt x="43903" y="990600"/>
                </a:lnTo>
                <a:lnTo>
                  <a:pt x="56603" y="990600"/>
                </a:lnTo>
                <a:lnTo>
                  <a:pt x="58044" y="96138"/>
                </a:lnTo>
                <a:lnTo>
                  <a:pt x="58119" y="36031"/>
                </a:lnTo>
                <a:lnTo>
                  <a:pt x="51802" y="25152"/>
                </a:lnTo>
                <a:close/>
              </a:path>
              <a:path w="103504" h="990600">
                <a:moveTo>
                  <a:pt x="59146" y="12573"/>
                </a:moveTo>
                <a:lnTo>
                  <a:pt x="58178" y="12573"/>
                </a:lnTo>
                <a:lnTo>
                  <a:pt x="58140" y="36067"/>
                </a:lnTo>
                <a:lnTo>
                  <a:pt x="92430" y="95123"/>
                </a:lnTo>
                <a:lnTo>
                  <a:pt x="96316" y="96138"/>
                </a:lnTo>
                <a:lnTo>
                  <a:pt x="102374" y="92583"/>
                </a:lnTo>
                <a:lnTo>
                  <a:pt x="103403" y="88773"/>
                </a:lnTo>
                <a:lnTo>
                  <a:pt x="101650" y="85725"/>
                </a:lnTo>
                <a:lnTo>
                  <a:pt x="59146" y="12573"/>
                </a:lnTo>
                <a:close/>
              </a:path>
              <a:path w="103504" h="990600">
                <a:moveTo>
                  <a:pt x="51841" y="0"/>
                </a:moveTo>
                <a:lnTo>
                  <a:pt x="0" y="88518"/>
                </a:lnTo>
                <a:lnTo>
                  <a:pt x="1016" y="92455"/>
                </a:lnTo>
                <a:lnTo>
                  <a:pt x="7073" y="96012"/>
                </a:lnTo>
                <a:lnTo>
                  <a:pt x="10960" y="94996"/>
                </a:lnTo>
                <a:lnTo>
                  <a:pt x="45419" y="36067"/>
                </a:lnTo>
                <a:lnTo>
                  <a:pt x="45478" y="12573"/>
                </a:lnTo>
                <a:lnTo>
                  <a:pt x="59146" y="12573"/>
                </a:lnTo>
                <a:lnTo>
                  <a:pt x="51841" y="0"/>
                </a:lnTo>
                <a:close/>
              </a:path>
              <a:path w="103504" h="990600">
                <a:moveTo>
                  <a:pt x="58173" y="15748"/>
                </a:moveTo>
                <a:lnTo>
                  <a:pt x="57302" y="15748"/>
                </a:lnTo>
                <a:lnTo>
                  <a:pt x="51802" y="25152"/>
                </a:lnTo>
                <a:lnTo>
                  <a:pt x="58140" y="36067"/>
                </a:lnTo>
                <a:lnTo>
                  <a:pt x="58173" y="15748"/>
                </a:lnTo>
                <a:close/>
              </a:path>
              <a:path w="103504" h="990600">
                <a:moveTo>
                  <a:pt x="58178" y="12573"/>
                </a:moveTo>
                <a:lnTo>
                  <a:pt x="45478" y="12573"/>
                </a:lnTo>
                <a:lnTo>
                  <a:pt x="45440" y="36031"/>
                </a:lnTo>
                <a:lnTo>
                  <a:pt x="51802" y="25152"/>
                </a:lnTo>
                <a:lnTo>
                  <a:pt x="46342" y="15748"/>
                </a:lnTo>
                <a:lnTo>
                  <a:pt x="58173" y="15748"/>
                </a:lnTo>
                <a:lnTo>
                  <a:pt x="58178" y="12573"/>
                </a:lnTo>
                <a:close/>
              </a:path>
              <a:path w="103504" h="990600">
                <a:moveTo>
                  <a:pt x="57302" y="15748"/>
                </a:moveTo>
                <a:lnTo>
                  <a:pt x="46342" y="15748"/>
                </a:lnTo>
                <a:lnTo>
                  <a:pt x="51802" y="25152"/>
                </a:lnTo>
                <a:lnTo>
                  <a:pt x="57302" y="15748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96257" y="2962276"/>
            <a:ext cx="4670689" cy="3060065"/>
            <a:chOff x="222250" y="2962275"/>
            <a:chExt cx="3503929" cy="3060065"/>
          </a:xfrm>
        </p:grpSpPr>
        <p:sp>
          <p:nvSpPr>
            <p:cNvPr id="6" name="object 6"/>
            <p:cNvSpPr/>
            <p:nvPr/>
          </p:nvSpPr>
          <p:spPr>
            <a:xfrm>
              <a:off x="990600" y="3124200"/>
              <a:ext cx="2590800" cy="2743200"/>
            </a:xfrm>
            <a:custGeom>
              <a:avLst/>
              <a:gdLst/>
              <a:ahLst/>
              <a:cxnLst/>
              <a:rect l="l" t="t" r="r" b="b"/>
              <a:pathLst>
                <a:path w="2590800" h="2743200">
                  <a:moveTo>
                    <a:pt x="0" y="2743200"/>
                  </a:moveTo>
                  <a:lnTo>
                    <a:pt x="0" y="0"/>
                  </a:lnTo>
                  <a:lnTo>
                    <a:pt x="2590800" y="2743200"/>
                  </a:lnTo>
                  <a:lnTo>
                    <a:pt x="0" y="2743200"/>
                  </a:lnTo>
                  <a:close/>
                </a:path>
                <a:path w="2590800" h="2743200">
                  <a:moveTo>
                    <a:pt x="1295400" y="1371600"/>
                  </a:moveTo>
                  <a:lnTo>
                    <a:pt x="1297051" y="2743200"/>
                  </a:lnTo>
                </a:path>
              </a:pathLst>
            </a:custGeom>
            <a:ln w="1905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4343400"/>
              <a:ext cx="1579880" cy="1666239"/>
            </a:xfrm>
            <a:custGeom>
              <a:avLst/>
              <a:gdLst/>
              <a:ahLst/>
              <a:cxnLst/>
              <a:rect l="l" t="t" r="r" b="b"/>
              <a:pathLst>
                <a:path w="1579879" h="1666239">
                  <a:moveTo>
                    <a:pt x="1274826" y="1513725"/>
                  </a:moveTo>
                  <a:lnTo>
                    <a:pt x="1282592" y="1465557"/>
                  </a:lnTo>
                  <a:lnTo>
                    <a:pt x="1304220" y="1423722"/>
                  </a:lnTo>
                  <a:lnTo>
                    <a:pt x="1337206" y="1390731"/>
                  </a:lnTo>
                  <a:lnTo>
                    <a:pt x="1379043" y="1369095"/>
                  </a:lnTo>
                  <a:lnTo>
                    <a:pt x="1427226" y="1361325"/>
                  </a:lnTo>
                  <a:lnTo>
                    <a:pt x="1475408" y="1369095"/>
                  </a:lnTo>
                  <a:lnTo>
                    <a:pt x="1517245" y="1390731"/>
                  </a:lnTo>
                  <a:lnTo>
                    <a:pt x="1550231" y="1423722"/>
                  </a:lnTo>
                  <a:lnTo>
                    <a:pt x="1571859" y="1465557"/>
                  </a:lnTo>
                  <a:lnTo>
                    <a:pt x="1579626" y="1513725"/>
                  </a:lnTo>
                  <a:lnTo>
                    <a:pt x="1571859" y="1561893"/>
                  </a:lnTo>
                  <a:lnTo>
                    <a:pt x="1550231" y="1603728"/>
                  </a:lnTo>
                  <a:lnTo>
                    <a:pt x="1517245" y="1636719"/>
                  </a:lnTo>
                  <a:lnTo>
                    <a:pt x="1475408" y="1658355"/>
                  </a:lnTo>
                  <a:lnTo>
                    <a:pt x="1427226" y="1666125"/>
                  </a:lnTo>
                  <a:lnTo>
                    <a:pt x="1379043" y="1658355"/>
                  </a:lnTo>
                  <a:lnTo>
                    <a:pt x="1337206" y="1636719"/>
                  </a:lnTo>
                  <a:lnTo>
                    <a:pt x="1304220" y="1603728"/>
                  </a:lnTo>
                  <a:lnTo>
                    <a:pt x="1282592" y="1561893"/>
                  </a:lnTo>
                  <a:lnTo>
                    <a:pt x="1274826" y="1513725"/>
                  </a:lnTo>
                  <a:close/>
                </a:path>
                <a:path w="1579879" h="1666239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200582" y="7766"/>
                  </a:lnTo>
                  <a:lnTo>
                    <a:pt x="242419" y="29394"/>
                  </a:lnTo>
                  <a:lnTo>
                    <a:pt x="275405" y="62380"/>
                  </a:lnTo>
                  <a:lnTo>
                    <a:pt x="297033" y="104217"/>
                  </a:lnTo>
                  <a:lnTo>
                    <a:pt x="304800" y="152400"/>
                  </a:lnTo>
                  <a:lnTo>
                    <a:pt x="297033" y="200582"/>
                  </a:lnTo>
                  <a:lnTo>
                    <a:pt x="275405" y="242419"/>
                  </a:lnTo>
                  <a:lnTo>
                    <a:pt x="242419" y="275405"/>
                  </a:lnTo>
                  <a:lnTo>
                    <a:pt x="200582" y="297033"/>
                  </a:lnTo>
                  <a:lnTo>
                    <a:pt x="152400" y="304800"/>
                  </a:lnTo>
                  <a:lnTo>
                    <a:pt x="104217" y="297033"/>
                  </a:lnTo>
                  <a:lnTo>
                    <a:pt x="62380" y="275405"/>
                  </a:lnTo>
                  <a:lnTo>
                    <a:pt x="29394" y="242419"/>
                  </a:lnTo>
                  <a:lnTo>
                    <a:pt x="7766" y="200582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8200" y="2971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69" y="104217"/>
                  </a:lnTo>
                  <a:lnTo>
                    <a:pt x="29405" y="62380"/>
                  </a:lnTo>
                  <a:lnTo>
                    <a:pt x="62396" y="29394"/>
                  </a:lnTo>
                  <a:lnTo>
                    <a:pt x="104231" y="7766"/>
                  </a:lnTo>
                  <a:lnTo>
                    <a:pt x="152400" y="0"/>
                  </a:lnTo>
                  <a:lnTo>
                    <a:pt x="200568" y="7766"/>
                  </a:lnTo>
                  <a:lnTo>
                    <a:pt x="242403" y="29394"/>
                  </a:lnTo>
                  <a:lnTo>
                    <a:pt x="275394" y="62380"/>
                  </a:lnTo>
                  <a:lnTo>
                    <a:pt x="297030" y="104217"/>
                  </a:lnTo>
                  <a:lnTo>
                    <a:pt x="304800" y="152400"/>
                  </a:lnTo>
                  <a:lnTo>
                    <a:pt x="297030" y="200582"/>
                  </a:lnTo>
                  <a:lnTo>
                    <a:pt x="275394" y="242419"/>
                  </a:lnTo>
                  <a:lnTo>
                    <a:pt x="242403" y="275405"/>
                  </a:lnTo>
                  <a:lnTo>
                    <a:pt x="200568" y="297033"/>
                  </a:lnTo>
                  <a:lnTo>
                    <a:pt x="152400" y="304800"/>
                  </a:lnTo>
                  <a:lnTo>
                    <a:pt x="104231" y="297033"/>
                  </a:lnTo>
                  <a:lnTo>
                    <a:pt x="62396" y="275405"/>
                  </a:lnTo>
                  <a:lnTo>
                    <a:pt x="29405" y="242419"/>
                  </a:lnTo>
                  <a:lnTo>
                    <a:pt x="7769" y="20058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3412" y="4648961"/>
              <a:ext cx="103505" cy="1219835"/>
            </a:xfrm>
            <a:custGeom>
              <a:avLst/>
              <a:gdLst/>
              <a:ahLst/>
              <a:cxnLst/>
              <a:rect l="l" t="t" r="r" b="b"/>
              <a:pathLst>
                <a:path w="103504" h="1219835">
                  <a:moveTo>
                    <a:pt x="7099" y="1123149"/>
                  </a:moveTo>
                  <a:lnTo>
                    <a:pt x="1028" y="1126667"/>
                  </a:lnTo>
                  <a:lnTo>
                    <a:pt x="0" y="1130554"/>
                  </a:lnTo>
                  <a:lnTo>
                    <a:pt x="51587" y="1219263"/>
                  </a:lnTo>
                  <a:lnTo>
                    <a:pt x="58958" y="1206665"/>
                  </a:lnTo>
                  <a:lnTo>
                    <a:pt x="45262" y="1206652"/>
                  </a:lnTo>
                  <a:lnTo>
                    <a:pt x="45293" y="1183165"/>
                  </a:lnTo>
                  <a:lnTo>
                    <a:pt x="10985" y="1124178"/>
                  </a:lnTo>
                  <a:lnTo>
                    <a:pt x="7099" y="1123149"/>
                  </a:lnTo>
                  <a:close/>
                </a:path>
                <a:path w="103504" h="1219835">
                  <a:moveTo>
                    <a:pt x="45293" y="1183165"/>
                  </a:moveTo>
                  <a:lnTo>
                    <a:pt x="45262" y="1206652"/>
                  </a:lnTo>
                  <a:lnTo>
                    <a:pt x="57962" y="1206665"/>
                  </a:lnTo>
                  <a:lnTo>
                    <a:pt x="57966" y="1203464"/>
                  </a:lnTo>
                  <a:lnTo>
                    <a:pt x="46126" y="1203452"/>
                  </a:lnTo>
                  <a:lnTo>
                    <a:pt x="51625" y="1194052"/>
                  </a:lnTo>
                  <a:lnTo>
                    <a:pt x="45293" y="1183165"/>
                  </a:lnTo>
                  <a:close/>
                </a:path>
                <a:path w="103504" h="1219835">
                  <a:moveTo>
                    <a:pt x="96342" y="1123264"/>
                  </a:moveTo>
                  <a:lnTo>
                    <a:pt x="92443" y="1124280"/>
                  </a:lnTo>
                  <a:lnTo>
                    <a:pt x="57994" y="1183165"/>
                  </a:lnTo>
                  <a:lnTo>
                    <a:pt x="57962" y="1206665"/>
                  </a:lnTo>
                  <a:lnTo>
                    <a:pt x="58965" y="1206652"/>
                  </a:lnTo>
                  <a:lnTo>
                    <a:pt x="103416" y="1130693"/>
                  </a:lnTo>
                  <a:lnTo>
                    <a:pt x="102387" y="1126807"/>
                  </a:lnTo>
                  <a:lnTo>
                    <a:pt x="96342" y="1123264"/>
                  </a:lnTo>
                  <a:close/>
                </a:path>
                <a:path w="103504" h="1219835">
                  <a:moveTo>
                    <a:pt x="51625" y="1194052"/>
                  </a:moveTo>
                  <a:lnTo>
                    <a:pt x="46126" y="1203452"/>
                  </a:lnTo>
                  <a:lnTo>
                    <a:pt x="57099" y="1203464"/>
                  </a:lnTo>
                  <a:lnTo>
                    <a:pt x="51625" y="1194052"/>
                  </a:lnTo>
                  <a:close/>
                </a:path>
                <a:path w="103504" h="1219835">
                  <a:moveTo>
                    <a:pt x="57993" y="1183167"/>
                  </a:moveTo>
                  <a:lnTo>
                    <a:pt x="51625" y="1194052"/>
                  </a:lnTo>
                  <a:lnTo>
                    <a:pt x="57099" y="1203464"/>
                  </a:lnTo>
                  <a:lnTo>
                    <a:pt x="57966" y="1203464"/>
                  </a:lnTo>
                  <a:lnTo>
                    <a:pt x="57993" y="1183167"/>
                  </a:lnTo>
                  <a:close/>
                </a:path>
                <a:path w="103504" h="1219835">
                  <a:moveTo>
                    <a:pt x="59524" y="0"/>
                  </a:moveTo>
                  <a:lnTo>
                    <a:pt x="46824" y="0"/>
                  </a:lnTo>
                  <a:lnTo>
                    <a:pt x="45294" y="1183167"/>
                  </a:lnTo>
                  <a:lnTo>
                    <a:pt x="51625" y="1194052"/>
                  </a:lnTo>
                  <a:lnTo>
                    <a:pt x="57993" y="1183167"/>
                  </a:lnTo>
                  <a:lnTo>
                    <a:pt x="59524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" y="5867400"/>
              <a:ext cx="685800" cy="1905"/>
            </a:xfrm>
            <a:custGeom>
              <a:avLst/>
              <a:gdLst/>
              <a:ahLst/>
              <a:cxnLst/>
              <a:rect l="l" t="t" r="r" b="b"/>
              <a:pathLst>
                <a:path w="685800" h="1904">
                  <a:moveTo>
                    <a:pt x="685800" y="0"/>
                  </a:moveTo>
                  <a:lnTo>
                    <a:pt x="0" y="1587"/>
                  </a:lnTo>
                </a:path>
              </a:pathLst>
            </a:custGeom>
            <a:ln w="12700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76603" y="4496561"/>
              <a:ext cx="104775" cy="1372235"/>
            </a:xfrm>
            <a:custGeom>
              <a:avLst/>
              <a:gdLst/>
              <a:ahLst/>
              <a:cxnLst/>
              <a:rect l="l" t="t" r="r" b="b"/>
              <a:pathLst>
                <a:path w="104775" h="1372235">
                  <a:moveTo>
                    <a:pt x="103378" y="1283208"/>
                  </a:moveTo>
                  <a:lnTo>
                    <a:pt x="102362" y="1279309"/>
                  </a:lnTo>
                  <a:lnTo>
                    <a:pt x="99441" y="1277543"/>
                  </a:lnTo>
                  <a:lnTo>
                    <a:pt x="96393" y="1275765"/>
                  </a:lnTo>
                  <a:lnTo>
                    <a:pt x="92456" y="1276769"/>
                  </a:lnTo>
                  <a:lnTo>
                    <a:pt x="57861" y="1335620"/>
                  </a:lnTo>
                  <a:lnTo>
                    <a:pt x="59309" y="914400"/>
                  </a:lnTo>
                  <a:lnTo>
                    <a:pt x="46609" y="914400"/>
                  </a:lnTo>
                  <a:lnTo>
                    <a:pt x="45161" y="1335620"/>
                  </a:lnTo>
                  <a:lnTo>
                    <a:pt x="12573" y="1279309"/>
                  </a:lnTo>
                  <a:lnTo>
                    <a:pt x="11049" y="1276489"/>
                  </a:lnTo>
                  <a:lnTo>
                    <a:pt x="7112" y="1275448"/>
                  </a:lnTo>
                  <a:lnTo>
                    <a:pt x="1016" y="1278966"/>
                  </a:lnTo>
                  <a:lnTo>
                    <a:pt x="0" y="1282852"/>
                  </a:lnTo>
                  <a:lnTo>
                    <a:pt x="1778" y="1285887"/>
                  </a:lnTo>
                  <a:lnTo>
                    <a:pt x="51435" y="1371663"/>
                  </a:lnTo>
                  <a:lnTo>
                    <a:pt x="58813" y="1359077"/>
                  </a:lnTo>
                  <a:lnTo>
                    <a:pt x="103378" y="1283208"/>
                  </a:lnTo>
                  <a:close/>
                </a:path>
                <a:path w="104775" h="1372235">
                  <a:moveTo>
                    <a:pt x="104267" y="88900"/>
                  </a:moveTo>
                  <a:lnTo>
                    <a:pt x="102616" y="85852"/>
                  </a:lnTo>
                  <a:lnTo>
                    <a:pt x="60223" y="12573"/>
                  </a:lnTo>
                  <a:lnTo>
                    <a:pt x="52959" y="0"/>
                  </a:lnTo>
                  <a:lnTo>
                    <a:pt x="2667" y="85344"/>
                  </a:lnTo>
                  <a:lnTo>
                    <a:pt x="889" y="88392"/>
                  </a:lnTo>
                  <a:lnTo>
                    <a:pt x="1905" y="92329"/>
                  </a:lnTo>
                  <a:lnTo>
                    <a:pt x="8001" y="95885"/>
                  </a:lnTo>
                  <a:lnTo>
                    <a:pt x="11811" y="94869"/>
                  </a:lnTo>
                  <a:lnTo>
                    <a:pt x="13589" y="91821"/>
                  </a:lnTo>
                  <a:lnTo>
                    <a:pt x="46494" y="36080"/>
                  </a:lnTo>
                  <a:lnTo>
                    <a:pt x="46609" y="12573"/>
                  </a:lnTo>
                  <a:lnTo>
                    <a:pt x="46507" y="36055"/>
                  </a:lnTo>
                  <a:lnTo>
                    <a:pt x="52920" y="25184"/>
                  </a:lnTo>
                  <a:lnTo>
                    <a:pt x="46507" y="36080"/>
                  </a:lnTo>
                  <a:lnTo>
                    <a:pt x="45085" y="381000"/>
                  </a:lnTo>
                  <a:lnTo>
                    <a:pt x="57785" y="381000"/>
                  </a:lnTo>
                  <a:lnTo>
                    <a:pt x="59207" y="36080"/>
                  </a:lnTo>
                  <a:lnTo>
                    <a:pt x="91630" y="92329"/>
                  </a:lnTo>
                  <a:lnTo>
                    <a:pt x="93345" y="95250"/>
                  </a:lnTo>
                  <a:lnTo>
                    <a:pt x="97155" y="96266"/>
                  </a:lnTo>
                  <a:lnTo>
                    <a:pt x="103251" y="92710"/>
                  </a:lnTo>
                  <a:lnTo>
                    <a:pt x="104267" y="8890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1240" y="4141089"/>
            <a:ext cx="87945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5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Volts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/>
              <a:t>Syed </a:t>
            </a:r>
            <a:r>
              <a:rPr spc="-5"/>
              <a:t>Hasan Saeed, </a:t>
            </a:r>
            <a:r>
              <a:rPr spc="-10"/>
              <a:t>Integral</a:t>
            </a:r>
            <a:r>
              <a:rPr spc="-35"/>
              <a:t> </a:t>
            </a:r>
            <a:r>
              <a:rPr spc="-15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/>
              <a:t>Lucknow</a:t>
            </a:r>
            <a:endParaRPr spc="-5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mtClean="0"/>
              <a:pPr marL="38100">
                <a:lnSpc>
                  <a:spcPts val="1240"/>
                </a:lnSpc>
              </a:pPr>
              <a:t>2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2006755" y="4991227"/>
            <a:ext cx="87945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Volts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6616" y="4077633"/>
            <a:ext cx="1400868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4540" algn="l"/>
              </a:tabLst>
            </a:pPr>
            <a:r>
              <a:rPr sz="1800" u="heavy" dirty="0">
                <a:uFill>
                  <a:solidFill>
                    <a:srgbClr val="497DBA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2910" y="5665419"/>
            <a:ext cx="2210071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 </a:t>
            </a:r>
            <a:r>
              <a:rPr sz="1800" spc="-5" dirty="0">
                <a:latin typeface="Times New Roman"/>
                <a:cs typeface="Times New Roman"/>
              </a:rPr>
              <a:t>coulomb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charge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499" y="2921634"/>
            <a:ext cx="148551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4540" algn="l"/>
                <a:tab pos="948690" algn="l"/>
              </a:tabLst>
            </a:pPr>
            <a:r>
              <a:rPr sz="1800" u="heavy" dirty="0">
                <a:uFill>
                  <a:solidFill>
                    <a:srgbClr val="497DBA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800" dirty="0">
                <a:latin typeface="Times New Roman"/>
                <a:cs typeface="Times New Roman"/>
              </a:rPr>
              <a:t>	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93925" y="3072511"/>
            <a:ext cx="5313143" cy="14497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i="1" spc="-45" dirty="0">
                <a:latin typeface="Times New Roman"/>
                <a:cs typeface="Times New Roman"/>
              </a:rPr>
              <a:t>Work </a:t>
            </a:r>
            <a:r>
              <a:rPr sz="2000" i="1" dirty="0">
                <a:latin typeface="Times New Roman"/>
                <a:cs typeface="Times New Roman"/>
              </a:rPr>
              <a:t>done </a:t>
            </a:r>
            <a:r>
              <a:rPr sz="2000" i="1" spc="-20" dirty="0">
                <a:latin typeface="Times New Roman"/>
                <a:cs typeface="Times New Roman"/>
              </a:rPr>
              <a:t>required </a:t>
            </a:r>
            <a:r>
              <a:rPr sz="2000" i="1" dirty="0">
                <a:latin typeface="Times New Roman"/>
                <a:cs typeface="Times New Roman"/>
              </a:rPr>
              <a:t>to raise 1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coulomb  </a:t>
            </a:r>
            <a:r>
              <a:rPr sz="2000" i="1" spc="-10" dirty="0">
                <a:latin typeface="Times New Roman"/>
                <a:cs typeface="Times New Roman"/>
              </a:rPr>
              <a:t>charge </a:t>
            </a:r>
            <a:r>
              <a:rPr sz="2000" i="1" dirty="0">
                <a:latin typeface="Times New Roman"/>
                <a:cs typeface="Times New Roman"/>
              </a:rPr>
              <a:t>up to point A =1 joule  Potential of A =1</a:t>
            </a:r>
            <a:r>
              <a:rPr sz="2000" i="1" spc="-155" dirty="0">
                <a:latin typeface="Times New Roman"/>
                <a:cs typeface="Times New Roman"/>
              </a:rPr>
              <a:t> </a:t>
            </a:r>
            <a:r>
              <a:rPr sz="2000" i="1" spc="-55" dirty="0">
                <a:latin typeface="Times New Roman"/>
                <a:cs typeface="Times New Roman"/>
              </a:rPr>
              <a:t>Volt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580"/>
              </a:spcBef>
            </a:pPr>
            <a:r>
              <a:rPr sz="2000" i="1" spc="-45" dirty="0">
                <a:latin typeface="Times New Roman"/>
                <a:cs typeface="Times New Roman"/>
              </a:rPr>
              <a:t>Work </a:t>
            </a:r>
            <a:r>
              <a:rPr sz="2000" i="1" dirty="0">
                <a:latin typeface="Times New Roman"/>
                <a:cs typeface="Times New Roman"/>
              </a:rPr>
              <a:t>done </a:t>
            </a:r>
            <a:r>
              <a:rPr sz="2000" i="1" spc="-20" dirty="0">
                <a:latin typeface="Times New Roman"/>
                <a:cs typeface="Times New Roman"/>
              </a:rPr>
              <a:t>required </a:t>
            </a:r>
            <a:r>
              <a:rPr sz="2000" i="1" dirty="0">
                <a:latin typeface="Times New Roman"/>
                <a:cs typeface="Times New Roman"/>
              </a:rPr>
              <a:t>to raise 1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coulomb  </a:t>
            </a:r>
            <a:r>
              <a:rPr sz="2000" i="1" spc="-10" dirty="0">
                <a:latin typeface="Times New Roman"/>
                <a:cs typeface="Times New Roman"/>
              </a:rPr>
              <a:t>charge </a:t>
            </a:r>
            <a:r>
              <a:rPr sz="2000" i="1" dirty="0">
                <a:latin typeface="Times New Roman"/>
                <a:cs typeface="Times New Roman"/>
              </a:rPr>
              <a:t>up to point B = 5 joule  Potential of B = 5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i="1" spc="-55" dirty="0">
                <a:latin typeface="Times New Roman"/>
                <a:cs typeface="Times New Roman"/>
              </a:rPr>
              <a:t>Volt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9" y="173228"/>
            <a:ext cx="6411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3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7" y="642263"/>
            <a:ext cx="11101142" cy="425308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just">
              <a:spcBef>
                <a:spcPts val="625"/>
              </a:spcBef>
            </a:pPr>
            <a:r>
              <a:rPr sz="2200" spc="-5" dirty="0">
                <a:latin typeface="Times New Roman"/>
                <a:cs typeface="Times New Roman"/>
              </a:rPr>
              <a:t>Let,</a:t>
            </a:r>
            <a:endParaRPr sz="2200">
              <a:latin typeface="Times New Roman"/>
              <a:cs typeface="Times New Roman"/>
            </a:endParaRPr>
          </a:p>
          <a:p>
            <a:pPr marL="355600" marR="550545" indent="-342900" algn="just"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W = 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required to move positive </a:t>
            </a:r>
            <a:r>
              <a:rPr sz="2200" spc="-10" dirty="0">
                <a:latin typeface="Times New Roman"/>
                <a:cs typeface="Times New Roman"/>
              </a:rPr>
              <a:t>charge </a:t>
            </a:r>
            <a:r>
              <a:rPr sz="2200" spc="-5" dirty="0">
                <a:latin typeface="Times New Roman"/>
                <a:cs typeface="Times New Roman"/>
              </a:rPr>
              <a:t>from one point to other  (joules)</a:t>
            </a:r>
            <a:endParaRPr sz="2200">
              <a:latin typeface="Times New Roman"/>
              <a:cs typeface="Times New Roman"/>
            </a:endParaRPr>
          </a:p>
          <a:p>
            <a:pPr marL="12700" marR="4870450" algn="just">
              <a:spcBef>
                <a:spcPts val="190"/>
              </a:spcBef>
              <a:tabLst>
                <a:tab pos="720725" algn="l"/>
              </a:tabLst>
            </a:pPr>
            <a:r>
              <a:rPr sz="2200" spc="-5" dirty="0">
                <a:latin typeface="Times New Roman"/>
                <a:cs typeface="Times New Roman"/>
              </a:rPr>
              <a:t>Q = Positive </a:t>
            </a:r>
            <a:r>
              <a:rPr sz="2200" spc="-10" dirty="0">
                <a:latin typeface="Times New Roman"/>
                <a:cs typeface="Times New Roman"/>
              </a:rPr>
              <a:t>charge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(coulomb)  Then	V= W/Q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J/C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spcBef>
                <a:spcPts val="335"/>
              </a:spcBef>
            </a:pPr>
            <a:r>
              <a:rPr sz="2200" spc="-5" dirty="0">
                <a:latin typeface="Times New Roman"/>
                <a:cs typeface="Times New Roman"/>
              </a:rPr>
              <a:t>V is known as the </a:t>
            </a:r>
            <a:r>
              <a:rPr sz="2200" b="1" spc="-5" dirty="0">
                <a:latin typeface="Times New Roman"/>
                <a:cs typeface="Times New Roman"/>
              </a:rPr>
              <a:t>voltage or potential </a:t>
            </a:r>
            <a:r>
              <a:rPr sz="2200" spc="-5" dirty="0">
                <a:latin typeface="Times New Roman"/>
                <a:cs typeface="Times New Roman"/>
              </a:rPr>
              <a:t>and its unit 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volt.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spcBef>
                <a:spcPts val="530"/>
              </a:spcBef>
            </a:pPr>
            <a:r>
              <a:rPr sz="2200" b="1" spc="-5" dirty="0">
                <a:latin typeface="Times New Roman"/>
                <a:cs typeface="Times New Roman"/>
              </a:rPr>
              <a:t>POTENTIAL</a:t>
            </a:r>
            <a:r>
              <a:rPr sz="2200" b="1" spc="-13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DIFFERENCE: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Electrical 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or current flows from higher potential to lower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potential.</a:t>
            </a:r>
            <a:endParaRPr sz="2200">
              <a:latin typeface="Times New Roman"/>
              <a:cs typeface="Times New Roman"/>
            </a:endParaRPr>
          </a:p>
          <a:p>
            <a:pPr marL="355600" algn="just"/>
            <a:r>
              <a:rPr sz="2200" spc="-5" dirty="0">
                <a:latin typeface="Times New Roman"/>
                <a:cs typeface="Times New Roman"/>
              </a:rPr>
              <a:t>Therefore for flow of current a potential </a:t>
            </a:r>
            <a:r>
              <a:rPr sz="2200" spc="-10" dirty="0">
                <a:latin typeface="Times New Roman"/>
                <a:cs typeface="Times New Roman"/>
              </a:rPr>
              <a:t>difference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necessary.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This can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5" dirty="0">
                <a:latin typeface="Times New Roman"/>
                <a:cs typeface="Times New Roman"/>
              </a:rPr>
              <a:t>easily understand by the diagram of two water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tanks.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Fig. (a) : when two water tanks are </a:t>
            </a:r>
            <a:r>
              <a:rPr sz="2200" dirty="0">
                <a:latin typeface="Times New Roman"/>
                <a:cs typeface="Times New Roman"/>
              </a:rPr>
              <a:t>not </a:t>
            </a:r>
            <a:r>
              <a:rPr sz="2200" spc="-5" dirty="0">
                <a:latin typeface="Times New Roman"/>
                <a:cs typeface="Times New Roman"/>
              </a:rPr>
              <a:t>connected, then no water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flows.</a:t>
            </a:r>
            <a:endParaRPr sz="2200">
              <a:latin typeface="Times New Roman"/>
              <a:cs typeface="Times New Roman"/>
            </a:endParaRPr>
          </a:p>
          <a:p>
            <a:pPr marL="355600" marR="299085" indent="-342900" algn="just">
              <a:spcBef>
                <a:spcPts val="530"/>
              </a:spcBef>
              <a:tabLst>
                <a:tab pos="5641340" algn="l"/>
              </a:tabLst>
            </a:pPr>
            <a:r>
              <a:rPr sz="2200" spc="-5" dirty="0">
                <a:latin typeface="Times New Roman"/>
                <a:cs typeface="Times New Roman"/>
              </a:rPr>
              <a:t>Fig. (b) : when two water tanks having water of </a:t>
            </a:r>
            <a:r>
              <a:rPr sz="2200" spc="-10" dirty="0">
                <a:latin typeface="Times New Roman"/>
                <a:cs typeface="Times New Roman"/>
              </a:rPr>
              <a:t>same </a:t>
            </a:r>
            <a:r>
              <a:rPr sz="2200" spc="-5" dirty="0">
                <a:latin typeface="Times New Roman"/>
                <a:cs typeface="Times New Roman"/>
              </a:rPr>
              <a:t>level and they are  placed at </a:t>
            </a:r>
            <a:r>
              <a:rPr sz="2200" spc="-10" dirty="0">
                <a:latin typeface="Times New Roman"/>
                <a:cs typeface="Times New Roman"/>
              </a:rPr>
              <a:t>same </a:t>
            </a:r>
            <a:r>
              <a:rPr sz="2200" spc="-5" dirty="0">
                <a:latin typeface="Times New Roman"/>
                <a:cs typeface="Times New Roman"/>
              </a:rPr>
              <a:t>level then </a:t>
            </a:r>
            <a:r>
              <a:rPr sz="2200" dirty="0">
                <a:latin typeface="Times New Roman"/>
                <a:cs typeface="Times New Roman"/>
              </a:rPr>
              <a:t>no </a:t>
            </a:r>
            <a:r>
              <a:rPr sz="2200" spc="-5" dirty="0">
                <a:latin typeface="Times New Roman"/>
                <a:cs typeface="Times New Roman"/>
              </a:rPr>
              <a:t>water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">
                <a:latin typeface="Times New Roman"/>
                <a:cs typeface="Times New Roman"/>
              </a:rPr>
              <a:t>flows</a:t>
            </a:r>
            <a:r>
              <a:rPr sz="2200">
                <a:latin typeface="Times New Roman"/>
                <a:cs typeface="Times New Roman"/>
              </a:rPr>
              <a:t> </a:t>
            </a:r>
            <a:r>
              <a:rPr sz="2200" spc="-5">
                <a:latin typeface="Times New Roman"/>
                <a:cs typeface="Times New Roman"/>
              </a:rPr>
              <a:t>from</a:t>
            </a:r>
            <a:r>
              <a:rPr lang="en-US" sz="2200" spc="-5" dirty="0">
                <a:latin typeface="Times New Roman"/>
                <a:cs typeface="Times New Roman"/>
              </a:rPr>
              <a:t> e</a:t>
            </a:r>
            <a:r>
              <a:rPr sz="2200" spc="-5">
                <a:latin typeface="Times New Roman"/>
                <a:cs typeface="Times New Roman"/>
              </a:rPr>
              <a:t>ither </a:t>
            </a:r>
            <a:r>
              <a:rPr sz="2200" spc="-5" dirty="0">
                <a:latin typeface="Times New Roman"/>
                <a:cs typeface="Times New Roman"/>
              </a:rPr>
              <a:t>tank 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other.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8106" y="709929"/>
            <a:ext cx="17910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latin typeface="Times New Roman"/>
                <a:cs typeface="Times New Roman"/>
              </a:rPr>
              <a:t>Water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tanks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9259" y="173228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59198" y="1277874"/>
            <a:ext cx="2251547" cy="1854200"/>
            <a:chOff x="3270250" y="1277874"/>
            <a:chExt cx="1689100" cy="1854200"/>
          </a:xfrm>
        </p:grpSpPr>
        <p:sp>
          <p:nvSpPr>
            <p:cNvPr id="5" name="object 5"/>
            <p:cNvSpPr/>
            <p:nvPr/>
          </p:nvSpPr>
          <p:spPr>
            <a:xfrm>
              <a:off x="3276600" y="1284224"/>
              <a:ext cx="1676400" cy="1841500"/>
            </a:xfrm>
            <a:custGeom>
              <a:avLst/>
              <a:gdLst/>
              <a:ahLst/>
              <a:cxnLst/>
              <a:rect l="l" t="t" r="r" b="b"/>
              <a:pathLst>
                <a:path w="1676400" h="1841500">
                  <a:moveTo>
                    <a:pt x="762" y="0"/>
                  </a:moveTo>
                  <a:lnTo>
                    <a:pt x="0" y="1828038"/>
                  </a:lnTo>
                </a:path>
                <a:path w="1676400" h="1841500">
                  <a:moveTo>
                    <a:pt x="1676400" y="8254"/>
                  </a:moveTo>
                  <a:lnTo>
                    <a:pt x="1675638" y="1836292"/>
                  </a:lnTo>
                </a:path>
                <a:path w="1676400" h="1841500">
                  <a:moveTo>
                    <a:pt x="0" y="1839976"/>
                  </a:moveTo>
                  <a:lnTo>
                    <a:pt x="1676400" y="1841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2800" y="1676400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0"/>
                  </a:moveTo>
                  <a:lnTo>
                    <a:pt x="1524000" y="1650"/>
                  </a:lnTo>
                </a:path>
                <a:path w="1524000" h="1219200">
                  <a:moveTo>
                    <a:pt x="0" y="1217549"/>
                  </a:moveTo>
                  <a:lnTo>
                    <a:pt x="1524000" y="1219200"/>
                  </a:lnTo>
                </a:path>
                <a:path w="1524000" h="1219200">
                  <a:moveTo>
                    <a:pt x="0" y="988949"/>
                  </a:moveTo>
                  <a:lnTo>
                    <a:pt x="1524000" y="990600"/>
                  </a:lnTo>
                </a:path>
                <a:path w="1524000" h="1219200">
                  <a:moveTo>
                    <a:pt x="0" y="719201"/>
                  </a:moveTo>
                  <a:lnTo>
                    <a:pt x="1524000" y="720851"/>
                  </a:lnTo>
                </a:path>
                <a:path w="1524000" h="1219200">
                  <a:moveTo>
                    <a:pt x="0" y="228600"/>
                  </a:moveTo>
                  <a:lnTo>
                    <a:pt x="1524000" y="230250"/>
                  </a:lnTo>
                </a:path>
                <a:path w="1524000" h="1219200">
                  <a:moveTo>
                    <a:pt x="0" y="433070"/>
                  </a:moveTo>
                  <a:lnTo>
                    <a:pt x="1524000" y="434594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02550" y="1289051"/>
            <a:ext cx="2251547" cy="1868805"/>
            <a:chOff x="527050" y="1289050"/>
            <a:chExt cx="1689100" cy="1868805"/>
          </a:xfrm>
        </p:grpSpPr>
        <p:sp>
          <p:nvSpPr>
            <p:cNvPr id="8" name="object 8"/>
            <p:cNvSpPr/>
            <p:nvPr/>
          </p:nvSpPr>
          <p:spPr>
            <a:xfrm>
              <a:off x="533400" y="1295400"/>
              <a:ext cx="1676400" cy="1856105"/>
            </a:xfrm>
            <a:custGeom>
              <a:avLst/>
              <a:gdLst/>
              <a:ahLst/>
              <a:cxnLst/>
              <a:rect l="l" t="t" r="r" b="b"/>
              <a:pathLst>
                <a:path w="1676400" h="1856105">
                  <a:moveTo>
                    <a:pt x="800" y="26035"/>
                  </a:moveTo>
                  <a:lnTo>
                    <a:pt x="0" y="1854073"/>
                  </a:lnTo>
                </a:path>
                <a:path w="1676400" h="1856105">
                  <a:moveTo>
                    <a:pt x="1676400" y="0"/>
                  </a:moveTo>
                  <a:lnTo>
                    <a:pt x="1675638" y="1828038"/>
                  </a:lnTo>
                </a:path>
                <a:path w="1676400" h="1856105">
                  <a:moveTo>
                    <a:pt x="0" y="1854073"/>
                  </a:moveTo>
                  <a:lnTo>
                    <a:pt x="1676400" y="185559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600" y="1701673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0"/>
                  </a:moveTo>
                  <a:lnTo>
                    <a:pt x="1524000" y="1524"/>
                  </a:lnTo>
                </a:path>
                <a:path w="1524000" h="1219200">
                  <a:moveTo>
                    <a:pt x="0" y="152400"/>
                  </a:moveTo>
                  <a:lnTo>
                    <a:pt x="1524000" y="153924"/>
                  </a:lnTo>
                </a:path>
                <a:path w="1524000" h="1219200">
                  <a:moveTo>
                    <a:pt x="0" y="379349"/>
                  </a:moveTo>
                  <a:lnTo>
                    <a:pt x="1524000" y="381000"/>
                  </a:lnTo>
                </a:path>
                <a:path w="1524000" h="1219200">
                  <a:moveTo>
                    <a:pt x="0" y="607949"/>
                  </a:moveTo>
                  <a:lnTo>
                    <a:pt x="1524000" y="609600"/>
                  </a:lnTo>
                </a:path>
                <a:path w="1524000" h="1219200">
                  <a:moveTo>
                    <a:pt x="0" y="836549"/>
                  </a:moveTo>
                  <a:lnTo>
                    <a:pt x="1524000" y="838200"/>
                  </a:lnTo>
                </a:path>
                <a:path w="1524000" h="1219200">
                  <a:moveTo>
                    <a:pt x="0" y="1065149"/>
                  </a:moveTo>
                  <a:lnTo>
                    <a:pt x="1524000" y="1066800"/>
                  </a:lnTo>
                </a:path>
                <a:path w="1524000" h="1219200">
                  <a:moveTo>
                    <a:pt x="0" y="1217549"/>
                  </a:moveTo>
                  <a:lnTo>
                    <a:pt x="1524000" y="1219200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25821" y="3302634"/>
            <a:ext cx="916701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imes New Roman"/>
                <a:cs typeface="Times New Roman"/>
              </a:rPr>
              <a:t>Tank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26028" y="3254502"/>
            <a:ext cx="915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imes New Roman"/>
                <a:cs typeface="Times New Roman"/>
              </a:rPr>
              <a:t>Tank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7306" y="1331213"/>
            <a:ext cx="2327727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Fig.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(a)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No water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flows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05697" y="3879850"/>
            <a:ext cx="5965753" cy="2106930"/>
            <a:chOff x="679450" y="3879850"/>
            <a:chExt cx="4475480" cy="2106930"/>
          </a:xfrm>
        </p:grpSpPr>
        <p:sp>
          <p:nvSpPr>
            <p:cNvPr id="14" name="object 14"/>
            <p:cNvSpPr/>
            <p:nvPr/>
          </p:nvSpPr>
          <p:spPr>
            <a:xfrm>
              <a:off x="685800" y="4140834"/>
              <a:ext cx="2819400" cy="1839595"/>
            </a:xfrm>
            <a:custGeom>
              <a:avLst/>
              <a:gdLst/>
              <a:ahLst/>
              <a:cxnLst/>
              <a:rect l="l" t="t" r="r" b="b"/>
              <a:pathLst>
                <a:path w="2819400" h="1839595">
                  <a:moveTo>
                    <a:pt x="800" y="0"/>
                  </a:moveTo>
                  <a:lnTo>
                    <a:pt x="0" y="1827987"/>
                  </a:lnTo>
                </a:path>
                <a:path w="2819400" h="1839595">
                  <a:moveTo>
                    <a:pt x="0" y="1839137"/>
                  </a:moveTo>
                  <a:lnTo>
                    <a:pt x="2819400" y="18139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2000" y="4521073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0"/>
                  </a:moveTo>
                  <a:lnTo>
                    <a:pt x="1524000" y="1524"/>
                  </a:lnTo>
                </a:path>
                <a:path w="1524000" h="1219200">
                  <a:moveTo>
                    <a:pt x="0" y="152400"/>
                  </a:moveTo>
                  <a:lnTo>
                    <a:pt x="1524000" y="153924"/>
                  </a:lnTo>
                </a:path>
                <a:path w="1524000" h="1219200">
                  <a:moveTo>
                    <a:pt x="0" y="379349"/>
                  </a:moveTo>
                  <a:lnTo>
                    <a:pt x="1524000" y="381000"/>
                  </a:lnTo>
                </a:path>
                <a:path w="1524000" h="1219200">
                  <a:moveTo>
                    <a:pt x="0" y="607949"/>
                  </a:moveTo>
                  <a:lnTo>
                    <a:pt x="1524000" y="609600"/>
                  </a:lnTo>
                </a:path>
                <a:path w="1524000" h="1219200">
                  <a:moveTo>
                    <a:pt x="0" y="836548"/>
                  </a:moveTo>
                  <a:lnTo>
                    <a:pt x="1524000" y="838199"/>
                  </a:lnTo>
                </a:path>
                <a:path w="1524000" h="1219200">
                  <a:moveTo>
                    <a:pt x="0" y="1065148"/>
                  </a:moveTo>
                  <a:lnTo>
                    <a:pt x="1524000" y="1066799"/>
                  </a:lnTo>
                </a:path>
                <a:path w="1524000" h="1219200">
                  <a:moveTo>
                    <a:pt x="0" y="1217561"/>
                  </a:moveTo>
                  <a:lnTo>
                    <a:pt x="1524000" y="1219149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71798" y="3886200"/>
              <a:ext cx="1676400" cy="2068830"/>
            </a:xfrm>
            <a:custGeom>
              <a:avLst/>
              <a:gdLst/>
              <a:ahLst/>
              <a:cxnLst/>
              <a:rect l="l" t="t" r="r" b="b"/>
              <a:pathLst>
                <a:path w="1676400" h="2068829">
                  <a:moveTo>
                    <a:pt x="34162" y="0"/>
                  </a:moveTo>
                  <a:lnTo>
                    <a:pt x="33400" y="1827999"/>
                  </a:lnTo>
                </a:path>
                <a:path w="1676400" h="2068829">
                  <a:moveTo>
                    <a:pt x="1665224" y="224155"/>
                  </a:moveTo>
                  <a:lnTo>
                    <a:pt x="1664462" y="2052091"/>
                  </a:lnTo>
                </a:path>
                <a:path w="1676400" h="2068829">
                  <a:moveTo>
                    <a:pt x="0" y="2066963"/>
                  </a:moveTo>
                  <a:lnTo>
                    <a:pt x="1676400" y="20685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7998" y="4505325"/>
              <a:ext cx="1524000" cy="1219835"/>
            </a:xfrm>
            <a:custGeom>
              <a:avLst/>
              <a:gdLst/>
              <a:ahLst/>
              <a:cxnLst/>
              <a:rect l="l" t="t" r="r" b="b"/>
              <a:pathLst>
                <a:path w="1524000" h="1219835">
                  <a:moveTo>
                    <a:pt x="0" y="0"/>
                  </a:moveTo>
                  <a:lnTo>
                    <a:pt x="1524000" y="1650"/>
                  </a:lnTo>
                </a:path>
                <a:path w="1524000" h="1219835">
                  <a:moveTo>
                    <a:pt x="0" y="152400"/>
                  </a:moveTo>
                  <a:lnTo>
                    <a:pt x="1524000" y="154050"/>
                  </a:lnTo>
                </a:path>
                <a:path w="1524000" h="1219835">
                  <a:moveTo>
                    <a:pt x="0" y="379475"/>
                  </a:moveTo>
                  <a:lnTo>
                    <a:pt x="1524000" y="381000"/>
                  </a:lnTo>
                </a:path>
                <a:path w="1524000" h="1219835">
                  <a:moveTo>
                    <a:pt x="0" y="608076"/>
                  </a:moveTo>
                  <a:lnTo>
                    <a:pt x="1524000" y="609600"/>
                  </a:lnTo>
                </a:path>
                <a:path w="1524000" h="1219835">
                  <a:moveTo>
                    <a:pt x="0" y="836676"/>
                  </a:moveTo>
                  <a:lnTo>
                    <a:pt x="1524000" y="838200"/>
                  </a:lnTo>
                </a:path>
                <a:path w="1524000" h="1219835">
                  <a:moveTo>
                    <a:pt x="0" y="1065276"/>
                  </a:moveTo>
                  <a:lnTo>
                    <a:pt x="1524000" y="1066800"/>
                  </a:lnTo>
                </a:path>
                <a:path w="1524000" h="1219835">
                  <a:moveTo>
                    <a:pt x="0" y="1217650"/>
                  </a:moveTo>
                  <a:lnTo>
                    <a:pt x="1524000" y="1219238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61438" y="3886200"/>
              <a:ext cx="1144270" cy="1830705"/>
            </a:xfrm>
            <a:custGeom>
              <a:avLst/>
              <a:gdLst/>
              <a:ahLst/>
              <a:cxnLst/>
              <a:rect l="l" t="t" r="r" b="b"/>
              <a:pathLst>
                <a:path w="1144270" h="1830704">
                  <a:moveTo>
                    <a:pt x="762" y="0"/>
                  </a:moveTo>
                  <a:lnTo>
                    <a:pt x="0" y="1827999"/>
                  </a:lnTo>
                </a:path>
                <a:path w="1144270" h="1830704">
                  <a:moveTo>
                    <a:pt x="762" y="1828800"/>
                  </a:moveTo>
                  <a:lnTo>
                    <a:pt x="1143762" y="18303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0" y="54864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52400" y="457200"/>
                  </a:lnTo>
                </a:path>
                <a:path w="457200" h="457200">
                  <a:moveTo>
                    <a:pt x="304800" y="457200"/>
                  </a:moveTo>
                  <a:lnTo>
                    <a:pt x="457200" y="228600"/>
                  </a:lnTo>
                </a:path>
                <a:path w="457200" h="457200">
                  <a:moveTo>
                    <a:pt x="227837" y="229387"/>
                  </a:moveTo>
                  <a:lnTo>
                    <a:pt x="229362" y="762"/>
                  </a:lnTo>
                </a:path>
                <a:path w="457200" h="457200">
                  <a:moveTo>
                    <a:pt x="76200" y="0"/>
                  </a:moveTo>
                  <a:lnTo>
                    <a:pt x="381000" y="165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028879" y="4555616"/>
            <a:ext cx="2327727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Fig.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(b)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No water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flows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4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1628968" y="6043371"/>
            <a:ext cx="916701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imes New Roman"/>
                <a:cs typeface="Times New Roman"/>
              </a:rPr>
              <a:t>Tank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29175" y="5978144"/>
            <a:ext cx="915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Times New Roman"/>
                <a:cs typeface="Times New Roman"/>
              </a:rPr>
              <a:t>Tank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9" y="173228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6" y="676402"/>
            <a:ext cx="17910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latin typeface="Times New Roman"/>
                <a:cs typeface="Times New Roman"/>
              </a:rPr>
              <a:t>Water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tanks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8102" y="1072389"/>
            <a:ext cx="8782724" cy="3033395"/>
            <a:chOff x="276148" y="1072388"/>
            <a:chExt cx="6588759" cy="3033395"/>
          </a:xfrm>
        </p:grpSpPr>
        <p:sp>
          <p:nvSpPr>
            <p:cNvPr id="5" name="object 5"/>
            <p:cNvSpPr/>
            <p:nvPr/>
          </p:nvSpPr>
          <p:spPr>
            <a:xfrm>
              <a:off x="282498" y="1131824"/>
              <a:ext cx="1775460" cy="2006600"/>
            </a:xfrm>
            <a:custGeom>
              <a:avLst/>
              <a:gdLst/>
              <a:ahLst/>
              <a:cxnLst/>
              <a:rect l="l" t="t" r="r" b="b"/>
              <a:pathLst>
                <a:path w="1775460" h="2006600">
                  <a:moveTo>
                    <a:pt x="787" y="0"/>
                  </a:moveTo>
                  <a:lnTo>
                    <a:pt x="22301" y="1992376"/>
                  </a:lnTo>
                </a:path>
                <a:path w="1775460" h="2006600">
                  <a:moveTo>
                    <a:pt x="0" y="2006473"/>
                  </a:moveTo>
                  <a:lnTo>
                    <a:pt x="1774901" y="19812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8698" y="1701673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0"/>
                  </a:moveTo>
                  <a:lnTo>
                    <a:pt x="1523949" y="1524"/>
                  </a:lnTo>
                </a:path>
                <a:path w="1524000" h="1219200">
                  <a:moveTo>
                    <a:pt x="0" y="152400"/>
                  </a:moveTo>
                  <a:lnTo>
                    <a:pt x="1523949" y="153924"/>
                  </a:lnTo>
                </a:path>
                <a:path w="1524000" h="1219200">
                  <a:moveTo>
                    <a:pt x="0" y="379349"/>
                  </a:moveTo>
                  <a:lnTo>
                    <a:pt x="1523949" y="381000"/>
                  </a:lnTo>
                </a:path>
                <a:path w="1524000" h="1219200">
                  <a:moveTo>
                    <a:pt x="0" y="607949"/>
                  </a:moveTo>
                  <a:lnTo>
                    <a:pt x="1523949" y="609600"/>
                  </a:lnTo>
                </a:path>
                <a:path w="1524000" h="1219200">
                  <a:moveTo>
                    <a:pt x="0" y="836549"/>
                  </a:moveTo>
                  <a:lnTo>
                    <a:pt x="1523949" y="838200"/>
                  </a:lnTo>
                </a:path>
                <a:path w="1524000" h="1219200">
                  <a:moveTo>
                    <a:pt x="0" y="1065149"/>
                  </a:moveTo>
                  <a:lnTo>
                    <a:pt x="1523949" y="1066800"/>
                  </a:lnTo>
                </a:path>
                <a:path w="1524000" h="1219200">
                  <a:moveTo>
                    <a:pt x="0" y="1217549"/>
                  </a:moveTo>
                  <a:lnTo>
                    <a:pt x="1523949" y="1219200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80437" y="1078738"/>
              <a:ext cx="4878070" cy="3020695"/>
            </a:xfrm>
            <a:custGeom>
              <a:avLst/>
              <a:gdLst/>
              <a:ahLst/>
              <a:cxnLst/>
              <a:rect l="l" t="t" r="r" b="b"/>
              <a:pathLst>
                <a:path w="4878070" h="3020695">
                  <a:moveTo>
                    <a:pt x="762" y="0"/>
                  </a:moveTo>
                  <a:lnTo>
                    <a:pt x="0" y="1828038"/>
                  </a:lnTo>
                </a:path>
                <a:path w="4878070" h="3020695">
                  <a:moveTo>
                    <a:pt x="3201924" y="827024"/>
                  </a:moveTo>
                  <a:lnTo>
                    <a:pt x="3200400" y="2807462"/>
                  </a:lnTo>
                </a:path>
                <a:path w="4878070" h="3020695">
                  <a:moveTo>
                    <a:pt x="4877562" y="826262"/>
                  </a:moveTo>
                  <a:lnTo>
                    <a:pt x="4865623" y="3003677"/>
                  </a:lnTo>
                </a:path>
                <a:path w="4878070" h="3020695">
                  <a:moveTo>
                    <a:pt x="3201162" y="3018536"/>
                  </a:moveTo>
                  <a:lnTo>
                    <a:pt x="4877562" y="302018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7800" y="2716402"/>
              <a:ext cx="1524000" cy="1219200"/>
            </a:xfrm>
            <a:custGeom>
              <a:avLst/>
              <a:gdLst/>
              <a:ahLst/>
              <a:cxnLst/>
              <a:rect l="l" t="t" r="r" b="b"/>
              <a:pathLst>
                <a:path w="1524000" h="1219200">
                  <a:moveTo>
                    <a:pt x="0" y="0"/>
                  </a:moveTo>
                  <a:lnTo>
                    <a:pt x="1524000" y="1524"/>
                  </a:lnTo>
                </a:path>
                <a:path w="1524000" h="1219200">
                  <a:moveTo>
                    <a:pt x="0" y="152400"/>
                  </a:moveTo>
                  <a:lnTo>
                    <a:pt x="1524000" y="153924"/>
                  </a:lnTo>
                </a:path>
                <a:path w="1524000" h="1219200">
                  <a:moveTo>
                    <a:pt x="0" y="379349"/>
                  </a:moveTo>
                  <a:lnTo>
                    <a:pt x="1524000" y="381000"/>
                  </a:lnTo>
                </a:path>
                <a:path w="1524000" h="1219200">
                  <a:moveTo>
                    <a:pt x="0" y="607949"/>
                  </a:moveTo>
                  <a:lnTo>
                    <a:pt x="1524000" y="609600"/>
                  </a:lnTo>
                </a:path>
                <a:path w="1524000" h="1219200">
                  <a:moveTo>
                    <a:pt x="0" y="836549"/>
                  </a:moveTo>
                  <a:lnTo>
                    <a:pt x="1524000" y="838200"/>
                  </a:lnTo>
                </a:path>
                <a:path w="1524000" h="1219200">
                  <a:moveTo>
                    <a:pt x="0" y="1065149"/>
                  </a:moveTo>
                  <a:lnTo>
                    <a:pt x="1524000" y="1066800"/>
                  </a:lnTo>
                </a:path>
                <a:path w="1524000" h="1219200">
                  <a:moveTo>
                    <a:pt x="0" y="1217549"/>
                  </a:moveTo>
                  <a:lnTo>
                    <a:pt x="1524000" y="1219200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199" y="2895600"/>
              <a:ext cx="3200400" cy="1196975"/>
            </a:xfrm>
            <a:custGeom>
              <a:avLst/>
              <a:gdLst/>
              <a:ahLst/>
              <a:cxnLst/>
              <a:rect l="l" t="t" r="r" b="b"/>
              <a:pathLst>
                <a:path w="3200400" h="1196975">
                  <a:moveTo>
                    <a:pt x="0" y="0"/>
                  </a:moveTo>
                  <a:lnTo>
                    <a:pt x="3200400" y="990600"/>
                  </a:lnTo>
                </a:path>
                <a:path w="3200400" h="1196975">
                  <a:moveTo>
                    <a:pt x="0" y="206248"/>
                  </a:moveTo>
                  <a:lnTo>
                    <a:pt x="3200400" y="11968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25446" y="3046348"/>
              <a:ext cx="3256279" cy="917575"/>
            </a:xfrm>
            <a:custGeom>
              <a:avLst/>
              <a:gdLst/>
              <a:ahLst/>
              <a:cxnLst/>
              <a:rect l="l" t="t" r="r" b="b"/>
              <a:pathLst>
                <a:path w="3256279" h="917575">
                  <a:moveTo>
                    <a:pt x="208152" y="77850"/>
                  </a:moveTo>
                  <a:lnTo>
                    <a:pt x="589152" y="79375"/>
                  </a:lnTo>
                </a:path>
                <a:path w="3256279" h="917575">
                  <a:moveTo>
                    <a:pt x="817752" y="230250"/>
                  </a:moveTo>
                  <a:lnTo>
                    <a:pt x="1198752" y="231901"/>
                  </a:lnTo>
                </a:path>
                <a:path w="3256279" h="917575">
                  <a:moveTo>
                    <a:pt x="970152" y="304800"/>
                  </a:moveTo>
                  <a:lnTo>
                    <a:pt x="1351152" y="306450"/>
                  </a:lnTo>
                </a:path>
                <a:path w="3256279" h="917575">
                  <a:moveTo>
                    <a:pt x="1198752" y="382650"/>
                  </a:moveTo>
                  <a:lnTo>
                    <a:pt x="1579752" y="384301"/>
                  </a:lnTo>
                </a:path>
                <a:path w="3256279" h="917575">
                  <a:moveTo>
                    <a:pt x="1503552" y="457200"/>
                  </a:moveTo>
                  <a:lnTo>
                    <a:pt x="1884552" y="458850"/>
                  </a:lnTo>
                </a:path>
                <a:path w="3256279" h="917575">
                  <a:moveTo>
                    <a:pt x="1698752" y="557402"/>
                  </a:moveTo>
                  <a:lnTo>
                    <a:pt x="2079752" y="558926"/>
                  </a:lnTo>
                </a:path>
                <a:path w="3256279" h="917575">
                  <a:moveTo>
                    <a:pt x="2494153" y="762000"/>
                  </a:moveTo>
                  <a:lnTo>
                    <a:pt x="2875153" y="763651"/>
                  </a:lnTo>
                </a:path>
                <a:path w="3256279" h="917575">
                  <a:moveTo>
                    <a:pt x="2341753" y="709802"/>
                  </a:moveTo>
                  <a:lnTo>
                    <a:pt x="2722753" y="711326"/>
                  </a:lnTo>
                </a:path>
                <a:path w="3256279" h="917575">
                  <a:moveTo>
                    <a:pt x="2089023" y="631698"/>
                  </a:moveTo>
                  <a:lnTo>
                    <a:pt x="2470023" y="633221"/>
                  </a:lnTo>
                </a:path>
                <a:path w="3256279" h="917575">
                  <a:moveTo>
                    <a:pt x="2875153" y="916051"/>
                  </a:moveTo>
                  <a:lnTo>
                    <a:pt x="3256153" y="917575"/>
                  </a:lnTo>
                </a:path>
                <a:path w="3256279" h="917575">
                  <a:moveTo>
                    <a:pt x="2735706" y="838200"/>
                  </a:moveTo>
                  <a:lnTo>
                    <a:pt x="3116706" y="839851"/>
                  </a:lnTo>
                </a:path>
                <a:path w="3256279" h="917575">
                  <a:moveTo>
                    <a:pt x="0" y="0"/>
                  </a:moveTo>
                  <a:lnTo>
                    <a:pt x="381000" y="1650"/>
                  </a:lnTo>
                </a:path>
                <a:path w="3256279" h="917575">
                  <a:moveTo>
                    <a:pt x="512952" y="152400"/>
                  </a:moveTo>
                  <a:lnTo>
                    <a:pt x="893952" y="154050"/>
                  </a:lnTo>
                </a:path>
              </a:pathLst>
            </a:custGeom>
            <a:ln w="12700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8107" y="3205988"/>
            <a:ext cx="11394012" cy="3303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spcBef>
                <a:spcPts val="100"/>
              </a:spcBef>
            </a:pPr>
            <a:r>
              <a:rPr sz="1800" spc="-30" dirty="0">
                <a:latin typeface="Times New Roman"/>
                <a:cs typeface="Times New Roman"/>
              </a:rPr>
              <a:t>Tank</a:t>
            </a:r>
            <a:r>
              <a:rPr sz="1800" spc="-1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endParaRPr sz="200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5494020"/>
            <a:r>
              <a:rPr sz="1800" spc="-30" dirty="0">
                <a:latin typeface="Times New Roman"/>
                <a:cs typeface="Times New Roman"/>
              </a:rPr>
              <a:t>Tank </a:t>
            </a:r>
            <a:r>
              <a:rPr sz="180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65"/>
              </a:spcBef>
            </a:pPr>
            <a:r>
              <a:rPr sz="2200" spc="-45" dirty="0">
                <a:latin typeface="Times New Roman"/>
                <a:cs typeface="Times New Roman"/>
              </a:rPr>
              <a:t>Tank </a:t>
            </a:r>
            <a:r>
              <a:rPr sz="2200" spc="-5" dirty="0">
                <a:latin typeface="Times New Roman"/>
                <a:cs typeface="Times New Roman"/>
              </a:rPr>
              <a:t>A is at higher level and tank B is at lower level, the water flows from  tank A to </a:t>
            </a:r>
            <a:r>
              <a:rPr sz="2200" spc="-45" dirty="0">
                <a:latin typeface="Times New Roman"/>
                <a:cs typeface="Times New Roman"/>
              </a:rPr>
              <a:t>Tank </a:t>
            </a:r>
            <a:r>
              <a:rPr sz="2200" spc="-5" dirty="0">
                <a:latin typeface="Times New Roman"/>
                <a:cs typeface="Times New Roman"/>
              </a:rPr>
              <a:t>B i.e from higher level to lower level. </a:t>
            </a:r>
            <a:r>
              <a:rPr sz="2200" spc="-20" dirty="0">
                <a:latin typeface="Times New Roman"/>
                <a:cs typeface="Times New Roman"/>
              </a:rPr>
              <a:t>Similarly, </a:t>
            </a:r>
            <a:r>
              <a:rPr sz="2200" spc="-5" dirty="0">
                <a:latin typeface="Times New Roman"/>
                <a:cs typeface="Times New Roman"/>
              </a:rPr>
              <a:t>if two  </a:t>
            </a:r>
            <a:r>
              <a:rPr sz="2200" dirty="0">
                <a:latin typeface="Times New Roman"/>
                <a:cs typeface="Times New Roman"/>
              </a:rPr>
              <a:t>bodies </a:t>
            </a:r>
            <a:r>
              <a:rPr sz="2200" spc="-5" dirty="0">
                <a:latin typeface="Times New Roman"/>
                <a:cs typeface="Times New Roman"/>
              </a:rPr>
              <a:t>are at </a:t>
            </a:r>
            <a:r>
              <a:rPr sz="2200" spc="-10" dirty="0">
                <a:latin typeface="Times New Roman"/>
                <a:cs typeface="Times New Roman"/>
              </a:rPr>
              <a:t>different </a:t>
            </a:r>
            <a:r>
              <a:rPr sz="2200" spc="-5" dirty="0">
                <a:latin typeface="Times New Roman"/>
                <a:cs typeface="Times New Roman"/>
              </a:rPr>
              <a:t>potentials, no current flows between them, </a:t>
            </a:r>
            <a:r>
              <a:rPr sz="2200" dirty="0">
                <a:latin typeface="Times New Roman"/>
                <a:cs typeface="Times New Roman"/>
              </a:rPr>
              <a:t>but  </a:t>
            </a:r>
            <a:r>
              <a:rPr sz="2200" spc="-5" dirty="0">
                <a:latin typeface="Times New Roman"/>
                <a:cs typeface="Times New Roman"/>
              </a:rPr>
              <a:t>when two bodies are connected by a wire, the current will flow and try to  equalize 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potentials.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9" y="215899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sp>
        <p:nvSpPr>
          <p:cNvPr id="3" name="object 3"/>
          <p:cNvSpPr/>
          <p:nvPr/>
        </p:nvSpPr>
        <p:spPr>
          <a:xfrm>
            <a:off x="1015735" y="1371600"/>
            <a:ext cx="2742486" cy="1981200"/>
          </a:xfrm>
          <a:custGeom>
            <a:avLst/>
            <a:gdLst/>
            <a:ahLst/>
            <a:cxnLst/>
            <a:rect l="l" t="t" r="r" b="b"/>
            <a:pathLst>
              <a:path w="2057400" h="1981200">
                <a:moveTo>
                  <a:pt x="0" y="990600"/>
                </a:moveTo>
                <a:lnTo>
                  <a:pt x="1119" y="943966"/>
                </a:lnTo>
                <a:lnTo>
                  <a:pt x="4445" y="897887"/>
                </a:lnTo>
                <a:lnTo>
                  <a:pt x="9928" y="852411"/>
                </a:lnTo>
                <a:lnTo>
                  <a:pt x="17519" y="807585"/>
                </a:lnTo>
                <a:lnTo>
                  <a:pt x="27168" y="763457"/>
                </a:lnTo>
                <a:lnTo>
                  <a:pt x="38826" y="720074"/>
                </a:lnTo>
                <a:lnTo>
                  <a:pt x="52443" y="677485"/>
                </a:lnTo>
                <a:lnTo>
                  <a:pt x="67971" y="635735"/>
                </a:lnTo>
                <a:lnTo>
                  <a:pt x="85359" y="594874"/>
                </a:lnTo>
                <a:lnTo>
                  <a:pt x="104558" y="554949"/>
                </a:lnTo>
                <a:lnTo>
                  <a:pt x="125519" y="516006"/>
                </a:lnTo>
                <a:lnTo>
                  <a:pt x="148192" y="478095"/>
                </a:lnTo>
                <a:lnTo>
                  <a:pt x="172529" y="441262"/>
                </a:lnTo>
                <a:lnTo>
                  <a:pt x="198479" y="405554"/>
                </a:lnTo>
                <a:lnTo>
                  <a:pt x="225994" y="371020"/>
                </a:lnTo>
                <a:lnTo>
                  <a:pt x="255023" y="337707"/>
                </a:lnTo>
                <a:lnTo>
                  <a:pt x="285518" y="305663"/>
                </a:lnTo>
                <a:lnTo>
                  <a:pt x="317428" y="274934"/>
                </a:lnTo>
                <a:lnTo>
                  <a:pt x="350706" y="245570"/>
                </a:lnTo>
                <a:lnTo>
                  <a:pt x="385300" y="217616"/>
                </a:lnTo>
                <a:lnTo>
                  <a:pt x="421163" y="191121"/>
                </a:lnTo>
                <a:lnTo>
                  <a:pt x="458244" y="166133"/>
                </a:lnTo>
                <a:lnTo>
                  <a:pt x="496494" y="142698"/>
                </a:lnTo>
                <a:lnTo>
                  <a:pt x="535864" y="120865"/>
                </a:lnTo>
                <a:lnTo>
                  <a:pt x="576304" y="100681"/>
                </a:lnTo>
                <a:lnTo>
                  <a:pt x="617764" y="82194"/>
                </a:lnTo>
                <a:lnTo>
                  <a:pt x="660197" y="65450"/>
                </a:lnTo>
                <a:lnTo>
                  <a:pt x="703551" y="50499"/>
                </a:lnTo>
                <a:lnTo>
                  <a:pt x="747778" y="37386"/>
                </a:lnTo>
                <a:lnTo>
                  <a:pt x="792828" y="26161"/>
                </a:lnTo>
                <a:lnTo>
                  <a:pt x="838652" y="16870"/>
                </a:lnTo>
                <a:lnTo>
                  <a:pt x="885201" y="9560"/>
                </a:lnTo>
                <a:lnTo>
                  <a:pt x="932425" y="4280"/>
                </a:lnTo>
                <a:lnTo>
                  <a:pt x="980274" y="1078"/>
                </a:lnTo>
                <a:lnTo>
                  <a:pt x="1028700" y="0"/>
                </a:lnTo>
                <a:lnTo>
                  <a:pt x="1077130" y="1078"/>
                </a:lnTo>
                <a:lnTo>
                  <a:pt x="1124984" y="4280"/>
                </a:lnTo>
                <a:lnTo>
                  <a:pt x="1172212" y="9560"/>
                </a:lnTo>
                <a:lnTo>
                  <a:pt x="1218764" y="16870"/>
                </a:lnTo>
                <a:lnTo>
                  <a:pt x="1264591" y="26161"/>
                </a:lnTo>
                <a:lnTo>
                  <a:pt x="1309643" y="37386"/>
                </a:lnTo>
                <a:lnTo>
                  <a:pt x="1353872" y="50499"/>
                </a:lnTo>
                <a:lnTo>
                  <a:pt x="1397228" y="65450"/>
                </a:lnTo>
                <a:lnTo>
                  <a:pt x="1439662" y="82194"/>
                </a:lnTo>
                <a:lnTo>
                  <a:pt x="1481123" y="100681"/>
                </a:lnTo>
                <a:lnTo>
                  <a:pt x="1521563" y="120865"/>
                </a:lnTo>
                <a:lnTo>
                  <a:pt x="1560933" y="142698"/>
                </a:lnTo>
                <a:lnTo>
                  <a:pt x="1599183" y="166133"/>
                </a:lnTo>
                <a:lnTo>
                  <a:pt x="1636263" y="191121"/>
                </a:lnTo>
                <a:lnTo>
                  <a:pt x="1672125" y="217616"/>
                </a:lnTo>
                <a:lnTo>
                  <a:pt x="1706719" y="245570"/>
                </a:lnTo>
                <a:lnTo>
                  <a:pt x="1739995" y="274934"/>
                </a:lnTo>
                <a:lnTo>
                  <a:pt x="1771905" y="305663"/>
                </a:lnTo>
                <a:lnTo>
                  <a:pt x="1802398" y="337707"/>
                </a:lnTo>
                <a:lnTo>
                  <a:pt x="1831425" y="371020"/>
                </a:lnTo>
                <a:lnTo>
                  <a:pt x="1858938" y="405554"/>
                </a:lnTo>
                <a:lnTo>
                  <a:pt x="1884887" y="441262"/>
                </a:lnTo>
                <a:lnTo>
                  <a:pt x="1909221" y="478095"/>
                </a:lnTo>
                <a:lnTo>
                  <a:pt x="1931893" y="516006"/>
                </a:lnTo>
                <a:lnTo>
                  <a:pt x="1952852" y="554949"/>
                </a:lnTo>
                <a:lnTo>
                  <a:pt x="1972050" y="594874"/>
                </a:lnTo>
                <a:lnTo>
                  <a:pt x="1989436" y="635735"/>
                </a:lnTo>
                <a:lnTo>
                  <a:pt x="2004962" y="677485"/>
                </a:lnTo>
                <a:lnTo>
                  <a:pt x="2018578" y="720074"/>
                </a:lnTo>
                <a:lnTo>
                  <a:pt x="2030234" y="763457"/>
                </a:lnTo>
                <a:lnTo>
                  <a:pt x="2039882" y="807585"/>
                </a:lnTo>
                <a:lnTo>
                  <a:pt x="2047472" y="852411"/>
                </a:lnTo>
                <a:lnTo>
                  <a:pt x="2052954" y="897887"/>
                </a:lnTo>
                <a:lnTo>
                  <a:pt x="2056280" y="943966"/>
                </a:lnTo>
                <a:lnTo>
                  <a:pt x="2057400" y="990600"/>
                </a:lnTo>
                <a:lnTo>
                  <a:pt x="2056280" y="1037233"/>
                </a:lnTo>
                <a:lnTo>
                  <a:pt x="2052954" y="1083312"/>
                </a:lnTo>
                <a:lnTo>
                  <a:pt x="2047472" y="1128788"/>
                </a:lnTo>
                <a:lnTo>
                  <a:pt x="2039882" y="1173614"/>
                </a:lnTo>
                <a:lnTo>
                  <a:pt x="2030234" y="1217742"/>
                </a:lnTo>
                <a:lnTo>
                  <a:pt x="2018578" y="1261125"/>
                </a:lnTo>
                <a:lnTo>
                  <a:pt x="2004962" y="1303714"/>
                </a:lnTo>
                <a:lnTo>
                  <a:pt x="1989436" y="1345464"/>
                </a:lnTo>
                <a:lnTo>
                  <a:pt x="1972050" y="1386325"/>
                </a:lnTo>
                <a:lnTo>
                  <a:pt x="1952852" y="1426250"/>
                </a:lnTo>
                <a:lnTo>
                  <a:pt x="1931893" y="1465193"/>
                </a:lnTo>
                <a:lnTo>
                  <a:pt x="1909221" y="1503104"/>
                </a:lnTo>
                <a:lnTo>
                  <a:pt x="1884887" y="1539937"/>
                </a:lnTo>
                <a:lnTo>
                  <a:pt x="1858938" y="1575645"/>
                </a:lnTo>
                <a:lnTo>
                  <a:pt x="1831425" y="1610179"/>
                </a:lnTo>
                <a:lnTo>
                  <a:pt x="1802398" y="1643492"/>
                </a:lnTo>
                <a:lnTo>
                  <a:pt x="1771905" y="1675536"/>
                </a:lnTo>
                <a:lnTo>
                  <a:pt x="1739995" y="1706265"/>
                </a:lnTo>
                <a:lnTo>
                  <a:pt x="1706719" y="1735629"/>
                </a:lnTo>
                <a:lnTo>
                  <a:pt x="1672125" y="1763583"/>
                </a:lnTo>
                <a:lnTo>
                  <a:pt x="1636263" y="1790078"/>
                </a:lnTo>
                <a:lnTo>
                  <a:pt x="1599183" y="1815066"/>
                </a:lnTo>
                <a:lnTo>
                  <a:pt x="1560933" y="1838501"/>
                </a:lnTo>
                <a:lnTo>
                  <a:pt x="1521563" y="1860334"/>
                </a:lnTo>
                <a:lnTo>
                  <a:pt x="1481123" y="1880518"/>
                </a:lnTo>
                <a:lnTo>
                  <a:pt x="1439662" y="1899005"/>
                </a:lnTo>
                <a:lnTo>
                  <a:pt x="1397228" y="1915749"/>
                </a:lnTo>
                <a:lnTo>
                  <a:pt x="1353872" y="1930700"/>
                </a:lnTo>
                <a:lnTo>
                  <a:pt x="1309643" y="1943813"/>
                </a:lnTo>
                <a:lnTo>
                  <a:pt x="1264591" y="1955038"/>
                </a:lnTo>
                <a:lnTo>
                  <a:pt x="1218764" y="1964329"/>
                </a:lnTo>
                <a:lnTo>
                  <a:pt x="1172212" y="1971639"/>
                </a:lnTo>
                <a:lnTo>
                  <a:pt x="1124984" y="1976919"/>
                </a:lnTo>
                <a:lnTo>
                  <a:pt x="1077130" y="1980121"/>
                </a:lnTo>
                <a:lnTo>
                  <a:pt x="1028700" y="1981200"/>
                </a:lnTo>
                <a:lnTo>
                  <a:pt x="980274" y="1980121"/>
                </a:lnTo>
                <a:lnTo>
                  <a:pt x="932425" y="1976919"/>
                </a:lnTo>
                <a:lnTo>
                  <a:pt x="885201" y="1971639"/>
                </a:lnTo>
                <a:lnTo>
                  <a:pt x="838652" y="1964329"/>
                </a:lnTo>
                <a:lnTo>
                  <a:pt x="792828" y="1955038"/>
                </a:lnTo>
                <a:lnTo>
                  <a:pt x="747778" y="1943813"/>
                </a:lnTo>
                <a:lnTo>
                  <a:pt x="703551" y="1930700"/>
                </a:lnTo>
                <a:lnTo>
                  <a:pt x="660197" y="1915749"/>
                </a:lnTo>
                <a:lnTo>
                  <a:pt x="617764" y="1899005"/>
                </a:lnTo>
                <a:lnTo>
                  <a:pt x="576304" y="1880518"/>
                </a:lnTo>
                <a:lnTo>
                  <a:pt x="535864" y="1860334"/>
                </a:lnTo>
                <a:lnTo>
                  <a:pt x="496494" y="1838501"/>
                </a:lnTo>
                <a:lnTo>
                  <a:pt x="458244" y="1815066"/>
                </a:lnTo>
                <a:lnTo>
                  <a:pt x="421163" y="1790078"/>
                </a:lnTo>
                <a:lnTo>
                  <a:pt x="385300" y="1763583"/>
                </a:lnTo>
                <a:lnTo>
                  <a:pt x="350706" y="1735629"/>
                </a:lnTo>
                <a:lnTo>
                  <a:pt x="317428" y="1706265"/>
                </a:lnTo>
                <a:lnTo>
                  <a:pt x="285518" y="1675536"/>
                </a:lnTo>
                <a:lnTo>
                  <a:pt x="255023" y="1643492"/>
                </a:lnTo>
                <a:lnTo>
                  <a:pt x="225994" y="1610179"/>
                </a:lnTo>
                <a:lnTo>
                  <a:pt x="198479" y="1575645"/>
                </a:lnTo>
                <a:lnTo>
                  <a:pt x="172529" y="1539937"/>
                </a:lnTo>
                <a:lnTo>
                  <a:pt x="148192" y="1503104"/>
                </a:lnTo>
                <a:lnTo>
                  <a:pt x="125519" y="1465193"/>
                </a:lnTo>
                <a:lnTo>
                  <a:pt x="104558" y="1426250"/>
                </a:lnTo>
                <a:lnTo>
                  <a:pt x="85359" y="1386325"/>
                </a:lnTo>
                <a:lnTo>
                  <a:pt x="67971" y="1345464"/>
                </a:lnTo>
                <a:lnTo>
                  <a:pt x="52443" y="1303714"/>
                </a:lnTo>
                <a:lnTo>
                  <a:pt x="38826" y="1261125"/>
                </a:lnTo>
                <a:lnTo>
                  <a:pt x="27168" y="1217742"/>
                </a:lnTo>
                <a:lnTo>
                  <a:pt x="17519" y="1173614"/>
                </a:lnTo>
                <a:lnTo>
                  <a:pt x="9928" y="1128788"/>
                </a:lnTo>
                <a:lnTo>
                  <a:pt x="4445" y="1083312"/>
                </a:lnTo>
                <a:lnTo>
                  <a:pt x="1119" y="1037233"/>
                </a:lnTo>
                <a:lnTo>
                  <a:pt x="0" y="9906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8811" y="1942922"/>
            <a:ext cx="1408486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Potential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100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volts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95986" y="1371600"/>
            <a:ext cx="1929897" cy="1524000"/>
          </a:xfrm>
          <a:custGeom>
            <a:avLst/>
            <a:gdLst/>
            <a:ahLst/>
            <a:cxnLst/>
            <a:rect l="l" t="t" r="r" b="b"/>
            <a:pathLst>
              <a:path w="1447800" h="1524000">
                <a:moveTo>
                  <a:pt x="0" y="762000"/>
                </a:moveTo>
                <a:lnTo>
                  <a:pt x="1539" y="711894"/>
                </a:lnTo>
                <a:lnTo>
                  <a:pt x="6095" y="662654"/>
                </a:lnTo>
                <a:lnTo>
                  <a:pt x="13572" y="614381"/>
                </a:lnTo>
                <a:lnTo>
                  <a:pt x="23873" y="567174"/>
                </a:lnTo>
                <a:lnTo>
                  <a:pt x="36905" y="521134"/>
                </a:lnTo>
                <a:lnTo>
                  <a:pt x="52571" y="476362"/>
                </a:lnTo>
                <a:lnTo>
                  <a:pt x="70776" y="432958"/>
                </a:lnTo>
                <a:lnTo>
                  <a:pt x="91424" y="391022"/>
                </a:lnTo>
                <a:lnTo>
                  <a:pt x="114421" y="350655"/>
                </a:lnTo>
                <a:lnTo>
                  <a:pt x="139671" y="311956"/>
                </a:lnTo>
                <a:lnTo>
                  <a:pt x="167078" y="275027"/>
                </a:lnTo>
                <a:lnTo>
                  <a:pt x="196548" y="239968"/>
                </a:lnTo>
                <a:lnTo>
                  <a:pt x="227984" y="206878"/>
                </a:lnTo>
                <a:lnTo>
                  <a:pt x="261291" y="175859"/>
                </a:lnTo>
                <a:lnTo>
                  <a:pt x="296375" y="147011"/>
                </a:lnTo>
                <a:lnTo>
                  <a:pt x="333139" y="120433"/>
                </a:lnTo>
                <a:lnTo>
                  <a:pt x="371488" y="96228"/>
                </a:lnTo>
                <a:lnTo>
                  <a:pt x="411327" y="74494"/>
                </a:lnTo>
                <a:lnTo>
                  <a:pt x="452560" y="55332"/>
                </a:lnTo>
                <a:lnTo>
                  <a:pt x="495092" y="38843"/>
                </a:lnTo>
                <a:lnTo>
                  <a:pt x="538828" y="25127"/>
                </a:lnTo>
                <a:lnTo>
                  <a:pt x="583672" y="14284"/>
                </a:lnTo>
                <a:lnTo>
                  <a:pt x="629529" y="6415"/>
                </a:lnTo>
                <a:lnTo>
                  <a:pt x="676303" y="1620"/>
                </a:lnTo>
                <a:lnTo>
                  <a:pt x="723900" y="0"/>
                </a:lnTo>
                <a:lnTo>
                  <a:pt x="771496" y="1620"/>
                </a:lnTo>
                <a:lnTo>
                  <a:pt x="818270" y="6415"/>
                </a:lnTo>
                <a:lnTo>
                  <a:pt x="864127" y="14284"/>
                </a:lnTo>
                <a:lnTo>
                  <a:pt x="908971" y="25127"/>
                </a:lnTo>
                <a:lnTo>
                  <a:pt x="952707" y="38843"/>
                </a:lnTo>
                <a:lnTo>
                  <a:pt x="995239" y="55332"/>
                </a:lnTo>
                <a:lnTo>
                  <a:pt x="1036472" y="74494"/>
                </a:lnTo>
                <a:lnTo>
                  <a:pt x="1076311" y="96228"/>
                </a:lnTo>
                <a:lnTo>
                  <a:pt x="1114660" y="120433"/>
                </a:lnTo>
                <a:lnTo>
                  <a:pt x="1151424" y="147011"/>
                </a:lnTo>
                <a:lnTo>
                  <a:pt x="1186508" y="175859"/>
                </a:lnTo>
                <a:lnTo>
                  <a:pt x="1219815" y="206878"/>
                </a:lnTo>
                <a:lnTo>
                  <a:pt x="1251251" y="239968"/>
                </a:lnTo>
                <a:lnTo>
                  <a:pt x="1280721" y="275027"/>
                </a:lnTo>
                <a:lnTo>
                  <a:pt x="1308128" y="311956"/>
                </a:lnTo>
                <a:lnTo>
                  <a:pt x="1333378" y="350655"/>
                </a:lnTo>
                <a:lnTo>
                  <a:pt x="1356375" y="391022"/>
                </a:lnTo>
                <a:lnTo>
                  <a:pt x="1377023" y="432958"/>
                </a:lnTo>
                <a:lnTo>
                  <a:pt x="1395228" y="476362"/>
                </a:lnTo>
                <a:lnTo>
                  <a:pt x="1410894" y="521134"/>
                </a:lnTo>
                <a:lnTo>
                  <a:pt x="1423926" y="567174"/>
                </a:lnTo>
                <a:lnTo>
                  <a:pt x="1434227" y="614381"/>
                </a:lnTo>
                <a:lnTo>
                  <a:pt x="1441704" y="662654"/>
                </a:lnTo>
                <a:lnTo>
                  <a:pt x="1446260" y="711894"/>
                </a:lnTo>
                <a:lnTo>
                  <a:pt x="1447800" y="762000"/>
                </a:lnTo>
                <a:lnTo>
                  <a:pt x="1446260" y="812105"/>
                </a:lnTo>
                <a:lnTo>
                  <a:pt x="1441704" y="861345"/>
                </a:lnTo>
                <a:lnTo>
                  <a:pt x="1434227" y="909618"/>
                </a:lnTo>
                <a:lnTo>
                  <a:pt x="1423926" y="956825"/>
                </a:lnTo>
                <a:lnTo>
                  <a:pt x="1410894" y="1002865"/>
                </a:lnTo>
                <a:lnTo>
                  <a:pt x="1395228" y="1047637"/>
                </a:lnTo>
                <a:lnTo>
                  <a:pt x="1377023" y="1091041"/>
                </a:lnTo>
                <a:lnTo>
                  <a:pt x="1356375" y="1132977"/>
                </a:lnTo>
                <a:lnTo>
                  <a:pt x="1333378" y="1173344"/>
                </a:lnTo>
                <a:lnTo>
                  <a:pt x="1308128" y="1212043"/>
                </a:lnTo>
                <a:lnTo>
                  <a:pt x="1280721" y="1248972"/>
                </a:lnTo>
                <a:lnTo>
                  <a:pt x="1251251" y="1284031"/>
                </a:lnTo>
                <a:lnTo>
                  <a:pt x="1219815" y="1317121"/>
                </a:lnTo>
                <a:lnTo>
                  <a:pt x="1186508" y="1348140"/>
                </a:lnTo>
                <a:lnTo>
                  <a:pt x="1151424" y="1376988"/>
                </a:lnTo>
                <a:lnTo>
                  <a:pt x="1114660" y="1403566"/>
                </a:lnTo>
                <a:lnTo>
                  <a:pt x="1076311" y="1427771"/>
                </a:lnTo>
                <a:lnTo>
                  <a:pt x="1036472" y="1449505"/>
                </a:lnTo>
                <a:lnTo>
                  <a:pt x="995239" y="1468667"/>
                </a:lnTo>
                <a:lnTo>
                  <a:pt x="952707" y="1485156"/>
                </a:lnTo>
                <a:lnTo>
                  <a:pt x="908971" y="1498872"/>
                </a:lnTo>
                <a:lnTo>
                  <a:pt x="864127" y="1509715"/>
                </a:lnTo>
                <a:lnTo>
                  <a:pt x="818270" y="1517584"/>
                </a:lnTo>
                <a:lnTo>
                  <a:pt x="771496" y="1522379"/>
                </a:lnTo>
                <a:lnTo>
                  <a:pt x="723900" y="1524000"/>
                </a:lnTo>
                <a:lnTo>
                  <a:pt x="676303" y="1522379"/>
                </a:lnTo>
                <a:lnTo>
                  <a:pt x="629529" y="1517584"/>
                </a:lnTo>
                <a:lnTo>
                  <a:pt x="583672" y="1509715"/>
                </a:lnTo>
                <a:lnTo>
                  <a:pt x="538828" y="1498872"/>
                </a:lnTo>
                <a:lnTo>
                  <a:pt x="495092" y="1485156"/>
                </a:lnTo>
                <a:lnTo>
                  <a:pt x="452560" y="1468667"/>
                </a:lnTo>
                <a:lnTo>
                  <a:pt x="411327" y="1449505"/>
                </a:lnTo>
                <a:lnTo>
                  <a:pt x="371488" y="1427771"/>
                </a:lnTo>
                <a:lnTo>
                  <a:pt x="333139" y="1403566"/>
                </a:lnTo>
                <a:lnTo>
                  <a:pt x="296375" y="1376988"/>
                </a:lnTo>
                <a:lnTo>
                  <a:pt x="261291" y="1348140"/>
                </a:lnTo>
                <a:lnTo>
                  <a:pt x="227984" y="1317121"/>
                </a:lnTo>
                <a:lnTo>
                  <a:pt x="196548" y="1284031"/>
                </a:lnTo>
                <a:lnTo>
                  <a:pt x="167078" y="1248972"/>
                </a:lnTo>
                <a:lnTo>
                  <a:pt x="139671" y="1212043"/>
                </a:lnTo>
                <a:lnTo>
                  <a:pt x="114421" y="1173344"/>
                </a:lnTo>
                <a:lnTo>
                  <a:pt x="91424" y="1132977"/>
                </a:lnTo>
                <a:lnTo>
                  <a:pt x="70776" y="1091041"/>
                </a:lnTo>
                <a:lnTo>
                  <a:pt x="52571" y="1047637"/>
                </a:lnTo>
                <a:lnTo>
                  <a:pt x="36905" y="1002865"/>
                </a:lnTo>
                <a:lnTo>
                  <a:pt x="23873" y="956825"/>
                </a:lnTo>
                <a:lnTo>
                  <a:pt x="13572" y="909618"/>
                </a:lnTo>
                <a:lnTo>
                  <a:pt x="6095" y="861345"/>
                </a:lnTo>
                <a:lnTo>
                  <a:pt x="1539" y="812105"/>
                </a:lnTo>
                <a:lnTo>
                  <a:pt x="0" y="762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75313" y="1750822"/>
            <a:ext cx="135939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5" dirty="0">
                <a:latin typeface="Times New Roman"/>
                <a:cs typeface="Times New Roman"/>
              </a:rPr>
              <a:t>o</a:t>
            </a:r>
            <a:r>
              <a:rPr sz="2200" spc="-5" dirty="0">
                <a:latin typeface="Times New Roman"/>
                <a:cs typeface="Times New Roman"/>
              </a:rPr>
              <a:t>te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tial  </a:t>
            </a:r>
            <a:r>
              <a:rPr sz="2200" dirty="0">
                <a:latin typeface="Times New Roman"/>
                <a:cs typeface="Times New Roman"/>
              </a:rPr>
              <a:t>50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2242" y="3431285"/>
            <a:ext cx="162263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5015" algn="l"/>
              </a:tabLst>
            </a:pPr>
            <a:r>
              <a:rPr sz="2200" spc="-5" dirty="0">
                <a:latin typeface="Times New Roman"/>
                <a:cs typeface="Times New Roman"/>
              </a:rPr>
              <a:t>Bo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“A”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3703" y="2996311"/>
            <a:ext cx="1602323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5015" algn="l"/>
              </a:tabLst>
            </a:pPr>
            <a:r>
              <a:rPr sz="2200" spc="-5" dirty="0">
                <a:latin typeface="Times New Roman"/>
                <a:cs typeface="Times New Roman"/>
              </a:rPr>
              <a:t>Bo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“B”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7309" y="3962400"/>
            <a:ext cx="2742486" cy="1981200"/>
          </a:xfrm>
          <a:custGeom>
            <a:avLst/>
            <a:gdLst/>
            <a:ahLst/>
            <a:cxnLst/>
            <a:rect l="l" t="t" r="r" b="b"/>
            <a:pathLst>
              <a:path w="2057400" h="1981200">
                <a:moveTo>
                  <a:pt x="0" y="990600"/>
                </a:moveTo>
                <a:lnTo>
                  <a:pt x="1119" y="943966"/>
                </a:lnTo>
                <a:lnTo>
                  <a:pt x="4445" y="897887"/>
                </a:lnTo>
                <a:lnTo>
                  <a:pt x="9927" y="852411"/>
                </a:lnTo>
                <a:lnTo>
                  <a:pt x="17517" y="807585"/>
                </a:lnTo>
                <a:lnTo>
                  <a:pt x="27165" y="763457"/>
                </a:lnTo>
                <a:lnTo>
                  <a:pt x="38821" y="720074"/>
                </a:lnTo>
                <a:lnTo>
                  <a:pt x="52437" y="677485"/>
                </a:lnTo>
                <a:lnTo>
                  <a:pt x="67963" y="635735"/>
                </a:lnTo>
                <a:lnTo>
                  <a:pt x="85349" y="594874"/>
                </a:lnTo>
                <a:lnTo>
                  <a:pt x="104547" y="554949"/>
                </a:lnTo>
                <a:lnTo>
                  <a:pt x="125506" y="516006"/>
                </a:lnTo>
                <a:lnTo>
                  <a:pt x="148178" y="478095"/>
                </a:lnTo>
                <a:lnTo>
                  <a:pt x="172512" y="441262"/>
                </a:lnTo>
                <a:lnTo>
                  <a:pt x="198461" y="405554"/>
                </a:lnTo>
                <a:lnTo>
                  <a:pt x="225974" y="371020"/>
                </a:lnTo>
                <a:lnTo>
                  <a:pt x="255001" y="337707"/>
                </a:lnTo>
                <a:lnTo>
                  <a:pt x="285494" y="305663"/>
                </a:lnTo>
                <a:lnTo>
                  <a:pt x="317404" y="274934"/>
                </a:lnTo>
                <a:lnTo>
                  <a:pt x="350680" y="245570"/>
                </a:lnTo>
                <a:lnTo>
                  <a:pt x="385274" y="217616"/>
                </a:lnTo>
                <a:lnTo>
                  <a:pt x="421136" y="191121"/>
                </a:lnTo>
                <a:lnTo>
                  <a:pt x="458216" y="166133"/>
                </a:lnTo>
                <a:lnTo>
                  <a:pt x="496466" y="142698"/>
                </a:lnTo>
                <a:lnTo>
                  <a:pt x="535836" y="120865"/>
                </a:lnTo>
                <a:lnTo>
                  <a:pt x="576276" y="100681"/>
                </a:lnTo>
                <a:lnTo>
                  <a:pt x="617737" y="82194"/>
                </a:lnTo>
                <a:lnTo>
                  <a:pt x="660171" y="65450"/>
                </a:lnTo>
                <a:lnTo>
                  <a:pt x="703527" y="50499"/>
                </a:lnTo>
                <a:lnTo>
                  <a:pt x="747756" y="37386"/>
                </a:lnTo>
                <a:lnTo>
                  <a:pt x="792808" y="26161"/>
                </a:lnTo>
                <a:lnTo>
                  <a:pt x="838635" y="16870"/>
                </a:lnTo>
                <a:lnTo>
                  <a:pt x="885187" y="9560"/>
                </a:lnTo>
                <a:lnTo>
                  <a:pt x="932415" y="4280"/>
                </a:lnTo>
                <a:lnTo>
                  <a:pt x="980269" y="1078"/>
                </a:lnTo>
                <a:lnTo>
                  <a:pt x="1028700" y="0"/>
                </a:lnTo>
                <a:lnTo>
                  <a:pt x="1077130" y="1078"/>
                </a:lnTo>
                <a:lnTo>
                  <a:pt x="1124984" y="4280"/>
                </a:lnTo>
                <a:lnTo>
                  <a:pt x="1172212" y="9560"/>
                </a:lnTo>
                <a:lnTo>
                  <a:pt x="1218764" y="16870"/>
                </a:lnTo>
                <a:lnTo>
                  <a:pt x="1264591" y="26161"/>
                </a:lnTo>
                <a:lnTo>
                  <a:pt x="1309643" y="37386"/>
                </a:lnTo>
                <a:lnTo>
                  <a:pt x="1353872" y="50499"/>
                </a:lnTo>
                <a:lnTo>
                  <a:pt x="1397228" y="65450"/>
                </a:lnTo>
                <a:lnTo>
                  <a:pt x="1439662" y="82194"/>
                </a:lnTo>
                <a:lnTo>
                  <a:pt x="1481123" y="100681"/>
                </a:lnTo>
                <a:lnTo>
                  <a:pt x="1521563" y="120865"/>
                </a:lnTo>
                <a:lnTo>
                  <a:pt x="1560933" y="142698"/>
                </a:lnTo>
                <a:lnTo>
                  <a:pt x="1599183" y="166133"/>
                </a:lnTo>
                <a:lnTo>
                  <a:pt x="1636263" y="191121"/>
                </a:lnTo>
                <a:lnTo>
                  <a:pt x="1672125" y="217616"/>
                </a:lnTo>
                <a:lnTo>
                  <a:pt x="1706719" y="245570"/>
                </a:lnTo>
                <a:lnTo>
                  <a:pt x="1739995" y="274934"/>
                </a:lnTo>
                <a:lnTo>
                  <a:pt x="1771905" y="305663"/>
                </a:lnTo>
                <a:lnTo>
                  <a:pt x="1802398" y="337707"/>
                </a:lnTo>
                <a:lnTo>
                  <a:pt x="1831425" y="371020"/>
                </a:lnTo>
                <a:lnTo>
                  <a:pt x="1858938" y="405554"/>
                </a:lnTo>
                <a:lnTo>
                  <a:pt x="1884887" y="441262"/>
                </a:lnTo>
                <a:lnTo>
                  <a:pt x="1909221" y="478095"/>
                </a:lnTo>
                <a:lnTo>
                  <a:pt x="1931893" y="516006"/>
                </a:lnTo>
                <a:lnTo>
                  <a:pt x="1952852" y="554949"/>
                </a:lnTo>
                <a:lnTo>
                  <a:pt x="1972050" y="594874"/>
                </a:lnTo>
                <a:lnTo>
                  <a:pt x="1989436" y="635735"/>
                </a:lnTo>
                <a:lnTo>
                  <a:pt x="2004962" y="677485"/>
                </a:lnTo>
                <a:lnTo>
                  <a:pt x="2018578" y="720074"/>
                </a:lnTo>
                <a:lnTo>
                  <a:pt x="2030234" y="763457"/>
                </a:lnTo>
                <a:lnTo>
                  <a:pt x="2039882" y="807585"/>
                </a:lnTo>
                <a:lnTo>
                  <a:pt x="2047472" y="852411"/>
                </a:lnTo>
                <a:lnTo>
                  <a:pt x="2052954" y="897887"/>
                </a:lnTo>
                <a:lnTo>
                  <a:pt x="2056280" y="943966"/>
                </a:lnTo>
                <a:lnTo>
                  <a:pt x="2057400" y="990600"/>
                </a:lnTo>
                <a:lnTo>
                  <a:pt x="2056280" y="1037233"/>
                </a:lnTo>
                <a:lnTo>
                  <a:pt x="2052954" y="1083312"/>
                </a:lnTo>
                <a:lnTo>
                  <a:pt x="2047472" y="1128788"/>
                </a:lnTo>
                <a:lnTo>
                  <a:pt x="2039882" y="1173614"/>
                </a:lnTo>
                <a:lnTo>
                  <a:pt x="2030234" y="1217742"/>
                </a:lnTo>
                <a:lnTo>
                  <a:pt x="2018578" y="1261125"/>
                </a:lnTo>
                <a:lnTo>
                  <a:pt x="2004962" y="1303714"/>
                </a:lnTo>
                <a:lnTo>
                  <a:pt x="1989436" y="1345464"/>
                </a:lnTo>
                <a:lnTo>
                  <a:pt x="1972050" y="1386325"/>
                </a:lnTo>
                <a:lnTo>
                  <a:pt x="1952852" y="1426250"/>
                </a:lnTo>
                <a:lnTo>
                  <a:pt x="1931893" y="1465193"/>
                </a:lnTo>
                <a:lnTo>
                  <a:pt x="1909221" y="1503104"/>
                </a:lnTo>
                <a:lnTo>
                  <a:pt x="1884887" y="1539937"/>
                </a:lnTo>
                <a:lnTo>
                  <a:pt x="1858938" y="1575645"/>
                </a:lnTo>
                <a:lnTo>
                  <a:pt x="1831425" y="1610179"/>
                </a:lnTo>
                <a:lnTo>
                  <a:pt x="1802398" y="1643492"/>
                </a:lnTo>
                <a:lnTo>
                  <a:pt x="1771905" y="1675536"/>
                </a:lnTo>
                <a:lnTo>
                  <a:pt x="1739995" y="1706265"/>
                </a:lnTo>
                <a:lnTo>
                  <a:pt x="1706719" y="1735629"/>
                </a:lnTo>
                <a:lnTo>
                  <a:pt x="1672125" y="1763583"/>
                </a:lnTo>
                <a:lnTo>
                  <a:pt x="1636263" y="1790078"/>
                </a:lnTo>
                <a:lnTo>
                  <a:pt x="1599183" y="1815066"/>
                </a:lnTo>
                <a:lnTo>
                  <a:pt x="1560933" y="1838501"/>
                </a:lnTo>
                <a:lnTo>
                  <a:pt x="1521563" y="1860334"/>
                </a:lnTo>
                <a:lnTo>
                  <a:pt x="1481123" y="1880518"/>
                </a:lnTo>
                <a:lnTo>
                  <a:pt x="1439662" y="1899005"/>
                </a:lnTo>
                <a:lnTo>
                  <a:pt x="1397228" y="1915749"/>
                </a:lnTo>
                <a:lnTo>
                  <a:pt x="1353872" y="1930700"/>
                </a:lnTo>
                <a:lnTo>
                  <a:pt x="1309643" y="1943813"/>
                </a:lnTo>
                <a:lnTo>
                  <a:pt x="1264591" y="1955038"/>
                </a:lnTo>
                <a:lnTo>
                  <a:pt x="1218764" y="1964329"/>
                </a:lnTo>
                <a:lnTo>
                  <a:pt x="1172212" y="1971639"/>
                </a:lnTo>
                <a:lnTo>
                  <a:pt x="1124984" y="1976919"/>
                </a:lnTo>
                <a:lnTo>
                  <a:pt x="1077130" y="1980121"/>
                </a:lnTo>
                <a:lnTo>
                  <a:pt x="1028700" y="1981200"/>
                </a:lnTo>
                <a:lnTo>
                  <a:pt x="980269" y="1980121"/>
                </a:lnTo>
                <a:lnTo>
                  <a:pt x="932415" y="1976919"/>
                </a:lnTo>
                <a:lnTo>
                  <a:pt x="885187" y="1971639"/>
                </a:lnTo>
                <a:lnTo>
                  <a:pt x="838635" y="1964329"/>
                </a:lnTo>
                <a:lnTo>
                  <a:pt x="792808" y="1955038"/>
                </a:lnTo>
                <a:lnTo>
                  <a:pt x="747756" y="1943813"/>
                </a:lnTo>
                <a:lnTo>
                  <a:pt x="703527" y="1930700"/>
                </a:lnTo>
                <a:lnTo>
                  <a:pt x="660171" y="1915749"/>
                </a:lnTo>
                <a:lnTo>
                  <a:pt x="617737" y="1899005"/>
                </a:lnTo>
                <a:lnTo>
                  <a:pt x="576276" y="1880518"/>
                </a:lnTo>
                <a:lnTo>
                  <a:pt x="535836" y="1860334"/>
                </a:lnTo>
                <a:lnTo>
                  <a:pt x="496466" y="1838501"/>
                </a:lnTo>
                <a:lnTo>
                  <a:pt x="458216" y="1815066"/>
                </a:lnTo>
                <a:lnTo>
                  <a:pt x="421136" y="1790078"/>
                </a:lnTo>
                <a:lnTo>
                  <a:pt x="385274" y="1763583"/>
                </a:lnTo>
                <a:lnTo>
                  <a:pt x="350680" y="1735629"/>
                </a:lnTo>
                <a:lnTo>
                  <a:pt x="317404" y="1706265"/>
                </a:lnTo>
                <a:lnTo>
                  <a:pt x="285494" y="1675536"/>
                </a:lnTo>
                <a:lnTo>
                  <a:pt x="255001" y="1643492"/>
                </a:lnTo>
                <a:lnTo>
                  <a:pt x="225974" y="1610179"/>
                </a:lnTo>
                <a:lnTo>
                  <a:pt x="198461" y="1575645"/>
                </a:lnTo>
                <a:lnTo>
                  <a:pt x="172512" y="1539937"/>
                </a:lnTo>
                <a:lnTo>
                  <a:pt x="148178" y="1503104"/>
                </a:lnTo>
                <a:lnTo>
                  <a:pt x="125506" y="1465193"/>
                </a:lnTo>
                <a:lnTo>
                  <a:pt x="104547" y="1426250"/>
                </a:lnTo>
                <a:lnTo>
                  <a:pt x="85349" y="1386325"/>
                </a:lnTo>
                <a:lnTo>
                  <a:pt x="67963" y="1345464"/>
                </a:lnTo>
                <a:lnTo>
                  <a:pt x="52437" y="1303714"/>
                </a:lnTo>
                <a:lnTo>
                  <a:pt x="38821" y="1261125"/>
                </a:lnTo>
                <a:lnTo>
                  <a:pt x="27165" y="1217742"/>
                </a:lnTo>
                <a:lnTo>
                  <a:pt x="17517" y="1173614"/>
                </a:lnTo>
                <a:lnTo>
                  <a:pt x="9927" y="1128788"/>
                </a:lnTo>
                <a:lnTo>
                  <a:pt x="4445" y="1083312"/>
                </a:lnTo>
                <a:lnTo>
                  <a:pt x="1119" y="1037233"/>
                </a:lnTo>
                <a:lnTo>
                  <a:pt x="0" y="9906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20317" y="4534280"/>
            <a:ext cx="1408486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Potential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5986" y="4114800"/>
            <a:ext cx="1929897" cy="1524000"/>
          </a:xfrm>
          <a:custGeom>
            <a:avLst/>
            <a:gdLst/>
            <a:ahLst/>
            <a:cxnLst/>
            <a:rect l="l" t="t" r="r" b="b"/>
            <a:pathLst>
              <a:path w="1447800" h="1524000">
                <a:moveTo>
                  <a:pt x="0" y="762000"/>
                </a:moveTo>
                <a:lnTo>
                  <a:pt x="1539" y="711894"/>
                </a:lnTo>
                <a:lnTo>
                  <a:pt x="6095" y="662654"/>
                </a:lnTo>
                <a:lnTo>
                  <a:pt x="13572" y="614381"/>
                </a:lnTo>
                <a:lnTo>
                  <a:pt x="23873" y="567174"/>
                </a:lnTo>
                <a:lnTo>
                  <a:pt x="36905" y="521134"/>
                </a:lnTo>
                <a:lnTo>
                  <a:pt x="52571" y="476362"/>
                </a:lnTo>
                <a:lnTo>
                  <a:pt x="70776" y="432958"/>
                </a:lnTo>
                <a:lnTo>
                  <a:pt x="91424" y="391022"/>
                </a:lnTo>
                <a:lnTo>
                  <a:pt x="114421" y="350655"/>
                </a:lnTo>
                <a:lnTo>
                  <a:pt x="139671" y="311956"/>
                </a:lnTo>
                <a:lnTo>
                  <a:pt x="167078" y="275027"/>
                </a:lnTo>
                <a:lnTo>
                  <a:pt x="196548" y="239968"/>
                </a:lnTo>
                <a:lnTo>
                  <a:pt x="227984" y="206878"/>
                </a:lnTo>
                <a:lnTo>
                  <a:pt x="261291" y="175859"/>
                </a:lnTo>
                <a:lnTo>
                  <a:pt x="296375" y="147011"/>
                </a:lnTo>
                <a:lnTo>
                  <a:pt x="333139" y="120433"/>
                </a:lnTo>
                <a:lnTo>
                  <a:pt x="371488" y="96228"/>
                </a:lnTo>
                <a:lnTo>
                  <a:pt x="411327" y="74494"/>
                </a:lnTo>
                <a:lnTo>
                  <a:pt x="452560" y="55332"/>
                </a:lnTo>
                <a:lnTo>
                  <a:pt x="495092" y="38843"/>
                </a:lnTo>
                <a:lnTo>
                  <a:pt x="538828" y="25127"/>
                </a:lnTo>
                <a:lnTo>
                  <a:pt x="583672" y="14284"/>
                </a:lnTo>
                <a:lnTo>
                  <a:pt x="629529" y="6415"/>
                </a:lnTo>
                <a:lnTo>
                  <a:pt x="676303" y="1620"/>
                </a:lnTo>
                <a:lnTo>
                  <a:pt x="723900" y="0"/>
                </a:lnTo>
                <a:lnTo>
                  <a:pt x="771496" y="1620"/>
                </a:lnTo>
                <a:lnTo>
                  <a:pt x="818270" y="6415"/>
                </a:lnTo>
                <a:lnTo>
                  <a:pt x="864127" y="14284"/>
                </a:lnTo>
                <a:lnTo>
                  <a:pt x="908971" y="25127"/>
                </a:lnTo>
                <a:lnTo>
                  <a:pt x="952707" y="38843"/>
                </a:lnTo>
                <a:lnTo>
                  <a:pt x="995239" y="55332"/>
                </a:lnTo>
                <a:lnTo>
                  <a:pt x="1036472" y="74494"/>
                </a:lnTo>
                <a:lnTo>
                  <a:pt x="1076311" y="96228"/>
                </a:lnTo>
                <a:lnTo>
                  <a:pt x="1114660" y="120433"/>
                </a:lnTo>
                <a:lnTo>
                  <a:pt x="1151424" y="147011"/>
                </a:lnTo>
                <a:lnTo>
                  <a:pt x="1186508" y="175859"/>
                </a:lnTo>
                <a:lnTo>
                  <a:pt x="1219815" y="206878"/>
                </a:lnTo>
                <a:lnTo>
                  <a:pt x="1251251" y="239968"/>
                </a:lnTo>
                <a:lnTo>
                  <a:pt x="1280721" y="275027"/>
                </a:lnTo>
                <a:lnTo>
                  <a:pt x="1308128" y="311956"/>
                </a:lnTo>
                <a:lnTo>
                  <a:pt x="1333378" y="350655"/>
                </a:lnTo>
                <a:lnTo>
                  <a:pt x="1356375" y="391022"/>
                </a:lnTo>
                <a:lnTo>
                  <a:pt x="1377023" y="432958"/>
                </a:lnTo>
                <a:lnTo>
                  <a:pt x="1395228" y="476362"/>
                </a:lnTo>
                <a:lnTo>
                  <a:pt x="1410894" y="521134"/>
                </a:lnTo>
                <a:lnTo>
                  <a:pt x="1423926" y="567174"/>
                </a:lnTo>
                <a:lnTo>
                  <a:pt x="1434227" y="614381"/>
                </a:lnTo>
                <a:lnTo>
                  <a:pt x="1441704" y="662654"/>
                </a:lnTo>
                <a:lnTo>
                  <a:pt x="1446260" y="711894"/>
                </a:lnTo>
                <a:lnTo>
                  <a:pt x="1447800" y="762000"/>
                </a:lnTo>
                <a:lnTo>
                  <a:pt x="1446260" y="812105"/>
                </a:lnTo>
                <a:lnTo>
                  <a:pt x="1441704" y="861345"/>
                </a:lnTo>
                <a:lnTo>
                  <a:pt x="1434227" y="909618"/>
                </a:lnTo>
                <a:lnTo>
                  <a:pt x="1423926" y="956825"/>
                </a:lnTo>
                <a:lnTo>
                  <a:pt x="1410894" y="1002865"/>
                </a:lnTo>
                <a:lnTo>
                  <a:pt x="1395228" y="1047637"/>
                </a:lnTo>
                <a:lnTo>
                  <a:pt x="1377023" y="1091041"/>
                </a:lnTo>
                <a:lnTo>
                  <a:pt x="1356375" y="1132977"/>
                </a:lnTo>
                <a:lnTo>
                  <a:pt x="1333378" y="1173344"/>
                </a:lnTo>
                <a:lnTo>
                  <a:pt x="1308128" y="1212043"/>
                </a:lnTo>
                <a:lnTo>
                  <a:pt x="1280721" y="1248972"/>
                </a:lnTo>
                <a:lnTo>
                  <a:pt x="1251251" y="1284031"/>
                </a:lnTo>
                <a:lnTo>
                  <a:pt x="1219815" y="1317121"/>
                </a:lnTo>
                <a:lnTo>
                  <a:pt x="1186508" y="1348140"/>
                </a:lnTo>
                <a:lnTo>
                  <a:pt x="1151424" y="1376988"/>
                </a:lnTo>
                <a:lnTo>
                  <a:pt x="1114660" y="1403566"/>
                </a:lnTo>
                <a:lnTo>
                  <a:pt x="1076311" y="1427771"/>
                </a:lnTo>
                <a:lnTo>
                  <a:pt x="1036472" y="1449505"/>
                </a:lnTo>
                <a:lnTo>
                  <a:pt x="995239" y="1468667"/>
                </a:lnTo>
                <a:lnTo>
                  <a:pt x="952707" y="1485156"/>
                </a:lnTo>
                <a:lnTo>
                  <a:pt x="908971" y="1498872"/>
                </a:lnTo>
                <a:lnTo>
                  <a:pt x="864127" y="1509715"/>
                </a:lnTo>
                <a:lnTo>
                  <a:pt x="818270" y="1517584"/>
                </a:lnTo>
                <a:lnTo>
                  <a:pt x="771496" y="1522379"/>
                </a:lnTo>
                <a:lnTo>
                  <a:pt x="723900" y="1524000"/>
                </a:lnTo>
                <a:lnTo>
                  <a:pt x="676303" y="1522379"/>
                </a:lnTo>
                <a:lnTo>
                  <a:pt x="629529" y="1517584"/>
                </a:lnTo>
                <a:lnTo>
                  <a:pt x="583672" y="1509715"/>
                </a:lnTo>
                <a:lnTo>
                  <a:pt x="538828" y="1498872"/>
                </a:lnTo>
                <a:lnTo>
                  <a:pt x="495092" y="1485156"/>
                </a:lnTo>
                <a:lnTo>
                  <a:pt x="452560" y="1468667"/>
                </a:lnTo>
                <a:lnTo>
                  <a:pt x="411327" y="1449505"/>
                </a:lnTo>
                <a:lnTo>
                  <a:pt x="371488" y="1427771"/>
                </a:lnTo>
                <a:lnTo>
                  <a:pt x="333139" y="1403566"/>
                </a:lnTo>
                <a:lnTo>
                  <a:pt x="296375" y="1376988"/>
                </a:lnTo>
                <a:lnTo>
                  <a:pt x="261291" y="1348140"/>
                </a:lnTo>
                <a:lnTo>
                  <a:pt x="227984" y="1317121"/>
                </a:lnTo>
                <a:lnTo>
                  <a:pt x="196548" y="1284031"/>
                </a:lnTo>
                <a:lnTo>
                  <a:pt x="167078" y="1248972"/>
                </a:lnTo>
                <a:lnTo>
                  <a:pt x="139671" y="1212043"/>
                </a:lnTo>
                <a:lnTo>
                  <a:pt x="114421" y="1173344"/>
                </a:lnTo>
                <a:lnTo>
                  <a:pt x="91424" y="1132977"/>
                </a:lnTo>
                <a:lnTo>
                  <a:pt x="70776" y="1091041"/>
                </a:lnTo>
                <a:lnTo>
                  <a:pt x="52571" y="1047637"/>
                </a:lnTo>
                <a:lnTo>
                  <a:pt x="36905" y="1002865"/>
                </a:lnTo>
                <a:lnTo>
                  <a:pt x="23873" y="956825"/>
                </a:lnTo>
                <a:lnTo>
                  <a:pt x="13572" y="909618"/>
                </a:lnTo>
                <a:lnTo>
                  <a:pt x="6095" y="861345"/>
                </a:lnTo>
                <a:lnTo>
                  <a:pt x="1539" y="812105"/>
                </a:lnTo>
                <a:lnTo>
                  <a:pt x="0" y="7620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75313" y="4513326"/>
            <a:ext cx="1359393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P</a:t>
            </a:r>
            <a:r>
              <a:rPr sz="2200" spc="5" dirty="0">
                <a:latin typeface="Times New Roman"/>
                <a:cs typeface="Times New Roman"/>
              </a:rPr>
              <a:t>o</a:t>
            </a:r>
            <a:r>
              <a:rPr sz="2200" spc="-5" dirty="0">
                <a:latin typeface="Times New Roman"/>
                <a:cs typeface="Times New Roman"/>
              </a:rPr>
              <a:t>te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tial  </a:t>
            </a:r>
            <a:r>
              <a:rPr sz="2200" dirty="0">
                <a:latin typeface="Times New Roman"/>
                <a:cs typeface="Times New Roman"/>
              </a:rPr>
              <a:t>50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59795" y="4876800"/>
            <a:ext cx="2336191" cy="304800"/>
          </a:xfrm>
          <a:custGeom>
            <a:avLst/>
            <a:gdLst/>
            <a:ahLst/>
            <a:cxnLst/>
            <a:rect l="l" t="t" r="r" b="b"/>
            <a:pathLst>
              <a:path w="1752600" h="304800">
                <a:moveTo>
                  <a:pt x="0" y="152400"/>
                </a:moveTo>
                <a:lnTo>
                  <a:pt x="72949" y="152053"/>
                </a:lnTo>
                <a:lnTo>
                  <a:pt x="145448" y="151041"/>
                </a:lnTo>
                <a:lnTo>
                  <a:pt x="217046" y="149401"/>
                </a:lnTo>
                <a:lnTo>
                  <a:pt x="287291" y="147173"/>
                </a:lnTo>
                <a:lnTo>
                  <a:pt x="355733" y="144397"/>
                </a:lnTo>
                <a:lnTo>
                  <a:pt x="421922" y="141111"/>
                </a:lnTo>
                <a:lnTo>
                  <a:pt x="485405" y="137354"/>
                </a:lnTo>
                <a:lnTo>
                  <a:pt x="545734" y="133167"/>
                </a:lnTo>
                <a:lnTo>
                  <a:pt x="602456" y="128587"/>
                </a:lnTo>
                <a:lnTo>
                  <a:pt x="655121" y="123655"/>
                </a:lnTo>
                <a:lnTo>
                  <a:pt x="703278" y="118409"/>
                </a:lnTo>
                <a:lnTo>
                  <a:pt x="746477" y="112888"/>
                </a:lnTo>
                <a:lnTo>
                  <a:pt x="784267" y="107133"/>
                </a:lnTo>
                <a:lnTo>
                  <a:pt x="841815" y="95073"/>
                </a:lnTo>
                <a:lnTo>
                  <a:pt x="876300" y="76200"/>
                </a:lnTo>
                <a:lnTo>
                  <a:pt x="880281" y="69856"/>
                </a:lnTo>
                <a:lnTo>
                  <a:pt x="936402" y="51218"/>
                </a:lnTo>
                <a:lnTo>
                  <a:pt x="1006122" y="39511"/>
                </a:lnTo>
                <a:lnTo>
                  <a:pt x="1049321" y="33990"/>
                </a:lnTo>
                <a:lnTo>
                  <a:pt x="1097478" y="28744"/>
                </a:lnTo>
                <a:lnTo>
                  <a:pt x="1150143" y="23812"/>
                </a:lnTo>
                <a:lnTo>
                  <a:pt x="1206865" y="19232"/>
                </a:lnTo>
                <a:lnTo>
                  <a:pt x="1267194" y="15045"/>
                </a:lnTo>
                <a:lnTo>
                  <a:pt x="1330677" y="11288"/>
                </a:lnTo>
                <a:lnTo>
                  <a:pt x="1396866" y="8002"/>
                </a:lnTo>
                <a:lnTo>
                  <a:pt x="1465308" y="5226"/>
                </a:lnTo>
                <a:lnTo>
                  <a:pt x="1535553" y="2998"/>
                </a:lnTo>
                <a:lnTo>
                  <a:pt x="1607151" y="1358"/>
                </a:lnTo>
                <a:lnTo>
                  <a:pt x="1679650" y="346"/>
                </a:lnTo>
                <a:lnTo>
                  <a:pt x="1752600" y="0"/>
                </a:lnTo>
              </a:path>
              <a:path w="1752600" h="304800">
                <a:moveTo>
                  <a:pt x="533400" y="33400"/>
                </a:moveTo>
                <a:lnTo>
                  <a:pt x="762000" y="109600"/>
                </a:lnTo>
              </a:path>
              <a:path w="1752600" h="304800">
                <a:moveTo>
                  <a:pt x="762000" y="107823"/>
                </a:moveTo>
                <a:lnTo>
                  <a:pt x="53340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68747" y="4490669"/>
            <a:ext cx="1171482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Current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6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1970697" y="5918708"/>
            <a:ext cx="1622637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5015" algn="l"/>
              </a:tabLst>
            </a:pPr>
            <a:r>
              <a:rPr sz="2200" spc="-5" dirty="0">
                <a:latin typeface="Times New Roman"/>
                <a:cs typeface="Times New Roman"/>
              </a:rPr>
              <a:t>Bo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“A”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58214" y="5690108"/>
            <a:ext cx="1602323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5015" algn="l"/>
              </a:tabLst>
            </a:pPr>
            <a:r>
              <a:rPr sz="2200" spc="-5" dirty="0">
                <a:latin typeface="Times New Roman"/>
                <a:cs typeface="Times New Roman"/>
              </a:rPr>
              <a:t>Bo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“B”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38828" y="1615567"/>
            <a:ext cx="2987955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i="1" spc="-60" dirty="0">
                <a:latin typeface="Times New Roman"/>
                <a:cs typeface="Times New Roman"/>
              </a:rPr>
              <a:t>Two </a:t>
            </a:r>
            <a:r>
              <a:rPr sz="2200" i="1" spc="-5" dirty="0">
                <a:latin typeface="Times New Roman"/>
                <a:cs typeface="Times New Roman"/>
              </a:rPr>
              <a:t>bodies A and</a:t>
            </a:r>
            <a:r>
              <a:rPr sz="2200" i="1" spc="-9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B  </a:t>
            </a:r>
            <a:r>
              <a:rPr sz="2200" i="1" spc="-35" dirty="0">
                <a:latin typeface="Times New Roman"/>
                <a:cs typeface="Times New Roman"/>
              </a:rPr>
              <a:t>are </a:t>
            </a:r>
            <a:r>
              <a:rPr sz="2200" i="1" spc="-5" dirty="0">
                <a:latin typeface="Times New Roman"/>
                <a:cs typeface="Times New Roman"/>
              </a:rPr>
              <a:t>at </a:t>
            </a:r>
            <a:r>
              <a:rPr sz="2200" i="1" spc="-15" dirty="0">
                <a:latin typeface="Times New Roman"/>
                <a:cs typeface="Times New Roman"/>
              </a:rPr>
              <a:t>different  </a:t>
            </a:r>
            <a:r>
              <a:rPr sz="2200" i="1" spc="-5" dirty="0">
                <a:latin typeface="Times New Roman"/>
                <a:cs typeface="Times New Roman"/>
              </a:rPr>
              <a:t>potentials </a:t>
            </a:r>
            <a:r>
              <a:rPr sz="2200" i="1" dirty="0">
                <a:latin typeface="Times New Roman"/>
                <a:cs typeface="Times New Roman"/>
              </a:rPr>
              <a:t>but </a:t>
            </a:r>
            <a:r>
              <a:rPr sz="2200" i="1" spc="-5" dirty="0">
                <a:latin typeface="Times New Roman"/>
                <a:cs typeface="Times New Roman"/>
              </a:rPr>
              <a:t>no  </a:t>
            </a:r>
            <a:r>
              <a:rPr sz="2200" i="1" spc="-15" dirty="0">
                <a:latin typeface="Times New Roman"/>
                <a:cs typeface="Times New Roman"/>
              </a:rPr>
              <a:t>current </a:t>
            </a:r>
            <a:r>
              <a:rPr sz="2200" i="1" spc="-5" dirty="0">
                <a:latin typeface="Times New Roman"/>
                <a:cs typeface="Times New Roman"/>
              </a:rPr>
              <a:t>will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flow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38828" y="4215765"/>
            <a:ext cx="3279133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250950" algn="l"/>
              </a:tabLst>
            </a:pPr>
            <a:r>
              <a:rPr sz="2200" i="1" spc="-60" dirty="0">
                <a:latin typeface="Times New Roman"/>
                <a:cs typeface="Times New Roman"/>
              </a:rPr>
              <a:t>Two </a:t>
            </a:r>
            <a:r>
              <a:rPr sz="2200" i="1" spc="-5" dirty="0">
                <a:latin typeface="Times New Roman"/>
                <a:cs typeface="Times New Roman"/>
              </a:rPr>
              <a:t>bodies A and B  </a:t>
            </a:r>
            <a:r>
              <a:rPr sz="2200" i="1" spc="-35" dirty="0">
                <a:latin typeface="Times New Roman"/>
                <a:cs typeface="Times New Roman"/>
              </a:rPr>
              <a:t>are </a:t>
            </a:r>
            <a:r>
              <a:rPr sz="2200" i="1" spc="-5" dirty="0">
                <a:latin typeface="Times New Roman"/>
                <a:cs typeface="Times New Roman"/>
              </a:rPr>
              <a:t>at </a:t>
            </a:r>
            <a:r>
              <a:rPr sz="2200" i="1" spc="-15" dirty="0">
                <a:latin typeface="Times New Roman"/>
                <a:cs typeface="Times New Roman"/>
              </a:rPr>
              <a:t>different  </a:t>
            </a:r>
            <a:r>
              <a:rPr sz="2200" i="1" spc="-5" dirty="0">
                <a:latin typeface="Times New Roman"/>
                <a:cs typeface="Times New Roman"/>
              </a:rPr>
              <a:t>potentials	</a:t>
            </a:r>
            <a:r>
              <a:rPr sz="2200" i="1" spc="-15" dirty="0">
                <a:latin typeface="Times New Roman"/>
                <a:cs typeface="Times New Roman"/>
              </a:rPr>
              <a:t>current  </a:t>
            </a:r>
            <a:r>
              <a:rPr sz="2200" i="1" spc="-5" dirty="0">
                <a:latin typeface="Times New Roman"/>
                <a:cs typeface="Times New Roman"/>
              </a:rPr>
              <a:t>will flow </a:t>
            </a:r>
            <a:r>
              <a:rPr sz="2200" i="1" spc="-25" dirty="0">
                <a:latin typeface="Times New Roman"/>
                <a:cs typeface="Times New Roman"/>
              </a:rPr>
              <a:t>from </a:t>
            </a:r>
            <a:r>
              <a:rPr sz="2200" i="1" spc="-5" dirty="0">
                <a:latin typeface="Times New Roman"/>
                <a:cs typeface="Times New Roman"/>
              </a:rPr>
              <a:t>Body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A  to Body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B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9" y="211328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7" y="1188467"/>
            <a:ext cx="11439720" cy="33412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9209" indent="-3429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Therefore for flow of current from one body to other or from one point to  other in a circuit, </a:t>
            </a:r>
            <a:r>
              <a:rPr sz="2200" dirty="0">
                <a:latin typeface="Times New Roman"/>
                <a:cs typeface="Times New Roman"/>
              </a:rPr>
              <a:t>not </a:t>
            </a:r>
            <a:r>
              <a:rPr sz="2200" spc="-5" dirty="0">
                <a:latin typeface="Times New Roman"/>
                <a:cs typeface="Times New Roman"/>
              </a:rPr>
              <a:t>only </a:t>
            </a:r>
            <a:r>
              <a:rPr sz="2200" spc="-10" dirty="0">
                <a:latin typeface="Times New Roman"/>
                <a:cs typeface="Times New Roman"/>
              </a:rPr>
              <a:t>must </a:t>
            </a:r>
            <a:r>
              <a:rPr sz="2200" spc="-5" dirty="0">
                <a:latin typeface="Times New Roman"/>
                <a:cs typeface="Times New Roman"/>
              </a:rPr>
              <a:t>there be a potential </a:t>
            </a:r>
            <a:r>
              <a:rPr sz="2200" spc="-10" dirty="0">
                <a:latin typeface="Times New Roman"/>
                <a:cs typeface="Times New Roman"/>
              </a:rPr>
              <a:t>difference </a:t>
            </a:r>
            <a:r>
              <a:rPr sz="2200" dirty="0">
                <a:latin typeface="Times New Roman"/>
                <a:cs typeface="Times New Roman"/>
              </a:rPr>
              <a:t>but </a:t>
            </a:r>
            <a:r>
              <a:rPr sz="2200" spc="-5" dirty="0">
                <a:latin typeface="Times New Roman"/>
                <a:cs typeface="Times New Roman"/>
              </a:rPr>
              <a:t>also an  electrical connection between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them.</a:t>
            </a:r>
            <a:endParaRPr sz="2200">
              <a:latin typeface="Times New Roman"/>
              <a:cs typeface="Times New Roman"/>
            </a:endParaRPr>
          </a:p>
          <a:p>
            <a:pPr marL="355600" marR="86995" indent="-3429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Therefore the potential </a:t>
            </a:r>
            <a:r>
              <a:rPr sz="2200" spc="-10" dirty="0">
                <a:latin typeface="Times New Roman"/>
                <a:cs typeface="Times New Roman"/>
              </a:rPr>
              <a:t>difference </a:t>
            </a:r>
            <a:r>
              <a:rPr sz="2200" spc="-50" dirty="0">
                <a:latin typeface="Times New Roman"/>
                <a:cs typeface="Times New Roman"/>
              </a:rPr>
              <a:t>(P.D) </a:t>
            </a:r>
            <a:r>
              <a:rPr sz="2200" spc="-5" dirty="0">
                <a:latin typeface="Times New Roman"/>
                <a:cs typeface="Times New Roman"/>
              </a:rPr>
              <a:t>between two points is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10" dirty="0">
                <a:latin typeface="Times New Roman"/>
                <a:cs typeface="Times New Roman"/>
              </a:rPr>
              <a:t>energy  </a:t>
            </a:r>
            <a:r>
              <a:rPr sz="2200" spc="-5" dirty="0">
                <a:latin typeface="Times New Roman"/>
                <a:cs typeface="Times New Roman"/>
              </a:rPr>
              <a:t>required to </a:t>
            </a:r>
            <a:r>
              <a:rPr sz="2200" spc="-10" dirty="0">
                <a:latin typeface="Times New Roman"/>
                <a:cs typeface="Times New Roman"/>
              </a:rPr>
              <a:t>move </a:t>
            </a:r>
            <a:r>
              <a:rPr sz="2200" spc="-5" dirty="0">
                <a:latin typeface="Times New Roman"/>
                <a:cs typeface="Times New Roman"/>
              </a:rPr>
              <a:t>one coulomb of </a:t>
            </a:r>
            <a:r>
              <a:rPr sz="2200" spc="-10" dirty="0">
                <a:latin typeface="Times New Roman"/>
                <a:cs typeface="Times New Roman"/>
              </a:rPr>
              <a:t>charge </a:t>
            </a:r>
            <a:r>
              <a:rPr sz="2200" spc="-5" dirty="0">
                <a:latin typeface="Times New Roman"/>
                <a:cs typeface="Times New Roman"/>
              </a:rPr>
              <a:t>from one to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25" dirty="0">
                <a:latin typeface="Times New Roman"/>
                <a:cs typeface="Times New Roman"/>
              </a:rPr>
              <a:t>other. </a:t>
            </a:r>
            <a:r>
              <a:rPr sz="2200" spc="-5" dirty="0">
                <a:latin typeface="Times New Roman"/>
                <a:cs typeface="Times New Roman"/>
              </a:rPr>
              <a:t>Its unit is  </a:t>
            </a:r>
            <a:r>
              <a:rPr sz="2200" b="1" dirty="0">
                <a:latin typeface="Times New Roman"/>
                <a:cs typeface="Times New Roman"/>
              </a:rPr>
              <a:t>volt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5600" marR="756285" indent="-3429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imes New Roman"/>
                <a:cs typeface="Times New Roman"/>
              </a:rPr>
              <a:t>Thus if two bodies have a </a:t>
            </a:r>
            <a:r>
              <a:rPr sz="2200" spc="-65" dirty="0">
                <a:latin typeface="Times New Roman"/>
                <a:cs typeface="Times New Roman"/>
              </a:rPr>
              <a:t>P.D.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50 </a:t>
            </a:r>
            <a:r>
              <a:rPr sz="2200" spc="-55" dirty="0">
                <a:latin typeface="Times New Roman"/>
                <a:cs typeface="Times New Roman"/>
              </a:rPr>
              <a:t>Volts, </a:t>
            </a:r>
            <a:r>
              <a:rPr sz="2200" dirty="0">
                <a:latin typeface="Times New Roman"/>
                <a:cs typeface="Times New Roman"/>
              </a:rPr>
              <a:t>50 </a:t>
            </a:r>
            <a:r>
              <a:rPr sz="2200" spc="-5" dirty="0">
                <a:latin typeface="Times New Roman"/>
                <a:cs typeface="Times New Roman"/>
              </a:rPr>
              <a:t>joule of work </a:t>
            </a:r>
            <a:r>
              <a:rPr sz="2200" dirty="0">
                <a:latin typeface="Times New Roman"/>
                <a:cs typeface="Times New Roman"/>
              </a:rPr>
              <a:t>done </a:t>
            </a:r>
            <a:r>
              <a:rPr sz="2200" spc="-5" dirty="0">
                <a:latin typeface="Times New Roman"/>
                <a:cs typeface="Times New Roman"/>
              </a:rPr>
              <a:t>will  require to </a:t>
            </a:r>
            <a:r>
              <a:rPr sz="2200" spc="-10" dirty="0">
                <a:latin typeface="Times New Roman"/>
                <a:cs typeface="Times New Roman"/>
              </a:rPr>
              <a:t>move </a:t>
            </a:r>
            <a:r>
              <a:rPr sz="2200" spc="-5" dirty="0">
                <a:latin typeface="Times New Roman"/>
                <a:cs typeface="Times New Roman"/>
              </a:rPr>
              <a:t>1 coulomb from one to the other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body.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</a:pPr>
            <a:r>
              <a:rPr sz="2200" b="1" spc="-70" dirty="0">
                <a:latin typeface="Times New Roman"/>
                <a:cs typeface="Times New Roman"/>
              </a:rPr>
              <a:t>VOLTAGE </a:t>
            </a:r>
            <a:r>
              <a:rPr sz="2200" b="1" spc="-5" dirty="0">
                <a:latin typeface="Times New Roman"/>
                <a:cs typeface="Times New Roman"/>
              </a:rPr>
              <a:t>DROP: </a:t>
            </a:r>
            <a:r>
              <a:rPr sz="2200" spc="-5" dirty="0">
                <a:latin typeface="Times New Roman"/>
                <a:cs typeface="Times New Roman"/>
              </a:rPr>
              <a:t>The voltage drop between two points of an </a:t>
            </a:r>
            <a:r>
              <a:rPr sz="2200" spc="-10" dirty="0">
                <a:latin typeface="Times New Roman"/>
                <a:cs typeface="Times New Roman"/>
              </a:rPr>
              <a:t>element </a:t>
            </a:r>
            <a:r>
              <a:rPr sz="2200" spc="-5" dirty="0">
                <a:latin typeface="Times New Roman"/>
                <a:cs typeface="Times New Roman"/>
              </a:rPr>
              <a:t>is a  decrease in </a:t>
            </a:r>
            <a:r>
              <a:rPr sz="2200" spc="-10" dirty="0">
                <a:latin typeface="Times New Roman"/>
                <a:cs typeface="Times New Roman"/>
              </a:rPr>
              <a:t>energy </a:t>
            </a:r>
            <a:r>
              <a:rPr sz="2200" spc="-5" dirty="0">
                <a:latin typeface="Times New Roman"/>
                <a:cs typeface="Times New Roman"/>
              </a:rPr>
              <a:t>in transferring a </a:t>
            </a:r>
            <a:r>
              <a:rPr sz="2200" spc="-10" dirty="0">
                <a:latin typeface="Times New Roman"/>
                <a:cs typeface="Times New Roman"/>
              </a:rPr>
              <a:t>charge </a:t>
            </a:r>
            <a:r>
              <a:rPr sz="2200" spc="-5" dirty="0">
                <a:latin typeface="Times New Roman"/>
                <a:cs typeface="Times New Roman"/>
              </a:rPr>
              <a:t>from one point to other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point.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9" y="173228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sp>
        <p:nvSpPr>
          <p:cNvPr id="3" name="object 3"/>
          <p:cNvSpPr/>
          <p:nvPr/>
        </p:nvSpPr>
        <p:spPr>
          <a:xfrm>
            <a:off x="1218882" y="1676400"/>
            <a:ext cx="4702855" cy="457200"/>
          </a:xfrm>
          <a:custGeom>
            <a:avLst/>
            <a:gdLst/>
            <a:ahLst/>
            <a:cxnLst/>
            <a:rect l="l" t="t" r="r" b="b"/>
            <a:pathLst>
              <a:path w="3528060" h="457200">
                <a:moveTo>
                  <a:pt x="0" y="228600"/>
                </a:moveTo>
                <a:lnTo>
                  <a:pt x="1066800" y="230250"/>
                </a:lnTo>
              </a:path>
              <a:path w="3528060" h="457200">
                <a:moveTo>
                  <a:pt x="1066800" y="228600"/>
                </a:moveTo>
                <a:lnTo>
                  <a:pt x="1219200" y="0"/>
                </a:lnTo>
              </a:path>
              <a:path w="3528060" h="457200">
                <a:moveTo>
                  <a:pt x="1219200" y="0"/>
                </a:moveTo>
                <a:lnTo>
                  <a:pt x="1447800" y="457200"/>
                </a:lnTo>
              </a:path>
              <a:path w="3528060" h="457200">
                <a:moveTo>
                  <a:pt x="1447800" y="457200"/>
                </a:moveTo>
                <a:lnTo>
                  <a:pt x="1600200" y="0"/>
                </a:lnTo>
              </a:path>
              <a:path w="3528060" h="457200">
                <a:moveTo>
                  <a:pt x="1620647" y="0"/>
                </a:moveTo>
                <a:lnTo>
                  <a:pt x="1849247" y="457200"/>
                </a:lnTo>
              </a:path>
              <a:path w="3528060" h="457200">
                <a:moveTo>
                  <a:pt x="1849247" y="457200"/>
                </a:moveTo>
                <a:lnTo>
                  <a:pt x="2001647" y="0"/>
                </a:lnTo>
              </a:path>
              <a:path w="3528060" h="457200">
                <a:moveTo>
                  <a:pt x="2003552" y="0"/>
                </a:moveTo>
                <a:lnTo>
                  <a:pt x="2232152" y="457200"/>
                </a:lnTo>
              </a:path>
              <a:path w="3528060" h="457200">
                <a:moveTo>
                  <a:pt x="2232152" y="457200"/>
                </a:moveTo>
                <a:lnTo>
                  <a:pt x="2384552" y="0"/>
                </a:lnTo>
              </a:path>
              <a:path w="3528060" h="457200">
                <a:moveTo>
                  <a:pt x="2373376" y="11175"/>
                </a:moveTo>
                <a:lnTo>
                  <a:pt x="2525776" y="239775"/>
                </a:lnTo>
              </a:path>
              <a:path w="3528060" h="457200">
                <a:moveTo>
                  <a:pt x="2536952" y="228600"/>
                </a:moveTo>
                <a:lnTo>
                  <a:pt x="3527552" y="23025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210418" y="3707511"/>
            <a:ext cx="4079871" cy="534035"/>
            <a:chOff x="908050" y="3707510"/>
            <a:chExt cx="3060700" cy="534035"/>
          </a:xfrm>
        </p:grpSpPr>
        <p:sp>
          <p:nvSpPr>
            <p:cNvPr id="5" name="object 5"/>
            <p:cNvSpPr/>
            <p:nvPr/>
          </p:nvSpPr>
          <p:spPr>
            <a:xfrm>
              <a:off x="914400" y="4033265"/>
              <a:ext cx="1219200" cy="1905"/>
            </a:xfrm>
            <a:custGeom>
              <a:avLst/>
              <a:gdLst/>
              <a:ahLst/>
              <a:cxnLst/>
              <a:rect l="l" t="t" r="r" b="b"/>
              <a:pathLst>
                <a:path w="1219200" h="1904">
                  <a:moveTo>
                    <a:pt x="0" y="0"/>
                  </a:moveTo>
                  <a:lnTo>
                    <a:pt x="1219200" y="1650"/>
                  </a:lnTo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17344" y="3800601"/>
              <a:ext cx="211455" cy="2486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2477" y="3713860"/>
              <a:ext cx="1670050" cy="521334"/>
            </a:xfrm>
            <a:custGeom>
              <a:avLst/>
              <a:gdLst/>
              <a:ahLst/>
              <a:cxnLst/>
              <a:rect l="l" t="t" r="r" b="b"/>
              <a:pathLst>
                <a:path w="1670050" h="521335">
                  <a:moveTo>
                    <a:pt x="0" y="73787"/>
                  </a:moveTo>
                  <a:lnTo>
                    <a:pt x="55045" y="91536"/>
                  </a:lnTo>
                  <a:lnTo>
                    <a:pt x="103761" y="141323"/>
                  </a:lnTo>
                  <a:lnTo>
                    <a:pt x="125011" y="176608"/>
                  </a:lnTo>
                  <a:lnTo>
                    <a:pt x="143798" y="217954"/>
                  </a:lnTo>
                  <a:lnTo>
                    <a:pt x="159827" y="264712"/>
                  </a:lnTo>
                  <a:lnTo>
                    <a:pt x="172806" y="316234"/>
                  </a:lnTo>
                  <a:lnTo>
                    <a:pt x="182440" y="371870"/>
                  </a:lnTo>
                  <a:lnTo>
                    <a:pt x="188436" y="430970"/>
                  </a:lnTo>
                  <a:lnTo>
                    <a:pt x="190500" y="492887"/>
                  </a:lnTo>
                </a:path>
                <a:path w="1670050" h="521335">
                  <a:moveTo>
                    <a:pt x="199771" y="521334"/>
                  </a:moveTo>
                  <a:lnTo>
                    <a:pt x="175467" y="482824"/>
                  </a:lnTo>
                  <a:lnTo>
                    <a:pt x="157226" y="442161"/>
                  </a:lnTo>
                  <a:lnTo>
                    <a:pt x="144944" y="399915"/>
                  </a:lnTo>
                  <a:lnTo>
                    <a:pt x="138519" y="356658"/>
                  </a:lnTo>
                  <a:lnTo>
                    <a:pt x="137847" y="312962"/>
                  </a:lnTo>
                  <a:lnTo>
                    <a:pt x="142827" y="269398"/>
                  </a:lnTo>
                  <a:lnTo>
                    <a:pt x="153355" y="226538"/>
                  </a:lnTo>
                  <a:lnTo>
                    <a:pt x="169328" y="184954"/>
                  </a:lnTo>
                  <a:lnTo>
                    <a:pt x="190644" y="145216"/>
                  </a:lnTo>
                  <a:lnTo>
                    <a:pt x="217201" y="107897"/>
                  </a:lnTo>
                  <a:lnTo>
                    <a:pt x="248894" y="73567"/>
                  </a:lnTo>
                  <a:lnTo>
                    <a:pt x="285623" y="42799"/>
                  </a:lnTo>
                </a:path>
                <a:path w="1670050" h="521335">
                  <a:moveTo>
                    <a:pt x="289941" y="36702"/>
                  </a:moveTo>
                  <a:lnTo>
                    <a:pt x="344986" y="54442"/>
                  </a:lnTo>
                  <a:lnTo>
                    <a:pt x="393702" y="104207"/>
                  </a:lnTo>
                  <a:lnTo>
                    <a:pt x="414952" y="139481"/>
                  </a:lnTo>
                  <a:lnTo>
                    <a:pt x="433739" y="180818"/>
                  </a:lnTo>
                  <a:lnTo>
                    <a:pt x="449768" y="227572"/>
                  </a:lnTo>
                  <a:lnTo>
                    <a:pt x="462747" y="279095"/>
                  </a:lnTo>
                  <a:lnTo>
                    <a:pt x="472381" y="334740"/>
                  </a:lnTo>
                  <a:lnTo>
                    <a:pt x="478377" y="393858"/>
                  </a:lnTo>
                  <a:lnTo>
                    <a:pt x="480441" y="455802"/>
                  </a:lnTo>
                </a:path>
                <a:path w="1670050" h="521335">
                  <a:moveTo>
                    <a:pt x="584962" y="9525"/>
                  </a:moveTo>
                  <a:lnTo>
                    <a:pt x="630818" y="32158"/>
                  </a:lnTo>
                  <a:lnTo>
                    <a:pt x="671362" y="59850"/>
                  </a:lnTo>
                  <a:lnTo>
                    <a:pt x="706087" y="91722"/>
                  </a:lnTo>
                  <a:lnTo>
                    <a:pt x="734486" y="126895"/>
                  </a:lnTo>
                  <a:lnTo>
                    <a:pt x="756055" y="164493"/>
                  </a:lnTo>
                  <a:lnTo>
                    <a:pt x="770287" y="203637"/>
                  </a:lnTo>
                  <a:lnTo>
                    <a:pt x="776677" y="243449"/>
                  </a:lnTo>
                  <a:lnTo>
                    <a:pt x="774718" y="283050"/>
                  </a:lnTo>
                  <a:lnTo>
                    <a:pt x="763905" y="321563"/>
                  </a:lnTo>
                </a:path>
                <a:path w="1670050" h="521335">
                  <a:moveTo>
                    <a:pt x="489077" y="478663"/>
                  </a:moveTo>
                  <a:lnTo>
                    <a:pt x="464771" y="440126"/>
                  </a:lnTo>
                  <a:lnTo>
                    <a:pt x="446523" y="399444"/>
                  </a:lnTo>
                  <a:lnTo>
                    <a:pt x="434230" y="357187"/>
                  </a:lnTo>
                  <a:lnTo>
                    <a:pt x="427792" y="313925"/>
                  </a:lnTo>
                  <a:lnTo>
                    <a:pt x="427106" y="270227"/>
                  </a:lnTo>
                  <a:lnTo>
                    <a:pt x="432069" y="226663"/>
                  </a:lnTo>
                  <a:lnTo>
                    <a:pt x="442581" y="183803"/>
                  </a:lnTo>
                  <a:lnTo>
                    <a:pt x="458540" y="142216"/>
                  </a:lnTo>
                  <a:lnTo>
                    <a:pt x="479843" y="102473"/>
                  </a:lnTo>
                  <a:lnTo>
                    <a:pt x="506389" y="65142"/>
                  </a:lnTo>
                  <a:lnTo>
                    <a:pt x="538076" y="30795"/>
                  </a:lnTo>
                  <a:lnTo>
                    <a:pt x="574802" y="0"/>
                  </a:lnTo>
                </a:path>
                <a:path w="1670050" h="521335">
                  <a:moveTo>
                    <a:pt x="755523" y="324738"/>
                  </a:moveTo>
                  <a:lnTo>
                    <a:pt x="1669923" y="326263"/>
                  </a:lnTo>
                </a:path>
              </a:pathLst>
            </a:custGeom>
            <a:ln w="127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539339" y="5486400"/>
            <a:ext cx="1017428" cy="533400"/>
          </a:xfrm>
          <a:custGeom>
            <a:avLst/>
            <a:gdLst/>
            <a:ahLst/>
            <a:cxnLst/>
            <a:rect l="l" t="t" r="r" b="b"/>
            <a:pathLst>
              <a:path w="763269" h="533400">
                <a:moveTo>
                  <a:pt x="762762" y="0"/>
                </a:moveTo>
                <a:lnTo>
                  <a:pt x="761238" y="533400"/>
                </a:lnTo>
              </a:path>
              <a:path w="763269" h="533400">
                <a:moveTo>
                  <a:pt x="0" y="303999"/>
                </a:moveTo>
                <a:lnTo>
                  <a:pt x="762000" y="305587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1368" y="5496814"/>
            <a:ext cx="1015735" cy="533400"/>
          </a:xfrm>
          <a:custGeom>
            <a:avLst/>
            <a:gdLst/>
            <a:ahLst/>
            <a:cxnLst/>
            <a:rect l="l" t="t" r="r" b="b"/>
            <a:pathLst>
              <a:path w="762000" h="533400">
                <a:moveTo>
                  <a:pt x="1650" y="0"/>
                </a:moveTo>
                <a:lnTo>
                  <a:pt x="0" y="533336"/>
                </a:lnTo>
              </a:path>
              <a:path w="762000" h="533400">
                <a:moveTo>
                  <a:pt x="0" y="293585"/>
                </a:moveTo>
                <a:lnTo>
                  <a:pt x="762000" y="295173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7012" y="709928"/>
            <a:ext cx="11658600" cy="5057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Times New Roman"/>
                <a:cs typeface="Times New Roman"/>
              </a:rPr>
              <a:t>RESISTNCE: </a:t>
            </a:r>
            <a:r>
              <a:rPr sz="2200" spc="-5" dirty="0">
                <a:latin typeface="Times New Roman"/>
                <a:cs typeface="Times New Roman"/>
              </a:rPr>
              <a:t>Resistance is property of material due which it opposes the  flow of current through it. It is denoted by R and unit is Ohm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10" dirty="0">
                <a:latin typeface="Times New Roman"/>
                <a:cs typeface="Times New Roman"/>
              </a:rPr>
              <a:t>(Ω).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451100">
              <a:lnSpc>
                <a:spcPct val="100000"/>
              </a:lnSpc>
              <a:spcBef>
                <a:spcPts val="5"/>
              </a:spcBef>
            </a:pPr>
            <a:r>
              <a:rPr lang="en-US" sz="2200" spc="-5" dirty="0">
                <a:latin typeface="Times New Roman"/>
                <a:cs typeface="Times New Roman"/>
              </a:rPr>
              <a:t>          </a:t>
            </a:r>
            <a:r>
              <a:rPr sz="2200" spc="-5">
                <a:latin typeface="Times New Roman"/>
                <a:cs typeface="Times New Roman"/>
              </a:rPr>
              <a:t>R</a:t>
            </a:r>
            <a:endParaRPr sz="2200">
              <a:latin typeface="Times New Roman"/>
              <a:cs typeface="Times New Roman"/>
            </a:endParaRPr>
          </a:p>
          <a:p>
            <a:pPr marL="355600" marR="91440" indent="-342900" algn="just">
              <a:lnSpc>
                <a:spcPct val="100000"/>
              </a:lnSpc>
              <a:spcBef>
                <a:spcPts val="1270"/>
              </a:spcBef>
            </a:pPr>
            <a:r>
              <a:rPr sz="2200" b="1" spc="-20" dirty="0">
                <a:latin typeface="Times New Roman"/>
                <a:cs typeface="Times New Roman"/>
              </a:rPr>
              <a:t>INDUCTANCE: </a:t>
            </a:r>
            <a:r>
              <a:rPr sz="2200" spc="-5" dirty="0">
                <a:latin typeface="Times New Roman"/>
                <a:cs typeface="Times New Roman"/>
              </a:rPr>
              <a:t>Inductance is property of material due which it opposes  any change in current passing through it. It is denoted by L and unit is  Henry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(H).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450">
              <a:latin typeface="Times New Roman"/>
              <a:cs typeface="Times New Roman"/>
            </a:endParaRPr>
          </a:p>
          <a:p>
            <a:pPr marL="2374900"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355600" marR="229870" indent="-342900">
              <a:lnSpc>
                <a:spcPct val="100000"/>
              </a:lnSpc>
              <a:spcBef>
                <a:spcPts val="535"/>
              </a:spcBef>
            </a:pPr>
            <a:r>
              <a:rPr sz="2200" b="1" spc="-35">
                <a:latin typeface="Times New Roman"/>
                <a:cs typeface="Times New Roman"/>
              </a:rPr>
              <a:t>CAPACITANCE</a:t>
            </a:r>
            <a:r>
              <a:rPr sz="2200" b="1" spc="-35" dirty="0">
                <a:latin typeface="Times New Roman"/>
                <a:cs typeface="Times New Roman"/>
              </a:rPr>
              <a:t>: </a:t>
            </a:r>
            <a:r>
              <a:rPr sz="2200" spc="-5" dirty="0">
                <a:latin typeface="Times New Roman"/>
                <a:cs typeface="Times New Roman"/>
              </a:rPr>
              <a:t>Capacitance is property </a:t>
            </a:r>
            <a:r>
              <a:rPr sz="2200" spc="-5">
                <a:latin typeface="Times New Roman"/>
                <a:cs typeface="Times New Roman"/>
              </a:rPr>
              <a:t>of </a:t>
            </a:r>
            <a:r>
              <a:rPr lang="en-US" sz="2200" spc="-5" dirty="0">
                <a:latin typeface="Times New Roman"/>
                <a:cs typeface="Times New Roman"/>
              </a:rPr>
              <a:t>material </a:t>
            </a:r>
            <a:r>
              <a:rPr sz="2200" spc="-5">
                <a:latin typeface="Times New Roman"/>
                <a:cs typeface="Times New Roman"/>
              </a:rPr>
              <a:t>due </a:t>
            </a:r>
            <a:r>
              <a:rPr sz="2200" spc="-5" dirty="0">
                <a:latin typeface="Times New Roman"/>
                <a:cs typeface="Times New Roman"/>
              </a:rPr>
              <a:t>which it  opposes any change in voltage across it. It is denoted by C and unit is  Farad (F).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252793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C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8</a:t>
            </a:fld>
            <a:endParaRPr dirty="0"/>
          </a:p>
        </p:txBody>
      </p:sp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5606422" y="3733800"/>
            <a:ext cx="2044597" cy="381000"/>
            <a:chOff x="-245" y="10440"/>
            <a:chExt cx="13619" cy="2347"/>
          </a:xfrm>
        </p:grpSpPr>
        <p:grpSp>
          <p:nvGrpSpPr>
            <p:cNvPr id="1027" name="Group 3"/>
            <p:cNvGrpSpPr>
              <a:grpSpLocks/>
            </p:cNvGrpSpPr>
            <p:nvPr/>
          </p:nvGrpSpPr>
          <p:grpSpPr bwMode="auto">
            <a:xfrm rot="16200000">
              <a:off x="3685" y="10164"/>
              <a:ext cx="1260" cy="1811"/>
              <a:chOff x="5220" y="9900"/>
              <a:chExt cx="900" cy="2160"/>
            </a:xfrm>
          </p:grpSpPr>
          <p:sp>
            <p:nvSpPr>
              <p:cNvPr id="1028" name="Arc 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9" name="Arc 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30" name="Group 6"/>
            <p:cNvGrpSpPr>
              <a:grpSpLocks/>
            </p:cNvGrpSpPr>
            <p:nvPr/>
          </p:nvGrpSpPr>
          <p:grpSpPr bwMode="auto">
            <a:xfrm rot="16200000">
              <a:off x="5040" y="9720"/>
              <a:ext cx="1260" cy="2700"/>
              <a:chOff x="5220" y="9900"/>
              <a:chExt cx="900" cy="2160"/>
            </a:xfrm>
          </p:grpSpPr>
          <p:sp>
            <p:nvSpPr>
              <p:cNvPr id="1031" name="Arc 7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2" name="Arc 8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33" name="Group 9"/>
            <p:cNvGrpSpPr>
              <a:grpSpLocks/>
            </p:cNvGrpSpPr>
            <p:nvPr/>
          </p:nvGrpSpPr>
          <p:grpSpPr bwMode="auto">
            <a:xfrm rot="16200000">
              <a:off x="6840" y="9720"/>
              <a:ext cx="1260" cy="2700"/>
              <a:chOff x="5220" y="9900"/>
              <a:chExt cx="900" cy="2160"/>
            </a:xfrm>
          </p:grpSpPr>
          <p:sp>
            <p:nvSpPr>
              <p:cNvPr id="1034" name="Arc 10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5" name="Arc 11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36" name="Group 12"/>
            <p:cNvGrpSpPr>
              <a:grpSpLocks/>
            </p:cNvGrpSpPr>
            <p:nvPr/>
          </p:nvGrpSpPr>
          <p:grpSpPr bwMode="auto">
            <a:xfrm rot="16200000">
              <a:off x="8191" y="10169"/>
              <a:ext cx="1257" cy="1800"/>
              <a:chOff x="5220" y="9900"/>
              <a:chExt cx="900" cy="2160"/>
            </a:xfrm>
          </p:grpSpPr>
          <p:sp>
            <p:nvSpPr>
              <p:cNvPr id="1037" name="Arc 13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8" name="Arc 14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cxnSp>
          <p:nvCxnSpPr>
            <p:cNvPr id="1039" name="AutoShape 15"/>
            <p:cNvCxnSpPr>
              <a:cxnSpLocks noChangeShapeType="1"/>
            </p:cNvCxnSpPr>
            <p:nvPr/>
          </p:nvCxnSpPr>
          <p:spPr bwMode="auto">
            <a:xfrm flipH="1">
              <a:off x="-245" y="11704"/>
              <a:ext cx="3654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40" name="AutoShape 16"/>
            <p:cNvCxnSpPr>
              <a:cxnSpLocks noChangeShapeType="1"/>
            </p:cNvCxnSpPr>
            <p:nvPr/>
          </p:nvCxnSpPr>
          <p:spPr bwMode="auto">
            <a:xfrm flipH="1">
              <a:off x="9720" y="11699"/>
              <a:ext cx="3654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041" name="Group 17"/>
            <p:cNvGrpSpPr>
              <a:grpSpLocks/>
            </p:cNvGrpSpPr>
            <p:nvPr/>
          </p:nvGrpSpPr>
          <p:grpSpPr bwMode="auto">
            <a:xfrm rot="5400000">
              <a:off x="4231" y="11786"/>
              <a:ext cx="1079" cy="901"/>
              <a:chOff x="5220" y="9900"/>
              <a:chExt cx="900" cy="2160"/>
            </a:xfrm>
          </p:grpSpPr>
          <p:sp>
            <p:nvSpPr>
              <p:cNvPr id="1042" name="Arc 18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3" name="Arc 19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44" name="Group 20"/>
            <p:cNvGrpSpPr>
              <a:grpSpLocks/>
            </p:cNvGrpSpPr>
            <p:nvPr/>
          </p:nvGrpSpPr>
          <p:grpSpPr bwMode="auto">
            <a:xfrm rot="5400000">
              <a:off x="6031" y="11789"/>
              <a:ext cx="1079" cy="901"/>
              <a:chOff x="5220" y="9900"/>
              <a:chExt cx="900" cy="2160"/>
            </a:xfrm>
          </p:grpSpPr>
          <p:sp>
            <p:nvSpPr>
              <p:cNvPr id="1045" name="Arc 21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6" name="Arc 22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47" name="Group 23"/>
            <p:cNvGrpSpPr>
              <a:grpSpLocks/>
            </p:cNvGrpSpPr>
            <p:nvPr/>
          </p:nvGrpSpPr>
          <p:grpSpPr bwMode="auto">
            <a:xfrm rot="5400000">
              <a:off x="7831" y="11797"/>
              <a:ext cx="1079" cy="901"/>
              <a:chOff x="5220" y="9900"/>
              <a:chExt cx="900" cy="2160"/>
            </a:xfrm>
          </p:grpSpPr>
          <p:sp>
            <p:nvSpPr>
              <p:cNvPr id="1048" name="Arc 24"/>
              <p:cNvSpPr>
                <a:spLocks/>
              </p:cNvSpPr>
              <p:nvPr/>
            </p:nvSpPr>
            <p:spPr bwMode="auto">
              <a:xfrm>
                <a:off x="5220" y="990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9" name="Arc 25"/>
              <p:cNvSpPr>
                <a:spLocks/>
              </p:cNvSpPr>
              <p:nvPr/>
            </p:nvSpPr>
            <p:spPr bwMode="auto">
              <a:xfrm flipV="1">
                <a:off x="5220" y="10980"/>
                <a:ext cx="900" cy="108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6470547" y="341603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59" y="211328"/>
            <a:ext cx="6408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000000"/>
                </a:solidFill>
              </a:rPr>
              <a:t>BASIC DEFINITIONS &amp;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-65" dirty="0">
                <a:solidFill>
                  <a:srgbClr val="000000"/>
                </a:solidFill>
              </a:rPr>
              <a:t>LAWS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107" y="786130"/>
            <a:ext cx="11493893" cy="21874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95"/>
              </a:spcBef>
            </a:pPr>
            <a:r>
              <a:rPr sz="2400" b="1" spc="-5" dirty="0">
                <a:latin typeface="Times New Roman" pitchFamily="18" charset="0"/>
                <a:cs typeface="Times New Roman" pitchFamily="18" charset="0"/>
              </a:rPr>
              <a:t>OHM’S </a:t>
            </a:r>
            <a:r>
              <a:rPr sz="2400" b="1" spc="-100" dirty="0">
                <a:latin typeface="Times New Roman" pitchFamily="18" charset="0"/>
                <a:cs typeface="Times New Roman" pitchFamily="18" charset="0"/>
              </a:rPr>
              <a:t>LAW: 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Ohm’s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law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states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current through any conductor is  directly proportional to the potential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difference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between its terminals. It is 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assumed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that the physical conditions of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conductor do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sz="2400" spc="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change.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666365" marR="5092700" indent="278765">
              <a:lnSpc>
                <a:spcPct val="150000"/>
              </a:lnSpc>
              <a:spcBef>
                <a:spcPts val="190"/>
              </a:spcBef>
            </a:pPr>
            <a:r>
              <a:rPr sz="2400" spc="-5" dirty="0">
                <a:latin typeface="Times New Roman" pitchFamily="18" charset="0"/>
                <a:cs typeface="Times New Roman" pitchFamily="18" charset="0"/>
              </a:rPr>
              <a:t>I α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V  voltage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9</a:t>
            </a:fld>
            <a:endParaRPr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2894012" y="3200400"/>
          <a:ext cx="6427838" cy="82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2" imgW="3085920" imgH="393480" progId="Equation.3">
                  <p:embed/>
                </p:oleObj>
              </mc:Choice>
              <mc:Fallback>
                <p:oleObj name="Equation" r:id="rId2" imgW="308592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2" y="3200400"/>
                        <a:ext cx="6427838" cy="820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2669" y="4536690"/>
            <a:ext cx="1188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EXAMPLE: An Electric iron takes a current of 3.7 A from 230V supply. What is the resistance.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2412" y="4114800"/>
            <a:ext cx="701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Where R is known as resistance of the conductor.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887070" y="5181600"/>
          <a:ext cx="313649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4" imgW="1473120" imgH="393480" progId="Equation.3">
                  <p:embed/>
                </p:oleObj>
              </mc:Choice>
              <mc:Fallback>
                <p:oleObj name="Equation" r:id="rId4" imgW="14731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070" y="5181600"/>
                        <a:ext cx="313649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412" y="152400"/>
            <a:ext cx="10927620" cy="1504258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481330" algn="ctr">
              <a:lnSpc>
                <a:spcPct val="100000"/>
              </a:lnSpc>
              <a:spcBef>
                <a:spcPts val="1590"/>
              </a:spcBef>
            </a:pPr>
            <a:r>
              <a:rPr sz="2400" spc="-5" dirty="0">
                <a:latin typeface="Times New Roman"/>
                <a:cs typeface="Times New Roman"/>
              </a:rPr>
              <a:t>BASIC DEFINITIONS &amp;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LAWS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490"/>
              </a:spcBef>
            </a:pPr>
            <a:r>
              <a:rPr sz="2400" b="1" spc="-5" dirty="0">
                <a:latin typeface="Times New Roman"/>
                <a:cs typeface="Times New Roman"/>
              </a:rPr>
              <a:t>POWER: </a:t>
            </a:r>
            <a:r>
              <a:rPr sz="2400" spc="-5" dirty="0">
                <a:latin typeface="Times New Roman"/>
                <a:cs typeface="Times New Roman"/>
              </a:rPr>
              <a:t>Rate of 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doing</a:t>
            </a:r>
            <a:r>
              <a:rPr sz="2400" spc="-5" dirty="0">
                <a:latin typeface="Times New Roman"/>
                <a:cs typeface="Times New Roman"/>
              </a:rPr>
              <a:t> work is known as </a:t>
            </a:r>
            <a:r>
              <a:rPr sz="2400" spc="-25" dirty="0">
                <a:latin typeface="Times New Roman"/>
                <a:cs typeface="Times New Roman"/>
              </a:rPr>
              <a:t>power. </a:t>
            </a:r>
            <a:r>
              <a:rPr sz="2400" spc="-5" dirty="0">
                <a:latin typeface="Times New Roman"/>
                <a:cs typeface="Times New Roman"/>
              </a:rPr>
              <a:t>Also defined </a:t>
            </a:r>
            <a:r>
              <a:rPr sz="2400" spc="-1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rate of  change 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energy.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10</a:t>
            </a:fld>
            <a:endParaRPr dirty="0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2513012" y="1752600"/>
          <a:ext cx="7300512" cy="4573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2" imgW="3365280" imgH="2108160" progId="Equation.3">
                  <p:embed/>
                </p:oleObj>
              </mc:Choice>
              <mc:Fallback>
                <p:oleObj name="Equation" r:id="rId2" imgW="3365280" imgH="2108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2" y="1752600"/>
                        <a:ext cx="7300512" cy="45731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spc="-10" dirty="0"/>
              <a:t>Syed </a:t>
            </a:r>
            <a:r>
              <a:rPr spc="-5" dirty="0"/>
              <a:t>Hasan Saeed, </a:t>
            </a:r>
            <a:r>
              <a:rPr spc="-10" dirty="0"/>
              <a:t>Integral</a:t>
            </a:r>
            <a:r>
              <a:rPr spc="-35" dirty="0"/>
              <a:t> </a:t>
            </a:r>
            <a:r>
              <a:rPr spc="-15" dirty="0"/>
              <a:t>University,</a:t>
            </a:r>
          </a:p>
          <a:p>
            <a:pPr marL="2540" algn="ctr">
              <a:lnSpc>
                <a:spcPct val="100000"/>
              </a:lnSpc>
            </a:pPr>
            <a:r>
              <a:rPr spc="-5" dirty="0"/>
              <a:t>Lucknow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039" y="2559837"/>
            <a:ext cx="6976747" cy="1564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marR="5080" indent="3175" algn="ctr">
              <a:lnSpc>
                <a:spcPct val="120000"/>
              </a:lnSpc>
              <a:spcBef>
                <a:spcPts val="100"/>
              </a:spcBef>
            </a:pPr>
            <a:r>
              <a:rPr spc="-5" dirty="0">
                <a:hlinkClick r:id="rId2"/>
              </a:rPr>
              <a:t>hasansaeedcontrol@gmail.com </a:t>
            </a:r>
            <a:r>
              <a:rPr u="none" spc="-5" dirty="0"/>
              <a:t> </a:t>
            </a:r>
            <a:r>
              <a:rPr spc="-5" dirty="0">
                <a:hlinkClick r:id="rId3"/>
              </a:rPr>
              <a:t>h</a:t>
            </a:r>
            <a:r>
              <a:rPr dirty="0">
                <a:hlinkClick r:id="rId3"/>
              </a:rPr>
              <a:t>t</a:t>
            </a:r>
            <a:r>
              <a:rPr spc="-5" dirty="0">
                <a:hlinkClick r:id="rId3"/>
              </a:rPr>
              <a:t>t</a:t>
            </a:r>
            <a:r>
              <a:rPr dirty="0">
                <a:hlinkClick r:id="rId3"/>
              </a:rPr>
              <a:t>p</a:t>
            </a:r>
            <a:r>
              <a:rPr spc="-5" dirty="0">
                <a:hlinkClick r:id="rId3"/>
              </a:rPr>
              <a:t>s:</a:t>
            </a:r>
            <a:r>
              <a:rPr dirty="0">
                <a:hlinkClick r:id="rId3"/>
              </a:rPr>
              <a:t>/</a:t>
            </a:r>
            <a:r>
              <a:rPr spc="-5" dirty="0">
                <a:hlinkClick r:id="rId3"/>
              </a:rPr>
              <a:t>/syedhas</a:t>
            </a:r>
            <a:r>
              <a:rPr spc="-20" dirty="0">
                <a:hlinkClick r:id="rId3"/>
              </a:rPr>
              <a:t>a</a:t>
            </a:r>
            <a:r>
              <a:rPr spc="-5" dirty="0">
                <a:hlinkClick r:id="rId3"/>
              </a:rPr>
              <a:t>n</a:t>
            </a:r>
            <a:r>
              <a:rPr dirty="0">
                <a:hlinkClick r:id="rId3"/>
              </a:rPr>
              <a:t>s</a:t>
            </a:r>
            <a:r>
              <a:rPr spc="-5" dirty="0">
                <a:hlinkClick r:id="rId3"/>
              </a:rPr>
              <a:t>a</a:t>
            </a:r>
            <a:r>
              <a:rPr spc="-20" dirty="0">
                <a:hlinkClick r:id="rId3"/>
              </a:rPr>
              <a:t>e</a:t>
            </a:r>
            <a:r>
              <a:rPr spc="-5" dirty="0">
                <a:hlinkClick r:id="rId3"/>
              </a:rPr>
              <a:t>ed.g</a:t>
            </a:r>
            <a:r>
              <a:rPr dirty="0">
                <a:hlinkClick r:id="rId3"/>
              </a:rPr>
              <a:t>n</a:t>
            </a:r>
            <a:r>
              <a:rPr spc="-5" dirty="0">
                <a:hlinkClick r:id="rId3"/>
              </a:rPr>
              <a:t>o</a:t>
            </a:r>
            <a:r>
              <a:rPr spc="-30" dirty="0">
                <a:hlinkClick r:id="rId3"/>
              </a:rPr>
              <a:t>m</a:t>
            </a:r>
            <a:r>
              <a:rPr spc="-5" dirty="0">
                <a:hlinkClick r:id="rId3"/>
              </a:rPr>
              <a:t>i</a:t>
            </a:r>
            <a:r>
              <a:rPr dirty="0">
                <a:hlinkClick r:id="rId3"/>
              </a:rPr>
              <a:t>o</a:t>
            </a:r>
            <a:r>
              <a:rPr spc="-5" dirty="0">
                <a:hlinkClick r:id="rId3"/>
              </a:rPr>
              <a:t>.</a:t>
            </a:r>
            <a:r>
              <a:rPr spc="-15" dirty="0">
                <a:hlinkClick r:id="rId3"/>
              </a:rPr>
              <a:t>c</a:t>
            </a:r>
            <a:r>
              <a:rPr spc="-5" dirty="0">
                <a:hlinkClick r:id="rId3"/>
              </a:rPr>
              <a:t>o</a:t>
            </a:r>
            <a:r>
              <a:rPr spc="-15" dirty="0">
                <a:hlinkClick r:id="rId3"/>
              </a:rPr>
              <a:t>m</a:t>
            </a:r>
            <a:r>
              <a:rPr spc="-5" dirty="0">
                <a:hlinkClick r:id="rId3"/>
              </a:rPr>
              <a:t>/ </a:t>
            </a:r>
            <a:r>
              <a:rPr u="none" spc="-5" dirty="0"/>
              <a:t> </a:t>
            </a:r>
            <a:r>
              <a:rPr spc="-5" dirty="0">
                <a:hlinkClick r:id="rId4"/>
              </a:rPr>
              <a:t>https://shasansaeed.yolasite.com/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930</Words>
  <Application>Microsoft Office PowerPoint</Application>
  <PresentationFormat>Custom</PresentationFormat>
  <Paragraphs>117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Equation</vt:lpstr>
      <vt:lpstr>     BASIC DEFINITIONS &amp; LAWS</vt:lpstr>
      <vt:lpstr>BASIC DEFINITIONS &amp; LAWS</vt:lpstr>
      <vt:lpstr>BASIC DEFINITIONS &amp; LAWS</vt:lpstr>
      <vt:lpstr>BASIC DEFINITIONS &amp; LAWS</vt:lpstr>
      <vt:lpstr>BASIC DEFINITIONS &amp; LAWS</vt:lpstr>
      <vt:lpstr>BASIC DEFINITIONS &amp; LAWS</vt:lpstr>
      <vt:lpstr>BASIC DEFINITIONS &amp; LAWS</vt:lpstr>
      <vt:lpstr>BASIC DEFINITIONS &amp; LAWS</vt:lpstr>
      <vt:lpstr>BASIC DEFINITIONS &amp; LAWS</vt:lpstr>
      <vt:lpstr>PowerPoint Presentation</vt:lpstr>
      <vt:lpstr>hasansaeedcontrol@gmail.com  https://syedhasansaeed.gnomio.com/  https://shasansaeed.yolasite.com/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DEFINITIONS &amp; LAWS </dc:title>
  <dc:creator>syed hasan saeed</dc:creator>
  <cp:lastModifiedBy>hasansaeedcontrol@gmail.com</cp:lastModifiedBy>
  <cp:revision>16</cp:revision>
  <dcterms:created xsi:type="dcterms:W3CDTF">2020-09-13T04:29:23Z</dcterms:created>
  <dcterms:modified xsi:type="dcterms:W3CDTF">2026-06-29T10:25:06Z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2019-06-29T00:00:00Z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2020-09-13T00:00:00Z</vt:filetime>
  </property>
</Properties>
</file>